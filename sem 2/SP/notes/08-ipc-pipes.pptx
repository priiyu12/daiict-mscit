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handoutMasterIdLst>
    <p:handoutMasterId r:id="rId30"/>
  </p:handoutMasterIdLst>
  <p:sldIdLst>
    <p:sldId id="604" r:id="rId4"/>
    <p:sldId id="599" r:id="rId5"/>
    <p:sldId id="545" r:id="rId6"/>
    <p:sldId id="546" r:id="rId7"/>
    <p:sldId id="600" r:id="rId9"/>
    <p:sldId id="597" r:id="rId10"/>
    <p:sldId id="579" r:id="rId11"/>
    <p:sldId id="576" r:id="rId12"/>
    <p:sldId id="550" r:id="rId13"/>
    <p:sldId id="583" r:id="rId14"/>
    <p:sldId id="582" r:id="rId15"/>
    <p:sldId id="586" r:id="rId16"/>
    <p:sldId id="578" r:id="rId17"/>
    <p:sldId id="587" r:id="rId18"/>
    <p:sldId id="601" r:id="rId19"/>
    <p:sldId id="591" r:id="rId20"/>
    <p:sldId id="554" r:id="rId21"/>
    <p:sldId id="598" r:id="rId22"/>
    <p:sldId id="558" r:id="rId23"/>
    <p:sldId id="602" r:id="rId24"/>
    <p:sldId id="561" r:id="rId25"/>
    <p:sldId id="562" r:id="rId26"/>
    <p:sldId id="563" r:id="rId27"/>
    <p:sldId id="564" r:id="rId28"/>
    <p:sldId id="565" r:id="rId29"/>
  </p:sldIdLst>
  <p:sldSz cx="9144000" cy="6858000" type="screen4x3"/>
  <p:notesSz cx="7010400" cy="92964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996633"/>
        </a:solidFill>
        <a:latin typeface="Arial" panose="020B060402020209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996633"/>
        </a:solidFill>
        <a:latin typeface="Arial" panose="020B060402020209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996633"/>
        </a:solidFill>
        <a:latin typeface="Arial" panose="020B060402020209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996633"/>
        </a:solidFill>
        <a:latin typeface="Arial" panose="020B060402020209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996633"/>
        </a:solidFill>
        <a:latin typeface="Arial" panose="020B060402020209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996633"/>
        </a:solidFill>
        <a:latin typeface="Arial" panose="020B060402020209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996633"/>
        </a:solidFill>
        <a:latin typeface="Arial" panose="020B060402020209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996633"/>
        </a:solidFill>
        <a:latin typeface="Arial" panose="020B060402020209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996633"/>
        </a:solidFill>
        <a:latin typeface="Arial" panose="020B060402020209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00"/>
    <a:srgbClr val="FFFF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3023"/>
  </p:normalViewPr>
  <p:slideViewPr>
    <p:cSldViewPr showGuides="1"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8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398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398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9C1AAF-9288-4CC4-AF86-2BAFFEC84465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/>
          <a:lstStyle>
            <a:lvl1pPr defTabSz="932180" eaLnBrk="1" hangingPunct="1">
              <a:defRPr sz="1200" b="0">
                <a:solidFill>
                  <a:schemeClr val="tx1"/>
                </a:solidFill>
                <a:latin typeface="Arial" panose="020B0604020202090204" pitchFamily="34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/>
          <a:lstStyle>
            <a:lvl1pPr algn="r" defTabSz="932180" eaLnBrk="1" hangingPunct="1">
              <a:defRPr sz="1200" b="0">
                <a:solidFill>
                  <a:schemeClr val="tx1"/>
                </a:solidFill>
                <a:latin typeface="Arial" panose="020B0604020202090204" pitchFamily="34" charset="0"/>
              </a:defRPr>
            </a:lvl1pPr>
          </a:lstStyle>
          <a:p>
            <a:pPr marL="0" marR="0" lvl="0" indent="0" algn="r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  <a:t>Click to edit Master text styles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  <a:t>Second level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  <a:t>Third level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  <a:t>Fourth level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  <a:t>Fifth level</a:t>
            </a:r>
            <a:endParaRPr kumimoji="0" lang="en-US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/>
          <a:lstStyle>
            <a:lvl1pPr defTabSz="932180" eaLnBrk="1" hangingPunct="1">
              <a:defRPr sz="1200" b="0">
                <a:solidFill>
                  <a:schemeClr val="tx1"/>
                </a:solidFill>
                <a:latin typeface="Arial" panose="020B0604020202090204" pitchFamily="34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/>
          <a:lstStyle>
            <a:lvl1pPr algn="r" defTabSz="932180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r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31FD0E-036C-47C0-894D-923E574BD99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3177" tIns="46589" rIns="93177" bIns="46589" anchor="t" anchorCtr="0"/>
          <a:p>
            <a:pPr lvl="0"/>
            <a:endParaRPr lang="en-US" altLang="en-US" dirty="0"/>
          </a:p>
        </p:txBody>
      </p:sp>
      <p:sp>
        <p:nvSpPr>
          <p:cNvPr id="922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p>
            <a:pPr lvl="0" algn="r" defTabSz="932180" eaLnBrk="1" hangingPunct="1">
              <a:spcBef>
                <a:spcPct val="0"/>
              </a:spcBef>
            </a:pPr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3177" tIns="46589" rIns="93177" bIns="46589" anchor="t" anchorCtr="0"/>
          <a:p>
            <a:pPr lvl="0"/>
            <a:endParaRPr lang="en-US" altLang="en-US" dirty="0"/>
          </a:p>
        </p:txBody>
      </p:sp>
      <p:sp>
        <p:nvSpPr>
          <p:cNvPr id="1229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</a:ln>
        </p:spPr>
        <p:txBody>
          <a:bodyPr lIns="93177" tIns="46589" rIns="93177" bIns="46589" anchor="b" anchorCtr="0"/>
          <a:p>
            <a:pPr lvl="0" algn="r" defTabSz="932180" eaLnBrk="1" hangingPunct="1">
              <a:spcBef>
                <a:spcPct val="0"/>
              </a:spcBef>
            </a:pPr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BB5395-0E32-44B0-8D63-3146050D8528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90204" pitchFamily="34" charset="0"/>
                <a:ea typeface="+mn-ea"/>
                <a:cs typeface="+mn-cs"/>
              </a:rPr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9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1"/>
          <p:cNvSpPr>
            <a:spLocks noGrp="1"/>
          </p:cNvSpPr>
          <p:nvPr>
            <p:ph type="title"/>
          </p:nvPr>
        </p:nvSpPr>
        <p:spPr>
          <a:xfrm>
            <a:off x="381000" y="254000"/>
            <a:ext cx="8382000" cy="1092200"/>
          </a:xfrm>
          <a:prstGeom prst="rect">
            <a:avLst/>
          </a:prstGeom>
          <a:noFill/>
          <a:ln w="9525">
            <a:noFill/>
          </a:ln>
        </p:spPr>
        <p:txBody>
          <a:bodyPr lIns="38100" tIns="38100" rIns="38100" bIns="38100"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2051" name="Rectangle 2"/>
          <p:cNvSpPr>
            <a:spLocks noGrp="1"/>
          </p:cNvSpPr>
          <p:nvPr>
            <p:ph type="body" idx="1"/>
          </p:nvPr>
        </p:nvSpPr>
        <p:spPr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</a:ln>
        </p:spPr>
        <p:txBody>
          <a:bodyPr lIns="38100" tIns="38100" rIns="38100" bIns="38100"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panose="020F07020304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panose="020F0702030404030204" pitchFamily="34" charset="0"/>
          <a:ea typeface="ヒラギノ角ゴ ProN W6" panose="020B0300000000000000" charset="-128"/>
          <a:cs typeface="ヒラギノ角ゴ ProN W6" panose="020B0300000000000000" charset="-128"/>
          <a:sym typeface="Calibri Bold" panose="020F07020304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panose="020F0702030404030204" pitchFamily="34" charset="0"/>
          <a:ea typeface="ヒラギノ角ゴ ProN W6" panose="020B0300000000000000" charset="-128"/>
          <a:cs typeface="ヒラギノ角ゴ ProN W6" panose="020B0300000000000000" charset="-128"/>
          <a:sym typeface="Calibri Bold" panose="020F07020304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panose="020F0702030404030204" pitchFamily="34" charset="0"/>
          <a:ea typeface="ヒラギノ角ゴ ProN W6" panose="020B0300000000000000" charset="-128"/>
          <a:cs typeface="ヒラギノ角ゴ ProN W6" panose="020B0300000000000000" charset="-128"/>
          <a:sym typeface="Calibri Bold" panose="020F07020304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panose="020F0702030404030204" pitchFamily="34" charset="0"/>
          <a:ea typeface="ヒラギノ角ゴ ProN W6" panose="020B0300000000000000" charset="-128"/>
          <a:cs typeface="ヒラギノ角ゴ ProN W6" panose="020B0300000000000000" charset="-128"/>
          <a:sym typeface="Calibri Bold" panose="020F07020304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panose="020F0702030404030204" pitchFamily="34" charset="0"/>
          <a:ea typeface="ヒラギノ角ゴ ProN W6" panose="020B0300000000000000" charset="-128"/>
          <a:cs typeface="ヒラギノ角ゴ ProN W6" panose="020B0300000000000000" charset="-128"/>
          <a:sym typeface="Calibri Bold" panose="020F07020304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panose="020F0702030404030204" pitchFamily="34" charset="0"/>
          <a:ea typeface="ヒラギノ角ゴ ProN W6" panose="020B0300000000000000" charset="-128"/>
          <a:cs typeface="ヒラギノ角ゴ ProN W6" panose="020B0300000000000000" charset="-128"/>
          <a:sym typeface="Calibri Bold" panose="020F07020304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panose="020F0702030404030204" pitchFamily="34" charset="0"/>
          <a:ea typeface="ヒラギノ角ゴ ProN W6" panose="020B0300000000000000" charset="-128"/>
          <a:cs typeface="ヒラギノ角ゴ ProN W6" panose="020B0300000000000000" charset="-128"/>
          <a:sym typeface="Calibri Bold" panose="020F07020304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panose="020F0702030404030204" pitchFamily="34" charset="0"/>
          <a:ea typeface="ヒラギノ角ゴ ProN W6" panose="020B0300000000000000" charset="-128"/>
          <a:cs typeface="ヒラギノ角ゴ ProN W6" panose="020B0300000000000000" charset="-128"/>
          <a:sym typeface="Calibri Bold" panose="020F0702030404030204" pitchFamily="34" charset="0"/>
        </a:defRPr>
      </a:lvl9pPr>
    </p:titleStyle>
    <p:bodyStyle>
      <a:lvl1pPr marL="254000" indent="-254000" algn="l" rtl="0" eaLnBrk="0" fontAlgn="base" hangingPunct="0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panose="05020102010507070707" pitchFamily="18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panose="020F0702030404030204" pitchFamily="34" charset="0"/>
        </a:defRPr>
      </a:lvl1pPr>
      <a:lvl2pPr marL="514350" indent="-234950" algn="l" rtl="0" eaLnBrk="0" fontAlgn="base" hangingPunct="0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2pPr>
      <a:lvl3pPr marL="800100" indent="-2032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3pPr>
      <a:lvl4pPr marL="11430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–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4pPr>
      <a:lvl5pPr marL="1460500" indent="-228600" algn="l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1"/>
          <p:cNvSpPr/>
          <p:nvPr/>
        </p:nvSpPr>
        <p:spPr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lIns="0" tIns="0" rIns="0" bIns="0"/>
          <a:lstStyle>
            <a:lvl1pPr marL="254000" indent="-2540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panose="020F0702030404030204" pitchFamily="34" charset="0"/>
              </a:defRPr>
            </a:lvl1pPr>
            <a:lvl2pPr marL="514350" indent="-2349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2pPr>
            <a:lvl3pPr marL="800100" indent="-2032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3pPr>
            <a:lvl4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4pPr>
            <a:lvl5pPr marL="14605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200" dirty="0">
              <a:solidFill>
                <a:srgbClr val="000000"/>
              </a:solidFill>
              <a:latin typeface="Gill Sans" panose="020B0502020104020203"/>
              <a:ea typeface="ヒラギノ角ゴ ProN W3" panose="020B0300000000000000" charset="-128"/>
              <a:sym typeface="Gill Sans" panose="020B0502020104020203"/>
            </a:endParaRPr>
          </a:p>
        </p:txBody>
      </p:sp>
      <p:sp>
        <p:nvSpPr>
          <p:cNvPr id="5123" name="Title 1"/>
          <p:cNvSpPr txBox="1"/>
          <p:nvPr/>
        </p:nvSpPr>
        <p:spPr>
          <a:xfrm>
            <a:off x="304800" y="1174750"/>
            <a:ext cx="8153400" cy="17208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254000" indent="-2540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panose="020F0702030404030204" pitchFamily="34" charset="0"/>
              </a:defRPr>
            </a:lvl1pPr>
            <a:lvl2pPr marL="514350" indent="-2349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2pPr>
            <a:lvl3pPr marL="800100" indent="-2032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3pPr>
            <a:lvl4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4pPr>
            <a:lvl5pPr marL="14605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latin typeface="Calibri" pitchFamily="34" charset="0"/>
                <a:sym typeface="Gill Sans" panose="020B0502020104020203"/>
              </a:rPr>
              <a:t>IT628: Systems Programming</a:t>
            </a:r>
            <a:endParaRPr lang="en-US" altLang="en-US" sz="3600" b="1" dirty="0">
              <a:solidFill>
                <a:srgbClr val="000000"/>
              </a:solidFill>
              <a:latin typeface="Calibri" pitchFamily="34" charset="0"/>
              <a:sym typeface="Gill Sans" panose="020B0502020104020203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  <a:sym typeface="Gill Sans" panose="020B0502020104020203"/>
              </a:rPr>
              <a:t>IPC - pipes</a:t>
            </a:r>
            <a:endParaRPr lang="en-US" altLang="en-US" sz="3600" dirty="0">
              <a:solidFill>
                <a:srgbClr val="000000"/>
              </a:solidFill>
              <a:latin typeface="Calibri" pitchFamily="34" charset="0"/>
              <a:sym typeface="Gill Sans" panose="020B0502020104020203"/>
            </a:endParaRPr>
          </a:p>
        </p:txBody>
      </p:sp>
      <p:sp>
        <p:nvSpPr>
          <p:cNvPr id="5124" name="Subtitle 2"/>
          <p:cNvSpPr txBox="1"/>
          <p:nvPr/>
        </p:nvSpPr>
        <p:spPr>
          <a:xfrm>
            <a:off x="685800" y="3886200"/>
            <a:ext cx="7678738" cy="1752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54000" indent="-2540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pitchFamily="18" charset="2"/>
              <a:buChar char="¢"/>
              <a:defRPr sz="2400" b="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panose="020F0702030404030204" pitchFamily="34" charset="0"/>
              </a:defRPr>
            </a:lvl1pPr>
            <a:lvl2pPr marL="514350" indent="-2349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2pPr>
            <a:lvl3pPr marL="800100" indent="-2032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3pPr>
            <a:lvl4pPr marL="11430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4pPr>
            <a:lvl5pPr marL="14605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5pPr>
          </a:lstStyle>
          <a:p>
            <a:pPr marL="0" lvl="0" indent="0" eaLnBrk="1" hangingPunct="1">
              <a:spcBef>
                <a:spcPct val="20000"/>
              </a:spcBef>
              <a:buNone/>
            </a:pPr>
            <a:endParaRPr lang="en-US" altLang="en-US" sz="2000" dirty="0">
              <a:solidFill>
                <a:srgbClr val="000000"/>
              </a:solidFill>
              <a:latin typeface="Calibri" pitchFamily="34" charset="0"/>
              <a:ea typeface="ヒラギノ角ゴ ProN W3" panose="020B0300000000000000" charset="-128"/>
              <a:sym typeface="Gill Sans" panose="020B0502020104020203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Parent child communication</a:t>
            </a:r>
            <a:endParaRPr lang="en-US" altLang="en-US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722438"/>
            <a:ext cx="8229600" cy="4525962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2800" dirty="0"/>
              <a:t>After fork() is called we end up with two independent processes</a:t>
            </a:r>
            <a:endParaRPr lang="en-US" altLang="en-US" sz="2800" dirty="0"/>
          </a:p>
          <a:p>
            <a:r>
              <a:rPr lang="en-US" altLang="en-US" sz="2800" dirty="0"/>
              <a:t>We cannot use variables to communicate between processes as they each have separate address spaces, and separate memory</a:t>
            </a:r>
            <a:endParaRPr lang="en-US" altLang="en-US" sz="2800" dirty="0"/>
          </a:p>
          <a:p>
            <a:r>
              <a:rPr lang="en-US" altLang="en-US" sz="2800" dirty="0"/>
              <a:t>One way to communicate is to use pipes</a:t>
            </a:r>
            <a:endParaRPr lang="en-US" altLang="en-US" sz="2800" dirty="0"/>
          </a:p>
        </p:txBody>
      </p:sp>
      <p:sp>
        <p:nvSpPr>
          <p:cNvPr id="6148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Pipes</a:t>
            </a:r>
            <a:endParaRPr lang="en-US" altLang="en-US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sz="2800" dirty="0"/>
              <a:t>Pipes are a mechanism for communication between related processes </a:t>
            </a:r>
            <a:endParaRPr lang="en-US" altLang="en-US" sz="2800" dirty="0"/>
          </a:p>
          <a:p>
            <a:pPr eaLnBrk="1" hangingPunct="1"/>
            <a:r>
              <a:rPr lang="en-US" altLang="en-US" sz="2800" dirty="0"/>
              <a:t>A pipe is implemented as an internal OS buffer</a:t>
            </a:r>
            <a:endParaRPr lang="en-US" altLang="en-US" sz="2800" dirty="0"/>
          </a:p>
          <a:p>
            <a:pPr eaLnBrk="1" hangingPunct="1"/>
            <a:r>
              <a:rPr lang="en-US" altLang="en-US" sz="2800" dirty="0"/>
              <a:t>One process write to the pipe, the other reads from the pipe</a:t>
            </a:r>
            <a:endParaRPr lang="en-US" altLang="en-US" sz="2800" dirty="0"/>
          </a:p>
          <a:p>
            <a:pPr lvl="1" eaLnBrk="1" hangingPunct="1"/>
            <a:r>
              <a:rPr lang="en-US" altLang="en-US" sz="2400" dirty="0"/>
              <a:t>Can </a:t>
            </a:r>
            <a:r>
              <a:rPr lang="en-US" altLang="en-US" sz="2400" i="1" dirty="0"/>
              <a:t>read</a:t>
            </a:r>
            <a:r>
              <a:rPr lang="en-US" altLang="en-US" sz="2400" dirty="0"/>
              <a:t> from or </a:t>
            </a:r>
            <a:r>
              <a:rPr lang="en-US" altLang="en-US" sz="2400" i="1" dirty="0"/>
              <a:t>write</a:t>
            </a:r>
            <a:r>
              <a:rPr lang="en-US" altLang="en-US" sz="2400" dirty="0"/>
              <a:t> to the pipe like a real file</a:t>
            </a:r>
            <a:endParaRPr lang="en-US" altLang="en-US" sz="24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dirty="0"/>
          </a:p>
        </p:txBody>
      </p:sp>
      <p:sp>
        <p:nvSpPr>
          <p:cNvPr id="7172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Opening a pipe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pipe(</a:t>
            </a:r>
            <a:r>
              <a:rPr kumimoji="0" lang="en-US" alt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fds</a:t>
            </a:r>
            <a: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[2]);</a:t>
            </a:r>
            <a:endParaRPr kumimoji="0" lang="en-US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f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d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 needs to be an array of 2 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ints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r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eturn value is 0 on success, -1 on error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o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itchFamily="34" charset="-128"/>
                <a:cs typeface="+mn-cs"/>
              </a:rPr>
              <a:t>n success, a new pipe is created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itchFamily="34" charset="-128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r>
              <a:rPr kumimoji="0" lang="en-US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fds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[0]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 Narrow" panose="020B0606020202030204" pitchFamily="34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Courier New" panose="02070409020205090404" pitchFamily="49" charset="0"/>
              </a:rPr>
              <a:t> will be the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Courier New" panose="02070409020205090404" pitchFamily="49" charset="0"/>
              </a:rPr>
              <a:t>fd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Courier New" panose="02070409020205090404" pitchFamily="49" charset="0"/>
              </a:rPr>
              <a:t> for the read end of pipe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r>
              <a:rPr kumimoji="0" lang="en-US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fds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[1]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Courier New" panose="02070409020205090404" pitchFamily="49" charset="0"/>
              </a:rPr>
              <a:t>will be the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Courier New" panose="02070409020205090404" pitchFamily="49" charset="0"/>
              </a:rPr>
              <a:t>fd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Courier New" panose="02070409020205090404" pitchFamily="49" charset="0"/>
              </a:rPr>
              <a:t> for the write end of pipe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Courier New" panose="02070409020205090404" pitchFamily="49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Courier New" panose="02070409020205090404" pitchFamily="49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Courier New" panose="02070409020205090404" pitchFamily="49" charset="0"/>
            </a:endParaRPr>
          </a:p>
        </p:txBody>
      </p:sp>
      <p:sp>
        <p:nvSpPr>
          <p:cNvPr id="8196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First pipe example</a:t>
            </a:r>
            <a:endParaRPr lang="en-US" altLang="en-US" dirty="0"/>
          </a:p>
        </p:txBody>
      </p:sp>
      <p:sp>
        <p:nvSpPr>
          <p:cNvPr id="10243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  <p:sp>
        <p:nvSpPr>
          <p:cNvPr id="5" name="Content Placeholder 4"/>
          <p:cNvSpPr txBox="1"/>
          <p:nvPr/>
        </p:nvSpPr>
        <p:spPr bwMode="auto">
          <a:xfrm>
            <a:off x="381000" y="1295400"/>
            <a:ext cx="38100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#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define MSGSIZE 16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*msg1=“hello, world #1”;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*msg2=“hello, world #2”;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*msg3=“hello, world #3”;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main()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[MSGSIZE];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p[2],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if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(pipe(p) &lt; 0)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exit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( 1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/* continued */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7" name="Content Placeholder 4"/>
          <p:cNvSpPr txBox="1"/>
          <p:nvPr/>
        </p:nvSpPr>
        <p:spPr bwMode="auto">
          <a:xfrm>
            <a:off x="4267200" y="1341438"/>
            <a:ext cx="46482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/* write pipe */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write(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p[1], msg1, MSGSIZE 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write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 p[1], msg2, MSGSIZE 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write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 p[1], msg3, MSGSIZE );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for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=0;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&lt; 3;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++ 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{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/*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read pipe */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read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 p[0],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, MSGSIZE 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 “%s\n”,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}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return 0;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10246" name="TextBox 6"/>
          <p:cNvSpPr txBox="1"/>
          <p:nvPr/>
        </p:nvSpPr>
        <p:spPr>
          <a:xfrm>
            <a:off x="7086600" y="6215063"/>
            <a:ext cx="17526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92D050"/>
                </a:solidFill>
                <a:latin typeface="Arial" panose="020B0604020202090204" pitchFamily="34" charset="0"/>
              </a:rPr>
              <a:t>pipedemo1.c</a:t>
            </a:r>
            <a:endParaRPr lang="en-US" altLang="en-US" sz="1600" dirty="0">
              <a:solidFill>
                <a:srgbClr val="92D050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Program execution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Output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hello, world #1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hello, world #2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hello, world #3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8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  <p:pic>
        <p:nvPicPr>
          <p:cNvPr id="1126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200" y="1524000"/>
            <a:ext cx="5562600" cy="365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More on pipes</a:t>
            </a:r>
            <a:endParaRPr lang="en-US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sz="2800" dirty="0"/>
              <a:t>Pipes behave first-in-first-out (FIFO)</a:t>
            </a:r>
            <a:endParaRPr lang="en-US" altLang="en-US" sz="2800" dirty="0"/>
          </a:p>
          <a:p>
            <a:pPr lvl="1" eaLnBrk="1" hangingPunct="1"/>
            <a:r>
              <a:rPr lang="en-US" altLang="en-US" dirty="0"/>
              <a:t>bytes placed in the </a:t>
            </a:r>
            <a:r>
              <a:rPr lang="en-US" altLang="en-US" i="1" dirty="0"/>
              <a:t>pipe</a:t>
            </a:r>
            <a:r>
              <a:rPr lang="en-US" altLang="en-US" dirty="0"/>
              <a:t> with </a:t>
            </a:r>
            <a:r>
              <a:rPr lang="en-US" altLang="en-US" i="1" dirty="0"/>
              <a:t>write</a:t>
            </a:r>
            <a:r>
              <a:rPr lang="en-US" altLang="en-US" dirty="0"/>
              <a:t> are returned by </a:t>
            </a:r>
            <a:r>
              <a:rPr lang="en-US" altLang="en-US" i="1" dirty="0"/>
              <a:t>read</a:t>
            </a:r>
            <a:r>
              <a:rPr lang="en-US" altLang="en-US" dirty="0"/>
              <a:t> in order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What kind of data structure you might use to implement a pipe?</a:t>
            </a:r>
            <a:endParaRPr lang="en-US" altLang="en-US" dirty="0"/>
          </a:p>
          <a:p>
            <a:pPr eaLnBrk="1" hangingPunct="1"/>
            <a:r>
              <a:rPr lang="en-US" altLang="en-US" sz="2800" dirty="0"/>
              <a:t>The size of read and write don’t have to match</a:t>
            </a:r>
            <a:endParaRPr lang="en-US" altLang="en-US" sz="2800" dirty="0"/>
          </a:p>
          <a:p>
            <a:pPr lvl="1" eaLnBrk="1" hangingPunct="1"/>
            <a:r>
              <a:rPr lang="en-US" altLang="en-US" sz="2400" dirty="0"/>
              <a:t>e.g. you can write 512 bytes at a time while reading 1 byte at a time</a:t>
            </a:r>
            <a:endParaRPr lang="en-US" altLang="en-US" sz="2400" dirty="0"/>
          </a:p>
          <a:p>
            <a:pPr eaLnBrk="1" hangingPunct="1"/>
            <a:r>
              <a:rPr lang="en-US" altLang="en-US" sz="2800" dirty="0"/>
              <a:t>Pipes are of little use within a single process!</a:t>
            </a:r>
            <a:endParaRPr lang="en-US" altLang="en-US" sz="2800" dirty="0"/>
          </a:p>
        </p:txBody>
      </p:sp>
      <p:sp>
        <p:nvSpPr>
          <p:cNvPr id="13316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dirty="0">
                <a:latin typeface="Arial" panose="020B0604020202090204" pitchFamily="34" charset="0"/>
              </a:rPr>
            </a:fld>
            <a:endParaRPr lang="en-US" altLang="en-US" sz="1400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Parent and child sharing a pipe</a:t>
            </a:r>
            <a:endParaRPr lang="en-US" altLang="en-US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24200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sz="2400" dirty="0"/>
              <a:t>Recall that file descriptors remain open across a call to fork</a:t>
            </a:r>
            <a:endParaRPr lang="en-US" altLang="en-US" sz="2400" dirty="0"/>
          </a:p>
          <a:p>
            <a:pPr eaLnBrk="1" hangingPunct="1"/>
            <a:r>
              <a:rPr lang="en-US" altLang="en-US" sz="2400" dirty="0"/>
              <a:t>If we call fork after creating a pipe, then the parent and child can communicate via the pipe!</a:t>
            </a:r>
            <a:endParaRPr lang="en-US" altLang="en-US" sz="2400" dirty="0"/>
          </a:p>
        </p:txBody>
      </p:sp>
      <p:sp>
        <p:nvSpPr>
          <p:cNvPr id="14340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  <p:grpSp>
        <p:nvGrpSpPr>
          <p:cNvPr id="14341" name="Group 4"/>
          <p:cNvGrpSpPr/>
          <p:nvPr/>
        </p:nvGrpSpPr>
        <p:grpSpPr>
          <a:xfrm>
            <a:off x="4083050" y="1600200"/>
            <a:ext cx="4146550" cy="3187700"/>
            <a:chOff x="1981200" y="1812925"/>
            <a:chExt cx="4724400" cy="3719513"/>
          </a:xfrm>
        </p:grpSpPr>
        <p:sp>
          <p:nvSpPr>
            <p:cNvPr id="6" name="직사각형 10"/>
            <p:cNvSpPr/>
            <p:nvPr/>
          </p:nvSpPr>
          <p:spPr>
            <a:xfrm>
              <a:off x="4571300" y="2194509"/>
              <a:ext cx="1906400" cy="913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FontTx/>
                <a:buNone/>
              </a:pPr>
              <a:endParaRPr lang="ko-KR" altLang="en-US" sz="1800" dirty="0">
                <a:solidFill>
                  <a:srgbClr val="FFFFFF"/>
                </a:solidFill>
                <a:latin typeface="Malgun Gothic" pitchFamily="34" charset="-127"/>
                <a:ea typeface="Malgun Gothic" pitchFamily="34" charset="-127"/>
              </a:endParaRPr>
            </a:p>
          </p:txBody>
        </p:sp>
        <p:sp>
          <p:nvSpPr>
            <p:cNvPr id="7" name="직사각형 11"/>
            <p:cNvSpPr/>
            <p:nvPr/>
          </p:nvSpPr>
          <p:spPr>
            <a:xfrm>
              <a:off x="3200283" y="4250614"/>
              <a:ext cx="1904592" cy="91505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FontTx/>
                <a:buNone/>
              </a:pPr>
              <a:endParaRPr lang="ko-KR" altLang="en-US" sz="1800" dirty="0">
                <a:solidFill>
                  <a:srgbClr val="FFFFFF"/>
                </a:solidFill>
                <a:latin typeface="Malgun Gothic" pitchFamily="34" charset="-127"/>
                <a:ea typeface="Malgun Gothic" pitchFamily="34" charset="-127"/>
              </a:endParaRPr>
            </a:p>
          </p:txBody>
        </p:sp>
        <p:sp>
          <p:nvSpPr>
            <p:cNvPr id="14344" name="TextBox 12"/>
            <p:cNvSpPr txBox="1"/>
            <p:nvPr/>
          </p:nvSpPr>
          <p:spPr>
            <a:xfrm>
              <a:off x="4819650" y="1812925"/>
              <a:ext cx="15176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ko-KR" sz="1800" dirty="0">
                  <a:latin typeface="Arial" panose="020B0604020202090204" pitchFamily="34" charset="0"/>
                  <a:ea typeface="Malgun Gothic" pitchFamily="34" charset="-127"/>
                </a:rPr>
                <a:t>child process</a:t>
              </a:r>
              <a:endParaRPr lang="ko-KR" altLang="en-US" sz="1800" dirty="0">
                <a:latin typeface="Arial" panose="020B0604020202090204" pitchFamily="34" charset="0"/>
                <a:ea typeface="Malgun Gothic" pitchFamily="34" charset="-127"/>
              </a:endParaRPr>
            </a:p>
          </p:txBody>
        </p:sp>
        <p:sp>
          <p:nvSpPr>
            <p:cNvPr id="14345" name="TextBox 13"/>
            <p:cNvSpPr txBox="1"/>
            <p:nvPr/>
          </p:nvSpPr>
          <p:spPr>
            <a:xfrm>
              <a:off x="4648200" y="2727325"/>
              <a:ext cx="83820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ko-KR" sz="1800" dirty="0">
                  <a:latin typeface="Arial" panose="020B0604020202090204" pitchFamily="34" charset="0"/>
                  <a:ea typeface="Malgun Gothic" pitchFamily="34" charset="-127"/>
                </a:rPr>
                <a:t>fd[0]</a:t>
              </a:r>
              <a:endParaRPr lang="ko-KR" altLang="en-US" sz="1800" dirty="0">
                <a:latin typeface="Arial" panose="020B0604020202090204" pitchFamily="34" charset="0"/>
                <a:ea typeface="Malgun Gothic" pitchFamily="34" charset="-127"/>
              </a:endParaRPr>
            </a:p>
          </p:txBody>
        </p:sp>
        <p:sp>
          <p:nvSpPr>
            <p:cNvPr id="14346" name="TextBox 14"/>
            <p:cNvSpPr txBox="1"/>
            <p:nvPr/>
          </p:nvSpPr>
          <p:spPr>
            <a:xfrm>
              <a:off x="5867400" y="2727325"/>
              <a:ext cx="83820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ko-KR" sz="1800" dirty="0">
                  <a:latin typeface="Arial" panose="020B0604020202090204" pitchFamily="34" charset="0"/>
                  <a:ea typeface="Malgun Gothic" pitchFamily="34" charset="-127"/>
                </a:rPr>
                <a:t>fd[1]</a:t>
              </a:r>
              <a:endParaRPr lang="ko-KR" altLang="en-US" sz="1800" dirty="0">
                <a:latin typeface="Arial" panose="020B0604020202090204" pitchFamily="34" charset="0"/>
                <a:ea typeface="Malgun Gothic" pitchFamily="34" charset="-127"/>
              </a:endParaRPr>
            </a:p>
          </p:txBody>
        </p:sp>
        <p:sp>
          <p:nvSpPr>
            <p:cNvPr id="14347" name="TextBox 15"/>
            <p:cNvSpPr txBox="1"/>
            <p:nvPr/>
          </p:nvSpPr>
          <p:spPr>
            <a:xfrm>
              <a:off x="3798888" y="4567238"/>
              <a:ext cx="625475" cy="37623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ko-KR" sz="1800" dirty="0">
                  <a:latin typeface="Arial" panose="020B0604020202090204" pitchFamily="34" charset="0"/>
                  <a:ea typeface="Malgun Gothic" pitchFamily="34" charset="-127"/>
                </a:rPr>
                <a:t>pipe</a:t>
              </a:r>
              <a:endParaRPr lang="ko-KR" altLang="en-US" sz="1800" dirty="0">
                <a:latin typeface="Arial" panose="020B0604020202090204" pitchFamily="34" charset="0"/>
                <a:ea typeface="Malgun Gothic" pitchFamily="34" charset="-127"/>
              </a:endParaRPr>
            </a:p>
          </p:txBody>
        </p:sp>
        <p:sp>
          <p:nvSpPr>
            <p:cNvPr id="14348" name="TextBox 16"/>
            <p:cNvSpPr txBox="1"/>
            <p:nvPr/>
          </p:nvSpPr>
          <p:spPr>
            <a:xfrm>
              <a:off x="3683000" y="5165725"/>
              <a:ext cx="8064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ko-KR" sz="1800" dirty="0">
                  <a:latin typeface="Arial" panose="020B0604020202090204" pitchFamily="34" charset="0"/>
                  <a:ea typeface="Malgun Gothic" pitchFamily="34" charset="-127"/>
                </a:rPr>
                <a:t>kernel</a:t>
              </a:r>
              <a:endParaRPr lang="ko-KR" altLang="en-US" sz="1800" dirty="0">
                <a:latin typeface="Arial" panose="020B0604020202090204" pitchFamily="34" charset="0"/>
                <a:ea typeface="Malgun Gothic" pitchFamily="34" charset="-127"/>
              </a:endParaRPr>
            </a:p>
          </p:txBody>
        </p:sp>
        <p:sp>
          <p:nvSpPr>
            <p:cNvPr id="13" name="직사각형 17"/>
            <p:cNvSpPr/>
            <p:nvPr/>
          </p:nvSpPr>
          <p:spPr>
            <a:xfrm>
              <a:off x="1981200" y="2194509"/>
              <a:ext cx="1904592" cy="913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>
                <a:spcBef>
                  <a:spcPct val="0"/>
                </a:spcBef>
                <a:buFontTx/>
                <a:buNone/>
              </a:pPr>
              <a:endParaRPr lang="ko-KR" altLang="en-US" sz="1800" dirty="0">
                <a:solidFill>
                  <a:srgbClr val="FFFFFF"/>
                </a:solidFill>
                <a:latin typeface="Malgun Gothic" pitchFamily="34" charset="-127"/>
                <a:ea typeface="Malgun Gothic" pitchFamily="34" charset="-127"/>
              </a:endParaRPr>
            </a:p>
          </p:txBody>
        </p:sp>
        <p:sp>
          <p:nvSpPr>
            <p:cNvPr id="14350" name="TextBox 18"/>
            <p:cNvSpPr txBox="1"/>
            <p:nvPr/>
          </p:nvSpPr>
          <p:spPr>
            <a:xfrm>
              <a:off x="2209800" y="1812925"/>
              <a:ext cx="16954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ko-KR" sz="1800" dirty="0">
                  <a:latin typeface="Arial" panose="020B0604020202090204" pitchFamily="34" charset="0"/>
                  <a:ea typeface="Malgun Gothic" pitchFamily="34" charset="-127"/>
                </a:rPr>
                <a:t>parent process</a:t>
              </a:r>
              <a:endParaRPr lang="ko-KR" altLang="en-US" sz="1800" dirty="0">
                <a:latin typeface="Arial" panose="020B0604020202090204" pitchFamily="34" charset="0"/>
                <a:ea typeface="Malgun Gothic" pitchFamily="34" charset="-127"/>
              </a:endParaRPr>
            </a:p>
          </p:txBody>
        </p:sp>
        <p:sp>
          <p:nvSpPr>
            <p:cNvPr id="14351" name="TextBox 19"/>
            <p:cNvSpPr txBox="1"/>
            <p:nvPr/>
          </p:nvSpPr>
          <p:spPr>
            <a:xfrm>
              <a:off x="2057400" y="2727325"/>
              <a:ext cx="83820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ko-KR" sz="1800" dirty="0">
                  <a:latin typeface="Arial" panose="020B0604020202090204" pitchFamily="34" charset="0"/>
                  <a:ea typeface="Malgun Gothic" pitchFamily="34" charset="-127"/>
                </a:rPr>
                <a:t>fd[0]</a:t>
              </a:r>
              <a:endParaRPr lang="ko-KR" altLang="en-US" sz="1800" dirty="0">
                <a:latin typeface="Arial" panose="020B0604020202090204" pitchFamily="34" charset="0"/>
                <a:ea typeface="Malgun Gothic" pitchFamily="34" charset="-127"/>
              </a:endParaRPr>
            </a:p>
          </p:txBody>
        </p:sp>
        <p:sp>
          <p:nvSpPr>
            <p:cNvPr id="14352" name="TextBox 20"/>
            <p:cNvSpPr txBox="1"/>
            <p:nvPr/>
          </p:nvSpPr>
          <p:spPr>
            <a:xfrm>
              <a:off x="3276600" y="2727325"/>
              <a:ext cx="83820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9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>
                <a:spcBef>
                  <a:spcPct val="0"/>
                </a:spcBef>
                <a:buFontTx/>
                <a:buNone/>
              </a:pPr>
              <a:r>
                <a:rPr lang="en-US" altLang="ko-KR" sz="1800" dirty="0">
                  <a:latin typeface="Arial" panose="020B0604020202090204" pitchFamily="34" charset="0"/>
                  <a:ea typeface="Malgun Gothic" pitchFamily="34" charset="-127"/>
                </a:rPr>
                <a:t>fd[1]</a:t>
              </a:r>
              <a:endParaRPr lang="ko-KR" altLang="en-US" sz="1800" dirty="0">
                <a:latin typeface="Arial" panose="020B0604020202090204" pitchFamily="34" charset="0"/>
                <a:ea typeface="Malgun Gothic" pitchFamily="34" charset="-127"/>
              </a:endParaRPr>
            </a:p>
          </p:txBody>
        </p:sp>
        <p:sp>
          <p:nvSpPr>
            <p:cNvPr id="17" name="자유형 23"/>
            <p:cNvSpPr/>
            <p:nvPr/>
          </p:nvSpPr>
          <p:spPr>
            <a:xfrm>
              <a:off x="4453733" y="3072521"/>
              <a:ext cx="1682118" cy="1624509"/>
            </a:xfrm>
            <a:custGeom>
              <a:avLst/>
              <a:gdLst>
                <a:gd name="connsiteX0" fmla="*/ 1683657 w 1683657"/>
                <a:gd name="connsiteY0" fmla="*/ 0 h 1625600"/>
                <a:gd name="connsiteX1" fmla="*/ 1146629 w 1683657"/>
                <a:gd name="connsiteY1" fmla="*/ 1277257 h 1625600"/>
                <a:gd name="connsiteX2" fmla="*/ 0 w 1683657"/>
                <a:gd name="connsiteY2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83657" h="1625600">
                  <a:moveTo>
                    <a:pt x="1683657" y="0"/>
                  </a:moveTo>
                  <a:cubicBezTo>
                    <a:pt x="1555448" y="503162"/>
                    <a:pt x="1427239" y="1006324"/>
                    <a:pt x="1146629" y="1277257"/>
                  </a:cubicBezTo>
                  <a:cubicBezTo>
                    <a:pt x="866020" y="1548190"/>
                    <a:pt x="433010" y="1586895"/>
                    <a:pt x="0" y="162560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lgun Gothic" pitchFamily="34" charset="-127"/>
                <a:ea typeface="+mn-ea"/>
                <a:cs typeface="+mn-cs"/>
              </a:endParaRPr>
            </a:p>
          </p:txBody>
        </p:sp>
        <p:sp>
          <p:nvSpPr>
            <p:cNvPr id="18" name="자유형 24"/>
            <p:cNvSpPr/>
            <p:nvPr/>
          </p:nvSpPr>
          <p:spPr>
            <a:xfrm>
              <a:off x="3623526" y="3057702"/>
              <a:ext cx="1427088" cy="1768992"/>
            </a:xfrm>
            <a:custGeom>
              <a:avLst/>
              <a:gdLst>
                <a:gd name="connsiteX0" fmla="*/ 0 w 1424819"/>
                <a:gd name="connsiteY0" fmla="*/ 0 h 1770743"/>
                <a:gd name="connsiteX1" fmla="*/ 1291771 w 1424819"/>
                <a:gd name="connsiteY1" fmla="*/ 1335314 h 1770743"/>
                <a:gd name="connsiteX2" fmla="*/ 798286 w 1424819"/>
                <a:gd name="connsiteY2" fmla="*/ 1770743 h 1770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4819" h="1770743">
                  <a:moveTo>
                    <a:pt x="0" y="0"/>
                  </a:moveTo>
                  <a:cubicBezTo>
                    <a:pt x="579361" y="520095"/>
                    <a:pt x="1158723" y="1040190"/>
                    <a:pt x="1291771" y="1335314"/>
                  </a:cubicBezTo>
                  <a:cubicBezTo>
                    <a:pt x="1424819" y="1630438"/>
                    <a:pt x="1111552" y="1700590"/>
                    <a:pt x="798286" y="1770743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lgun Gothic" pitchFamily="34" charset="-127"/>
                <a:ea typeface="+mn-ea"/>
                <a:cs typeface="+mn-cs"/>
              </a:endParaRPr>
            </a:p>
          </p:txBody>
        </p:sp>
        <p:sp>
          <p:nvSpPr>
            <p:cNvPr id="19" name="자유형 26"/>
            <p:cNvSpPr/>
            <p:nvPr/>
          </p:nvSpPr>
          <p:spPr>
            <a:xfrm>
              <a:off x="3202093" y="3057702"/>
              <a:ext cx="1743615" cy="1639328"/>
            </a:xfrm>
            <a:custGeom>
              <a:avLst/>
              <a:gdLst>
                <a:gd name="connsiteX0" fmla="*/ 597505 w 1744134"/>
                <a:gd name="connsiteY0" fmla="*/ 1640114 h 1640114"/>
                <a:gd name="connsiteX1" fmla="*/ 191105 w 1744134"/>
                <a:gd name="connsiteY1" fmla="*/ 1364343 h 1640114"/>
                <a:gd name="connsiteX2" fmla="*/ 1744134 w 1744134"/>
                <a:gd name="connsiteY2" fmla="*/ 0 h 1640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44134" h="1640114">
                  <a:moveTo>
                    <a:pt x="597505" y="1640114"/>
                  </a:moveTo>
                  <a:cubicBezTo>
                    <a:pt x="298752" y="1638904"/>
                    <a:pt x="0" y="1637695"/>
                    <a:pt x="191105" y="1364343"/>
                  </a:cubicBezTo>
                  <a:cubicBezTo>
                    <a:pt x="382210" y="1090991"/>
                    <a:pt x="1744134" y="0"/>
                    <a:pt x="1744134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lgun Gothic" pitchFamily="34" charset="-127"/>
                <a:ea typeface="+mn-ea"/>
                <a:cs typeface="+mn-cs"/>
              </a:endParaRPr>
            </a:p>
          </p:txBody>
        </p:sp>
        <p:sp>
          <p:nvSpPr>
            <p:cNvPr id="20" name="자유형 27"/>
            <p:cNvSpPr/>
            <p:nvPr/>
          </p:nvSpPr>
          <p:spPr>
            <a:xfrm>
              <a:off x="2348373" y="3057702"/>
              <a:ext cx="1450601" cy="1804186"/>
            </a:xfrm>
            <a:custGeom>
              <a:avLst/>
              <a:gdLst>
                <a:gd name="connsiteX0" fmla="*/ 1451428 w 1451428"/>
                <a:gd name="connsiteY0" fmla="*/ 1770743 h 1804610"/>
                <a:gd name="connsiteX1" fmla="*/ 464457 w 1451428"/>
                <a:gd name="connsiteY1" fmla="*/ 1509486 h 1804610"/>
                <a:gd name="connsiteX2" fmla="*/ 0 w 1451428"/>
                <a:gd name="connsiteY2" fmla="*/ 0 h 180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1428" h="1804610">
                  <a:moveTo>
                    <a:pt x="1451428" y="1770743"/>
                  </a:moveTo>
                  <a:cubicBezTo>
                    <a:pt x="1078895" y="1787676"/>
                    <a:pt x="706362" y="1804610"/>
                    <a:pt x="464457" y="1509486"/>
                  </a:cubicBezTo>
                  <a:cubicBezTo>
                    <a:pt x="222552" y="1214362"/>
                    <a:pt x="111276" y="607181"/>
                    <a:pt x="0" y="0"/>
                  </a:cubicBezTo>
                </a:path>
              </a:pathLst>
            </a:custGeom>
            <a:ln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algun Gothic" pitchFamily="34" charset="-127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Second pipe example</a:t>
            </a:r>
            <a:endParaRPr lang="en-US" altLang="en-US" dirty="0"/>
          </a:p>
        </p:txBody>
      </p:sp>
      <p:sp>
        <p:nvSpPr>
          <p:cNvPr id="15363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  <p:sp>
        <p:nvSpPr>
          <p:cNvPr id="7" name="Content Placeholder 4"/>
          <p:cNvSpPr txBox="1"/>
          <p:nvPr/>
        </p:nvSpPr>
        <p:spPr bwMode="auto">
          <a:xfrm>
            <a:off x="152400" y="1295400"/>
            <a:ext cx="38100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#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define MSGSIZE 16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*msg1=“hello, world #1”;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*msg2=“hello, world #2”;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*msg3=“hello, world #3”;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main()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char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[MSGSIZE];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p[2], 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pid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, 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nbytes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if (pipe(p) &lt; 0)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  exit( 1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/* continued */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8" name="Content Placeholder 5"/>
          <p:cNvSpPr txBox="1"/>
          <p:nvPr/>
        </p:nvSpPr>
        <p:spPr bwMode="auto">
          <a:xfrm>
            <a:off x="3962400" y="1295400"/>
            <a:ext cx="54864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if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((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pid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= fork()) &gt; 0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 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write(p[1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msg1, MSGSIZE);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write(p[1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msg2, MSGSIZE);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write(p[1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msg3, MSGSIZE);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wait(NULL);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else {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while ((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nbytes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= 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read(p[0],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, MSGSIZE)) &gt; 0)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(“%s\n”,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if (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nbytes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!= 0)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exit(2);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(“Finished reading\n”);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return 0;</a:t>
            </a:r>
            <a:endParaRPr kumimoji="0" lang="en-US" altLang="en-US" sz="16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15366" name="TextBox 3"/>
          <p:cNvSpPr txBox="1"/>
          <p:nvPr/>
        </p:nvSpPr>
        <p:spPr>
          <a:xfrm>
            <a:off x="7010400" y="6138863"/>
            <a:ext cx="15240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996633"/>
                </a:solidFill>
                <a:latin typeface="Arial" panose="020B0604020202090204" pitchFamily="34" charset="0"/>
              </a:rPr>
              <a:t>pipedemo2.c</a:t>
            </a:r>
            <a:endParaRPr lang="en-US" altLang="en-US" sz="1600" b="1" dirty="0">
              <a:solidFill>
                <a:srgbClr val="996633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Program execution</a:t>
            </a:r>
            <a:endParaRPr lang="en-US" alt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$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a.out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hello world, #1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hello world, #2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hello world, #3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(hangs)</a:t>
            </a:r>
            <a:endParaRPr kumimoji="0" lang="en-US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Outcome</a:t>
            </a:r>
            <a:endParaRPr kumimoji="0" lang="en-US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After finishing reading/writing, both parent and child block (instead of terminating)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8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Rules for reading a pipe</a:t>
            </a:r>
            <a:endParaRPr lang="en-US" alt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sz="2800" dirty="0"/>
              <a:t>A read call gets as much data as it requests or as much data as the pipe has, whichever is less</a:t>
            </a:r>
            <a:endParaRPr lang="en-US" altLang="en-US" sz="2800" dirty="0"/>
          </a:p>
          <a:p>
            <a:pPr eaLnBrk="1" hangingPunct="1"/>
            <a:r>
              <a:rPr lang="en-US" altLang="en-US" sz="2800" dirty="0"/>
              <a:t>If the pipe is empty</a:t>
            </a:r>
            <a:endParaRPr lang="en-US" altLang="en-US" sz="2800" dirty="0"/>
          </a:p>
          <a:p>
            <a:pPr lvl="1" eaLnBrk="1" hangingPunct="1"/>
            <a:r>
              <a:rPr lang="en-US" altLang="en-US" sz="2400" dirty="0"/>
              <a:t>Reads on the pipe will return EOF (return value 0) if no process has the write end open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If some process has the pipe open for writing, read will block in anticipation of new data</a:t>
            </a:r>
            <a:endParaRPr lang="en-US" altLang="en-US" sz="2400" dirty="0"/>
          </a:p>
        </p:txBody>
      </p:sp>
      <p:sp>
        <p:nvSpPr>
          <p:cNvPr id="17412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Can you find the bug?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1112838"/>
            <a:ext cx="4343400" cy="4525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pipedemo2.c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illustrates a common programming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error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Neither the parent nor the child closes its write end 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 child never sees EOF!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6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  <p:sp>
        <p:nvSpPr>
          <p:cNvPr id="5" name="Content Placeholder 5"/>
          <p:cNvSpPr txBox="1"/>
          <p:nvPr/>
        </p:nvSpPr>
        <p:spPr bwMode="auto">
          <a:xfrm>
            <a:off x="228600" y="1371600"/>
            <a:ext cx="4648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/* continued */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if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((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pid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= fork()) &gt; 0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 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write(p[1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msg1, MSGSIZE);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write(p[1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msg2, MSGSIZE);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write(p[1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msg3, MSGSIZE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wait(NULL);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else {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while ((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nbytes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= 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read(p[0],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, MSGSIZE)) &gt; 0)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(“%s\n”,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if (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nbytes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!= 0)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exit(2);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(“Finished reading\n”);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return 0;</a:t>
            </a:r>
            <a:endParaRPr kumimoji="0" lang="en-US" altLang="en-US" sz="16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2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7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Modified second pipe example</a:t>
            </a:r>
            <a:endParaRPr lang="en-US" altLang="en-US" dirty="0"/>
          </a:p>
        </p:txBody>
      </p:sp>
      <p:sp>
        <p:nvSpPr>
          <p:cNvPr id="19459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  <p:sp>
        <p:nvSpPr>
          <p:cNvPr id="19460" name="Slide Number Placeholder 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  <p:sp>
        <p:nvSpPr>
          <p:cNvPr id="17" name="Content Placeholder 4"/>
          <p:cNvSpPr txBox="1"/>
          <p:nvPr/>
        </p:nvSpPr>
        <p:spPr bwMode="auto">
          <a:xfrm>
            <a:off x="152400" y="1295400"/>
            <a:ext cx="38100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#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define MSGSIZE 16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*msg1=“hello, world #1”;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*msg2=“hello, world #2”;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*msg3=“hello, world #3”;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main()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char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[MSGSIZE];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p[2], 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pid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, 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nbytes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if (pipe(p) &lt; 0)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  exit( 1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/* continued */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18" name="Content Placeholder 5"/>
          <p:cNvSpPr txBox="1"/>
          <p:nvPr/>
        </p:nvSpPr>
        <p:spPr bwMode="auto">
          <a:xfrm>
            <a:off x="3962400" y="1295400"/>
            <a:ext cx="54864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if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((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pid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= fork()) &gt; 0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 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write(p[1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msg1, MSGSIZE);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write(p[1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msg2, MSGSIZE);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write(p[1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msg3, MSGSIZE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close(p[1]);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wait(NULL);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else {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close(p[1]);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while ((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nbytes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= 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read(p[0],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, MSGSIZE)) &gt; 0)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(“%s\n”,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inbuf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if (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nbytes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!= 0) 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exit(2);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(“Finished reading\n”);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return 0;</a:t>
            </a:r>
            <a:endParaRPr kumimoji="0" lang="en-US" altLang="en-US" sz="1600" b="1" i="0" u="none" strike="noStrike" kern="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Atomic writes</a:t>
            </a:r>
            <a:endParaRPr lang="en-US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2800" dirty="0"/>
              <a:t>Atomic means no other process ever observes it partially done</a:t>
            </a:r>
            <a:endParaRPr lang="en-US" altLang="en-US" sz="2800" dirty="0"/>
          </a:p>
          <a:p>
            <a:r>
              <a:rPr lang="en-US" altLang="en-US" sz="2800" dirty="0"/>
              <a:t>Consequence: When multiple processes are writing to a pipe, the  messages won't get mixed up</a:t>
            </a:r>
            <a:endParaRPr lang="en-US" altLang="en-US" sz="2800" dirty="0"/>
          </a:p>
          <a:p>
            <a:pPr lvl="1"/>
            <a:r>
              <a:rPr lang="en-US" altLang="en-US" sz="2400" dirty="0"/>
              <a:t>Process 1 sends a 100-byte message</a:t>
            </a:r>
            <a:endParaRPr lang="en-US" altLang="en-US" sz="2400" dirty="0"/>
          </a:p>
          <a:p>
            <a:pPr lvl="1"/>
            <a:r>
              <a:rPr lang="en-US" altLang="en-US" sz="2400" dirty="0"/>
              <a:t>At the same time, process 2 sends a 100-byte message</a:t>
            </a:r>
            <a:endParaRPr lang="en-US" altLang="en-US" sz="2400" dirty="0"/>
          </a:p>
          <a:p>
            <a:pPr lvl="1"/>
            <a:r>
              <a:rPr lang="en-US" altLang="en-US" sz="2400" dirty="0"/>
              <a:t>No guarantee about the order, but pipe will receive all of one message followed by all of the other</a:t>
            </a:r>
            <a:endParaRPr lang="en-US" altLang="en-US" sz="2400" dirty="0"/>
          </a:p>
          <a:p>
            <a:endParaRPr lang="en-US" altLang="en-US" sz="2800" dirty="0"/>
          </a:p>
          <a:p>
            <a:endParaRPr lang="en-US" altLang="en-US" sz="2000" dirty="0"/>
          </a:p>
        </p:txBody>
      </p:sp>
      <p:sp>
        <p:nvSpPr>
          <p:cNvPr id="20484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264275"/>
            <a:ext cx="2133600" cy="365125"/>
          </a:xfrm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Non-atomic writes</a:t>
            </a:r>
            <a:endParaRPr lang="en-US" alt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2800" dirty="0"/>
              <a:t>Writes of up to PIPE_BUF (4096)  bytes are atomic</a:t>
            </a:r>
            <a:endParaRPr lang="en-US" altLang="en-US" sz="2800" dirty="0"/>
          </a:p>
          <a:p>
            <a:r>
              <a:rPr lang="en-US" altLang="en-US" sz="2800" dirty="0"/>
              <a:t>For larger writes there is no such guarantee, data could get confusingly intermingled</a:t>
            </a:r>
            <a:endParaRPr lang="en-US" altLang="en-US" sz="2800" dirty="0"/>
          </a:p>
          <a:p>
            <a:endParaRPr lang="en-US" altLang="en-US" sz="2000" dirty="0"/>
          </a:p>
        </p:txBody>
      </p:sp>
      <p:sp>
        <p:nvSpPr>
          <p:cNvPr id="21508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6553200" y="6264275"/>
            <a:ext cx="2133600" cy="365125"/>
          </a:xfrm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495800" y="4800600"/>
            <a:ext cx="1219200" cy="457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495800" y="5257800"/>
            <a:ext cx="1219200" cy="457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1752600" y="3276600"/>
            <a:ext cx="1066800" cy="6096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1143000" y="4267200"/>
            <a:ext cx="1066800" cy="6096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1828800" y="5181600"/>
            <a:ext cx="1066800" cy="6096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7239000" y="4724400"/>
            <a:ext cx="1066800" cy="6096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1515" name="Straight Arrow Connector 12"/>
          <p:cNvCxnSpPr>
            <a:stCxn id="7" idx="5"/>
          </p:cNvCxnSpPr>
          <p:nvPr/>
        </p:nvCxnSpPr>
        <p:spPr>
          <a:xfrm>
            <a:off x="2663825" y="3797300"/>
            <a:ext cx="1831975" cy="16129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516" name="Straight Arrow Connector 14"/>
          <p:cNvCxnSpPr>
            <a:stCxn id="8" idx="6"/>
            <a:endCxn id="6" idx="1"/>
          </p:cNvCxnSpPr>
          <p:nvPr/>
        </p:nvCxnSpPr>
        <p:spPr>
          <a:xfrm>
            <a:off x="2209800" y="4572000"/>
            <a:ext cx="2286000" cy="9144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517" name="Straight Arrow Connector 16"/>
          <p:cNvCxnSpPr>
            <a:stCxn id="9" idx="6"/>
          </p:cNvCxnSpPr>
          <p:nvPr/>
        </p:nvCxnSpPr>
        <p:spPr>
          <a:xfrm>
            <a:off x="2895600" y="5486400"/>
            <a:ext cx="1600200" cy="762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1518" name="Straight Arrow Connector 18"/>
          <p:cNvCxnSpPr>
            <a:stCxn id="5" idx="3"/>
            <a:endCxn id="10" idx="2"/>
          </p:cNvCxnSpPr>
          <p:nvPr/>
        </p:nvCxnSpPr>
        <p:spPr>
          <a:xfrm>
            <a:off x="5715000" y="5029200"/>
            <a:ext cx="1524000" cy="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1519" name="TextBox 21"/>
          <p:cNvSpPr txBox="1"/>
          <p:nvPr/>
        </p:nvSpPr>
        <p:spPr>
          <a:xfrm>
            <a:off x="3124200" y="3914775"/>
            <a:ext cx="16002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hello</a:t>
            </a: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ea typeface="Courier New" panose="02070409020205090404" pitchFamily="49" charset="0"/>
              </a:rPr>
              <a:t>…</a:t>
            </a:r>
            <a:endParaRPr lang="en-US" altLang="en-US" sz="2000" b="1" dirty="0">
              <a:solidFill>
                <a:srgbClr val="996633"/>
              </a:solidFill>
              <a:latin typeface="Courier New" panose="02070409020205090404" pitchFamily="49" charset="0"/>
              <a:ea typeface="Courier New" panose="02070409020205090404" pitchFamily="49" charset="0"/>
            </a:endParaRPr>
          </a:p>
        </p:txBody>
      </p:sp>
      <p:sp>
        <p:nvSpPr>
          <p:cNvPr id="21520" name="TextBox 22"/>
          <p:cNvSpPr txBox="1"/>
          <p:nvPr/>
        </p:nvSpPr>
        <p:spPr>
          <a:xfrm>
            <a:off x="2514600" y="4419600"/>
            <a:ext cx="16002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bye</a:t>
            </a: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ea typeface="Courier New" panose="02070409020205090404" pitchFamily="49" charset="0"/>
              </a:rPr>
              <a:t>…</a:t>
            </a:r>
            <a:endParaRPr lang="en-US" altLang="en-US" sz="2000" b="1" dirty="0">
              <a:solidFill>
                <a:srgbClr val="996633"/>
              </a:solidFill>
              <a:latin typeface="Courier New" panose="02070409020205090404" pitchFamily="49" charset="0"/>
              <a:ea typeface="Courier New" panose="02070409020205090404" pitchFamily="49" charset="0"/>
            </a:endParaRPr>
          </a:p>
        </p:txBody>
      </p:sp>
      <p:sp>
        <p:nvSpPr>
          <p:cNvPr id="21521" name="TextBox 23"/>
          <p:cNvSpPr txBox="1"/>
          <p:nvPr/>
        </p:nvSpPr>
        <p:spPr>
          <a:xfrm>
            <a:off x="2895600" y="5486400"/>
            <a:ext cx="16002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pizza</a:t>
            </a: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ea typeface="Courier New" panose="02070409020205090404" pitchFamily="49" charset="0"/>
              </a:rPr>
              <a:t>…</a:t>
            </a:r>
            <a:endParaRPr lang="en-US" altLang="en-US" sz="2000" b="1" dirty="0">
              <a:solidFill>
                <a:srgbClr val="996633"/>
              </a:solidFill>
              <a:latin typeface="Courier New" panose="02070409020205090404" pitchFamily="49" charset="0"/>
              <a:ea typeface="Courier New" panose="02070409020205090404" pitchFamily="49" charset="0"/>
            </a:endParaRPr>
          </a:p>
        </p:txBody>
      </p:sp>
      <p:sp>
        <p:nvSpPr>
          <p:cNvPr id="21522" name="TextBox 24"/>
          <p:cNvSpPr txBox="1"/>
          <p:nvPr/>
        </p:nvSpPr>
        <p:spPr>
          <a:xfrm>
            <a:off x="5715000" y="4629150"/>
            <a:ext cx="16002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hebypiz</a:t>
            </a: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ea typeface="Courier New" panose="02070409020205090404" pitchFamily="49" charset="0"/>
              </a:rPr>
              <a:t>…</a:t>
            </a:r>
            <a:endParaRPr lang="en-US" altLang="en-US" sz="2000" b="1" dirty="0">
              <a:solidFill>
                <a:srgbClr val="996633"/>
              </a:solidFill>
              <a:latin typeface="Courier New" panose="02070409020205090404" pitchFamily="49" charset="0"/>
              <a:ea typeface="Courier New" panose="02070409020205090404" pitchFamily="49" charset="0"/>
            </a:endParaRPr>
          </a:p>
        </p:txBody>
      </p:sp>
      <p:sp>
        <p:nvSpPr>
          <p:cNvPr id="21523" name="TextBox 25"/>
          <p:cNvSpPr txBox="1"/>
          <p:nvPr/>
        </p:nvSpPr>
        <p:spPr>
          <a:xfrm>
            <a:off x="1752600" y="3333750"/>
            <a:ext cx="12954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writer</a:t>
            </a:r>
            <a:endParaRPr lang="en-US" altLang="en-US" sz="2000" b="1" dirty="0">
              <a:solidFill>
                <a:srgbClr val="996633"/>
              </a:solidFill>
              <a:latin typeface="Courier New" panose="02070409020205090404" pitchFamily="49" charset="0"/>
              <a:ea typeface="Courier New" panose="02070409020205090404" pitchFamily="49" charset="0"/>
            </a:endParaRPr>
          </a:p>
        </p:txBody>
      </p:sp>
      <p:sp>
        <p:nvSpPr>
          <p:cNvPr id="21524" name="TextBox 26"/>
          <p:cNvSpPr txBox="1"/>
          <p:nvPr/>
        </p:nvSpPr>
        <p:spPr>
          <a:xfrm>
            <a:off x="1143000" y="4324350"/>
            <a:ext cx="12954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writer</a:t>
            </a:r>
            <a:endParaRPr lang="en-US" altLang="en-US" sz="2000" b="1" dirty="0">
              <a:solidFill>
                <a:srgbClr val="996633"/>
              </a:solidFill>
              <a:latin typeface="Courier New" panose="02070409020205090404" pitchFamily="49" charset="0"/>
              <a:ea typeface="Courier New" panose="02070409020205090404" pitchFamily="49" charset="0"/>
            </a:endParaRPr>
          </a:p>
        </p:txBody>
      </p:sp>
      <p:sp>
        <p:nvSpPr>
          <p:cNvPr id="21525" name="TextBox 27"/>
          <p:cNvSpPr txBox="1"/>
          <p:nvPr/>
        </p:nvSpPr>
        <p:spPr>
          <a:xfrm>
            <a:off x="1828800" y="5257800"/>
            <a:ext cx="12954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writer</a:t>
            </a:r>
            <a:endParaRPr lang="en-US" altLang="en-US" sz="2000" b="1" dirty="0">
              <a:solidFill>
                <a:srgbClr val="996633"/>
              </a:solidFill>
              <a:latin typeface="Courier New" panose="02070409020205090404" pitchFamily="49" charset="0"/>
              <a:ea typeface="Courier New" panose="02070409020205090404" pitchFamily="49" charset="0"/>
            </a:endParaRPr>
          </a:p>
        </p:txBody>
      </p:sp>
      <p:sp>
        <p:nvSpPr>
          <p:cNvPr id="21526" name="TextBox 28"/>
          <p:cNvSpPr txBox="1"/>
          <p:nvPr/>
        </p:nvSpPr>
        <p:spPr>
          <a:xfrm>
            <a:off x="7239000" y="4781550"/>
            <a:ext cx="12954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reader</a:t>
            </a:r>
            <a:endParaRPr lang="en-US" altLang="en-US" sz="2000" b="1" dirty="0">
              <a:solidFill>
                <a:srgbClr val="996633"/>
              </a:solidFill>
              <a:latin typeface="Courier New" panose="02070409020205090404" pitchFamily="49" charset="0"/>
              <a:ea typeface="Courier New" panose="0207040902020509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Non-atomic writes</a:t>
            </a:r>
            <a:endParaRPr lang="en-US" altLang="en-US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en-US" dirty="0"/>
              <a:t>Demo: pipedemo3.c</a:t>
            </a:r>
            <a:endParaRPr lang="en-US" altLang="en-US" dirty="0"/>
          </a:p>
        </p:txBody>
      </p:sp>
      <p:sp>
        <p:nvSpPr>
          <p:cNvPr id="22532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Pipe capacity</a:t>
            </a:r>
            <a:endParaRPr lang="en-US" altLang="en-US" dirty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US" altLang="en-US" sz="2800" dirty="0"/>
              <a:t>There is a limit to the number of bytes a pipe can hold</a:t>
            </a:r>
            <a:endParaRPr lang="en-US" altLang="en-US" sz="2800" dirty="0"/>
          </a:p>
          <a:p>
            <a:r>
              <a:rPr lang="en-US" altLang="en-US" sz="2800" dirty="0"/>
              <a:t>Writes fill the pipe and block when the pipe is full</a:t>
            </a:r>
            <a:endParaRPr lang="en-US" altLang="en-US" sz="2800" dirty="0"/>
          </a:p>
          <a:p>
            <a:pPr lvl="1"/>
            <a:r>
              <a:rPr lang="en-US" altLang="en-US" sz="2400" dirty="0"/>
              <a:t>They block until another process reads enough data at the other end of the pipe and return when all the data given to write have been transmitted</a:t>
            </a:r>
            <a:endParaRPr lang="en-US" altLang="en-US" sz="2400" dirty="0"/>
          </a:p>
          <a:p>
            <a:r>
              <a:rPr lang="en-US" altLang="en-US" sz="2800" dirty="0"/>
              <a:t>Capacity of a pipe is at least 512 bytes, usually more (system dependent)</a:t>
            </a:r>
            <a:endParaRPr lang="en-US" altLang="en-US" sz="2800" dirty="0"/>
          </a:p>
          <a:p>
            <a:endParaRPr lang="en-US" altLang="en-US" sz="2800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3556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dirty="0"/>
              <a:t>Program to find pipe capacity </a:t>
            </a:r>
            <a:endParaRPr lang="en-US" altLang="en-US" dirty="0"/>
          </a:p>
        </p:txBody>
      </p:sp>
      <p:sp>
        <p:nvSpPr>
          <p:cNvPr id="24579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200" b="1" dirty="0">
                <a:solidFill>
                  <a:srgbClr val="898989"/>
                </a:solidFill>
                <a:latin typeface="Arial" panose="020B0604020202090204" pitchFamily="34" charset="0"/>
              </a:rPr>
            </a:fld>
            <a:endParaRPr lang="en-US" altLang="en-US" sz="1200" b="1" dirty="0">
              <a:solidFill>
                <a:srgbClr val="898989"/>
              </a:solidFill>
              <a:latin typeface="Arial" panose="020B0604020202090204" pitchFamily="34" charset="0"/>
            </a:endParaRPr>
          </a:p>
        </p:txBody>
      </p:sp>
      <p:sp>
        <p:nvSpPr>
          <p:cNvPr id="7" name="Content Placeholder 4"/>
          <p:cNvSpPr txBox="1"/>
          <p:nvPr/>
        </p:nvSpPr>
        <p:spPr bwMode="auto">
          <a:xfrm>
            <a:off x="152400" y="1447800"/>
            <a:ext cx="43434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count;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void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alrm_action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signo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("Write blocked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after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%d characters\n",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count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exit(0);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8" name="Content Placeholder 4"/>
          <p:cNvSpPr txBox="1"/>
          <p:nvPr/>
        </p:nvSpPr>
        <p:spPr bwMode="auto">
          <a:xfrm>
            <a:off x="4495800" y="1417638"/>
            <a:ext cx="41148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main() 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p[2];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char c = 'x';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signal(SIGALRM,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alrm_action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if (pipe(p) == -1)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exit(1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while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(1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 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alarm(5);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write(p[1], &amp;c, 1);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++count;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alarm(0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}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24582" name="TextBox 8"/>
          <p:cNvSpPr txBox="1"/>
          <p:nvPr/>
        </p:nvSpPr>
        <p:spPr>
          <a:xfrm>
            <a:off x="7010400" y="6138863"/>
            <a:ext cx="15240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996633"/>
                </a:solidFill>
                <a:latin typeface="Arial" panose="020B0604020202090204" pitchFamily="34" charset="0"/>
              </a:rPr>
              <a:t>pipedemo4.c</a:t>
            </a:r>
            <a:endParaRPr lang="en-US" altLang="en-US" sz="1600" b="1" dirty="0">
              <a:solidFill>
                <a:srgbClr val="996633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Non-blocking I/O with pipes</a:t>
            </a:r>
            <a:endParaRPr lang="en-US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Sometimes it's convenient to have I/O that doesn't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block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Process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checking two different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pipes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Don't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want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read call 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block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one in case of input from the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other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en-US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endParaRPr kumimoji="0" lang="en-US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en-US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4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Non-blocking I/O with pipes</a:t>
            </a:r>
            <a:endParaRPr lang="en-US" alt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specify non-blocking option: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fd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…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</a:t>
            </a:r>
            <a:r>
              <a:rPr kumimoji="0" lang="en-US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fcntl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</a:t>
            </a:r>
            <a:r>
              <a:rPr kumimoji="0" lang="en-US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fd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, F_SETFL,O_NONBLOCK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;</a:t>
            </a:r>
            <a:endParaRPr kumimoji="0" lang="en-US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Courier New" panose="02070409020205090404" pitchFamily="49" charset="0"/>
              </a:rPr>
              <a:t>A call to read/write returns -1 if pipe empty/full and sets 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Courier New" panose="02070409020205090404" pitchFamily="49" charset="0"/>
              </a:rPr>
              <a:t>errno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Courier New" panose="02070409020205090404" pitchFamily="49" charset="0"/>
              </a:rPr>
              <a:t> to EAGAIN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Courier New" panose="0207040902020509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en-US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–"/>
              <a:defRPr/>
            </a:pPr>
            <a:endParaRPr kumimoji="0" lang="en-US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en-US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8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Non-blocking read example</a:t>
            </a:r>
            <a:endParaRPr lang="en-US" altLang="en-US" dirty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sz="2800" dirty="0"/>
              <a:t>Child writes “hello” to parent every 3 seconds</a:t>
            </a:r>
            <a:endParaRPr lang="en-US" altLang="en-US" sz="2800" dirty="0"/>
          </a:p>
          <a:p>
            <a:pPr eaLnBrk="1" hangingPunct="1"/>
            <a:r>
              <a:rPr lang="en-US" altLang="en-US" sz="2800" dirty="0"/>
              <a:t>Parent does a non-blocking read each second</a:t>
            </a:r>
            <a:endParaRPr lang="en-US" altLang="en-US" sz="2800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27652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533400" y="3562350"/>
            <a:ext cx="1676400" cy="6286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54" name="TextBox 5"/>
          <p:cNvSpPr txBox="1"/>
          <p:nvPr/>
        </p:nvSpPr>
        <p:spPr>
          <a:xfrm>
            <a:off x="838200" y="3638550"/>
            <a:ext cx="16002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Arial" panose="020B0604020202090204" pitchFamily="34" charset="0"/>
              </a:rPr>
              <a:t> child</a:t>
            </a:r>
            <a:endParaRPr lang="en-US" altLang="en-US" sz="2000" b="1" dirty="0">
              <a:solidFill>
                <a:srgbClr val="996633"/>
              </a:solidFill>
              <a:latin typeface="Arial" panose="020B0604020202090204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191000" y="3352800"/>
            <a:ext cx="990600" cy="457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4191000" y="3810000"/>
            <a:ext cx="990600" cy="47148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7657" name="Straight Arrow Connector 11"/>
          <p:cNvCxnSpPr/>
          <p:nvPr/>
        </p:nvCxnSpPr>
        <p:spPr>
          <a:xfrm>
            <a:off x="2057400" y="4046538"/>
            <a:ext cx="2133600" cy="144462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658" name="TextBox 14"/>
          <p:cNvSpPr txBox="1"/>
          <p:nvPr/>
        </p:nvSpPr>
        <p:spPr>
          <a:xfrm>
            <a:off x="4267200" y="2952750"/>
            <a:ext cx="10668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Arial" panose="020B0604020202090204" pitchFamily="34" charset="0"/>
              </a:rPr>
              <a:t>pipe p</a:t>
            </a:r>
            <a:endParaRPr lang="en-US" altLang="en-US" sz="2000" b="1" dirty="0">
              <a:solidFill>
                <a:srgbClr val="996633"/>
              </a:solidFill>
              <a:latin typeface="Arial" panose="020B0604020202090204" pitchFamily="34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6705600" y="3562350"/>
            <a:ext cx="1676400" cy="62865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rgbClr val="9966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60" name="TextBox 14"/>
          <p:cNvSpPr txBox="1"/>
          <p:nvPr/>
        </p:nvSpPr>
        <p:spPr>
          <a:xfrm>
            <a:off x="7010400" y="3638550"/>
            <a:ext cx="16002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Arial" panose="020B0604020202090204" pitchFamily="34" charset="0"/>
              </a:rPr>
              <a:t>  parent</a:t>
            </a:r>
            <a:endParaRPr lang="en-US" altLang="en-US" sz="2000" b="1" dirty="0">
              <a:solidFill>
                <a:srgbClr val="996633"/>
              </a:solidFill>
              <a:latin typeface="Arial" panose="020B0604020202090204" pitchFamily="34" charset="0"/>
            </a:endParaRPr>
          </a:p>
        </p:txBody>
      </p:sp>
      <p:cxnSp>
        <p:nvCxnSpPr>
          <p:cNvPr id="27661" name="Straight Arrow Connector 15"/>
          <p:cNvCxnSpPr/>
          <p:nvPr/>
        </p:nvCxnSpPr>
        <p:spPr>
          <a:xfrm>
            <a:off x="5181600" y="3448050"/>
            <a:ext cx="1828800" cy="20955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662" name="TextBox 15"/>
          <p:cNvSpPr txBox="1"/>
          <p:nvPr/>
        </p:nvSpPr>
        <p:spPr>
          <a:xfrm>
            <a:off x="5143500" y="3486150"/>
            <a:ext cx="10287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Arial" panose="020B0604020202090204" pitchFamily="34" charset="0"/>
              </a:rPr>
              <a:t>p[0]</a:t>
            </a:r>
            <a:endParaRPr lang="en-US" altLang="en-US" sz="2000" b="1" dirty="0">
              <a:solidFill>
                <a:srgbClr val="996633"/>
              </a:solidFill>
              <a:latin typeface="Arial" panose="020B0604020202090204" pitchFamily="34" charset="0"/>
            </a:endParaRPr>
          </a:p>
        </p:txBody>
      </p:sp>
      <p:sp>
        <p:nvSpPr>
          <p:cNvPr id="27663" name="TextBox 15"/>
          <p:cNvSpPr txBox="1"/>
          <p:nvPr/>
        </p:nvSpPr>
        <p:spPr>
          <a:xfrm>
            <a:off x="3505200" y="4248150"/>
            <a:ext cx="10287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Arial" panose="020B0604020202090204" pitchFamily="34" charset="0"/>
              </a:rPr>
              <a:t>p[1]</a:t>
            </a:r>
            <a:endParaRPr lang="en-US" altLang="en-US" sz="2000" b="1" dirty="0">
              <a:solidFill>
                <a:srgbClr val="996633"/>
              </a:solidFill>
              <a:latin typeface="Arial" panose="020B0604020202090204" pitchFamily="34" charset="0"/>
            </a:endParaRPr>
          </a:p>
        </p:txBody>
      </p:sp>
      <p:sp>
        <p:nvSpPr>
          <p:cNvPr id="27664" name="TextBox 15"/>
          <p:cNvSpPr txBox="1"/>
          <p:nvPr/>
        </p:nvSpPr>
        <p:spPr>
          <a:xfrm>
            <a:off x="2743200" y="3733800"/>
            <a:ext cx="1143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solidFill>
                  <a:srgbClr val="996633"/>
                </a:solidFill>
                <a:latin typeface="Courier New" panose="02070409020205090404" pitchFamily="49" charset="0"/>
                <a:cs typeface="Courier New" panose="02070409020205090404" pitchFamily="49" charset="0"/>
              </a:rPr>
              <a:t>hello</a:t>
            </a:r>
            <a:endParaRPr lang="en-US" altLang="en-US" sz="2000" b="1" dirty="0">
              <a:solidFill>
                <a:srgbClr val="996633"/>
              </a:solidFill>
              <a:latin typeface="Courier New" panose="02070409020205090404" pitchFamily="49" charset="0"/>
              <a:ea typeface="Courier New" panose="0207040902020509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Non blocking read example</a:t>
            </a:r>
            <a:endParaRPr lang="en-US" altLang="en-US" dirty="0"/>
          </a:p>
        </p:txBody>
      </p:sp>
      <p:sp>
        <p:nvSpPr>
          <p:cNvPr id="28675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  <p:sp>
        <p:nvSpPr>
          <p:cNvPr id="7" name="Content Placeholder 4"/>
          <p:cNvSpPr txBox="1"/>
          <p:nvPr/>
        </p:nvSpPr>
        <p:spPr bwMode="auto">
          <a:xfrm>
            <a:off x="152400" y="1295400"/>
            <a:ext cx="43434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#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define MSGSIZE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6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*msg1=“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hello”;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char *msg2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=“bye!!”;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main()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p[2], </a:t>
            </a:r>
            <a:r>
              <a:rPr kumimoji="0" lang="en-US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;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if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(pipe(p) &lt; 0)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exit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( 1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if (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fcntl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(p[0], F_SETFL,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       O_NONBLOCK) &lt; 0)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exit(2);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/* continued */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8" name="Content Placeholder 5"/>
          <p:cNvSpPr txBox="1"/>
          <p:nvPr/>
        </p:nvSpPr>
        <p:spPr bwMode="auto">
          <a:xfrm>
            <a:off x="4419600" y="1295400"/>
            <a:ext cx="47244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switch(fork())  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{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case -1:  /* error */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exit(3);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case 0: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</a:t>
            </a:r>
            <a:r>
              <a:rPr kumimoji="0" lang="en-US" alt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child_write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(p);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break;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default:  </a:t>
            </a:r>
            <a:endParaRPr kumimoji="0" lang="en-US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</a:t>
            </a:r>
            <a:r>
              <a:rPr kumimoji="0" lang="en-US" alt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parent_read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(p);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break;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} 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return 0;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</p:txBody>
      </p:sp>
      <p:sp>
        <p:nvSpPr>
          <p:cNvPr id="28678" name="TextBox 8"/>
          <p:cNvSpPr txBox="1"/>
          <p:nvPr/>
        </p:nvSpPr>
        <p:spPr>
          <a:xfrm>
            <a:off x="7010400" y="6138863"/>
            <a:ext cx="1524000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996633"/>
                </a:solidFill>
                <a:latin typeface="Arial" panose="020B0604020202090204" pitchFamily="34" charset="0"/>
              </a:rPr>
              <a:t>pipedemo5.c</a:t>
            </a:r>
            <a:endParaRPr lang="en-US" altLang="en-US" sz="1600" b="1" dirty="0">
              <a:solidFill>
                <a:srgbClr val="996633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parent_read</a:t>
            </a:r>
            <a:endParaRPr lang="en-US" altLang="en-US" dirty="0"/>
          </a:p>
        </p:txBody>
      </p:sp>
      <p:sp>
        <p:nvSpPr>
          <p:cNvPr id="29699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  <p:sp>
        <p:nvSpPr>
          <p:cNvPr id="7" name="Content Placeholder 4"/>
          <p:cNvSpPr txBox="1"/>
          <p:nvPr/>
        </p:nvSpPr>
        <p:spPr bwMode="auto">
          <a:xfrm>
            <a:off x="152400" y="1295400"/>
            <a:ext cx="53340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void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parent_read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p[])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{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nread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char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buf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[MSGSIZE];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close(p[1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]); /* write link */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while(1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{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</a:t>
            </a:r>
            <a:r>
              <a:rPr kumimoji="0" lang="en-US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nread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= read(p[0],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buf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, MSGSIZE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switch(</a:t>
            </a:r>
            <a:r>
              <a:rPr kumimoji="0" lang="en-US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nread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{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case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-1: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if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errno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== EAGAIN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 {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  </a:t>
            </a:r>
            <a:r>
              <a:rPr kumimoji="0" lang="en-US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(“(pipe empty)\n”);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  sleep(1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  break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}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else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{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  </a:t>
            </a:r>
            <a:r>
              <a:rPr kumimoji="0" lang="en-US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perror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</a:t>
            </a: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read”);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  exit(4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 }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8" name="Content Placeholder 5"/>
          <p:cNvSpPr txBox="1"/>
          <p:nvPr/>
        </p:nvSpPr>
        <p:spPr bwMode="auto">
          <a:xfrm>
            <a:off x="4419600" y="1295400"/>
            <a:ext cx="48768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</a:t>
            </a:r>
            <a:r>
              <a:rPr kumimoji="0" lang="en-US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</a:t>
            </a:r>
            <a:endParaRPr kumimoji="0" lang="en-US" altLang="en-US" sz="1400" b="1" i="0" u="none" strike="noStrike" kern="120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case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0: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</a:t>
            </a:r>
            <a:r>
              <a:rPr kumimoji="0" lang="en-US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(“End of conversation\n”);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close(p[0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]); /* read link */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exit(0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default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: /* text read */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</a:t>
            </a:r>
            <a:r>
              <a:rPr kumimoji="0" lang="en-US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printf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(“MSG=%s\n”,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buf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}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}</a:t>
            </a:r>
            <a:endParaRPr kumimoji="0" lang="en-US" altLang="en-US" sz="1400" b="1" i="0" u="none" strike="noStrike" kern="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}</a:t>
            </a:r>
            <a:endParaRPr kumimoji="0" lang="en-US" altLang="en-US" sz="1400" b="1" i="0" u="none" strike="noStrike" kern="0" cap="none" spc="0" normalizeH="0" baseline="0" noProof="0" dirty="0" smtClean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child_write</a:t>
            </a:r>
            <a:endParaRPr lang="en-US" altLang="en-US" dirty="0"/>
          </a:p>
        </p:txBody>
      </p:sp>
      <p:sp>
        <p:nvSpPr>
          <p:cNvPr id="30723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  <p:sp>
        <p:nvSpPr>
          <p:cNvPr id="5" name="Content Placeholder 4"/>
          <p:cNvSpPr txBox="1"/>
          <p:nvPr/>
        </p:nvSpPr>
        <p:spPr bwMode="auto">
          <a:xfrm>
            <a:off x="152400" y="1295400"/>
            <a:ext cx="7772400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void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child_write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p[])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{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int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close(p[0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]); /* read link */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for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=0;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&lt;3;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i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++)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{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write(p[1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], msg1, MSGSIZE);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  sleep(3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}</a:t>
            </a:r>
            <a:endParaRPr kumimoji="0" lang="en-US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write(p[1], msg2, MSGSIZE);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exit(0);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dirty="0"/>
              <a:t>Output</a:t>
            </a:r>
            <a:endParaRPr lang="en-US" altLang="en-US" dirty="0"/>
          </a:p>
        </p:txBody>
      </p:sp>
      <p:sp>
        <p:nvSpPr>
          <p:cNvPr id="31747" name="Slide Number Placeholder 3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p>
            <a:pPr marL="0" indent="0" algn="r" eaLnBrk="1" hangingPunct="1">
              <a:spcBef>
                <a:spcPct val="0"/>
              </a:spcBef>
              <a:buFontTx/>
              <a:buNone/>
            </a:pPr>
            <a:fld id="{9A0DB2DC-4C9A-4742-B13C-FB6460FD3503}" type="slidenum">
              <a:rPr lang="en-US" altLang="en-US" sz="1400" b="1" dirty="0">
                <a:latin typeface="Arial" panose="020B0604020202090204" pitchFamily="34" charset="0"/>
              </a:rPr>
            </a:fld>
            <a:endParaRPr lang="en-US" altLang="en-US" sz="1400" b="1" dirty="0">
              <a:latin typeface="Arial" panose="020B0604020202090204" pitchFamily="34" charset="0"/>
            </a:endParaRPr>
          </a:p>
        </p:txBody>
      </p:sp>
      <p:sp>
        <p:nvSpPr>
          <p:cNvPr id="5" name="Content Placeholder 4"/>
          <p:cNvSpPr txBox="1"/>
          <p:nvPr/>
        </p:nvSpPr>
        <p:spPr bwMode="auto">
          <a:xfrm>
            <a:off x="685800" y="1447800"/>
            <a:ext cx="31242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empty)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MSG=hello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 empty)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 empty)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 empty)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MSG=hello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 empty)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 empty)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 empty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MSG=hello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  <p:sp>
        <p:nvSpPr>
          <p:cNvPr id="7" name="Content Placeholder 4"/>
          <p:cNvSpPr txBox="1"/>
          <p:nvPr/>
        </p:nvSpPr>
        <p:spPr bwMode="auto">
          <a:xfrm>
            <a:off x="4191000" y="1447800"/>
            <a:ext cx="37338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74625" indent="-174625" algn="l" rtl="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81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" panose="05000000000000000000" pitchFamily="2" charset="2"/>
              <a:buChar char="w"/>
              <a:defRPr sz="2400" b="1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10337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3pPr>
            <a:lvl4pPr marL="1438275" indent="-29083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4pPr>
            <a:lvl5pPr marL="1833880" indent="-28130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5pPr>
            <a:lvl6pPr marL="22910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6pPr>
            <a:lvl7pPr marL="27482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7pPr>
            <a:lvl8pPr marL="32054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8pPr>
            <a:lvl9pPr marL="3662680" indent="-281305" algn="l" rtl="0" fontAlgn="base">
              <a:spcBef>
                <a:spcPct val="20000"/>
              </a:spcBef>
              <a:spcAft>
                <a:spcPct val="0"/>
              </a:spcAft>
              <a:buChar char="»"/>
              <a:defRPr sz="1800" b="1">
                <a:solidFill>
                  <a:schemeClr val="hlink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pipe empty)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 empty)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(pipe empty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)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MSG=bye!!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End of conversation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385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Courier New" panose="02070409020205090404" pitchFamily="49" charset="0"/>
                <a:ea typeface="+mn-ea"/>
                <a:cs typeface="Courier New" panose="02070409020205090404" pitchFamily="49" charset="0"/>
              </a:rPr>
              <a:t>       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336600"/>
              </a:solidFill>
              <a:effectLst/>
              <a:uLnTx/>
              <a:uFillTx/>
              <a:latin typeface="Courier New" panose="02070409020205090404" pitchFamily="49" charset="0"/>
              <a:ea typeface="+mn-ea"/>
              <a:cs typeface="Courier New" panose="0207040902020509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Verdana" panose="020B0804030504040204"/>
              <a:ea typeface="+mn-ea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7404</Words>
  <Application>WPS Presentation</Application>
  <PresentationFormat>On-screen Show (4:3)</PresentationFormat>
  <Paragraphs>537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56" baseType="lpstr">
      <vt:lpstr>Arial</vt:lpstr>
      <vt:lpstr>SimSun</vt:lpstr>
      <vt:lpstr>Wingdings</vt:lpstr>
      <vt:lpstr>Calibri</vt:lpstr>
      <vt:lpstr>Helvetica Neue</vt:lpstr>
      <vt:lpstr>Calibri Bold</vt:lpstr>
      <vt:lpstr>Thonburi</vt:lpstr>
      <vt:lpstr>ヒラギノ角ゴ ProN W6</vt:lpstr>
      <vt:lpstr>Wingdings 2</vt:lpstr>
      <vt:lpstr>ヒラギノ角ゴ ProN W3</vt:lpstr>
      <vt:lpstr>Gill Sans</vt:lpstr>
      <vt:lpstr>Courier New</vt:lpstr>
      <vt:lpstr>MS PGothic</vt:lpstr>
      <vt:lpstr>冬青黑体简体中文</vt:lpstr>
      <vt:lpstr>Arial Narrow</vt:lpstr>
      <vt:lpstr>Verdana</vt:lpstr>
      <vt:lpstr>Malgun Gothic</vt:lpstr>
      <vt:lpstr>Apple SD Gothic Neo</vt:lpstr>
      <vt:lpstr>Gill Sans</vt:lpstr>
      <vt:lpstr>Calibri Bold</vt:lpstr>
      <vt:lpstr>苹方-简</vt:lpstr>
      <vt:lpstr>MS PGothic</vt:lpstr>
      <vt:lpstr>Verdana</vt:lpstr>
      <vt:lpstr>Arial</vt:lpstr>
      <vt:lpstr>Malgun Gothic</vt:lpstr>
      <vt:lpstr>Microsoft YaHei</vt:lpstr>
      <vt:lpstr>汉仪旗黑</vt:lpstr>
      <vt:lpstr>Arial Unicode MS</vt:lpstr>
      <vt:lpstr>宋体-简</vt:lpstr>
      <vt:lpstr>Office Theme</vt:lpstr>
      <vt:lpstr>Title and Content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DAIICT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control</dc:title>
  <dc:creator>200391003</dc:creator>
  <cp:lastModifiedBy>2025 12100</cp:lastModifiedBy>
  <cp:revision>729</cp:revision>
  <cp:lastPrinted>2026-03-14T06:54:19Z</cp:lastPrinted>
  <dcterms:created xsi:type="dcterms:W3CDTF">2026-03-14T06:54:19Z</dcterms:created>
  <dcterms:modified xsi:type="dcterms:W3CDTF">2026-03-14T06:54:19Z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AA5804C62C6901761B06B569AA025D0C_43</vt:lpwstr>
  </property>
  <property fmtid="{D5CDD505-2E9C-101B-9397-08002B2CF9AE}" pid="3" name="KSOProductBuildVer">
    <vt:lpwstr>1033-12.1.23155.23155</vt:lpwstr>
  </property>
</Properties>
</file>