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401" r:id="rId3"/>
    <p:sldId id="402" r:id="rId4"/>
    <p:sldId id="302" r:id="rId5"/>
    <p:sldId id="303" r:id="rId6"/>
    <p:sldId id="304" r:id="rId7"/>
    <p:sldId id="305" r:id="rId8"/>
    <p:sldId id="403" r:id="rId9"/>
    <p:sldId id="404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405" r:id="rId29"/>
    <p:sldId id="324" r:id="rId30"/>
    <p:sldId id="325" r:id="rId31"/>
    <p:sldId id="326" r:id="rId32"/>
    <p:sldId id="32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t Mankodi" initials="AM" lastIdx="1" clrIdx="0">
    <p:extLst>
      <p:ext uri="{19B8F6BF-5375-455C-9EA6-DF929625EA0E}">
        <p15:presenceInfo xmlns="" xmlns:p15="http://schemas.microsoft.com/office/powerpoint/2012/main" userId="15f90b9ae5a7911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87" d="100"/>
          <a:sy n="87" d="100"/>
        </p:scale>
        <p:origin x="-115" y="-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36C1B-9880-4636-9E11-A52C244A9EC4}" type="datetimeFigureOut">
              <a:rPr lang="en-US" smtClean="0"/>
              <a:pPr/>
              <a:t>11/4/2020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3EFD1-752C-4F70-B913-B38A5EBF4C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005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CE1806-38DA-447D-A4B6-C420C6106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F89ECCC-50C5-4F48-8DED-1C94072E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4CF24E3-0AF8-45B7-B279-06AAC06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036-60AD-471D-805A-CD56295DF547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A937CE-F340-473F-B98A-C1F83AC9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4D68E85-362E-42F6-A005-469F0A31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094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3ADDD6-C8D3-49D6-818E-6D4E8F55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17129AF-69A3-4D8D-91C8-25B6B521E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338857E-D76C-42AD-97B5-FE0FA456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4B49-C299-49E3-8146-EAD2D0A4BBB9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ECBBDD-27A3-4F6F-A084-83A5CE1E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A601D6-423A-4F07-BCC6-F2F73CD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5100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FD5E4F-9EDB-42F1-BFA2-271AFDD9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E50236E-0CBF-46E8-BF54-61C80A68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3C5A937-D41B-4CAB-BB59-C8E40FC6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C03B-F85B-4C18-A5B7-A1798B14B50D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8BC4D22-4DB1-47CD-8A2D-898156D5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B5539BC-63AF-4AB4-8D0C-53A52CD9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42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42B815-0BC7-438A-B992-3F612399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463342-710B-45D0-AC3B-A7BBDE55C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7D0A96C-77A1-441A-867D-F2FE3F4B1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642CAE5-C13C-4813-9746-9C0A658B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CFD99-19BD-4EF6-86E0-7B7047C34E85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590ECBB-F3BE-495E-8994-8A80A8F1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BFB23AC-9D16-4319-A791-925D2DB9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1978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B800C1-479C-4550-B6E6-82F1E87C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E71884-FF53-4689-812E-9A1F9EAA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66F599E-8B8F-499E-9BFE-62DAD9CDE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470C640-2C79-42AE-802A-E616FC442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2E6C772-E955-4A0F-9F92-43382ACCB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4D16492-7F9A-4F20-AE69-AE512424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1010D-C60C-47B5-A49F-77B8766F6ECA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F61B09E-A0C4-447F-9C25-26AD1080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8E658D6-ECC7-406B-BFDA-7453C67A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7492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EEE4E4-00CA-47D6-B7FA-A707F845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B23D389-F574-467E-B02C-F92FF5CA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546D-CBB1-49DE-B878-ACE514108BDF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10F0162-FBA6-417F-A6F3-8B544B70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B3055DE-70C7-4161-8FC4-75470503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5283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C096E50-3E23-43CA-8EC6-D2313F21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2B07-6B8F-4FDA-9812-D7C5832C620F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654134A-79EB-4AC1-AC98-00401C0A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E294F56-D6BB-4D1F-9E33-EC7E4528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469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5D057A-99D7-46C8-8062-CE9AF94C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61D1B2-9E59-4644-AE1C-E49E4A85C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540A87A-10B8-4858-B5E4-45D033675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8FA4385-A582-43FD-9F4F-87C93D01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2976-1D24-4B33-B395-81663659CB81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934FDC9-56AF-4B04-8AE2-E153BAB5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D72F9C3-75EC-454F-ACD7-1693E41E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2465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7905E7-BC45-4F2C-A511-E3AAAB0B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10C12BC-D0FB-4181-A2A0-EE68E2887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0ED24A8-F299-4C0A-BE3D-109DDC16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6F00099-777C-43BA-9D53-ACF52029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8661-5549-453F-84CC-169E2372B055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BD55B84-A97D-4B06-8EF5-B5D5370A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75D0024-C3BE-42F4-9EF3-4A86604F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5137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6ECABB-FD66-4ABE-AE07-16B0B151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CF59014-E73A-4644-A233-1A557C86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B5C153-1FAE-4E39-8CA5-BF753709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E2AB-80B1-4E5E-9AE0-5242CA6B93C5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37A0AC2-3A25-40E2-8577-AEF20F1D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EBBAF9-9427-464F-83CD-1BF6E1FE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68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DFFBBB2-313B-41F5-AA26-7F0F8DDA9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B4E6E7D-46AC-4F54-951F-7CC5B9560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379C3F-8555-4D0B-BD5F-0864F9C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419C-CE29-41C2-B479-2FCB5AB74B61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6718780-3DE8-444F-BA8D-5CF43931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7F3D89-609C-4CE3-9E9F-E3C01CB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6103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ADCA424-95C8-4175-BC51-B72FC14B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BEFA02A-4435-48D1-9ED5-F69E8646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238AA2-A710-4411-A3D3-FF02FBE1D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E9360-21A5-4876-9D6A-1C0C6AEB4516}" type="datetime1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CE39033-BB70-4E2D-B670-586CCB5F3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D34EA8-C3B4-43C3-9B95-200AEE10B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5124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570310-C4CF-4FD8-AEBE-00CC25A2D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Algorithms </a:t>
            </a:r>
            <a:r>
              <a:rPr lang="en-US" dirty="0"/>
              <a:t>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8714E8C-9AE5-45FA-9AF6-9980CF3F8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Graph BFS</a:t>
            </a:r>
          </a:p>
          <a:p>
            <a:r>
              <a:rPr lang="en-US" sz="1600" dirty="0"/>
              <a:t>Notes referred from Prof Anish </a:t>
            </a:r>
            <a:r>
              <a:rPr lang="en-US" sz="1600" dirty="0" err="1"/>
              <a:t>Maturia’s</a:t>
            </a:r>
            <a:r>
              <a:rPr lang="en-US" sz="1600" dirty="0"/>
              <a:t> lectures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="" xmlns:p14="http://schemas.microsoft.com/office/powerpoint/2010/main" val="324036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DFCE31-C150-40AE-8F4A-8FF2DF2A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4B4C81-1B9C-4D90-B99E-6CFE8E24B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Representation of graphs</a:t>
            </a:r>
          </a:p>
          <a:p>
            <a:r>
              <a:rPr lang="en-US" dirty="0"/>
              <a:t>Breadth-first search</a:t>
            </a:r>
          </a:p>
          <a:p>
            <a:r>
              <a:rPr lang="en-US" dirty="0"/>
              <a:t>Depth-first search</a:t>
            </a:r>
          </a:p>
          <a:p>
            <a:r>
              <a:rPr lang="en-US" dirty="0"/>
              <a:t>Topological sort</a:t>
            </a:r>
          </a:p>
          <a:p>
            <a:r>
              <a:rPr lang="en-US" dirty="0"/>
              <a:t>Single-source shortest paths</a:t>
            </a:r>
          </a:p>
          <a:p>
            <a:r>
              <a:rPr lang="en-US" dirty="0"/>
              <a:t>Finding minimum-spanning trees</a:t>
            </a:r>
          </a:p>
          <a:p>
            <a:r>
              <a:rPr lang="en-US" dirty="0"/>
              <a:t>Main reference: Introduction to Algorithms, </a:t>
            </a:r>
            <a:r>
              <a:rPr lang="en-US" dirty="0" err="1"/>
              <a:t>Cormen</a:t>
            </a:r>
            <a:r>
              <a:rPr lang="en-US" dirty="0"/>
              <a:t>, </a:t>
            </a:r>
            <a:r>
              <a:rPr lang="en-US" dirty="0" err="1"/>
              <a:t>Leiserson</a:t>
            </a:r>
            <a:r>
              <a:rPr lang="en-US" dirty="0"/>
              <a:t>, </a:t>
            </a:r>
            <a:r>
              <a:rPr lang="en-US" dirty="0" err="1"/>
              <a:t>Rivest</a:t>
            </a:r>
            <a:r>
              <a:rPr lang="en-US" dirty="0"/>
              <a:t>, Stein (CLRS)</a:t>
            </a:r>
          </a:p>
          <a:p>
            <a:pPr lvl="1"/>
            <a:r>
              <a:rPr lang="en-US" dirty="0"/>
              <a:t>22.1-22.4</a:t>
            </a:r>
          </a:p>
          <a:p>
            <a:pPr lvl="1"/>
            <a:r>
              <a:rPr lang="en-US" dirty="0"/>
              <a:t>24.1-24.2</a:t>
            </a:r>
          </a:p>
          <a:p>
            <a:pPr lvl="1"/>
            <a:r>
              <a:rPr lang="en-US" dirty="0"/>
              <a:t>23.1-23.2</a:t>
            </a:r>
          </a:p>
        </p:txBody>
      </p:sp>
    </p:spTree>
    <p:extLst>
      <p:ext uri="{BB962C8B-B14F-4D97-AF65-F5344CB8AC3E}">
        <p14:creationId xmlns="" xmlns:p14="http://schemas.microsoft.com/office/powerpoint/2010/main" val="413573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0338A8-2CBD-4EDC-AF18-D90A7CD7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0244FD40-92F6-4479-89D6-EAEF70239F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44613" y="2441864"/>
            <a:ext cx="5466823" cy="373509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6E896CF-73A8-4AD2-A79D-7885FAFE1E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 undirected graph (</a:t>
            </a:r>
            <a:r>
              <a:rPr lang="en-US" i="1" dirty="0"/>
              <a:t>V, E</a:t>
            </a:r>
            <a:r>
              <a:rPr lang="en-US" dirty="0"/>
              <a:t>) where there are 5 vertices 1, 2, . . . , 5</a:t>
            </a:r>
          </a:p>
          <a:p>
            <a:r>
              <a:rPr lang="en-US" dirty="0"/>
              <a:t>and 7 edges. Note that edges do not have direction which means vertices on both end can be reached using the same edge.</a:t>
            </a:r>
          </a:p>
          <a:p>
            <a:r>
              <a:rPr lang="en-US" dirty="0"/>
              <a:t>for instance, using an edge between 1 and 2, you can reach vertex 2 from 1 or vice a versa.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1960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520D45-1F1F-4D2B-9598-9270F5E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C90683D3-3D3C-48D3-90BD-6F08DAF937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136341" y="1821751"/>
            <a:ext cx="4577167" cy="435133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89B498FC-91C8-4EC0-A779-4C05B86AD7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is a directed graph (</a:t>
            </a:r>
            <a:r>
              <a:rPr lang="en-US" i="1" dirty="0"/>
              <a:t>V, E</a:t>
            </a:r>
            <a:r>
              <a:rPr lang="en-US" dirty="0"/>
              <a:t>) where there are 5 vertices </a:t>
            </a:r>
            <a:r>
              <a:rPr lang="en-US" i="1" dirty="0"/>
              <a:t>v</a:t>
            </a:r>
            <a:r>
              <a:rPr lang="en-US" dirty="0"/>
              <a:t>1, </a:t>
            </a:r>
            <a:r>
              <a:rPr lang="en-US" i="1" dirty="0"/>
              <a:t>v</a:t>
            </a:r>
            <a:r>
              <a:rPr lang="en-US" dirty="0"/>
              <a:t>2, . . . , </a:t>
            </a:r>
            <a:r>
              <a:rPr lang="en-US" i="1" dirty="0"/>
              <a:t>v</a:t>
            </a:r>
            <a:r>
              <a:rPr lang="en-US" dirty="0"/>
              <a:t>5,</a:t>
            </a:r>
          </a:p>
          <a:p>
            <a:r>
              <a:rPr lang="en-US" dirty="0"/>
              <a:t>and 7 edges </a:t>
            </a:r>
            <a:r>
              <a:rPr lang="en-US" i="1" dirty="0"/>
              <a:t>e</a:t>
            </a:r>
            <a:r>
              <a:rPr lang="en-US" dirty="0"/>
              <a:t>1, </a:t>
            </a:r>
            <a:r>
              <a:rPr lang="en-US" i="1" dirty="0"/>
              <a:t>e</a:t>
            </a:r>
            <a:r>
              <a:rPr lang="en-US" dirty="0"/>
              <a:t>2, . . . , </a:t>
            </a:r>
            <a:r>
              <a:rPr lang="en-US" i="1" dirty="0"/>
              <a:t>e</a:t>
            </a:r>
            <a:r>
              <a:rPr lang="en-US" dirty="0"/>
              <a:t>7. Note that every edge has a direction. Edge </a:t>
            </a:r>
            <a:r>
              <a:rPr lang="en-US" i="1" dirty="0"/>
              <a:t>e</a:t>
            </a:r>
            <a:r>
              <a:rPr lang="en-US" dirty="0"/>
              <a:t>6,</a:t>
            </a:r>
          </a:p>
          <a:p>
            <a:r>
              <a:rPr lang="en-US" dirty="0"/>
              <a:t>for instance, is an outgoing edge of </a:t>
            </a:r>
            <a:r>
              <a:rPr lang="en-US" i="1" dirty="0"/>
              <a:t>v</a:t>
            </a:r>
            <a:r>
              <a:rPr lang="en-US" dirty="0"/>
              <a:t>5, and an incoming edge of </a:t>
            </a:r>
            <a:r>
              <a:rPr lang="en-US" i="1" dirty="0"/>
              <a:t>v</a:t>
            </a:r>
            <a:r>
              <a:rPr lang="en-US" dirty="0"/>
              <a:t>4.</a:t>
            </a:r>
          </a:p>
        </p:txBody>
      </p:sp>
    </p:spTree>
    <p:extLst>
      <p:ext uri="{BB962C8B-B14F-4D97-AF65-F5344CB8AC3E}">
        <p14:creationId xmlns="" xmlns:p14="http://schemas.microsoft.com/office/powerpoint/2010/main" val="264803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520D45-1F1F-4D2B-9598-9270F5E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89B498FC-91C8-4EC0-A779-4C05B86AD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directed graph is a pair (</a:t>
            </a:r>
            <a:r>
              <a:rPr lang="en-US" i="1" dirty="0"/>
              <a:t>V, E</a:t>
            </a:r>
            <a:r>
              <a:rPr lang="en-US" dirty="0"/>
              <a:t>) where</a:t>
            </a:r>
          </a:p>
          <a:p>
            <a:pPr lvl="1"/>
            <a:r>
              <a:rPr lang="en-US" i="1" dirty="0"/>
              <a:t>V </a:t>
            </a:r>
            <a:r>
              <a:rPr lang="en-US" dirty="0"/>
              <a:t>is a set of elements, each of which called a node</a:t>
            </a:r>
          </a:p>
          <a:p>
            <a:pPr lvl="1"/>
            <a:r>
              <a:rPr lang="en-US" i="1" dirty="0"/>
              <a:t>E </a:t>
            </a:r>
            <a:r>
              <a:rPr lang="en-US" dirty="0"/>
              <a:t>is a set of pairs (</a:t>
            </a:r>
            <a:r>
              <a:rPr lang="en-US" i="1" dirty="0"/>
              <a:t>u, v</a:t>
            </a:r>
            <a:r>
              <a:rPr lang="en-US" dirty="0"/>
              <a:t>) where </a:t>
            </a:r>
            <a:r>
              <a:rPr lang="en-US" i="1" dirty="0"/>
              <a:t>u </a:t>
            </a:r>
            <a:r>
              <a:rPr lang="en-US" dirty="0"/>
              <a:t>and </a:t>
            </a:r>
            <a:r>
              <a:rPr lang="en-US" i="1" dirty="0"/>
              <a:t>v </a:t>
            </a:r>
            <a:r>
              <a:rPr lang="en-US" dirty="0"/>
              <a:t>are nodes in </a:t>
            </a:r>
            <a:r>
              <a:rPr lang="en-US" i="1" dirty="0"/>
              <a:t>V</a:t>
            </a:r>
            <a:r>
              <a:rPr lang="en-US" dirty="0"/>
              <a:t>. We say that there is a (directed) edge from </a:t>
            </a:r>
            <a:r>
              <a:rPr lang="en-US" i="1" dirty="0"/>
              <a:t>u </a:t>
            </a:r>
            <a:r>
              <a:rPr lang="en-US" dirty="0"/>
              <a:t>to 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r>
              <a:rPr lang="en-US" dirty="0"/>
              <a:t>A node may also be called a vertex. We will refer to </a:t>
            </a:r>
            <a:r>
              <a:rPr lang="en-US" i="1" dirty="0"/>
              <a:t>V </a:t>
            </a:r>
            <a:r>
              <a:rPr lang="en-US" dirty="0"/>
              <a:t>as the vertex set or the node set of the graph, and </a:t>
            </a:r>
            <a:r>
              <a:rPr lang="en-US" i="1" dirty="0"/>
              <a:t>E </a:t>
            </a:r>
            <a:r>
              <a:rPr lang="en-US" dirty="0"/>
              <a:t>the edge set.</a:t>
            </a:r>
          </a:p>
          <a:p>
            <a:r>
              <a:rPr lang="en-US" dirty="0"/>
              <a:t>A (directed) edge (</a:t>
            </a:r>
            <a:r>
              <a:rPr lang="en-US" i="1" dirty="0"/>
              <a:t>u, v</a:t>
            </a:r>
            <a:r>
              <a:rPr lang="en-US" dirty="0"/>
              <a:t>) is said to be an outgoing edge of </a:t>
            </a:r>
            <a:r>
              <a:rPr lang="en-US" i="1" dirty="0"/>
              <a:t>u</a:t>
            </a:r>
            <a:r>
              <a:rPr lang="en-US" dirty="0"/>
              <a:t>, and an incoming edge of </a:t>
            </a:r>
            <a:r>
              <a:rPr lang="en-US" i="1" dirty="0"/>
              <a:t>v</a:t>
            </a:r>
            <a:r>
              <a:rPr lang="en-US" dirty="0"/>
              <a:t>. Accordingly, </a:t>
            </a:r>
            <a:r>
              <a:rPr lang="en-US" i="1" dirty="0"/>
              <a:t>v </a:t>
            </a:r>
            <a:r>
              <a:rPr lang="en-US" dirty="0"/>
              <a:t>is an out-</a:t>
            </a:r>
            <a:r>
              <a:rPr lang="en-US" dirty="0" err="1"/>
              <a:t>neighbour</a:t>
            </a:r>
            <a:r>
              <a:rPr lang="en-US" dirty="0"/>
              <a:t> of </a:t>
            </a:r>
            <a:r>
              <a:rPr lang="en-US" i="1" dirty="0"/>
              <a:t>u</a:t>
            </a:r>
            <a:r>
              <a:rPr lang="en-US" dirty="0"/>
              <a:t>, and </a:t>
            </a:r>
            <a:r>
              <a:rPr lang="en-US" i="1" dirty="0"/>
              <a:t>u </a:t>
            </a:r>
            <a:r>
              <a:rPr lang="en-US" dirty="0"/>
              <a:t>an in-neighbor of </a:t>
            </a:r>
            <a:r>
              <a:rPr lang="en-US" i="1" dirty="0"/>
              <a:t>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1704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520D45-1F1F-4D2B-9598-9270F5E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Graph: Degrees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89B498FC-91C8-4EC0-A779-4C05B86AD7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directed graph, the out-degree of a vertex </a:t>
            </a:r>
            <a:r>
              <a:rPr lang="en-US" i="1" dirty="0"/>
              <a:t>u </a:t>
            </a:r>
            <a:r>
              <a:rPr lang="en-US" dirty="0"/>
              <a:t>is the number of outgoing edges of </a:t>
            </a:r>
            <a:r>
              <a:rPr lang="en-US" i="1" dirty="0"/>
              <a:t>u</a:t>
            </a:r>
            <a:r>
              <a:rPr lang="en-US" dirty="0"/>
              <a:t>, and its in-degree is the number of its incoming edges.</a:t>
            </a:r>
          </a:p>
          <a:p>
            <a:r>
              <a:rPr lang="en-US" dirty="0"/>
              <a:t>In the graph, the out-degree of </a:t>
            </a:r>
            <a:r>
              <a:rPr lang="en-US" i="1" dirty="0"/>
              <a:t>v</a:t>
            </a:r>
            <a:r>
              <a:rPr lang="en-US" dirty="0"/>
              <a:t>3 is 2, and its in-degree is 1.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What is the out and in degree of v4?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76D21CF2-C8F3-40CB-94AF-D1D88E6AF0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616357" y="1690688"/>
            <a:ext cx="4577166" cy="43513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2146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520D45-1F1F-4D2B-9598-9270F5E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Graph: Representation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89B498FC-91C8-4EC0-A779-4C05B86AD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Two common ways to store a graph: </a:t>
            </a:r>
          </a:p>
          <a:p>
            <a:r>
              <a:rPr lang="en-US" sz="3600" dirty="0"/>
              <a:t>Adjacency list and</a:t>
            </a:r>
          </a:p>
          <a:p>
            <a:r>
              <a:rPr lang="en-US" sz="3600" dirty="0"/>
              <a:t>Adjacency matrix. </a:t>
            </a:r>
          </a:p>
          <a:p>
            <a:r>
              <a:rPr lang="en-US" sz="3600" dirty="0"/>
              <a:t>In both cases, we represent each vertex in V using a unique id in 1, 2, . . . , |V|.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3100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67FADD-C5AF-4B0B-826C-D1432AD6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 Representation – Adjacency List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D3712A72-D5F7-431D-802D-ED5553F742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138060" y="2182401"/>
            <a:ext cx="6530671" cy="2867486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4594711-E66C-42FE-A36D-8EB3345072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099421" y="2725445"/>
            <a:ext cx="4196956" cy="28674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26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67FADD-C5AF-4B0B-826C-D1432AD6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 Representation – Adjacency Matrix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4594711-E66C-42FE-A36D-8EB3345072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099421" y="2725445"/>
            <a:ext cx="4196956" cy="286748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5CDEC6E4-298D-4F51-9C9B-3632E94D8B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6755907" y="1917577"/>
            <a:ext cx="4196754" cy="39936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1204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520D45-1F1F-4D2B-9598-9270F5E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Representation of Directed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CD768C8E-2C43-4C00-98F4-C76583C94E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474421" y="1825625"/>
            <a:ext cx="5196986" cy="388766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EB48581-B0DC-4A6F-B9EB-AC57B945B9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628150" y="1825625"/>
            <a:ext cx="4089432" cy="38876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F1CD8FB-FBD3-4DD9-8EB4-3DBCAF0A0CF7}"/>
              </a:ext>
            </a:extLst>
          </p:cNvPr>
          <p:cNvSpPr/>
          <p:nvPr/>
        </p:nvSpPr>
        <p:spPr>
          <a:xfrm>
            <a:off x="254978" y="5934670"/>
            <a:ext cx="114010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MSS10"/>
              </a:rPr>
              <a:t>Each vertex </a:t>
            </a:r>
            <a:r>
              <a:rPr lang="en-US" sz="2800" i="1" dirty="0">
                <a:latin typeface="CMSSI10"/>
              </a:rPr>
              <a:t>u </a:t>
            </a:r>
            <a:r>
              <a:rPr lang="en-US" sz="2800" i="1" dirty="0">
                <a:latin typeface="CMSY10"/>
                <a:sym typeface="Symbol" panose="05050102010706020507" pitchFamily="18" charset="2"/>
              </a:rPr>
              <a:t></a:t>
            </a:r>
            <a:r>
              <a:rPr lang="en-US" sz="2800" i="1" dirty="0">
                <a:latin typeface="CMSY10"/>
              </a:rPr>
              <a:t> </a:t>
            </a:r>
            <a:r>
              <a:rPr lang="en-US" sz="2800" i="1" dirty="0">
                <a:latin typeface="CMSSI10"/>
              </a:rPr>
              <a:t>V </a:t>
            </a:r>
            <a:r>
              <a:rPr lang="en-US" sz="2800" dirty="0">
                <a:latin typeface="CMSS10"/>
              </a:rPr>
              <a:t>is associated with a linked list that enumerates all the vertices that are connected to </a:t>
            </a:r>
            <a:r>
              <a:rPr lang="en-US" sz="2800" i="1" dirty="0">
                <a:latin typeface="CMSSI10"/>
              </a:rPr>
              <a:t>u</a:t>
            </a:r>
            <a:r>
              <a:rPr lang="en-US" sz="2800" dirty="0">
                <a:latin typeface="CMSS10"/>
              </a:rPr>
              <a:t>. Space Complexity = O(|V| + |E|)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31330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520D45-1F1F-4D2B-9598-9270F5E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Representation of Directed Graph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EB48581-B0DC-4A6F-B9EB-AC57B945B9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512936" y="1476819"/>
            <a:ext cx="4106991" cy="39043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F1CD8FB-FBD3-4DD9-8EB4-3DBCAF0A0CF7}"/>
              </a:ext>
            </a:extLst>
          </p:cNvPr>
          <p:cNvSpPr/>
          <p:nvPr/>
        </p:nvSpPr>
        <p:spPr>
          <a:xfrm>
            <a:off x="1140415" y="5381180"/>
            <a:ext cx="10515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|V| x |V| matrix A where A[u, v] = 1 if (u, v) </a:t>
            </a:r>
            <a:r>
              <a:rPr lang="en-US" sz="2800" dirty="0">
                <a:sym typeface="Symbol" panose="05050102010706020507" pitchFamily="18" charset="2"/>
              </a:rPr>
              <a:t></a:t>
            </a:r>
            <a:r>
              <a:rPr lang="en-US" sz="2800" dirty="0"/>
              <a:t> E, or 0 otherwise.</a:t>
            </a:r>
          </a:p>
          <a:p>
            <a:r>
              <a:rPr lang="en-US" sz="2800" i="1" dirty="0"/>
              <a:t>A </a:t>
            </a:r>
            <a:r>
              <a:rPr lang="en-US" sz="2800" dirty="0"/>
              <a:t>may not be symmetric.</a:t>
            </a:r>
          </a:p>
          <a:p>
            <a:r>
              <a:rPr lang="en-US" sz="2800" dirty="0"/>
              <a:t>Space = </a:t>
            </a:r>
            <a:r>
              <a:rPr lang="en-US" sz="2800" i="1" dirty="0"/>
              <a:t>O</a:t>
            </a:r>
            <a:r>
              <a:rPr lang="en-US" sz="2800" dirty="0"/>
              <a:t>(|V|</a:t>
            </a:r>
            <a:r>
              <a:rPr lang="en-US" sz="2800" baseline="30000" dirty="0"/>
              <a:t>2</a:t>
            </a:r>
            <a:r>
              <a:rPr lang="en-US" sz="2800" dirty="0"/>
              <a:t>).</a:t>
            </a:r>
            <a:endParaRPr lang="en-US" sz="4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7D3D83A1-0160-4681-ACF0-EBCD01650D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831145" y="1923511"/>
            <a:ext cx="5522655" cy="32248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9852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277F43-F35D-4A06-AEF7-2BADF96B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in Directed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E00E437A-869E-412C-9050-C54BD8E03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dirty="0"/>
              <a:t>We will discuss a simple algorithm – called breadth first search – to traverse all the nodes and edges in a graph once.</a:t>
            </a:r>
          </a:p>
          <a:p>
            <a:r>
              <a:rPr lang="en-US" sz="3600" dirty="0"/>
              <a:t>We will cast it in a concrete problem: single source shortest path (SSSP) with unit weights.</a:t>
            </a:r>
          </a:p>
          <a:p>
            <a:endParaRPr lang="en-US" sz="3600" dirty="0"/>
          </a:p>
          <a:p>
            <a:r>
              <a:rPr lang="en-US" sz="3600" dirty="0"/>
              <a:t>Graph BFS is slightly different from Tree BFS because tree does not have cycles but directed graph has cycles.</a:t>
            </a:r>
          </a:p>
        </p:txBody>
      </p:sp>
    </p:spTree>
    <p:extLst>
      <p:ext uri="{BB962C8B-B14F-4D97-AF65-F5344CB8AC3E}">
        <p14:creationId xmlns="" xmlns:p14="http://schemas.microsoft.com/office/powerpoint/2010/main" val="68572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3EF421-8250-4A94-B3C0-E6B1E060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Shorted Path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92433A-AFCA-45F5-8875-E68522077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</a:t>
            </a:r>
            <a:r>
              <a:rPr lang="en-US" i="1" dirty="0"/>
              <a:t>G </a:t>
            </a:r>
            <a:r>
              <a:rPr lang="en-US" dirty="0"/>
              <a:t>= (</a:t>
            </a:r>
            <a:r>
              <a:rPr lang="en-US" i="1" dirty="0"/>
              <a:t>V, E</a:t>
            </a:r>
            <a:r>
              <a:rPr lang="en-US" dirty="0"/>
              <a:t>) be a directed graph.</a:t>
            </a:r>
          </a:p>
          <a:p>
            <a:r>
              <a:rPr lang="en-US" dirty="0"/>
              <a:t>A path in </a:t>
            </a:r>
            <a:r>
              <a:rPr lang="en-US" i="1" dirty="0"/>
              <a:t>G </a:t>
            </a:r>
            <a:r>
              <a:rPr lang="en-US" dirty="0"/>
              <a:t>is a sequence of edges (</a:t>
            </a:r>
            <a:r>
              <a:rPr lang="en-US" i="1" dirty="0"/>
              <a:t>v</a:t>
            </a:r>
            <a:r>
              <a:rPr lang="en-US" dirty="0"/>
              <a:t>1,</a:t>
            </a:r>
            <a:r>
              <a:rPr lang="en-US" i="1" dirty="0"/>
              <a:t> v</a:t>
            </a:r>
            <a:r>
              <a:rPr lang="en-US" dirty="0"/>
              <a:t>2), (</a:t>
            </a:r>
            <a:r>
              <a:rPr lang="en-US" i="1" dirty="0"/>
              <a:t>v</a:t>
            </a:r>
            <a:r>
              <a:rPr lang="en-US" dirty="0"/>
              <a:t>2,</a:t>
            </a:r>
            <a:r>
              <a:rPr lang="en-US" i="1" dirty="0"/>
              <a:t> v</a:t>
            </a:r>
            <a:r>
              <a:rPr lang="en-US" dirty="0"/>
              <a:t>3), . . . , (</a:t>
            </a:r>
            <a:r>
              <a:rPr lang="en-US" i="1" dirty="0" err="1"/>
              <a:t>vl</a:t>
            </a:r>
            <a:r>
              <a:rPr lang="en-US" i="1" dirty="0"/>
              <a:t>, vl</a:t>
            </a:r>
            <a:r>
              <a:rPr lang="en-US" dirty="0"/>
              <a:t>+1), for some integer </a:t>
            </a:r>
            <a:r>
              <a:rPr lang="en-US" i="1" dirty="0"/>
              <a:t>l &gt;= </a:t>
            </a:r>
            <a:r>
              <a:rPr lang="en-US" dirty="0"/>
              <a:t>1, which is called the length of the path. The path is said to be from </a:t>
            </a:r>
            <a:r>
              <a:rPr lang="en-US" i="1" dirty="0"/>
              <a:t>v</a:t>
            </a:r>
            <a:r>
              <a:rPr lang="en-US" dirty="0"/>
              <a:t>1 to </a:t>
            </a:r>
            <a:r>
              <a:rPr lang="en-US" i="1" dirty="0"/>
              <a:t>vl</a:t>
            </a:r>
            <a:r>
              <a:rPr lang="en-US" dirty="0"/>
              <a:t>+1.</a:t>
            </a:r>
          </a:p>
          <a:p>
            <a:r>
              <a:rPr lang="en-US" dirty="0"/>
              <a:t>Sometimes, we will also denote the path as </a:t>
            </a:r>
            <a:r>
              <a:rPr lang="en-US" i="1" dirty="0"/>
              <a:t>v</a:t>
            </a:r>
            <a:r>
              <a:rPr lang="en-US" dirty="0"/>
              <a:t>1 </a:t>
            </a:r>
            <a:r>
              <a:rPr lang="en-US" i="1" dirty="0">
                <a:sym typeface="Wingdings" panose="05000000000000000000" pitchFamily="2" charset="2"/>
              </a:rPr>
              <a:t></a:t>
            </a:r>
            <a:r>
              <a:rPr lang="en-US" i="1" dirty="0"/>
              <a:t> v</a:t>
            </a:r>
            <a:r>
              <a:rPr lang="en-US" dirty="0"/>
              <a:t>2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i="1" dirty="0"/>
              <a:t> … </a:t>
            </a:r>
            <a:r>
              <a:rPr lang="en-US" i="1" dirty="0">
                <a:sym typeface="Wingdings" panose="05000000000000000000" pitchFamily="2" charset="2"/>
              </a:rPr>
              <a:t></a:t>
            </a:r>
            <a:r>
              <a:rPr lang="en-US" i="1" dirty="0"/>
              <a:t> vl</a:t>
            </a:r>
            <a:r>
              <a:rPr lang="en-US" dirty="0"/>
              <a:t>+1.</a:t>
            </a:r>
          </a:p>
          <a:p>
            <a:r>
              <a:rPr lang="en-US" dirty="0"/>
              <a:t>Given two vertices </a:t>
            </a:r>
            <a:r>
              <a:rPr lang="en-US" i="1" dirty="0"/>
              <a:t>u</a:t>
            </a:r>
            <a:r>
              <a:rPr lang="en-US" dirty="0"/>
              <a:t>, </a:t>
            </a:r>
            <a:r>
              <a:rPr lang="en-US" i="1" dirty="0"/>
              <a:t>v </a:t>
            </a:r>
            <a:r>
              <a:rPr lang="en-US" i="1" dirty="0">
                <a:sym typeface="Symbol" panose="05050102010706020507" pitchFamily="18" charset="2"/>
              </a:rPr>
              <a:t></a:t>
            </a:r>
            <a:r>
              <a:rPr lang="en-US" i="1" dirty="0"/>
              <a:t> V</a:t>
            </a:r>
            <a:r>
              <a:rPr lang="en-US" dirty="0"/>
              <a:t>, a shortest path from </a:t>
            </a:r>
            <a:r>
              <a:rPr lang="en-US" i="1" dirty="0"/>
              <a:t>u </a:t>
            </a:r>
            <a:r>
              <a:rPr lang="en-US" dirty="0"/>
              <a:t>to </a:t>
            </a:r>
            <a:r>
              <a:rPr lang="en-US" i="1" dirty="0"/>
              <a:t>v </a:t>
            </a:r>
            <a:r>
              <a:rPr lang="en-US" dirty="0"/>
              <a:t>is a path from </a:t>
            </a:r>
            <a:r>
              <a:rPr lang="en-US" i="1" dirty="0"/>
              <a:t>u </a:t>
            </a:r>
            <a:r>
              <a:rPr lang="en-US" dirty="0"/>
              <a:t>to </a:t>
            </a:r>
            <a:r>
              <a:rPr lang="en-US" i="1" dirty="0"/>
              <a:t>v </a:t>
            </a:r>
            <a:r>
              <a:rPr lang="en-US" dirty="0"/>
              <a:t>that has the minimum length among all the paths from </a:t>
            </a:r>
            <a:r>
              <a:rPr lang="en-US" i="1" dirty="0"/>
              <a:t>u </a:t>
            </a:r>
            <a:r>
              <a:rPr lang="en-US" dirty="0"/>
              <a:t>to 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r>
              <a:rPr lang="en-US" dirty="0"/>
              <a:t>If there is no path from </a:t>
            </a:r>
            <a:r>
              <a:rPr lang="en-US" i="1" dirty="0"/>
              <a:t>u </a:t>
            </a:r>
            <a:r>
              <a:rPr lang="en-US" dirty="0"/>
              <a:t>to </a:t>
            </a:r>
            <a:r>
              <a:rPr lang="en-US" i="1" dirty="0"/>
              <a:t>v</a:t>
            </a:r>
            <a:r>
              <a:rPr lang="en-US" dirty="0"/>
              <a:t>, then </a:t>
            </a:r>
            <a:r>
              <a:rPr lang="en-US" i="1" dirty="0"/>
              <a:t>v </a:t>
            </a:r>
            <a:r>
              <a:rPr lang="en-US" dirty="0"/>
              <a:t>is said to be unreachable from </a:t>
            </a:r>
            <a:r>
              <a:rPr lang="en-US" i="1" dirty="0"/>
              <a:t>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23169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A7F0CBE2-1048-46B3-A1A1-29D14CB7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Shorted Path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2F29E7E1-30FF-41F9-B3D0-B0534DB052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45799" y="2369127"/>
            <a:ext cx="5746228" cy="380783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2A799C9-AA68-453F-9250-AE97A07601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are several paths from </a:t>
            </a:r>
            <a:r>
              <a:rPr lang="en-US" i="1" dirty="0"/>
              <a:t>a </a:t>
            </a:r>
            <a:r>
              <a:rPr lang="en-US" dirty="0"/>
              <a:t>to </a:t>
            </a:r>
            <a:r>
              <a:rPr lang="en-US" i="1" dirty="0"/>
              <a:t>g</a:t>
            </a:r>
            <a:r>
              <a:rPr lang="en-US" dirty="0"/>
              <a:t>:</a:t>
            </a:r>
          </a:p>
          <a:p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 (length 4)</a:t>
            </a:r>
          </a:p>
          <a:p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 (length 5)</a:t>
            </a:r>
          </a:p>
          <a:p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 (length 2)</a:t>
            </a:r>
          </a:p>
          <a:p>
            <a:r>
              <a:rPr lang="en-US" dirty="0"/>
              <a:t>The last one is a shortest path. In this case, the shortest path is unique.</a:t>
            </a:r>
          </a:p>
          <a:p>
            <a:r>
              <a:rPr lang="en-US" dirty="0"/>
              <a:t>Note that </a:t>
            </a:r>
            <a:r>
              <a:rPr lang="en-US" i="1" dirty="0"/>
              <a:t>h </a:t>
            </a:r>
            <a:r>
              <a:rPr lang="en-US" dirty="0"/>
              <a:t>is unreachable from </a:t>
            </a:r>
            <a:r>
              <a:rPr lang="en-US" i="1" dirty="0"/>
              <a:t>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818286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FB40F9-CD68-4991-AD80-F281DEFA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Source Shortest Path (SSSP) with </a:t>
            </a:r>
            <a:r>
              <a:rPr lang="en-US" dirty="0">
                <a:solidFill>
                  <a:srgbClr val="FF0000"/>
                </a:solidFill>
              </a:rPr>
              <a:t>Unit (1)</a:t>
            </a:r>
            <a:r>
              <a:rPr lang="en-US" dirty="0"/>
              <a:t> Weights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5AB0B1F2-A814-4E4E-B9A8-240DB44D7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Let G = (V, E) be a directed graph, and s be a vertex in V. The goal of the SSSP problem is to find, for every other vertex t </a:t>
            </a:r>
            <a:r>
              <a:rPr lang="en-US" sz="3600" dirty="0">
                <a:sym typeface="Symbol" panose="05050102010706020507" pitchFamily="18" charset="2"/>
              </a:rPr>
              <a:t></a:t>
            </a:r>
            <a:r>
              <a:rPr lang="en-US" sz="3600" dirty="0"/>
              <a:t> V \ {s}, a shortest path from s to t, unless t is unreachable from s.</a:t>
            </a:r>
          </a:p>
        </p:txBody>
      </p:sp>
    </p:spTree>
    <p:extLst>
      <p:ext uri="{BB962C8B-B14F-4D97-AF65-F5344CB8AC3E}">
        <p14:creationId xmlns="" xmlns:p14="http://schemas.microsoft.com/office/powerpoint/2010/main" val="204561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in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beginning, color all vertices in the graph white. And create an empty BFS tree </a:t>
            </a:r>
            <a:r>
              <a:rPr lang="en-US" i="1" dirty="0"/>
              <a:t>T</a:t>
            </a:r>
            <a:r>
              <a:rPr lang="en-US" dirty="0"/>
              <a:t>.</a:t>
            </a:r>
          </a:p>
          <a:p>
            <a:r>
              <a:rPr lang="en-US" dirty="0"/>
              <a:t>Create a queue </a:t>
            </a:r>
            <a:r>
              <a:rPr lang="en-US" i="1" dirty="0"/>
              <a:t>Q</a:t>
            </a:r>
            <a:r>
              <a:rPr lang="en-US" dirty="0"/>
              <a:t>. Insert the source vertex </a:t>
            </a:r>
            <a:r>
              <a:rPr lang="en-US" i="1" dirty="0"/>
              <a:t>s </a:t>
            </a:r>
            <a:r>
              <a:rPr lang="en-US" dirty="0"/>
              <a:t>into </a:t>
            </a:r>
            <a:r>
              <a:rPr lang="en-US" i="1" dirty="0"/>
              <a:t>Q</a:t>
            </a:r>
            <a:r>
              <a:rPr lang="en-US" dirty="0"/>
              <a:t>, and color it gray (which means “in the queue”).</a:t>
            </a:r>
          </a:p>
          <a:p>
            <a:r>
              <a:rPr lang="en-US" dirty="0"/>
              <a:t>Make </a:t>
            </a:r>
            <a:r>
              <a:rPr lang="en-US" i="1" dirty="0"/>
              <a:t>s </a:t>
            </a:r>
            <a:r>
              <a:rPr lang="en-US" dirty="0"/>
              <a:t>the root of </a:t>
            </a:r>
            <a:r>
              <a:rPr lang="en-US" i="1" dirty="0"/>
              <a:t>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117875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in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source vertex is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(a)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6E7A10F-5CA7-4B35-8A81-B5E17C741F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8338" y="2244735"/>
            <a:ext cx="7775462" cy="35131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9240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in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the following until </a:t>
            </a:r>
            <a:r>
              <a:rPr lang="en-US" i="1" dirty="0"/>
              <a:t>Q </a:t>
            </a:r>
            <a:r>
              <a:rPr lang="en-US" dirty="0"/>
              <a:t>is empty.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De-queue from </a:t>
            </a:r>
            <a:r>
              <a:rPr lang="en-US" i="1" dirty="0"/>
              <a:t>Q </a:t>
            </a:r>
            <a:r>
              <a:rPr lang="en-US" dirty="0"/>
              <a:t>the first vertex 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every out-neighbor </a:t>
            </a:r>
            <a:r>
              <a:rPr lang="en-US" i="1" dirty="0"/>
              <a:t>u </a:t>
            </a:r>
            <a:r>
              <a:rPr lang="en-US" dirty="0"/>
              <a:t>of </a:t>
            </a:r>
            <a:r>
              <a:rPr lang="en-US" i="1" dirty="0"/>
              <a:t>v </a:t>
            </a:r>
            <a:r>
              <a:rPr lang="en-US" dirty="0"/>
              <a:t>that is still white: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En-</a:t>
            </a:r>
            <a:r>
              <a:rPr lang="es-ES" dirty="0" err="1"/>
              <a:t>queue</a:t>
            </a:r>
            <a:r>
              <a:rPr lang="es-ES" dirty="0"/>
              <a:t> </a:t>
            </a:r>
            <a:r>
              <a:rPr lang="es-ES" i="1" dirty="0"/>
              <a:t>u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i="1" dirty="0"/>
              <a:t>Q</a:t>
            </a:r>
            <a:r>
              <a:rPr lang="es-ES" dirty="0"/>
              <a:t>, and color </a:t>
            </a:r>
            <a:r>
              <a:rPr lang="es-ES" i="1" dirty="0"/>
              <a:t>u </a:t>
            </a:r>
            <a:r>
              <a:rPr lang="es-ES" dirty="0"/>
              <a:t>gray.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Make </a:t>
            </a:r>
            <a:r>
              <a:rPr lang="en-US" i="1" dirty="0"/>
              <a:t>u </a:t>
            </a:r>
            <a:r>
              <a:rPr lang="en-US" dirty="0"/>
              <a:t>a child of </a:t>
            </a:r>
            <a:r>
              <a:rPr lang="en-US" i="1" dirty="0"/>
              <a:t>v </a:t>
            </a:r>
            <a:r>
              <a:rPr lang="en-US" dirty="0"/>
              <a:t>in the BFS tree </a:t>
            </a:r>
            <a:r>
              <a:rPr lang="en-US" i="1" dirty="0"/>
              <a:t>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Color </a:t>
            </a:r>
            <a:r>
              <a:rPr lang="en-US" i="1" dirty="0"/>
              <a:t>v </a:t>
            </a:r>
            <a:r>
              <a:rPr lang="en-US" dirty="0"/>
              <a:t>black (meaning </a:t>
            </a:r>
            <a:r>
              <a:rPr lang="en-US" i="1" dirty="0"/>
              <a:t>v </a:t>
            </a:r>
            <a:r>
              <a:rPr lang="en-US" dirty="0"/>
              <a:t>is done).</a:t>
            </a:r>
          </a:p>
          <a:p>
            <a:endParaRPr lang="en-US" dirty="0"/>
          </a:p>
          <a:p>
            <a:r>
              <a:rPr lang="en-US" dirty="0"/>
              <a:t>BFS behaves like “spreading a virus”, as we will see from our running example.</a:t>
            </a:r>
          </a:p>
        </p:txBody>
      </p:sp>
    </p:spTree>
    <p:extLst>
      <p:ext uri="{BB962C8B-B14F-4D97-AF65-F5344CB8AC3E}">
        <p14:creationId xmlns="" xmlns:p14="http://schemas.microsoft.com/office/powerpoint/2010/main" val="259275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De-Queueing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(b, d)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FB05B90-79B8-4640-B661-A8FE1E27040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5617" y="2281562"/>
            <a:ext cx="8162477" cy="30095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56698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De-Queueing 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(d, c)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2EF8B69-4A19-48BB-9171-EE1A2F9572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6053" y="2244436"/>
            <a:ext cx="7730587" cy="319000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30143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De-Queueing 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(c, g)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A221906-6346-41A4-A0A9-75E70F1D9C5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01" y="2202873"/>
            <a:ext cx="7923816" cy="327034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2952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De-Queueing 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(g, e)	</a:t>
            </a:r>
            <a:r>
              <a:rPr lang="en-US" dirty="0">
                <a:sym typeface="Wingdings" panose="05000000000000000000" pitchFamily="2" charset="2"/>
              </a:rPr>
              <a:t> NOTE: d is not enqueued again because it is black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0CCE73B-2A9A-432F-991C-513637DABB0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7697" y="2296391"/>
            <a:ext cx="8040244" cy="313805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73716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De-Queueing 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(e, f, </a:t>
            </a:r>
            <a:r>
              <a:rPr lang="en-US" dirty="0" err="1"/>
              <a:t>i</a:t>
            </a:r>
            <a:r>
              <a:rPr lang="en-US" dirty="0"/>
              <a:t>)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FE9F6EF-E178-4811-A2D0-117DF24DD66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00" y="2286000"/>
            <a:ext cx="7821102" cy="3116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4891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After De-Queueing e, f and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 = ()</a:t>
            </a:r>
          </a:p>
          <a:p>
            <a:r>
              <a:rPr lang="en-US" dirty="0"/>
              <a:t>This is the end of BFS. Note that </a:t>
            </a:r>
            <a:r>
              <a:rPr lang="en-US" i="1" dirty="0"/>
              <a:t>h </a:t>
            </a:r>
            <a:r>
              <a:rPr lang="en-US" dirty="0"/>
              <a:t>remains white – we can conclude that it is not reachable from </a:t>
            </a:r>
            <a:r>
              <a:rPr lang="en-US" i="1" dirty="0"/>
              <a:t>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E6DB69D-CE86-47C0-8813-6B28086CCD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4704" y="2382590"/>
            <a:ext cx="6182592" cy="266037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34219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BADFD-B0BD-4929-A63E-A686F9DB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B6367-9998-4B95-A49F-EE787BC5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are shortest paths?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shortest path from </a:t>
            </a:r>
            <a:r>
              <a:rPr lang="en-US" i="1" dirty="0"/>
              <a:t>a </a:t>
            </a:r>
            <a:r>
              <a:rPr lang="en-US" dirty="0"/>
              <a:t>to any vertex, say </a:t>
            </a:r>
            <a:r>
              <a:rPr lang="en-US" i="1" dirty="0"/>
              <a:t>x</a:t>
            </a:r>
            <a:r>
              <a:rPr lang="en-US" dirty="0"/>
              <a:t>, is simply the path from </a:t>
            </a:r>
            <a:r>
              <a:rPr lang="en-US" i="1" dirty="0"/>
              <a:t>a </a:t>
            </a:r>
            <a:r>
              <a:rPr lang="en-US" dirty="0"/>
              <a:t>to node </a:t>
            </a:r>
            <a:r>
              <a:rPr lang="en-US" i="1" dirty="0"/>
              <a:t>x </a:t>
            </a:r>
            <a:r>
              <a:rPr lang="en-US" dirty="0"/>
              <a:t>in the BFS tree!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09A4A29-AE0C-4B79-A619-49D38B0743F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27839" y="2317172"/>
            <a:ext cx="6762720" cy="28055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53817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E9E07D-CD27-445E-8C33-06707FBC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of BFS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B81828-C8DE-4A72-806D-71E297798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a vertex v is de-queued, we spend O(1 + d</a:t>
                </a:r>
                <a:r>
                  <a:rPr lang="en-US" baseline="30000" dirty="0"/>
                  <a:t>+</a:t>
                </a:r>
                <a:r>
                  <a:rPr lang="en-US" dirty="0"/>
                  <a:t>(v)) time processing it, where d</a:t>
                </a:r>
                <a:r>
                  <a:rPr lang="en-US" baseline="30000" dirty="0"/>
                  <a:t>+</a:t>
                </a:r>
                <a:r>
                  <a:rPr lang="en-US" dirty="0"/>
                  <a:t>(v) is the out-degree of v.</a:t>
                </a:r>
              </a:p>
              <a:p>
                <a:r>
                  <a:rPr lang="en-US" dirty="0"/>
                  <a:t>Clearly, every vertex enters the queue at most once.</a:t>
                </a:r>
              </a:p>
              <a:p>
                <a:r>
                  <a:rPr lang="en-US" dirty="0"/>
                  <a:t>The total running time of BFS is therefore</a:t>
                </a:r>
              </a:p>
              <a:p>
                <a:pPr marL="0" indent="0">
                  <a:buNone/>
                </a:pPr>
                <a:r>
                  <a:rPr lang="en-US" dirty="0"/>
                  <a:t>O(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dirty="0"/>
                          <m:t>(1 + 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v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)) = O(|V| + |E|)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AB81828-C8DE-4A72-806D-71E297798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344483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5CBC29-9BF8-4339-A6E3-B52F756F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5F891F-F499-486F-8AF4-CCCABFF9B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only have access to BFS, and cannot change the way the algorithm works, only its input. Given a graph with integer edge weights between 1 and 5 (inclusive), you want to find the shortest weighted path between a pair of vertices. How would you reduce this problem to the shortest unweighted path problem, which can be solved using BFS?</a:t>
            </a:r>
          </a:p>
        </p:txBody>
      </p:sp>
    </p:spTree>
    <p:extLst>
      <p:ext uri="{BB962C8B-B14F-4D97-AF65-F5344CB8AC3E}">
        <p14:creationId xmlns="" xmlns:p14="http://schemas.microsoft.com/office/powerpoint/2010/main" val="2201512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33F496-1A8C-4F80-82BD-1E18B3B6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A0E3E4-8122-4B21-84C5-C84E6422A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the BFS tree </a:t>
            </a:r>
          </a:p>
          <a:p>
            <a:pPr marL="0" indent="0">
              <a:buNone/>
            </a:pPr>
            <a:r>
              <a:rPr lang="en-US" dirty="0"/>
              <a:t>starting from node 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8557222-E17C-4064-9772-87E0BBEF31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35865" y="240843"/>
            <a:ext cx="5618349" cy="634639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82764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5CBC29-9BF8-4339-A6E3-B52F756F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5F891F-F499-486F-8AF4-CCCABFF9B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reverse graph of a directed graph G is another directed graph G</a:t>
            </a:r>
            <a:r>
              <a:rPr lang="en-US" baseline="30000" dirty="0"/>
              <a:t>R</a:t>
            </a:r>
            <a:r>
              <a:rPr lang="en-US" dirty="0"/>
              <a:t> which is identical to G except that the direction of each edge in G has been reversed. In other words, if G = (V, E) is a directed graph, then G</a:t>
            </a:r>
            <a:r>
              <a:rPr lang="en-US" baseline="30000" dirty="0"/>
              <a:t>R</a:t>
            </a:r>
            <a:r>
              <a:rPr lang="en-US" dirty="0"/>
              <a:t> = (V, E</a:t>
            </a:r>
            <a:r>
              <a:rPr lang="en-US" baseline="30000" dirty="0"/>
              <a:t>R</a:t>
            </a:r>
            <a:r>
              <a:rPr lang="en-US" dirty="0"/>
              <a:t>) is another directed graph where the edge (u, v) </a:t>
            </a:r>
            <a:r>
              <a:rPr lang="en-US" dirty="0">
                <a:sym typeface="Symbol" panose="05050102010706020507" pitchFamily="18" charset="2"/>
              </a:rPr>
              <a:t></a:t>
            </a:r>
            <a:r>
              <a:rPr lang="en-US" dirty="0"/>
              <a:t> E</a:t>
            </a:r>
            <a:r>
              <a:rPr lang="en-US" baseline="30000" dirty="0"/>
              <a:t>R</a:t>
            </a:r>
            <a:r>
              <a:rPr lang="en-US" dirty="0"/>
              <a:t> if and only if the edge (</a:t>
            </a:r>
            <a:r>
              <a:rPr lang="en-US" dirty="0" err="1"/>
              <a:t>v,u</a:t>
            </a:r>
            <a:r>
              <a:rPr lang="en-US" dirty="0"/>
              <a:t>) </a:t>
            </a:r>
            <a:r>
              <a:rPr lang="en-US" dirty="0">
                <a:sym typeface="Symbol" panose="05050102010706020507" pitchFamily="18" charset="2"/>
              </a:rPr>
              <a:t></a:t>
            </a:r>
            <a:r>
              <a:rPr lang="en-US" dirty="0"/>
              <a:t> E.</a:t>
            </a:r>
          </a:p>
          <a:p>
            <a:r>
              <a:rPr lang="en-US" dirty="0"/>
              <a:t>Write detailed pseudo-code for an algorithm that takes a graph G = (V, E) as input, and produces G</a:t>
            </a:r>
            <a:r>
              <a:rPr lang="en-US" baseline="30000" dirty="0"/>
              <a:t>R</a:t>
            </a:r>
            <a:r>
              <a:rPr lang="en-US" dirty="0"/>
              <a:t> = (V, E</a:t>
            </a:r>
            <a:r>
              <a:rPr lang="en-US" baseline="30000" dirty="0"/>
              <a:t>R</a:t>
            </a:r>
            <a:r>
              <a:rPr lang="en-US" dirty="0"/>
              <a:t>) as output. Assume that both G and G</a:t>
            </a:r>
            <a:r>
              <a:rPr lang="en-US" baseline="30000" dirty="0"/>
              <a:t>R</a:t>
            </a:r>
            <a:r>
              <a:rPr lang="en-US" dirty="0"/>
              <a:t> are represented using an adjacency list representation.</a:t>
            </a:r>
          </a:p>
          <a:p>
            <a:r>
              <a:rPr lang="en-US" dirty="0"/>
              <a:t>(Do NOT assume that the neighbors of a node are organized in any particular order in the node's adjacency list.) Your algorithm should run in linear time, that is O(|V| + |E|).</a:t>
            </a:r>
          </a:p>
        </p:txBody>
      </p:sp>
    </p:spTree>
    <p:extLst>
      <p:ext uri="{BB962C8B-B14F-4D97-AF65-F5344CB8AC3E}">
        <p14:creationId xmlns="" xmlns:p14="http://schemas.microsoft.com/office/powerpoint/2010/main" val="1636161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261E31-0DF2-4F4E-AC37-23FAD5A7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8E17A7-15C7-4887-9B80-591351A9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prove that BFS outputs the vertices in G (reachable from s) in ascending order of their distances from s. Let Vi (</a:t>
            </a:r>
            <a:r>
              <a:rPr lang="en-US" dirty="0" err="1"/>
              <a:t>i</a:t>
            </a:r>
            <a:r>
              <a:rPr lang="en-US" dirty="0"/>
              <a:t> &gt;= 0) be the set of vertices that are </a:t>
            </a:r>
            <a:r>
              <a:rPr lang="en-US" dirty="0" err="1"/>
              <a:t>i</a:t>
            </a:r>
            <a:r>
              <a:rPr lang="en-US" dirty="0"/>
              <a:t>-hops away from s.</a:t>
            </a:r>
          </a:p>
          <a:p>
            <a:r>
              <a:rPr lang="en-US" dirty="0"/>
              <a:t>The next lemma essentially shows that BFS outputs all the vertices of Vi before outputting any vertex in Vi+1, for any possible </a:t>
            </a:r>
            <a:r>
              <a:rPr lang="en-US" dirty="0" err="1"/>
              <a:t>i</a:t>
            </a: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="" xmlns:p14="http://schemas.microsoft.com/office/powerpoint/2010/main" val="3243860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261E31-0DF2-4F4E-AC37-23FAD5A7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8E17A7-15C7-4887-9B80-591351A9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Lemma: </a:t>
            </a:r>
            <a:r>
              <a:rPr lang="en-US" dirty="0"/>
              <a:t>For any </a:t>
            </a:r>
            <a:r>
              <a:rPr lang="en-US" dirty="0" err="1"/>
              <a:t>i</a:t>
            </a:r>
            <a:r>
              <a:rPr lang="en-US" dirty="0"/>
              <a:t> , when BFS finishes outputting all the vertices of Vi , Q contains all and only the vertices of Vi+1.</a:t>
            </a:r>
          </a:p>
          <a:p>
            <a:r>
              <a:rPr lang="en-US" b="1" dirty="0"/>
              <a:t>Proof: </a:t>
            </a:r>
            <a:r>
              <a:rPr lang="en-US" dirty="0"/>
              <a:t>We prove the lemma by induction. The basis step with </a:t>
            </a:r>
            <a:r>
              <a:rPr lang="en-US" dirty="0" err="1"/>
              <a:t>i</a:t>
            </a:r>
            <a:r>
              <a:rPr lang="en-US" dirty="0"/>
              <a:t> = 0 is trivial, noticing that V0 = {s}. Next, assuming that the lemma is correct up to </a:t>
            </a:r>
            <a:r>
              <a:rPr lang="en-US" dirty="0" err="1"/>
              <a:t>i</a:t>
            </a:r>
            <a:r>
              <a:rPr lang="en-US" dirty="0"/>
              <a:t> &lt;= k, we show its correctness for </a:t>
            </a:r>
            <a:r>
              <a:rPr lang="en-US" dirty="0" err="1"/>
              <a:t>i</a:t>
            </a:r>
            <a:r>
              <a:rPr lang="en-US" dirty="0"/>
              <a:t> = k + 1. At the moment when all the vertices of </a:t>
            </a:r>
            <a:r>
              <a:rPr lang="en-US" dirty="0" err="1"/>
              <a:t>Vk</a:t>
            </a:r>
            <a:r>
              <a:rPr lang="en-US" dirty="0"/>
              <a:t> have been output, the inductive assumption implies:</a:t>
            </a:r>
          </a:p>
          <a:p>
            <a:pPr lvl="1"/>
            <a:r>
              <a:rPr lang="en-US" dirty="0"/>
              <a:t>every vertex of Vk+1 is in Q,</a:t>
            </a:r>
          </a:p>
          <a:p>
            <a:pPr lvl="1"/>
            <a:r>
              <a:rPr lang="en-US" dirty="0"/>
              <a:t>Q does not have any other vertex,</a:t>
            </a:r>
          </a:p>
          <a:p>
            <a:pPr lvl="1"/>
            <a:r>
              <a:rPr lang="en-US" dirty="0"/>
              <a:t>V0, . . . , Vk+1 have been output.</a:t>
            </a:r>
          </a:p>
        </p:txBody>
      </p:sp>
    </p:spTree>
    <p:extLst>
      <p:ext uri="{BB962C8B-B14F-4D97-AF65-F5344CB8AC3E}">
        <p14:creationId xmlns="" xmlns:p14="http://schemas.microsoft.com/office/powerpoint/2010/main" val="3960139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261E31-0DF2-4F4E-AC37-23FAD5A7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8E17A7-15C7-4887-9B80-591351A9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suffices to prove that when </a:t>
            </a:r>
            <a:r>
              <a:rPr lang="en-US" i="1" dirty="0"/>
              <a:t>Vk</a:t>
            </a:r>
            <a:r>
              <a:rPr lang="en-US" dirty="0"/>
              <a:t>+1 has been output completely, the entire </a:t>
            </a:r>
            <a:r>
              <a:rPr lang="en-US" i="1" dirty="0"/>
              <a:t>Vk</a:t>
            </a:r>
            <a:r>
              <a:rPr lang="en-US" dirty="0"/>
              <a:t>+2 is in </a:t>
            </a:r>
            <a:r>
              <a:rPr lang="en-US" i="1" dirty="0"/>
              <a:t>Q</a:t>
            </a:r>
            <a:r>
              <a:rPr lang="en-US" dirty="0"/>
              <a:t>, and </a:t>
            </a:r>
            <a:r>
              <a:rPr lang="en-US" i="1" dirty="0"/>
              <a:t>Q </a:t>
            </a:r>
            <a:r>
              <a:rPr lang="en-US" dirty="0"/>
              <a:t>does not have any other vertex. This is true from the following:</a:t>
            </a:r>
          </a:p>
          <a:p>
            <a:r>
              <a:rPr lang="en-US" dirty="0"/>
              <a:t>Consider any </a:t>
            </a:r>
            <a:r>
              <a:rPr lang="en-US" i="1" dirty="0"/>
              <a:t>u 2 Vk</a:t>
            </a:r>
            <a:r>
              <a:rPr lang="en-US" dirty="0"/>
              <a:t>+1. BFS </a:t>
            </a:r>
            <a:r>
              <a:rPr lang="en-US" dirty="0" err="1"/>
              <a:t>en</a:t>
            </a:r>
            <a:r>
              <a:rPr lang="en-US" dirty="0"/>
              <a:t>-queues only the white neighbors of </a:t>
            </a:r>
            <a:r>
              <a:rPr lang="en-US" i="1" dirty="0"/>
              <a:t>u</a:t>
            </a:r>
            <a:r>
              <a:rPr lang="en-US" dirty="0"/>
              <a:t>. All these neighbors must be in </a:t>
            </a:r>
            <a:r>
              <a:rPr lang="en-US" i="1" dirty="0"/>
              <a:t>Vk</a:t>
            </a:r>
            <a:r>
              <a:rPr lang="en-US" dirty="0"/>
              <a:t>+2.</a:t>
            </a:r>
          </a:p>
          <a:p>
            <a:r>
              <a:rPr lang="en-US" dirty="0"/>
              <a:t>Any vertex in </a:t>
            </a:r>
            <a:r>
              <a:rPr lang="en-US" i="1" dirty="0"/>
              <a:t>Vk</a:t>
            </a:r>
            <a:r>
              <a:rPr lang="en-US" dirty="0"/>
              <a:t>+2 must have at least a neighbor in </a:t>
            </a:r>
            <a:r>
              <a:rPr lang="en-US" i="1" dirty="0"/>
              <a:t>Vk</a:t>
            </a:r>
            <a:r>
              <a:rPr lang="en-US" dirty="0"/>
              <a:t>+1.</a:t>
            </a:r>
          </a:p>
        </p:txBody>
      </p:sp>
    </p:spTree>
    <p:extLst>
      <p:ext uri="{BB962C8B-B14F-4D97-AF65-F5344CB8AC3E}">
        <p14:creationId xmlns="" xmlns:p14="http://schemas.microsoft.com/office/powerpoint/2010/main" val="74148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7622</TotalTime>
  <Words>1693</Words>
  <Application>Microsoft Office PowerPoint</Application>
  <PresentationFormat>Custom</PresentationFormat>
  <Paragraphs>176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Algorithms &amp; Data Structures</vt:lpstr>
      <vt:lpstr>Graph Topics</vt:lpstr>
      <vt:lpstr>Undirected Graph</vt:lpstr>
      <vt:lpstr>Directed Graph</vt:lpstr>
      <vt:lpstr>Directed Graph</vt:lpstr>
      <vt:lpstr>Directed Graph: Degrees</vt:lpstr>
      <vt:lpstr>Graph: Representation</vt:lpstr>
      <vt:lpstr>Undirected Graph Representation – Adjacency List</vt:lpstr>
      <vt:lpstr>Undirected Graph Representation – Adjacency Matrix</vt:lpstr>
      <vt:lpstr>Adjacency List Representation of Directed Graph</vt:lpstr>
      <vt:lpstr>Adjacency Matrix Representation of Directed Graph</vt:lpstr>
      <vt:lpstr>Breadth First Search in Directed Graph</vt:lpstr>
      <vt:lpstr>Shorted Path Definition</vt:lpstr>
      <vt:lpstr>Shorted Path Example</vt:lpstr>
      <vt:lpstr>Single Source Shortest Path (SSSP) with Unit (1) Weights</vt:lpstr>
      <vt:lpstr>BFS in Graph</vt:lpstr>
      <vt:lpstr>BFS in Graph</vt:lpstr>
      <vt:lpstr>BFS in Graph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Time Complexity of BFS</vt:lpstr>
      <vt:lpstr>Quiz</vt:lpstr>
      <vt:lpstr>Exercise</vt:lpstr>
      <vt:lpstr>Quiz</vt:lpstr>
      <vt:lpstr>Proof of Correctness</vt:lpstr>
      <vt:lpstr>Proof of Correctness</vt:lpstr>
      <vt:lpstr>Proof of Correctness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IT623 Algorithms &amp; Data Structures</dc:title>
  <dc:creator>Amit Mankodi</dc:creator>
  <cp:lastModifiedBy>Admin</cp:lastModifiedBy>
  <cp:revision>322</cp:revision>
  <dcterms:created xsi:type="dcterms:W3CDTF">2019-05-21T10:07:53Z</dcterms:created>
  <dcterms:modified xsi:type="dcterms:W3CDTF">2020-11-04T10:51:01Z</dcterms:modified>
</cp:coreProperties>
</file>