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commentAuthors.xml" ContentType="application/vnd.openxmlformats-officedocument.presentationml.commentAuthor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emf" ContentType="image/x-emf"/>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1"/>
  </p:notesMasterIdLst>
  <p:sldIdLst>
    <p:sldId id="257" r:id="rId2"/>
    <p:sldId id="401" r:id="rId3"/>
    <p:sldId id="302" r:id="rId4"/>
    <p:sldId id="303" r:id="rId5"/>
    <p:sldId id="304" r:id="rId6"/>
    <p:sldId id="305" r:id="rId7"/>
    <p:sldId id="306" r:id="rId8"/>
    <p:sldId id="307" r:id="rId9"/>
    <p:sldId id="328" r:id="rId10"/>
    <p:sldId id="329" r:id="rId11"/>
    <p:sldId id="330" r:id="rId12"/>
    <p:sldId id="331" r:id="rId13"/>
    <p:sldId id="332" r:id="rId14"/>
    <p:sldId id="333" r:id="rId15"/>
    <p:sldId id="334" r:id="rId16"/>
    <p:sldId id="335" r:id="rId17"/>
    <p:sldId id="336" r:id="rId18"/>
    <p:sldId id="337" r:id="rId19"/>
    <p:sldId id="338" r:id="rId20"/>
    <p:sldId id="339" r:id="rId21"/>
    <p:sldId id="340" r:id="rId22"/>
    <p:sldId id="341" r:id="rId23"/>
    <p:sldId id="342" r:id="rId24"/>
    <p:sldId id="343" r:id="rId25"/>
    <p:sldId id="344" r:id="rId26"/>
    <p:sldId id="345" r:id="rId27"/>
    <p:sldId id="346" r:id="rId28"/>
    <p:sldId id="405" r:id="rId29"/>
    <p:sldId id="406" r:id="rId30"/>
    <p:sldId id="347" r:id="rId31"/>
    <p:sldId id="402" r:id="rId32"/>
    <p:sldId id="348" r:id="rId33"/>
    <p:sldId id="349" r:id="rId34"/>
    <p:sldId id="350" r:id="rId35"/>
    <p:sldId id="404" r:id="rId36"/>
    <p:sldId id="351" r:id="rId37"/>
    <p:sldId id="352" r:id="rId38"/>
    <p:sldId id="353" r:id="rId39"/>
    <p:sldId id="354" r:id="rId40"/>
    <p:sldId id="355" r:id="rId41"/>
    <p:sldId id="356" r:id="rId42"/>
    <p:sldId id="357" r:id="rId43"/>
    <p:sldId id="360" r:id="rId44"/>
    <p:sldId id="361" r:id="rId45"/>
    <p:sldId id="362" r:id="rId46"/>
    <p:sldId id="358" r:id="rId47"/>
    <p:sldId id="359" r:id="rId48"/>
    <p:sldId id="363" r:id="rId49"/>
    <p:sldId id="364" r:id="rId50"/>
    <p:sldId id="365" r:id="rId51"/>
    <p:sldId id="366" r:id="rId52"/>
    <p:sldId id="367" r:id="rId53"/>
    <p:sldId id="368" r:id="rId54"/>
    <p:sldId id="408" r:id="rId55"/>
    <p:sldId id="409" r:id="rId56"/>
    <p:sldId id="411" r:id="rId57"/>
    <p:sldId id="412" r:id="rId58"/>
    <p:sldId id="413" r:id="rId59"/>
    <p:sldId id="407"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mit Mankodi" initials="AM" lastIdx="1" clrIdx="0">
    <p:extLst>
      <p:ext uri="{19B8F6BF-5375-455C-9EA6-DF929625EA0E}">
        <p15:presenceInfo xmlns="" xmlns:p15="http://schemas.microsoft.com/office/powerpoint/2012/main" userId="15f90b9ae5a7911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264" autoAdjust="0"/>
    <p:restoredTop sz="94660"/>
  </p:normalViewPr>
  <p:slideViewPr>
    <p:cSldViewPr snapToGrid="0">
      <p:cViewPr varScale="1">
        <p:scale>
          <a:sx n="88" d="100"/>
          <a:sy n="88" d="100"/>
        </p:scale>
        <p:origin x="-178" y="-77"/>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736C1B-9880-4636-9E11-A52C244A9EC4}" type="datetimeFigureOut">
              <a:rPr lang="en-US" smtClean="0"/>
              <a:pPr/>
              <a:t>11/9/2020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C3EFD1-752C-4F70-B913-B38A5EBF4CBA}" type="slidenum">
              <a:rPr lang="en-US" smtClean="0"/>
              <a:pPr/>
              <a:t>‹#›</a:t>
            </a:fld>
            <a:endParaRPr lang="en-US"/>
          </a:p>
        </p:txBody>
      </p:sp>
    </p:spTree>
    <p:extLst>
      <p:ext uri="{BB962C8B-B14F-4D97-AF65-F5344CB8AC3E}">
        <p14:creationId xmlns="" xmlns:p14="http://schemas.microsoft.com/office/powerpoint/2010/main" val="2500052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BCE1806-38DA-447D-A4B6-C420C6106B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 xmlns:a16="http://schemas.microsoft.com/office/drawing/2014/main" id="{DF89ECCC-50C5-4F48-8DED-1C94072E05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 xmlns:a16="http://schemas.microsoft.com/office/drawing/2014/main" id="{C4CF24E3-0AF8-45B7-B279-06AAC0664550}"/>
              </a:ext>
            </a:extLst>
          </p:cNvPr>
          <p:cNvSpPr>
            <a:spLocks noGrp="1"/>
          </p:cNvSpPr>
          <p:nvPr>
            <p:ph type="dt" sz="half" idx="10"/>
          </p:nvPr>
        </p:nvSpPr>
        <p:spPr/>
        <p:txBody>
          <a:bodyPr/>
          <a:lstStyle/>
          <a:p>
            <a:fld id="{8EDDC036-60AD-471D-805A-CD56295DF547}" type="datetime1">
              <a:rPr lang="en-US" smtClean="0"/>
              <a:pPr/>
              <a:t>11/9/2020</a:t>
            </a:fld>
            <a:endParaRPr lang="en-US"/>
          </a:p>
        </p:txBody>
      </p:sp>
      <p:sp>
        <p:nvSpPr>
          <p:cNvPr id="5" name="Footer Placeholder 4">
            <a:extLst>
              <a:ext uri="{FF2B5EF4-FFF2-40B4-BE49-F238E27FC236}">
                <a16:creationId xmlns="" xmlns:a16="http://schemas.microsoft.com/office/drawing/2014/main" id="{24A937CE-F340-473F-B98A-C1F83AC9A1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E4D68E85-362E-42F6-A005-469F0A31BAAE}"/>
              </a:ext>
            </a:extLst>
          </p:cNvPr>
          <p:cNvSpPr>
            <a:spLocks noGrp="1"/>
          </p:cNvSpPr>
          <p:nvPr>
            <p:ph type="sldNum" sz="quarter" idx="12"/>
          </p:nvPr>
        </p:nvSpPr>
        <p:spPr/>
        <p:txBody>
          <a:bodyPr/>
          <a:lstStyle/>
          <a:p>
            <a:fld id="{774836C5-97FD-4C1B-BD09-027D8770B985}" type="slidenum">
              <a:rPr lang="en-US" smtClean="0"/>
              <a:pPr/>
              <a:t>‹#›</a:t>
            </a:fld>
            <a:endParaRPr lang="en-US"/>
          </a:p>
        </p:txBody>
      </p:sp>
    </p:spTree>
    <p:extLst>
      <p:ext uri="{BB962C8B-B14F-4D97-AF65-F5344CB8AC3E}">
        <p14:creationId xmlns="" xmlns:p14="http://schemas.microsoft.com/office/powerpoint/2010/main" val="22809420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B3ADDD6-C8D3-49D6-818E-6D4E8F55DF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317129AF-69A3-4D8D-91C8-25B6B521E0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8338857E-D76C-42AD-97B5-FE0FA456E131}"/>
              </a:ext>
            </a:extLst>
          </p:cNvPr>
          <p:cNvSpPr>
            <a:spLocks noGrp="1"/>
          </p:cNvSpPr>
          <p:nvPr>
            <p:ph type="dt" sz="half" idx="10"/>
          </p:nvPr>
        </p:nvSpPr>
        <p:spPr/>
        <p:txBody>
          <a:bodyPr/>
          <a:lstStyle/>
          <a:p>
            <a:fld id="{CD6F4B49-C299-49E3-8146-EAD2D0A4BBB9}" type="datetime1">
              <a:rPr lang="en-US" smtClean="0"/>
              <a:pPr/>
              <a:t>11/9/2020</a:t>
            </a:fld>
            <a:endParaRPr lang="en-US"/>
          </a:p>
        </p:txBody>
      </p:sp>
      <p:sp>
        <p:nvSpPr>
          <p:cNvPr id="5" name="Footer Placeholder 4">
            <a:extLst>
              <a:ext uri="{FF2B5EF4-FFF2-40B4-BE49-F238E27FC236}">
                <a16:creationId xmlns="" xmlns:a16="http://schemas.microsoft.com/office/drawing/2014/main" id="{DFECBBDD-27A3-4F6F-A084-83A5CE1E24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FBA601D6-423A-4F07-BCC6-F2F73CD02C68}"/>
              </a:ext>
            </a:extLst>
          </p:cNvPr>
          <p:cNvSpPr>
            <a:spLocks noGrp="1"/>
          </p:cNvSpPr>
          <p:nvPr>
            <p:ph type="sldNum" sz="quarter" idx="12"/>
          </p:nvPr>
        </p:nvSpPr>
        <p:spPr/>
        <p:txBody>
          <a:bodyPr/>
          <a:lstStyle/>
          <a:p>
            <a:fld id="{774836C5-97FD-4C1B-BD09-027D8770B985}" type="slidenum">
              <a:rPr lang="en-US" smtClean="0"/>
              <a:pPr/>
              <a:t>‹#›</a:t>
            </a:fld>
            <a:endParaRPr lang="en-US"/>
          </a:p>
        </p:txBody>
      </p:sp>
    </p:spTree>
    <p:extLst>
      <p:ext uri="{BB962C8B-B14F-4D97-AF65-F5344CB8AC3E}">
        <p14:creationId xmlns="" xmlns:p14="http://schemas.microsoft.com/office/powerpoint/2010/main" val="26510007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2FD5E4F-9EDB-42F1-BFA2-271AFDD9EE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 xmlns:a16="http://schemas.microsoft.com/office/drawing/2014/main" id="{2E50236E-0CBF-46E8-BF54-61C80A689E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D3C5A937-D41B-4CAB-BB59-C8E40FC60694}"/>
              </a:ext>
            </a:extLst>
          </p:cNvPr>
          <p:cNvSpPr>
            <a:spLocks noGrp="1"/>
          </p:cNvSpPr>
          <p:nvPr>
            <p:ph type="dt" sz="half" idx="10"/>
          </p:nvPr>
        </p:nvSpPr>
        <p:spPr/>
        <p:txBody>
          <a:bodyPr/>
          <a:lstStyle/>
          <a:p>
            <a:fld id="{2054C03B-F85B-4C18-A5B7-A1798B14B50D}" type="datetime1">
              <a:rPr lang="en-US" smtClean="0"/>
              <a:pPr/>
              <a:t>11/9/2020</a:t>
            </a:fld>
            <a:endParaRPr lang="en-US"/>
          </a:p>
        </p:txBody>
      </p:sp>
      <p:sp>
        <p:nvSpPr>
          <p:cNvPr id="5" name="Footer Placeholder 4">
            <a:extLst>
              <a:ext uri="{FF2B5EF4-FFF2-40B4-BE49-F238E27FC236}">
                <a16:creationId xmlns="" xmlns:a16="http://schemas.microsoft.com/office/drawing/2014/main" id="{38BC4D22-4DB1-47CD-8A2D-898156D509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EB5539BC-63AF-4AB4-8D0C-53A52CD9EA9B}"/>
              </a:ext>
            </a:extLst>
          </p:cNvPr>
          <p:cNvSpPr>
            <a:spLocks noGrp="1"/>
          </p:cNvSpPr>
          <p:nvPr>
            <p:ph type="sldNum" sz="quarter" idx="12"/>
          </p:nvPr>
        </p:nvSpPr>
        <p:spPr/>
        <p:txBody>
          <a:bodyPr/>
          <a:lstStyle/>
          <a:p>
            <a:fld id="{774836C5-97FD-4C1B-BD09-027D8770B985}" type="slidenum">
              <a:rPr lang="en-US" smtClean="0"/>
              <a:pPr/>
              <a:t>‹#›</a:t>
            </a:fld>
            <a:endParaRPr lang="en-US"/>
          </a:p>
        </p:txBody>
      </p:sp>
    </p:spTree>
    <p:extLst>
      <p:ext uri="{BB962C8B-B14F-4D97-AF65-F5344CB8AC3E}">
        <p14:creationId xmlns="" xmlns:p14="http://schemas.microsoft.com/office/powerpoint/2010/main" val="308423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F42B815-0BC7-438A-B992-3F61239989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80463342-710B-45D0-AC3B-A7BBDE55C4C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27D0A96C-77A1-441A-867D-F2FE3F4B1AB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F642CAE5-C13C-4813-9746-9C0A658B19DA}"/>
              </a:ext>
            </a:extLst>
          </p:cNvPr>
          <p:cNvSpPr>
            <a:spLocks noGrp="1"/>
          </p:cNvSpPr>
          <p:nvPr>
            <p:ph type="dt" sz="half" idx="10"/>
          </p:nvPr>
        </p:nvSpPr>
        <p:spPr/>
        <p:txBody>
          <a:bodyPr/>
          <a:lstStyle/>
          <a:p>
            <a:fld id="{3BBCFD99-19BD-4EF6-86E0-7B7047C34E85}" type="datetime1">
              <a:rPr lang="en-US" smtClean="0"/>
              <a:pPr/>
              <a:t>11/9/2020</a:t>
            </a:fld>
            <a:endParaRPr lang="en-US"/>
          </a:p>
        </p:txBody>
      </p:sp>
      <p:sp>
        <p:nvSpPr>
          <p:cNvPr id="6" name="Footer Placeholder 5">
            <a:extLst>
              <a:ext uri="{FF2B5EF4-FFF2-40B4-BE49-F238E27FC236}">
                <a16:creationId xmlns="" xmlns:a16="http://schemas.microsoft.com/office/drawing/2014/main" id="{8590ECBB-F3BE-495E-8994-8A80A8F18C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8BFB23AC-9D16-4319-A791-925D2DB978CD}"/>
              </a:ext>
            </a:extLst>
          </p:cNvPr>
          <p:cNvSpPr>
            <a:spLocks noGrp="1"/>
          </p:cNvSpPr>
          <p:nvPr>
            <p:ph type="sldNum" sz="quarter" idx="12"/>
          </p:nvPr>
        </p:nvSpPr>
        <p:spPr/>
        <p:txBody>
          <a:bodyPr/>
          <a:lstStyle/>
          <a:p>
            <a:fld id="{774836C5-97FD-4C1B-BD09-027D8770B985}" type="slidenum">
              <a:rPr lang="en-US" smtClean="0"/>
              <a:pPr/>
              <a:t>‹#›</a:t>
            </a:fld>
            <a:endParaRPr lang="en-US"/>
          </a:p>
        </p:txBody>
      </p:sp>
    </p:spTree>
    <p:extLst>
      <p:ext uri="{BB962C8B-B14F-4D97-AF65-F5344CB8AC3E}">
        <p14:creationId xmlns="" xmlns:p14="http://schemas.microsoft.com/office/powerpoint/2010/main" val="34197883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8B800C1-479C-4550-B6E6-82F1E87CF31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 xmlns:a16="http://schemas.microsoft.com/office/drawing/2014/main" id="{66E71884-FF53-4689-812E-9A1F9EAA8B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B66F599E-8B8F-499E-9BFE-62DAD9CDE7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 xmlns:a16="http://schemas.microsoft.com/office/drawing/2014/main" id="{2470C640-2C79-42AE-802A-E616FC4426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52E6C772-E955-4A0F-9F92-43382ACCB53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44D16492-7F9A-4F20-AE69-AE512424F4D9}"/>
              </a:ext>
            </a:extLst>
          </p:cNvPr>
          <p:cNvSpPr>
            <a:spLocks noGrp="1"/>
          </p:cNvSpPr>
          <p:nvPr>
            <p:ph type="dt" sz="half" idx="10"/>
          </p:nvPr>
        </p:nvSpPr>
        <p:spPr/>
        <p:txBody>
          <a:bodyPr/>
          <a:lstStyle/>
          <a:p>
            <a:fld id="{BEC1010D-C60C-47B5-A49F-77B8766F6ECA}" type="datetime1">
              <a:rPr lang="en-US" smtClean="0"/>
              <a:pPr/>
              <a:t>11/9/2020</a:t>
            </a:fld>
            <a:endParaRPr lang="en-US"/>
          </a:p>
        </p:txBody>
      </p:sp>
      <p:sp>
        <p:nvSpPr>
          <p:cNvPr id="8" name="Footer Placeholder 7">
            <a:extLst>
              <a:ext uri="{FF2B5EF4-FFF2-40B4-BE49-F238E27FC236}">
                <a16:creationId xmlns="" xmlns:a16="http://schemas.microsoft.com/office/drawing/2014/main" id="{9F61B09E-A0C4-447F-9C25-26AD1080471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 xmlns:a16="http://schemas.microsoft.com/office/drawing/2014/main" id="{48E658D6-ECC7-406B-BFDA-7453C67A9721}"/>
              </a:ext>
            </a:extLst>
          </p:cNvPr>
          <p:cNvSpPr>
            <a:spLocks noGrp="1"/>
          </p:cNvSpPr>
          <p:nvPr>
            <p:ph type="sldNum" sz="quarter" idx="12"/>
          </p:nvPr>
        </p:nvSpPr>
        <p:spPr/>
        <p:txBody>
          <a:bodyPr/>
          <a:lstStyle/>
          <a:p>
            <a:fld id="{774836C5-97FD-4C1B-BD09-027D8770B985}" type="slidenum">
              <a:rPr lang="en-US" smtClean="0"/>
              <a:pPr/>
              <a:t>‹#›</a:t>
            </a:fld>
            <a:endParaRPr lang="en-US"/>
          </a:p>
        </p:txBody>
      </p:sp>
    </p:spTree>
    <p:extLst>
      <p:ext uri="{BB962C8B-B14F-4D97-AF65-F5344CB8AC3E}">
        <p14:creationId xmlns="" xmlns:p14="http://schemas.microsoft.com/office/powerpoint/2010/main" val="39749248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DEEE4E4-00CA-47D6-B7FA-A707F8455B8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DB23D389-F574-467E-B02C-F92FF5CA4DA1}"/>
              </a:ext>
            </a:extLst>
          </p:cNvPr>
          <p:cNvSpPr>
            <a:spLocks noGrp="1"/>
          </p:cNvSpPr>
          <p:nvPr>
            <p:ph type="dt" sz="half" idx="10"/>
          </p:nvPr>
        </p:nvSpPr>
        <p:spPr/>
        <p:txBody>
          <a:bodyPr/>
          <a:lstStyle/>
          <a:p>
            <a:fld id="{8218546D-CBB1-49DE-B878-ACE514108BDF}" type="datetime1">
              <a:rPr lang="en-US" smtClean="0"/>
              <a:pPr/>
              <a:t>11/9/2020</a:t>
            </a:fld>
            <a:endParaRPr lang="en-US"/>
          </a:p>
        </p:txBody>
      </p:sp>
      <p:sp>
        <p:nvSpPr>
          <p:cNvPr id="4" name="Footer Placeholder 3">
            <a:extLst>
              <a:ext uri="{FF2B5EF4-FFF2-40B4-BE49-F238E27FC236}">
                <a16:creationId xmlns="" xmlns:a16="http://schemas.microsoft.com/office/drawing/2014/main" id="{B10F0162-FBA6-417F-A6F3-8B544B70635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 xmlns:a16="http://schemas.microsoft.com/office/drawing/2014/main" id="{9B3055DE-70C7-4161-8FC4-754705034128}"/>
              </a:ext>
            </a:extLst>
          </p:cNvPr>
          <p:cNvSpPr>
            <a:spLocks noGrp="1"/>
          </p:cNvSpPr>
          <p:nvPr>
            <p:ph type="sldNum" sz="quarter" idx="12"/>
          </p:nvPr>
        </p:nvSpPr>
        <p:spPr/>
        <p:txBody>
          <a:bodyPr/>
          <a:lstStyle/>
          <a:p>
            <a:fld id="{774836C5-97FD-4C1B-BD09-027D8770B985}" type="slidenum">
              <a:rPr lang="en-US" smtClean="0"/>
              <a:pPr/>
              <a:t>‹#›</a:t>
            </a:fld>
            <a:endParaRPr lang="en-US"/>
          </a:p>
        </p:txBody>
      </p:sp>
    </p:spTree>
    <p:extLst>
      <p:ext uri="{BB962C8B-B14F-4D97-AF65-F5344CB8AC3E}">
        <p14:creationId xmlns="" xmlns:p14="http://schemas.microsoft.com/office/powerpoint/2010/main" val="4528343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DC096E50-3E23-43CA-8EC6-D2313F215E8D}"/>
              </a:ext>
            </a:extLst>
          </p:cNvPr>
          <p:cNvSpPr>
            <a:spLocks noGrp="1"/>
          </p:cNvSpPr>
          <p:nvPr>
            <p:ph type="dt" sz="half" idx="10"/>
          </p:nvPr>
        </p:nvSpPr>
        <p:spPr/>
        <p:txBody>
          <a:bodyPr/>
          <a:lstStyle/>
          <a:p>
            <a:fld id="{4E8A2B07-6B8F-4FDA-9812-D7C5832C620F}" type="datetime1">
              <a:rPr lang="en-US" smtClean="0"/>
              <a:pPr/>
              <a:t>11/9/2020</a:t>
            </a:fld>
            <a:endParaRPr lang="en-US"/>
          </a:p>
        </p:txBody>
      </p:sp>
      <p:sp>
        <p:nvSpPr>
          <p:cNvPr id="3" name="Footer Placeholder 2">
            <a:extLst>
              <a:ext uri="{FF2B5EF4-FFF2-40B4-BE49-F238E27FC236}">
                <a16:creationId xmlns="" xmlns:a16="http://schemas.microsoft.com/office/drawing/2014/main" id="{9654134A-79EB-4AC1-AC98-00401C0A398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 xmlns:a16="http://schemas.microsoft.com/office/drawing/2014/main" id="{8E294F56-D6BB-4D1F-9E33-EC7E452853A5}"/>
              </a:ext>
            </a:extLst>
          </p:cNvPr>
          <p:cNvSpPr>
            <a:spLocks noGrp="1"/>
          </p:cNvSpPr>
          <p:nvPr>
            <p:ph type="sldNum" sz="quarter" idx="12"/>
          </p:nvPr>
        </p:nvSpPr>
        <p:spPr/>
        <p:txBody>
          <a:bodyPr/>
          <a:lstStyle/>
          <a:p>
            <a:fld id="{774836C5-97FD-4C1B-BD09-027D8770B985}" type="slidenum">
              <a:rPr lang="en-US" smtClean="0"/>
              <a:pPr/>
              <a:t>‹#›</a:t>
            </a:fld>
            <a:endParaRPr lang="en-US"/>
          </a:p>
        </p:txBody>
      </p:sp>
    </p:spTree>
    <p:extLst>
      <p:ext uri="{BB962C8B-B14F-4D97-AF65-F5344CB8AC3E}">
        <p14:creationId xmlns="" xmlns:p14="http://schemas.microsoft.com/office/powerpoint/2010/main" val="2284695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15D057A-99D7-46C8-8062-CE9AF94C83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 xmlns:a16="http://schemas.microsoft.com/office/drawing/2014/main" id="{1461D1B2-9E59-4644-AE1C-E49E4A85C0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 xmlns:a16="http://schemas.microsoft.com/office/drawing/2014/main" id="{1540A87A-10B8-4858-B5E4-45D0336755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58FA4385-A582-43FD-9F4F-87C93D014B5B}"/>
              </a:ext>
            </a:extLst>
          </p:cNvPr>
          <p:cNvSpPr>
            <a:spLocks noGrp="1"/>
          </p:cNvSpPr>
          <p:nvPr>
            <p:ph type="dt" sz="half" idx="10"/>
          </p:nvPr>
        </p:nvSpPr>
        <p:spPr/>
        <p:txBody>
          <a:bodyPr/>
          <a:lstStyle/>
          <a:p>
            <a:fld id="{41D92976-1D24-4B33-B395-81663659CB81}" type="datetime1">
              <a:rPr lang="en-US" smtClean="0"/>
              <a:pPr/>
              <a:t>11/9/2020</a:t>
            </a:fld>
            <a:endParaRPr lang="en-US"/>
          </a:p>
        </p:txBody>
      </p:sp>
      <p:sp>
        <p:nvSpPr>
          <p:cNvPr id="6" name="Footer Placeholder 5">
            <a:extLst>
              <a:ext uri="{FF2B5EF4-FFF2-40B4-BE49-F238E27FC236}">
                <a16:creationId xmlns="" xmlns:a16="http://schemas.microsoft.com/office/drawing/2014/main" id="{3934FDC9-56AF-4B04-8AE2-E153BAB50C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0D72F9C3-75EC-454F-ACD7-1693E41E5540}"/>
              </a:ext>
            </a:extLst>
          </p:cNvPr>
          <p:cNvSpPr>
            <a:spLocks noGrp="1"/>
          </p:cNvSpPr>
          <p:nvPr>
            <p:ph type="sldNum" sz="quarter" idx="12"/>
          </p:nvPr>
        </p:nvSpPr>
        <p:spPr/>
        <p:txBody>
          <a:bodyPr/>
          <a:lstStyle/>
          <a:p>
            <a:fld id="{774836C5-97FD-4C1B-BD09-027D8770B985}" type="slidenum">
              <a:rPr lang="en-US" smtClean="0"/>
              <a:pPr/>
              <a:t>‹#›</a:t>
            </a:fld>
            <a:endParaRPr lang="en-US"/>
          </a:p>
        </p:txBody>
      </p:sp>
    </p:spTree>
    <p:extLst>
      <p:ext uri="{BB962C8B-B14F-4D97-AF65-F5344CB8AC3E}">
        <p14:creationId xmlns="" xmlns:p14="http://schemas.microsoft.com/office/powerpoint/2010/main" val="2124657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47905E7-BC45-4F2C-A511-E3AAAB0BE9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 xmlns:a16="http://schemas.microsoft.com/office/drawing/2014/main" id="{110C12BC-D0FB-4181-A2A0-EE68E28879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 xmlns:a16="http://schemas.microsoft.com/office/drawing/2014/main" id="{F0ED24A8-F299-4C0A-BE3D-109DDC16EE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06F00099-777C-43BA-9D53-ACF52029A37C}"/>
              </a:ext>
            </a:extLst>
          </p:cNvPr>
          <p:cNvSpPr>
            <a:spLocks noGrp="1"/>
          </p:cNvSpPr>
          <p:nvPr>
            <p:ph type="dt" sz="half" idx="10"/>
          </p:nvPr>
        </p:nvSpPr>
        <p:spPr/>
        <p:txBody>
          <a:bodyPr/>
          <a:lstStyle/>
          <a:p>
            <a:fld id="{1B0F8661-5549-453F-84CC-169E2372B055}" type="datetime1">
              <a:rPr lang="en-US" smtClean="0"/>
              <a:pPr/>
              <a:t>11/9/2020</a:t>
            </a:fld>
            <a:endParaRPr lang="en-US"/>
          </a:p>
        </p:txBody>
      </p:sp>
      <p:sp>
        <p:nvSpPr>
          <p:cNvPr id="6" name="Footer Placeholder 5">
            <a:extLst>
              <a:ext uri="{FF2B5EF4-FFF2-40B4-BE49-F238E27FC236}">
                <a16:creationId xmlns="" xmlns:a16="http://schemas.microsoft.com/office/drawing/2014/main" id="{4BD55B84-A97D-4B06-8EF5-B5D5370AD2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B75D0024-C3BE-42F4-9EF3-4A86604FE49C}"/>
              </a:ext>
            </a:extLst>
          </p:cNvPr>
          <p:cNvSpPr>
            <a:spLocks noGrp="1"/>
          </p:cNvSpPr>
          <p:nvPr>
            <p:ph type="sldNum" sz="quarter" idx="12"/>
          </p:nvPr>
        </p:nvSpPr>
        <p:spPr/>
        <p:txBody>
          <a:bodyPr/>
          <a:lstStyle/>
          <a:p>
            <a:fld id="{774836C5-97FD-4C1B-BD09-027D8770B985}" type="slidenum">
              <a:rPr lang="en-US" smtClean="0"/>
              <a:pPr/>
              <a:t>‹#›</a:t>
            </a:fld>
            <a:endParaRPr lang="en-US"/>
          </a:p>
        </p:txBody>
      </p:sp>
    </p:spTree>
    <p:extLst>
      <p:ext uri="{BB962C8B-B14F-4D97-AF65-F5344CB8AC3E}">
        <p14:creationId xmlns="" xmlns:p14="http://schemas.microsoft.com/office/powerpoint/2010/main" val="6513744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56ECABB-FD66-4ABE-AE07-16B0B151365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 xmlns:a16="http://schemas.microsoft.com/office/drawing/2014/main" id="{DCF59014-E73A-4644-A233-1A557C8689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F6B5C153-1FAE-4E39-8CA5-BF753709F3AB}"/>
              </a:ext>
            </a:extLst>
          </p:cNvPr>
          <p:cNvSpPr>
            <a:spLocks noGrp="1"/>
          </p:cNvSpPr>
          <p:nvPr>
            <p:ph type="dt" sz="half" idx="10"/>
          </p:nvPr>
        </p:nvSpPr>
        <p:spPr/>
        <p:txBody>
          <a:bodyPr/>
          <a:lstStyle/>
          <a:p>
            <a:fld id="{70E2E2AB-80B1-4E5E-9AE0-5242CA6B93C5}" type="datetime1">
              <a:rPr lang="en-US" smtClean="0"/>
              <a:pPr/>
              <a:t>11/9/2020</a:t>
            </a:fld>
            <a:endParaRPr lang="en-US"/>
          </a:p>
        </p:txBody>
      </p:sp>
      <p:sp>
        <p:nvSpPr>
          <p:cNvPr id="5" name="Footer Placeholder 4">
            <a:extLst>
              <a:ext uri="{FF2B5EF4-FFF2-40B4-BE49-F238E27FC236}">
                <a16:creationId xmlns="" xmlns:a16="http://schemas.microsoft.com/office/drawing/2014/main" id="{D37A0AC2-3A25-40E2-8577-AEF20F1D4B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1AEBBAF9-9427-464F-83CD-1BF6E1FE67A1}"/>
              </a:ext>
            </a:extLst>
          </p:cNvPr>
          <p:cNvSpPr>
            <a:spLocks noGrp="1"/>
          </p:cNvSpPr>
          <p:nvPr>
            <p:ph type="sldNum" sz="quarter" idx="12"/>
          </p:nvPr>
        </p:nvSpPr>
        <p:spPr/>
        <p:txBody>
          <a:bodyPr/>
          <a:lstStyle/>
          <a:p>
            <a:fld id="{774836C5-97FD-4C1B-BD09-027D8770B985}" type="slidenum">
              <a:rPr lang="en-US" smtClean="0"/>
              <a:pPr/>
              <a:t>‹#›</a:t>
            </a:fld>
            <a:endParaRPr lang="en-US"/>
          </a:p>
        </p:txBody>
      </p:sp>
    </p:spTree>
    <p:extLst>
      <p:ext uri="{BB962C8B-B14F-4D97-AF65-F5344CB8AC3E}">
        <p14:creationId xmlns="" xmlns:p14="http://schemas.microsoft.com/office/powerpoint/2010/main" val="768163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1DFFBBB2-313B-41F5-AA26-7F0F8DDA948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 xmlns:a16="http://schemas.microsoft.com/office/drawing/2014/main" id="{0B4E6E7D-46AC-4F54-951F-7CC5B95601E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EE379C3F-8555-4D0B-BD5F-0864F9C95E9E}"/>
              </a:ext>
            </a:extLst>
          </p:cNvPr>
          <p:cNvSpPr>
            <a:spLocks noGrp="1"/>
          </p:cNvSpPr>
          <p:nvPr>
            <p:ph type="dt" sz="half" idx="10"/>
          </p:nvPr>
        </p:nvSpPr>
        <p:spPr/>
        <p:txBody>
          <a:bodyPr/>
          <a:lstStyle/>
          <a:p>
            <a:fld id="{33C0419C-CE29-41C2-B479-2FCB5AB74B61}" type="datetime1">
              <a:rPr lang="en-US" smtClean="0"/>
              <a:pPr/>
              <a:t>11/9/2020</a:t>
            </a:fld>
            <a:endParaRPr lang="en-US"/>
          </a:p>
        </p:txBody>
      </p:sp>
      <p:sp>
        <p:nvSpPr>
          <p:cNvPr id="5" name="Footer Placeholder 4">
            <a:extLst>
              <a:ext uri="{FF2B5EF4-FFF2-40B4-BE49-F238E27FC236}">
                <a16:creationId xmlns="" xmlns:a16="http://schemas.microsoft.com/office/drawing/2014/main" id="{76718780-3DE8-444F-BA8D-5CF43931E9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607F3D89-609C-4CE3-9E9F-E3C01CB79685}"/>
              </a:ext>
            </a:extLst>
          </p:cNvPr>
          <p:cNvSpPr>
            <a:spLocks noGrp="1"/>
          </p:cNvSpPr>
          <p:nvPr>
            <p:ph type="sldNum" sz="quarter" idx="12"/>
          </p:nvPr>
        </p:nvSpPr>
        <p:spPr/>
        <p:txBody>
          <a:bodyPr/>
          <a:lstStyle/>
          <a:p>
            <a:fld id="{774836C5-97FD-4C1B-BD09-027D8770B985}" type="slidenum">
              <a:rPr lang="en-US" smtClean="0"/>
              <a:pPr/>
              <a:t>‹#›</a:t>
            </a:fld>
            <a:endParaRPr lang="en-US"/>
          </a:p>
        </p:txBody>
      </p:sp>
    </p:spTree>
    <p:extLst>
      <p:ext uri="{BB962C8B-B14F-4D97-AF65-F5344CB8AC3E}">
        <p14:creationId xmlns="" xmlns:p14="http://schemas.microsoft.com/office/powerpoint/2010/main" val="1961036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AADCA424-95C8-4175-BC51-B72FC14BC0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 xmlns:a16="http://schemas.microsoft.com/office/drawing/2014/main" id="{3BEFA02A-4435-48D1-9ED5-F69E86460B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F7238AA2-A710-4411-A3D3-FF02FBE1DA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9E9360-21A5-4876-9D6A-1C0C6AEB4516}" type="datetime1">
              <a:rPr lang="en-US" smtClean="0"/>
              <a:pPr/>
              <a:t>11/9/2020</a:t>
            </a:fld>
            <a:endParaRPr lang="en-US"/>
          </a:p>
        </p:txBody>
      </p:sp>
      <p:sp>
        <p:nvSpPr>
          <p:cNvPr id="5" name="Footer Placeholder 4">
            <a:extLst>
              <a:ext uri="{FF2B5EF4-FFF2-40B4-BE49-F238E27FC236}">
                <a16:creationId xmlns="" xmlns:a16="http://schemas.microsoft.com/office/drawing/2014/main" id="{6CE39033-BB70-4E2D-B670-586CCB5F35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 xmlns:a16="http://schemas.microsoft.com/office/drawing/2014/main" id="{BAD34EA8-C3B4-43C3-9B95-200AEE10B1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4836C5-97FD-4C1B-BD09-027D8770B985}" type="slidenum">
              <a:rPr lang="en-US" smtClean="0"/>
              <a:pPr/>
              <a:t>‹#›</a:t>
            </a:fld>
            <a:endParaRPr lang="en-US"/>
          </a:p>
        </p:txBody>
      </p:sp>
    </p:spTree>
    <p:extLst>
      <p:ext uri="{BB962C8B-B14F-4D97-AF65-F5344CB8AC3E}">
        <p14:creationId xmlns="" xmlns:p14="http://schemas.microsoft.com/office/powerpoint/2010/main" val="15512493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emf"/><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emf"/><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8570310-C4CF-4FD8-AEBE-00CC25A2D734}"/>
              </a:ext>
            </a:extLst>
          </p:cNvPr>
          <p:cNvSpPr>
            <a:spLocks noGrp="1"/>
          </p:cNvSpPr>
          <p:nvPr>
            <p:ph type="ctrTitle"/>
          </p:nvPr>
        </p:nvSpPr>
        <p:spPr/>
        <p:txBody>
          <a:bodyPr/>
          <a:lstStyle/>
          <a:p>
            <a:r>
              <a:rPr lang="en-US" dirty="0" smtClean="0"/>
              <a:t>Algorithms </a:t>
            </a:r>
            <a:r>
              <a:rPr lang="en-US" dirty="0"/>
              <a:t>&amp; Data Structures</a:t>
            </a:r>
          </a:p>
        </p:txBody>
      </p:sp>
      <p:sp>
        <p:nvSpPr>
          <p:cNvPr id="3" name="Subtitle 2">
            <a:extLst>
              <a:ext uri="{FF2B5EF4-FFF2-40B4-BE49-F238E27FC236}">
                <a16:creationId xmlns="" xmlns:a16="http://schemas.microsoft.com/office/drawing/2014/main" id="{38714E8C-9AE5-45FA-9AF6-9980CF3F880A}"/>
              </a:ext>
            </a:extLst>
          </p:cNvPr>
          <p:cNvSpPr>
            <a:spLocks noGrp="1"/>
          </p:cNvSpPr>
          <p:nvPr>
            <p:ph type="subTitle" idx="1"/>
          </p:nvPr>
        </p:nvSpPr>
        <p:spPr/>
        <p:txBody>
          <a:bodyPr>
            <a:normAutofit/>
          </a:bodyPr>
          <a:lstStyle/>
          <a:p>
            <a:r>
              <a:rPr lang="en-US" sz="4800" dirty="0"/>
              <a:t>Graph DFS</a:t>
            </a:r>
          </a:p>
          <a:p>
            <a:r>
              <a:rPr lang="en-US" sz="1600" dirty="0"/>
              <a:t>Notes referred from Prof Anish </a:t>
            </a:r>
            <a:r>
              <a:rPr lang="en-US" sz="1600" dirty="0" err="1"/>
              <a:t>Maturia’s</a:t>
            </a:r>
            <a:r>
              <a:rPr lang="en-US" sz="1600" dirty="0"/>
              <a:t> lectures</a:t>
            </a:r>
          </a:p>
          <a:p>
            <a:endParaRPr lang="en-US" sz="4800" dirty="0"/>
          </a:p>
        </p:txBody>
      </p:sp>
    </p:spTree>
    <p:extLst>
      <p:ext uri="{BB962C8B-B14F-4D97-AF65-F5344CB8AC3E}">
        <p14:creationId xmlns="" xmlns:p14="http://schemas.microsoft.com/office/powerpoint/2010/main" val="32403607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2DFCE31-C150-40AE-8F4A-8FF2DF2AC160}"/>
              </a:ext>
            </a:extLst>
          </p:cNvPr>
          <p:cNvSpPr>
            <a:spLocks noGrp="1"/>
          </p:cNvSpPr>
          <p:nvPr>
            <p:ph type="title"/>
          </p:nvPr>
        </p:nvSpPr>
        <p:spPr/>
        <p:txBody>
          <a:bodyPr/>
          <a:lstStyle/>
          <a:p>
            <a:r>
              <a:rPr lang="en-US" dirty="0"/>
              <a:t>Graph Topics</a:t>
            </a:r>
          </a:p>
        </p:txBody>
      </p:sp>
      <p:sp>
        <p:nvSpPr>
          <p:cNvPr id="3" name="Content Placeholder 2">
            <a:extLst>
              <a:ext uri="{FF2B5EF4-FFF2-40B4-BE49-F238E27FC236}">
                <a16:creationId xmlns="" xmlns:a16="http://schemas.microsoft.com/office/drawing/2014/main" id="{944B4C81-1B9C-4D90-B99E-6CFE8E24B50B}"/>
              </a:ext>
            </a:extLst>
          </p:cNvPr>
          <p:cNvSpPr>
            <a:spLocks noGrp="1"/>
          </p:cNvSpPr>
          <p:nvPr>
            <p:ph idx="1"/>
          </p:nvPr>
        </p:nvSpPr>
        <p:spPr/>
        <p:txBody>
          <a:bodyPr>
            <a:normAutofit fontScale="92500" lnSpcReduction="20000"/>
          </a:bodyPr>
          <a:lstStyle/>
          <a:p>
            <a:r>
              <a:rPr lang="en-US" dirty="0"/>
              <a:t>Representation of graphs</a:t>
            </a:r>
          </a:p>
          <a:p>
            <a:r>
              <a:rPr lang="en-US" dirty="0"/>
              <a:t>Breadth-first search</a:t>
            </a:r>
          </a:p>
          <a:p>
            <a:r>
              <a:rPr lang="en-US" dirty="0"/>
              <a:t>Depth-first search</a:t>
            </a:r>
          </a:p>
          <a:p>
            <a:r>
              <a:rPr lang="en-US" dirty="0"/>
              <a:t>Topological sort</a:t>
            </a:r>
          </a:p>
          <a:p>
            <a:r>
              <a:rPr lang="en-US" dirty="0"/>
              <a:t>Single-source shortest paths</a:t>
            </a:r>
          </a:p>
          <a:p>
            <a:r>
              <a:rPr lang="en-US" dirty="0"/>
              <a:t>Finding minimum-spanning trees</a:t>
            </a:r>
          </a:p>
          <a:p>
            <a:r>
              <a:rPr lang="en-US" dirty="0"/>
              <a:t>Main reference: Introduction to Algorithms, </a:t>
            </a:r>
            <a:r>
              <a:rPr lang="en-US" dirty="0" err="1"/>
              <a:t>Cormen</a:t>
            </a:r>
            <a:r>
              <a:rPr lang="en-US" dirty="0"/>
              <a:t>, </a:t>
            </a:r>
            <a:r>
              <a:rPr lang="en-US" dirty="0" err="1"/>
              <a:t>Leiserson</a:t>
            </a:r>
            <a:r>
              <a:rPr lang="en-US" dirty="0"/>
              <a:t>, </a:t>
            </a:r>
            <a:r>
              <a:rPr lang="en-US" dirty="0" err="1"/>
              <a:t>Rivest</a:t>
            </a:r>
            <a:r>
              <a:rPr lang="en-US" dirty="0"/>
              <a:t>, Stein (CLRS)</a:t>
            </a:r>
          </a:p>
          <a:p>
            <a:pPr lvl="1"/>
            <a:r>
              <a:rPr lang="en-US" dirty="0"/>
              <a:t>22.1-22.4</a:t>
            </a:r>
          </a:p>
          <a:p>
            <a:pPr lvl="1"/>
            <a:r>
              <a:rPr lang="en-US" dirty="0"/>
              <a:t>24.1-24.2</a:t>
            </a:r>
          </a:p>
          <a:p>
            <a:pPr lvl="1"/>
            <a:r>
              <a:rPr lang="en-US" dirty="0"/>
              <a:t>23.1-23.2</a:t>
            </a:r>
          </a:p>
        </p:txBody>
      </p:sp>
    </p:spTree>
    <p:extLst>
      <p:ext uri="{BB962C8B-B14F-4D97-AF65-F5344CB8AC3E}">
        <p14:creationId xmlns="" xmlns:p14="http://schemas.microsoft.com/office/powerpoint/2010/main" val="41357381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520D45-1F1F-4D2B-9598-9270F5E9DEE6}"/>
              </a:ext>
            </a:extLst>
          </p:cNvPr>
          <p:cNvSpPr>
            <a:spLocks noGrp="1"/>
          </p:cNvSpPr>
          <p:nvPr>
            <p:ph type="title"/>
          </p:nvPr>
        </p:nvSpPr>
        <p:spPr/>
        <p:txBody>
          <a:bodyPr/>
          <a:lstStyle/>
          <a:p>
            <a:r>
              <a:rPr lang="en-US" dirty="0"/>
              <a:t>Graph</a:t>
            </a:r>
          </a:p>
        </p:txBody>
      </p:sp>
      <p:pic>
        <p:nvPicPr>
          <p:cNvPr id="6" name="Content Placeholder 5">
            <a:extLst>
              <a:ext uri="{FF2B5EF4-FFF2-40B4-BE49-F238E27FC236}">
                <a16:creationId xmlns="" xmlns:a16="http://schemas.microsoft.com/office/drawing/2014/main" id="{C90683D3-3D3C-48D3-90BD-6F08DAF9376E}"/>
              </a:ext>
            </a:extLst>
          </p:cNvPr>
          <p:cNvPicPr>
            <a:picLocks noGrp="1" noChangeAspect="1"/>
          </p:cNvPicPr>
          <p:nvPr>
            <p:ph sz="half" idx="1"/>
          </p:nvPr>
        </p:nvPicPr>
        <p:blipFill>
          <a:blip r:embed="rId2" cstate="print"/>
          <a:stretch>
            <a:fillRect/>
          </a:stretch>
        </p:blipFill>
        <p:spPr>
          <a:xfrm>
            <a:off x="1136341" y="1821751"/>
            <a:ext cx="4577167" cy="4351338"/>
          </a:xfrm>
          <a:prstGeom prst="rect">
            <a:avLst/>
          </a:prstGeom>
        </p:spPr>
      </p:pic>
      <p:sp>
        <p:nvSpPr>
          <p:cNvPr id="5" name="Content Placeholder 4">
            <a:extLst>
              <a:ext uri="{FF2B5EF4-FFF2-40B4-BE49-F238E27FC236}">
                <a16:creationId xmlns="" xmlns:a16="http://schemas.microsoft.com/office/drawing/2014/main" id="{89B498FC-91C8-4EC0-A779-4C05B86AD7B7}"/>
              </a:ext>
            </a:extLst>
          </p:cNvPr>
          <p:cNvSpPr>
            <a:spLocks noGrp="1"/>
          </p:cNvSpPr>
          <p:nvPr>
            <p:ph sz="half" idx="2"/>
          </p:nvPr>
        </p:nvSpPr>
        <p:spPr/>
        <p:txBody>
          <a:bodyPr/>
          <a:lstStyle/>
          <a:p>
            <a:r>
              <a:rPr lang="en-US" dirty="0"/>
              <a:t>This is a directed graph (</a:t>
            </a:r>
            <a:r>
              <a:rPr lang="en-US" i="1" dirty="0"/>
              <a:t>V, E</a:t>
            </a:r>
            <a:r>
              <a:rPr lang="en-US" dirty="0"/>
              <a:t>) where there are 5 vertices </a:t>
            </a:r>
            <a:r>
              <a:rPr lang="en-US" i="1" dirty="0"/>
              <a:t>v</a:t>
            </a:r>
            <a:r>
              <a:rPr lang="en-US" dirty="0"/>
              <a:t>1, </a:t>
            </a:r>
            <a:r>
              <a:rPr lang="en-US" i="1" dirty="0"/>
              <a:t>v</a:t>
            </a:r>
            <a:r>
              <a:rPr lang="en-US" dirty="0"/>
              <a:t>2, . . . , </a:t>
            </a:r>
            <a:r>
              <a:rPr lang="en-US" i="1" dirty="0"/>
              <a:t>v</a:t>
            </a:r>
            <a:r>
              <a:rPr lang="en-US" dirty="0"/>
              <a:t>5,</a:t>
            </a:r>
          </a:p>
          <a:p>
            <a:r>
              <a:rPr lang="en-US" dirty="0"/>
              <a:t>and 7 edges </a:t>
            </a:r>
            <a:r>
              <a:rPr lang="en-US" i="1" dirty="0"/>
              <a:t>e</a:t>
            </a:r>
            <a:r>
              <a:rPr lang="en-US" dirty="0"/>
              <a:t>1, </a:t>
            </a:r>
            <a:r>
              <a:rPr lang="en-US" i="1" dirty="0"/>
              <a:t>e</a:t>
            </a:r>
            <a:r>
              <a:rPr lang="en-US" dirty="0"/>
              <a:t>2, . . . , </a:t>
            </a:r>
            <a:r>
              <a:rPr lang="en-US" i="1" dirty="0"/>
              <a:t>e</a:t>
            </a:r>
            <a:r>
              <a:rPr lang="en-US" dirty="0"/>
              <a:t>7. Note that every edge has a direction. Edge </a:t>
            </a:r>
            <a:r>
              <a:rPr lang="en-US" i="1" dirty="0"/>
              <a:t>e</a:t>
            </a:r>
            <a:r>
              <a:rPr lang="en-US" dirty="0"/>
              <a:t>6,</a:t>
            </a:r>
          </a:p>
          <a:p>
            <a:r>
              <a:rPr lang="en-US" dirty="0"/>
              <a:t>for instance, is an outgoing edge of </a:t>
            </a:r>
            <a:r>
              <a:rPr lang="en-US" i="1" dirty="0"/>
              <a:t>v</a:t>
            </a:r>
            <a:r>
              <a:rPr lang="en-US" dirty="0"/>
              <a:t>5, and an incoming edge of </a:t>
            </a:r>
            <a:r>
              <a:rPr lang="en-US" i="1" dirty="0"/>
              <a:t>v</a:t>
            </a:r>
            <a:r>
              <a:rPr lang="en-US" dirty="0"/>
              <a:t>4.</a:t>
            </a:r>
          </a:p>
        </p:txBody>
      </p:sp>
    </p:spTree>
    <p:extLst>
      <p:ext uri="{BB962C8B-B14F-4D97-AF65-F5344CB8AC3E}">
        <p14:creationId xmlns="" xmlns:p14="http://schemas.microsoft.com/office/powerpoint/2010/main" val="26480389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520D45-1F1F-4D2B-9598-9270F5E9DEE6}"/>
              </a:ext>
            </a:extLst>
          </p:cNvPr>
          <p:cNvSpPr>
            <a:spLocks noGrp="1"/>
          </p:cNvSpPr>
          <p:nvPr>
            <p:ph type="title"/>
          </p:nvPr>
        </p:nvSpPr>
        <p:spPr/>
        <p:txBody>
          <a:bodyPr/>
          <a:lstStyle/>
          <a:p>
            <a:r>
              <a:rPr lang="en-US" dirty="0"/>
              <a:t>Directed Graph</a:t>
            </a:r>
          </a:p>
        </p:txBody>
      </p:sp>
      <p:sp>
        <p:nvSpPr>
          <p:cNvPr id="5" name="Content Placeholder 4">
            <a:extLst>
              <a:ext uri="{FF2B5EF4-FFF2-40B4-BE49-F238E27FC236}">
                <a16:creationId xmlns="" xmlns:a16="http://schemas.microsoft.com/office/drawing/2014/main" id="{89B498FC-91C8-4EC0-A779-4C05B86AD7B7}"/>
              </a:ext>
            </a:extLst>
          </p:cNvPr>
          <p:cNvSpPr>
            <a:spLocks noGrp="1"/>
          </p:cNvSpPr>
          <p:nvPr>
            <p:ph idx="1"/>
          </p:nvPr>
        </p:nvSpPr>
        <p:spPr/>
        <p:txBody>
          <a:bodyPr/>
          <a:lstStyle/>
          <a:p>
            <a:r>
              <a:rPr lang="en-US" dirty="0"/>
              <a:t>A directed graph is a pair (</a:t>
            </a:r>
            <a:r>
              <a:rPr lang="en-US" i="1" dirty="0"/>
              <a:t>V, E</a:t>
            </a:r>
            <a:r>
              <a:rPr lang="en-US" dirty="0"/>
              <a:t>) where</a:t>
            </a:r>
          </a:p>
          <a:p>
            <a:pPr lvl="1"/>
            <a:r>
              <a:rPr lang="en-US" i="1" dirty="0"/>
              <a:t>V </a:t>
            </a:r>
            <a:r>
              <a:rPr lang="en-US" dirty="0"/>
              <a:t>is a set of elements, each of which called a node</a:t>
            </a:r>
          </a:p>
          <a:p>
            <a:pPr lvl="1"/>
            <a:r>
              <a:rPr lang="en-US" i="1" dirty="0"/>
              <a:t>E </a:t>
            </a:r>
            <a:r>
              <a:rPr lang="en-US" dirty="0"/>
              <a:t>is a set of pairs (</a:t>
            </a:r>
            <a:r>
              <a:rPr lang="en-US" i="1" dirty="0"/>
              <a:t>u, v</a:t>
            </a:r>
            <a:r>
              <a:rPr lang="en-US" dirty="0"/>
              <a:t>) where </a:t>
            </a:r>
            <a:r>
              <a:rPr lang="en-US" i="1" dirty="0"/>
              <a:t>u </a:t>
            </a:r>
            <a:r>
              <a:rPr lang="en-US" dirty="0"/>
              <a:t>and </a:t>
            </a:r>
            <a:r>
              <a:rPr lang="en-US" i="1" dirty="0"/>
              <a:t>v </a:t>
            </a:r>
            <a:r>
              <a:rPr lang="en-US" dirty="0"/>
              <a:t>are nodes in </a:t>
            </a:r>
            <a:r>
              <a:rPr lang="en-US" i="1" dirty="0"/>
              <a:t>V</a:t>
            </a:r>
            <a:r>
              <a:rPr lang="en-US" dirty="0"/>
              <a:t>. We say that there is a (directed) edge from </a:t>
            </a:r>
            <a:r>
              <a:rPr lang="en-US" i="1" dirty="0"/>
              <a:t>u </a:t>
            </a:r>
            <a:r>
              <a:rPr lang="en-US" dirty="0"/>
              <a:t>to </a:t>
            </a:r>
            <a:r>
              <a:rPr lang="en-US" i="1" dirty="0"/>
              <a:t>v</a:t>
            </a:r>
            <a:r>
              <a:rPr lang="en-US" dirty="0"/>
              <a:t>.</a:t>
            </a:r>
          </a:p>
          <a:p>
            <a:r>
              <a:rPr lang="en-US" dirty="0"/>
              <a:t>A node may also be called a vertex. We will refer to </a:t>
            </a:r>
            <a:r>
              <a:rPr lang="en-US" i="1" dirty="0"/>
              <a:t>V </a:t>
            </a:r>
            <a:r>
              <a:rPr lang="en-US" dirty="0"/>
              <a:t>as the vertex set or the node set of the graph, and </a:t>
            </a:r>
            <a:r>
              <a:rPr lang="en-US" i="1" dirty="0"/>
              <a:t>E </a:t>
            </a:r>
            <a:r>
              <a:rPr lang="en-US" dirty="0"/>
              <a:t>the edge set.</a:t>
            </a:r>
          </a:p>
          <a:p>
            <a:r>
              <a:rPr lang="en-US" dirty="0"/>
              <a:t>A (directed) edge (</a:t>
            </a:r>
            <a:r>
              <a:rPr lang="en-US" i="1" dirty="0"/>
              <a:t>u, v</a:t>
            </a:r>
            <a:r>
              <a:rPr lang="en-US" dirty="0"/>
              <a:t>) is said to be an outgoing edge of </a:t>
            </a:r>
            <a:r>
              <a:rPr lang="en-US" i="1" dirty="0"/>
              <a:t>u</a:t>
            </a:r>
            <a:r>
              <a:rPr lang="en-US" dirty="0"/>
              <a:t>, and an incoming edge of </a:t>
            </a:r>
            <a:r>
              <a:rPr lang="en-US" i="1" dirty="0"/>
              <a:t>v</a:t>
            </a:r>
            <a:r>
              <a:rPr lang="en-US" dirty="0"/>
              <a:t>. Accordingly, </a:t>
            </a:r>
            <a:r>
              <a:rPr lang="en-US" i="1" dirty="0"/>
              <a:t>v </a:t>
            </a:r>
            <a:r>
              <a:rPr lang="en-US" dirty="0"/>
              <a:t>is an out-</a:t>
            </a:r>
            <a:r>
              <a:rPr lang="en-US" dirty="0" err="1"/>
              <a:t>neighbour</a:t>
            </a:r>
            <a:r>
              <a:rPr lang="en-US" dirty="0"/>
              <a:t> of </a:t>
            </a:r>
            <a:r>
              <a:rPr lang="en-US" i="1" dirty="0"/>
              <a:t>u</a:t>
            </a:r>
            <a:r>
              <a:rPr lang="en-US" dirty="0"/>
              <a:t>, and </a:t>
            </a:r>
            <a:r>
              <a:rPr lang="en-US" i="1" dirty="0"/>
              <a:t>u </a:t>
            </a:r>
            <a:r>
              <a:rPr lang="en-US" dirty="0"/>
              <a:t>an in-neighbor of </a:t>
            </a:r>
            <a:r>
              <a:rPr lang="en-US" i="1" dirty="0"/>
              <a:t>v</a:t>
            </a:r>
            <a:r>
              <a:rPr lang="en-US" dirty="0"/>
              <a:t>.</a:t>
            </a:r>
          </a:p>
        </p:txBody>
      </p:sp>
    </p:spTree>
    <p:extLst>
      <p:ext uri="{BB962C8B-B14F-4D97-AF65-F5344CB8AC3E}">
        <p14:creationId xmlns="" xmlns:p14="http://schemas.microsoft.com/office/powerpoint/2010/main" val="317045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520D45-1F1F-4D2B-9598-9270F5E9DEE6}"/>
              </a:ext>
            </a:extLst>
          </p:cNvPr>
          <p:cNvSpPr>
            <a:spLocks noGrp="1"/>
          </p:cNvSpPr>
          <p:nvPr>
            <p:ph type="title"/>
          </p:nvPr>
        </p:nvSpPr>
        <p:spPr/>
        <p:txBody>
          <a:bodyPr/>
          <a:lstStyle/>
          <a:p>
            <a:r>
              <a:rPr lang="en-US" dirty="0"/>
              <a:t>Directed Graph: Degrees</a:t>
            </a:r>
          </a:p>
        </p:txBody>
      </p:sp>
      <p:sp>
        <p:nvSpPr>
          <p:cNvPr id="5" name="Content Placeholder 4">
            <a:extLst>
              <a:ext uri="{FF2B5EF4-FFF2-40B4-BE49-F238E27FC236}">
                <a16:creationId xmlns="" xmlns:a16="http://schemas.microsoft.com/office/drawing/2014/main" id="{89B498FC-91C8-4EC0-A779-4C05B86AD7B7}"/>
              </a:ext>
            </a:extLst>
          </p:cNvPr>
          <p:cNvSpPr>
            <a:spLocks noGrp="1"/>
          </p:cNvSpPr>
          <p:nvPr>
            <p:ph sz="half" idx="1"/>
          </p:nvPr>
        </p:nvSpPr>
        <p:spPr/>
        <p:txBody>
          <a:bodyPr>
            <a:normAutofit/>
          </a:bodyPr>
          <a:lstStyle/>
          <a:p>
            <a:r>
              <a:rPr lang="en-US" dirty="0"/>
              <a:t>In a directed graph, the out-degree of a vertex </a:t>
            </a:r>
            <a:r>
              <a:rPr lang="en-US" i="1" dirty="0"/>
              <a:t>u </a:t>
            </a:r>
            <a:r>
              <a:rPr lang="en-US" dirty="0"/>
              <a:t>is the number of outgoing edges of </a:t>
            </a:r>
            <a:r>
              <a:rPr lang="en-US" i="1" dirty="0"/>
              <a:t>u</a:t>
            </a:r>
            <a:r>
              <a:rPr lang="en-US" dirty="0"/>
              <a:t>, and its in-degree is the number of its incoming edges.</a:t>
            </a:r>
          </a:p>
          <a:p>
            <a:r>
              <a:rPr lang="en-US" dirty="0"/>
              <a:t>In the graph, the out-degree of </a:t>
            </a:r>
            <a:r>
              <a:rPr lang="en-US" i="1" dirty="0"/>
              <a:t>v</a:t>
            </a:r>
            <a:r>
              <a:rPr lang="en-US" dirty="0"/>
              <a:t>3 is 2, and its in-degree is 1.</a:t>
            </a:r>
          </a:p>
          <a:p>
            <a:endParaRPr lang="en-US" dirty="0"/>
          </a:p>
          <a:p>
            <a:r>
              <a:rPr lang="en-US" dirty="0">
                <a:solidFill>
                  <a:srgbClr val="FF0000"/>
                </a:solidFill>
              </a:rPr>
              <a:t>What is the out and in degree of v4?</a:t>
            </a:r>
          </a:p>
        </p:txBody>
      </p:sp>
      <p:pic>
        <p:nvPicPr>
          <p:cNvPr id="6" name="Content Placeholder 5">
            <a:extLst>
              <a:ext uri="{FF2B5EF4-FFF2-40B4-BE49-F238E27FC236}">
                <a16:creationId xmlns="" xmlns:a16="http://schemas.microsoft.com/office/drawing/2014/main" id="{76D21CF2-C8F3-40CB-94AF-D1D88E6AF056}"/>
              </a:ext>
            </a:extLst>
          </p:cNvPr>
          <p:cNvPicPr>
            <a:picLocks noGrp="1" noChangeAspect="1"/>
          </p:cNvPicPr>
          <p:nvPr>
            <p:ph sz="half" idx="2"/>
          </p:nvPr>
        </p:nvPicPr>
        <p:blipFill>
          <a:blip r:embed="rId2" cstate="print"/>
          <a:stretch>
            <a:fillRect/>
          </a:stretch>
        </p:blipFill>
        <p:spPr>
          <a:xfrm>
            <a:off x="6616357" y="1690688"/>
            <a:ext cx="4577166" cy="4351337"/>
          </a:xfrm>
          <a:prstGeom prst="rect">
            <a:avLst/>
          </a:prstGeom>
        </p:spPr>
      </p:pic>
    </p:spTree>
    <p:extLst>
      <p:ext uri="{BB962C8B-B14F-4D97-AF65-F5344CB8AC3E}">
        <p14:creationId xmlns="" xmlns:p14="http://schemas.microsoft.com/office/powerpoint/2010/main" val="621465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520D45-1F1F-4D2B-9598-9270F5E9DEE6}"/>
              </a:ext>
            </a:extLst>
          </p:cNvPr>
          <p:cNvSpPr>
            <a:spLocks noGrp="1"/>
          </p:cNvSpPr>
          <p:nvPr>
            <p:ph type="title"/>
          </p:nvPr>
        </p:nvSpPr>
        <p:spPr/>
        <p:txBody>
          <a:bodyPr/>
          <a:lstStyle/>
          <a:p>
            <a:r>
              <a:rPr lang="en-US" dirty="0"/>
              <a:t>Directed Graph: Representation</a:t>
            </a:r>
          </a:p>
        </p:txBody>
      </p:sp>
      <p:sp>
        <p:nvSpPr>
          <p:cNvPr id="5" name="Content Placeholder 4">
            <a:extLst>
              <a:ext uri="{FF2B5EF4-FFF2-40B4-BE49-F238E27FC236}">
                <a16:creationId xmlns="" xmlns:a16="http://schemas.microsoft.com/office/drawing/2014/main" id="{89B498FC-91C8-4EC0-A779-4C05B86AD7B7}"/>
              </a:ext>
            </a:extLst>
          </p:cNvPr>
          <p:cNvSpPr>
            <a:spLocks noGrp="1"/>
          </p:cNvSpPr>
          <p:nvPr>
            <p:ph idx="1"/>
          </p:nvPr>
        </p:nvSpPr>
        <p:spPr/>
        <p:txBody>
          <a:bodyPr>
            <a:normAutofit/>
          </a:bodyPr>
          <a:lstStyle/>
          <a:p>
            <a:r>
              <a:rPr lang="en-US" sz="3600" dirty="0"/>
              <a:t>Two common ways to store a graph: </a:t>
            </a:r>
          </a:p>
          <a:p>
            <a:r>
              <a:rPr lang="en-US" sz="3600" dirty="0"/>
              <a:t>Adjacency list and</a:t>
            </a:r>
          </a:p>
          <a:p>
            <a:r>
              <a:rPr lang="en-US" sz="3600" dirty="0"/>
              <a:t>Adjacency matrix. </a:t>
            </a:r>
          </a:p>
          <a:p>
            <a:r>
              <a:rPr lang="en-US" sz="3600" dirty="0"/>
              <a:t>In both cases, we represent each vertex in </a:t>
            </a:r>
            <a:r>
              <a:rPr lang="en-US" sz="3600" i="1" dirty="0"/>
              <a:t>V </a:t>
            </a:r>
            <a:r>
              <a:rPr lang="en-US" sz="3600" dirty="0"/>
              <a:t>using a unique id in 1, 2, . . . , </a:t>
            </a:r>
            <a:r>
              <a:rPr lang="en-US" sz="3600" i="1" dirty="0" err="1"/>
              <a:t>jVj</a:t>
            </a:r>
            <a:r>
              <a:rPr lang="en-US" sz="3600" dirty="0"/>
              <a:t>.</a:t>
            </a:r>
            <a:endParaRPr lang="en-US" sz="3600" dirty="0">
              <a:solidFill>
                <a:srgbClr val="FF0000"/>
              </a:solidFill>
            </a:endParaRPr>
          </a:p>
        </p:txBody>
      </p:sp>
    </p:spTree>
    <p:extLst>
      <p:ext uri="{BB962C8B-B14F-4D97-AF65-F5344CB8AC3E}">
        <p14:creationId xmlns="" xmlns:p14="http://schemas.microsoft.com/office/powerpoint/2010/main" val="16310047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520D45-1F1F-4D2B-9598-9270F5E9DEE6}"/>
              </a:ext>
            </a:extLst>
          </p:cNvPr>
          <p:cNvSpPr>
            <a:spLocks noGrp="1"/>
          </p:cNvSpPr>
          <p:nvPr>
            <p:ph type="title"/>
          </p:nvPr>
        </p:nvSpPr>
        <p:spPr/>
        <p:txBody>
          <a:bodyPr/>
          <a:lstStyle/>
          <a:p>
            <a:r>
              <a:rPr lang="en-US" dirty="0"/>
              <a:t>Adjacency List Representation of Directed Graph</a:t>
            </a:r>
          </a:p>
        </p:txBody>
      </p:sp>
      <p:pic>
        <p:nvPicPr>
          <p:cNvPr id="4" name="Content Placeholder 3">
            <a:extLst>
              <a:ext uri="{FF2B5EF4-FFF2-40B4-BE49-F238E27FC236}">
                <a16:creationId xmlns="" xmlns:a16="http://schemas.microsoft.com/office/drawing/2014/main" id="{CD768C8E-2C43-4C00-98F4-C76583C94E25}"/>
              </a:ext>
            </a:extLst>
          </p:cNvPr>
          <p:cNvPicPr>
            <a:picLocks noGrp="1" noChangeAspect="1"/>
          </p:cNvPicPr>
          <p:nvPr>
            <p:ph sz="half" idx="2"/>
          </p:nvPr>
        </p:nvPicPr>
        <p:blipFill>
          <a:blip r:embed="rId2" cstate="print"/>
          <a:stretch>
            <a:fillRect/>
          </a:stretch>
        </p:blipFill>
        <p:spPr>
          <a:xfrm>
            <a:off x="6474421" y="1825625"/>
            <a:ext cx="5196986" cy="3887668"/>
          </a:xfrm>
          <a:prstGeom prst="rect">
            <a:avLst/>
          </a:prstGeom>
        </p:spPr>
      </p:pic>
      <p:pic>
        <p:nvPicPr>
          <p:cNvPr id="6" name="Content Placeholder 5">
            <a:extLst>
              <a:ext uri="{FF2B5EF4-FFF2-40B4-BE49-F238E27FC236}">
                <a16:creationId xmlns="" xmlns:a16="http://schemas.microsoft.com/office/drawing/2014/main" id="{1EB48581-B0DC-4A6F-B9EB-AC57B945B912}"/>
              </a:ext>
            </a:extLst>
          </p:cNvPr>
          <p:cNvPicPr>
            <a:picLocks noGrp="1" noChangeAspect="1"/>
          </p:cNvPicPr>
          <p:nvPr>
            <p:ph sz="half" idx="1"/>
          </p:nvPr>
        </p:nvPicPr>
        <p:blipFill>
          <a:blip r:embed="rId3" cstate="print"/>
          <a:stretch>
            <a:fillRect/>
          </a:stretch>
        </p:blipFill>
        <p:spPr>
          <a:xfrm>
            <a:off x="1628150" y="1825625"/>
            <a:ext cx="4089432" cy="3887668"/>
          </a:xfrm>
          <a:prstGeom prst="rect">
            <a:avLst/>
          </a:prstGeom>
        </p:spPr>
      </p:pic>
      <p:sp>
        <p:nvSpPr>
          <p:cNvPr id="7" name="Rectangle 6">
            <a:extLst>
              <a:ext uri="{FF2B5EF4-FFF2-40B4-BE49-F238E27FC236}">
                <a16:creationId xmlns="" xmlns:a16="http://schemas.microsoft.com/office/drawing/2014/main" id="{EF1CD8FB-FBD3-4DD9-8EB4-3DBCAF0A0CF7}"/>
              </a:ext>
            </a:extLst>
          </p:cNvPr>
          <p:cNvSpPr/>
          <p:nvPr/>
        </p:nvSpPr>
        <p:spPr>
          <a:xfrm>
            <a:off x="1140415" y="5934670"/>
            <a:ext cx="10515600" cy="954107"/>
          </a:xfrm>
          <a:prstGeom prst="rect">
            <a:avLst/>
          </a:prstGeom>
        </p:spPr>
        <p:txBody>
          <a:bodyPr wrap="square">
            <a:spAutoFit/>
          </a:bodyPr>
          <a:lstStyle/>
          <a:p>
            <a:r>
              <a:rPr lang="en-US" sz="2800" dirty="0">
                <a:latin typeface="CMSS10"/>
              </a:rPr>
              <a:t>Each vertex </a:t>
            </a:r>
            <a:r>
              <a:rPr lang="en-US" sz="2800" i="1" dirty="0">
                <a:latin typeface="CMSSI10"/>
              </a:rPr>
              <a:t>u </a:t>
            </a:r>
            <a:r>
              <a:rPr lang="en-US" sz="2800" i="1" dirty="0">
                <a:latin typeface="CMSY10"/>
                <a:sym typeface="Symbol" panose="05050102010706020507" pitchFamily="18" charset="2"/>
              </a:rPr>
              <a:t></a:t>
            </a:r>
            <a:r>
              <a:rPr lang="en-US" sz="2800" i="1" dirty="0">
                <a:latin typeface="CMSY10"/>
              </a:rPr>
              <a:t> </a:t>
            </a:r>
            <a:r>
              <a:rPr lang="en-US" sz="2800" i="1" dirty="0">
                <a:latin typeface="CMSSI10"/>
              </a:rPr>
              <a:t>V </a:t>
            </a:r>
            <a:r>
              <a:rPr lang="en-US" sz="2800" dirty="0">
                <a:latin typeface="CMSS10"/>
              </a:rPr>
              <a:t>is associated with a linked list that enumerates all the vertices that are connected to </a:t>
            </a:r>
            <a:r>
              <a:rPr lang="en-US" sz="2800" i="1" dirty="0">
                <a:latin typeface="CMSSI10"/>
              </a:rPr>
              <a:t>u</a:t>
            </a:r>
            <a:r>
              <a:rPr lang="en-US" sz="2800" dirty="0">
                <a:latin typeface="CMSS10"/>
              </a:rPr>
              <a:t>. Space Complexity = O(|V| + |E|)</a:t>
            </a:r>
            <a:endParaRPr lang="en-US" sz="2800" dirty="0"/>
          </a:p>
        </p:txBody>
      </p:sp>
    </p:spTree>
    <p:extLst>
      <p:ext uri="{BB962C8B-B14F-4D97-AF65-F5344CB8AC3E}">
        <p14:creationId xmlns="" xmlns:p14="http://schemas.microsoft.com/office/powerpoint/2010/main" val="1313308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520D45-1F1F-4D2B-9598-9270F5E9DEE6}"/>
              </a:ext>
            </a:extLst>
          </p:cNvPr>
          <p:cNvSpPr>
            <a:spLocks noGrp="1"/>
          </p:cNvSpPr>
          <p:nvPr>
            <p:ph type="title"/>
          </p:nvPr>
        </p:nvSpPr>
        <p:spPr/>
        <p:txBody>
          <a:bodyPr/>
          <a:lstStyle/>
          <a:p>
            <a:r>
              <a:rPr lang="en-US" dirty="0"/>
              <a:t>Adjacency Matrix Representation of Directed Graph</a:t>
            </a:r>
          </a:p>
        </p:txBody>
      </p:sp>
      <p:pic>
        <p:nvPicPr>
          <p:cNvPr id="6" name="Content Placeholder 5">
            <a:extLst>
              <a:ext uri="{FF2B5EF4-FFF2-40B4-BE49-F238E27FC236}">
                <a16:creationId xmlns="" xmlns:a16="http://schemas.microsoft.com/office/drawing/2014/main" id="{1EB48581-B0DC-4A6F-B9EB-AC57B945B912}"/>
              </a:ext>
            </a:extLst>
          </p:cNvPr>
          <p:cNvPicPr>
            <a:picLocks noGrp="1" noChangeAspect="1"/>
          </p:cNvPicPr>
          <p:nvPr>
            <p:ph sz="half" idx="1"/>
          </p:nvPr>
        </p:nvPicPr>
        <p:blipFill>
          <a:blip r:embed="rId2" cstate="print"/>
          <a:stretch>
            <a:fillRect/>
          </a:stretch>
        </p:blipFill>
        <p:spPr>
          <a:xfrm>
            <a:off x="1512936" y="1476819"/>
            <a:ext cx="4106991" cy="3904361"/>
          </a:xfrm>
          <a:prstGeom prst="rect">
            <a:avLst/>
          </a:prstGeom>
        </p:spPr>
      </p:pic>
      <p:sp>
        <p:nvSpPr>
          <p:cNvPr id="7" name="Rectangle 6">
            <a:extLst>
              <a:ext uri="{FF2B5EF4-FFF2-40B4-BE49-F238E27FC236}">
                <a16:creationId xmlns="" xmlns:a16="http://schemas.microsoft.com/office/drawing/2014/main" id="{EF1CD8FB-FBD3-4DD9-8EB4-3DBCAF0A0CF7}"/>
              </a:ext>
            </a:extLst>
          </p:cNvPr>
          <p:cNvSpPr/>
          <p:nvPr/>
        </p:nvSpPr>
        <p:spPr>
          <a:xfrm>
            <a:off x="1140415" y="5381180"/>
            <a:ext cx="10515600" cy="1384995"/>
          </a:xfrm>
          <a:prstGeom prst="rect">
            <a:avLst/>
          </a:prstGeom>
        </p:spPr>
        <p:txBody>
          <a:bodyPr wrap="square">
            <a:spAutoFit/>
          </a:bodyPr>
          <a:lstStyle/>
          <a:p>
            <a:r>
              <a:rPr lang="en-US" sz="2800" dirty="0"/>
              <a:t>A |V| x |V| matrix A where A[u, v] = 1 if (u, v) </a:t>
            </a:r>
            <a:r>
              <a:rPr lang="en-US" sz="2800" dirty="0">
                <a:sym typeface="Symbol" panose="05050102010706020507" pitchFamily="18" charset="2"/>
              </a:rPr>
              <a:t></a:t>
            </a:r>
            <a:r>
              <a:rPr lang="en-US" sz="2800" dirty="0"/>
              <a:t> E, or 0 otherwise.</a:t>
            </a:r>
          </a:p>
          <a:p>
            <a:r>
              <a:rPr lang="en-US" sz="2800" i="1" dirty="0"/>
              <a:t>A </a:t>
            </a:r>
            <a:r>
              <a:rPr lang="en-US" sz="2800" dirty="0"/>
              <a:t>may not be symmetric.</a:t>
            </a:r>
          </a:p>
          <a:p>
            <a:r>
              <a:rPr lang="en-US" sz="2800" dirty="0"/>
              <a:t>Space = </a:t>
            </a:r>
            <a:r>
              <a:rPr lang="en-US" sz="2800" i="1" dirty="0"/>
              <a:t>O</a:t>
            </a:r>
            <a:r>
              <a:rPr lang="en-US" sz="2800" dirty="0"/>
              <a:t>(|V|</a:t>
            </a:r>
            <a:r>
              <a:rPr lang="en-US" sz="2800" baseline="30000" dirty="0"/>
              <a:t>2</a:t>
            </a:r>
            <a:r>
              <a:rPr lang="en-US" sz="2800" dirty="0"/>
              <a:t>).</a:t>
            </a:r>
            <a:endParaRPr lang="en-US" sz="4000" dirty="0"/>
          </a:p>
        </p:txBody>
      </p:sp>
      <p:pic>
        <p:nvPicPr>
          <p:cNvPr id="8" name="Content Placeholder 7">
            <a:extLst>
              <a:ext uri="{FF2B5EF4-FFF2-40B4-BE49-F238E27FC236}">
                <a16:creationId xmlns="" xmlns:a16="http://schemas.microsoft.com/office/drawing/2014/main" id="{7D3D83A1-0160-4681-ACF0-EBCD01650DEA}"/>
              </a:ext>
            </a:extLst>
          </p:cNvPr>
          <p:cNvPicPr>
            <a:picLocks noGrp="1" noChangeAspect="1"/>
          </p:cNvPicPr>
          <p:nvPr>
            <p:ph sz="half" idx="2"/>
          </p:nvPr>
        </p:nvPicPr>
        <p:blipFill>
          <a:blip r:embed="rId3" cstate="print"/>
          <a:stretch>
            <a:fillRect/>
          </a:stretch>
        </p:blipFill>
        <p:spPr>
          <a:xfrm>
            <a:off x="5831145" y="1923511"/>
            <a:ext cx="5522655" cy="3224846"/>
          </a:xfrm>
          <a:prstGeom prst="rect">
            <a:avLst/>
          </a:prstGeom>
        </p:spPr>
      </p:pic>
    </p:spTree>
    <p:extLst>
      <p:ext uri="{BB962C8B-B14F-4D97-AF65-F5344CB8AC3E}">
        <p14:creationId xmlns="" xmlns:p14="http://schemas.microsoft.com/office/powerpoint/2010/main" val="3298529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76CAF23-FB50-430C-902F-195B3ED6DE83}"/>
              </a:ext>
            </a:extLst>
          </p:cNvPr>
          <p:cNvSpPr>
            <a:spLocks noGrp="1"/>
          </p:cNvSpPr>
          <p:nvPr>
            <p:ph type="title"/>
          </p:nvPr>
        </p:nvSpPr>
        <p:spPr/>
        <p:txBody>
          <a:bodyPr/>
          <a:lstStyle/>
          <a:p>
            <a:r>
              <a:rPr lang="en-US" dirty="0"/>
              <a:t>Depth First Search in Graph</a:t>
            </a:r>
          </a:p>
        </p:txBody>
      </p:sp>
      <p:sp>
        <p:nvSpPr>
          <p:cNvPr id="3" name="Content Placeholder 2">
            <a:extLst>
              <a:ext uri="{FF2B5EF4-FFF2-40B4-BE49-F238E27FC236}">
                <a16:creationId xmlns="" xmlns:a16="http://schemas.microsoft.com/office/drawing/2014/main" id="{B593FDF2-25A9-485F-B4F8-D9C96A355181}"/>
              </a:ext>
            </a:extLst>
          </p:cNvPr>
          <p:cNvSpPr>
            <a:spLocks noGrp="1"/>
          </p:cNvSpPr>
          <p:nvPr>
            <p:ph idx="1"/>
          </p:nvPr>
        </p:nvSpPr>
        <p:spPr/>
        <p:txBody>
          <a:bodyPr>
            <a:normAutofit/>
          </a:bodyPr>
          <a:lstStyle/>
          <a:p>
            <a:r>
              <a:rPr lang="en-US" sz="3600" dirty="0"/>
              <a:t>DFS is a surprisingly powerful algorithm and solves several classic problems elegantly. We will see one such problem – detecting whether the input graph contains cycles.</a:t>
            </a:r>
          </a:p>
        </p:txBody>
      </p:sp>
    </p:spTree>
    <p:extLst>
      <p:ext uri="{BB962C8B-B14F-4D97-AF65-F5344CB8AC3E}">
        <p14:creationId xmlns="" xmlns:p14="http://schemas.microsoft.com/office/powerpoint/2010/main" val="27948323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76CAF23-FB50-430C-902F-195B3ED6DE83}"/>
              </a:ext>
            </a:extLst>
          </p:cNvPr>
          <p:cNvSpPr>
            <a:spLocks noGrp="1"/>
          </p:cNvSpPr>
          <p:nvPr>
            <p:ph type="title"/>
          </p:nvPr>
        </p:nvSpPr>
        <p:spPr/>
        <p:txBody>
          <a:bodyPr/>
          <a:lstStyle/>
          <a:p>
            <a:r>
              <a:rPr lang="en-US" dirty="0"/>
              <a:t>Paths and Cycles</a:t>
            </a:r>
          </a:p>
        </p:txBody>
      </p:sp>
      <p:sp>
        <p:nvSpPr>
          <p:cNvPr id="3" name="Content Placeholder 2">
            <a:extLst>
              <a:ext uri="{FF2B5EF4-FFF2-40B4-BE49-F238E27FC236}">
                <a16:creationId xmlns="" xmlns:a16="http://schemas.microsoft.com/office/drawing/2014/main" id="{B593FDF2-25A9-485F-B4F8-D9C96A355181}"/>
              </a:ext>
            </a:extLst>
          </p:cNvPr>
          <p:cNvSpPr>
            <a:spLocks noGrp="1"/>
          </p:cNvSpPr>
          <p:nvPr>
            <p:ph idx="1"/>
          </p:nvPr>
        </p:nvSpPr>
        <p:spPr/>
        <p:txBody>
          <a:bodyPr>
            <a:normAutofit/>
          </a:bodyPr>
          <a:lstStyle/>
          <a:p>
            <a:r>
              <a:rPr lang="en-US" dirty="0"/>
              <a:t>Let G = (V, E) be a directed graph.</a:t>
            </a:r>
          </a:p>
          <a:p>
            <a:r>
              <a:rPr lang="en-US" sz="3600" dirty="0"/>
              <a:t>Recall: </a:t>
            </a:r>
            <a:r>
              <a:rPr lang="en-US" dirty="0"/>
              <a:t>A path in G is a sequence of edges (v1, v2), (v2, v3), … , (</a:t>
            </a:r>
            <a:r>
              <a:rPr lang="en-US" dirty="0" err="1"/>
              <a:t>vl</a:t>
            </a:r>
            <a:r>
              <a:rPr lang="en-US" dirty="0"/>
              <a:t>, vl+1), for some integer l &gt; 1. We may also denote path as v1 </a:t>
            </a:r>
            <a:r>
              <a:rPr lang="en-US" dirty="0">
                <a:sym typeface="Wingdings" panose="05000000000000000000" pitchFamily="2" charset="2"/>
              </a:rPr>
              <a:t></a:t>
            </a:r>
            <a:r>
              <a:rPr lang="en-US" dirty="0"/>
              <a:t> v2 </a:t>
            </a:r>
            <a:r>
              <a:rPr lang="en-US" dirty="0">
                <a:sym typeface="Wingdings" panose="05000000000000000000" pitchFamily="2" charset="2"/>
              </a:rPr>
              <a:t></a:t>
            </a:r>
            <a:r>
              <a:rPr lang="en-US" dirty="0"/>
              <a:t> … </a:t>
            </a:r>
            <a:r>
              <a:rPr lang="en-US" dirty="0">
                <a:sym typeface="Wingdings" panose="05000000000000000000" pitchFamily="2" charset="2"/>
              </a:rPr>
              <a:t></a:t>
            </a:r>
            <a:r>
              <a:rPr lang="en-US" dirty="0"/>
              <a:t> vl+1.</a:t>
            </a:r>
          </a:p>
          <a:p>
            <a:r>
              <a:rPr lang="en-US" sz="3600" dirty="0"/>
              <a:t>Definition of Cycle: </a:t>
            </a:r>
            <a:r>
              <a:rPr lang="en-US" dirty="0"/>
              <a:t>A path </a:t>
            </a:r>
            <a:r>
              <a:rPr lang="en-US" i="1" dirty="0"/>
              <a:t>v</a:t>
            </a:r>
            <a:r>
              <a:rPr lang="en-US" dirty="0"/>
              <a:t>1 </a:t>
            </a:r>
            <a:r>
              <a:rPr lang="en-US" i="1" dirty="0">
                <a:sym typeface="Wingdings" panose="05000000000000000000" pitchFamily="2" charset="2"/>
              </a:rPr>
              <a:t></a:t>
            </a:r>
            <a:r>
              <a:rPr lang="en-US" i="1" dirty="0"/>
              <a:t> v</a:t>
            </a:r>
            <a:r>
              <a:rPr lang="en-US" dirty="0"/>
              <a:t>2 </a:t>
            </a:r>
            <a:r>
              <a:rPr lang="en-US" dirty="0">
                <a:sym typeface="Wingdings" panose="05000000000000000000" pitchFamily="2" charset="2"/>
              </a:rPr>
              <a:t></a:t>
            </a:r>
            <a:r>
              <a:rPr lang="en-US" i="1" dirty="0"/>
              <a:t> … </a:t>
            </a:r>
            <a:r>
              <a:rPr lang="en-US" i="1" dirty="0">
                <a:sym typeface="Wingdings" panose="05000000000000000000" pitchFamily="2" charset="2"/>
              </a:rPr>
              <a:t> </a:t>
            </a:r>
            <a:r>
              <a:rPr lang="en-US" i="1" dirty="0"/>
              <a:t>vl</a:t>
            </a:r>
            <a:r>
              <a:rPr lang="en-US" dirty="0"/>
              <a:t>+1 is called a cycle if </a:t>
            </a:r>
            <a:r>
              <a:rPr lang="en-US" i="1" dirty="0"/>
              <a:t>vl</a:t>
            </a:r>
            <a:r>
              <a:rPr lang="en-US" dirty="0"/>
              <a:t>+1 = </a:t>
            </a:r>
            <a:r>
              <a:rPr lang="en-US" i="1" dirty="0"/>
              <a:t>v</a:t>
            </a:r>
            <a:r>
              <a:rPr lang="en-US" dirty="0"/>
              <a:t>1.</a:t>
            </a:r>
            <a:endParaRPr lang="en-US" sz="3600" dirty="0"/>
          </a:p>
        </p:txBody>
      </p:sp>
    </p:spTree>
    <p:extLst>
      <p:ext uri="{BB962C8B-B14F-4D97-AF65-F5344CB8AC3E}">
        <p14:creationId xmlns="" xmlns:p14="http://schemas.microsoft.com/office/powerpoint/2010/main" val="2891759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76CAF23-FB50-430C-902F-195B3ED6DE83}"/>
              </a:ext>
            </a:extLst>
          </p:cNvPr>
          <p:cNvSpPr>
            <a:spLocks noGrp="1"/>
          </p:cNvSpPr>
          <p:nvPr>
            <p:ph type="title"/>
          </p:nvPr>
        </p:nvSpPr>
        <p:spPr/>
        <p:txBody>
          <a:bodyPr/>
          <a:lstStyle/>
          <a:p>
            <a:r>
              <a:rPr lang="en-US" dirty="0"/>
              <a:t>Cycle Examples</a:t>
            </a:r>
          </a:p>
        </p:txBody>
      </p:sp>
      <p:sp>
        <p:nvSpPr>
          <p:cNvPr id="3" name="Content Placeholder 2">
            <a:extLst>
              <a:ext uri="{FF2B5EF4-FFF2-40B4-BE49-F238E27FC236}">
                <a16:creationId xmlns="" xmlns:a16="http://schemas.microsoft.com/office/drawing/2014/main" id="{B593FDF2-25A9-485F-B4F8-D9C96A355181}"/>
              </a:ext>
            </a:extLst>
          </p:cNvPr>
          <p:cNvSpPr>
            <a:spLocks noGrp="1"/>
          </p:cNvSpPr>
          <p:nvPr>
            <p:ph sz="half" idx="1"/>
          </p:nvPr>
        </p:nvSpPr>
        <p:spPr/>
        <p:txBody>
          <a:bodyPr>
            <a:normAutofit/>
          </a:bodyPr>
          <a:lstStyle/>
          <a:p>
            <a:pPr marL="0" indent="0">
              <a:buNone/>
            </a:pPr>
            <a:r>
              <a:rPr lang="en-US" sz="3600" dirty="0"/>
              <a:t>d </a:t>
            </a:r>
            <a:r>
              <a:rPr lang="en-US" sz="3600" dirty="0">
                <a:sym typeface="Wingdings" panose="05000000000000000000" pitchFamily="2" charset="2"/>
              </a:rPr>
              <a:t> g  f  e  d is a cycle</a:t>
            </a:r>
          </a:p>
          <a:p>
            <a:pPr marL="0" indent="0">
              <a:buNone/>
            </a:pPr>
            <a:endParaRPr lang="en-US" sz="3600" dirty="0"/>
          </a:p>
          <a:p>
            <a:pPr marL="0" indent="0">
              <a:buNone/>
            </a:pPr>
            <a:r>
              <a:rPr lang="en-US" sz="3600" dirty="0"/>
              <a:t>d </a:t>
            </a:r>
            <a:r>
              <a:rPr lang="en-US" sz="3600" dirty="0">
                <a:sym typeface="Wingdings" panose="05000000000000000000" pitchFamily="2" charset="2"/>
              </a:rPr>
              <a:t> g  </a:t>
            </a:r>
            <a:r>
              <a:rPr lang="en-US" sz="3600" dirty="0" err="1">
                <a:sym typeface="Wingdings" panose="05000000000000000000" pitchFamily="2" charset="2"/>
              </a:rPr>
              <a:t>i</a:t>
            </a:r>
            <a:r>
              <a:rPr lang="en-US" sz="3600" dirty="0">
                <a:sym typeface="Wingdings" panose="05000000000000000000" pitchFamily="2" charset="2"/>
              </a:rPr>
              <a:t>  f  e  d is another cycle</a:t>
            </a:r>
          </a:p>
          <a:p>
            <a:pPr marL="0" indent="0">
              <a:buNone/>
            </a:pPr>
            <a:endParaRPr lang="en-US" sz="3600" dirty="0"/>
          </a:p>
        </p:txBody>
      </p:sp>
      <p:pic>
        <p:nvPicPr>
          <p:cNvPr id="5" name="Content Placeholder 4">
            <a:extLst>
              <a:ext uri="{FF2B5EF4-FFF2-40B4-BE49-F238E27FC236}">
                <a16:creationId xmlns="" xmlns:a16="http://schemas.microsoft.com/office/drawing/2014/main" id="{F46A962F-4D3F-4AEC-9763-4266EDDB1437}"/>
              </a:ext>
            </a:extLst>
          </p:cNvPr>
          <p:cNvPicPr>
            <a:picLocks noGrp="1" noChangeAspect="1"/>
          </p:cNvPicPr>
          <p:nvPr>
            <p:ph sz="half" idx="2"/>
          </p:nvPr>
        </p:nvPicPr>
        <p:blipFill>
          <a:blip r:embed="rId2" cstate="print"/>
          <a:stretch>
            <a:fillRect/>
          </a:stretch>
        </p:blipFill>
        <p:spPr>
          <a:xfrm>
            <a:off x="6091687" y="1953491"/>
            <a:ext cx="5787825" cy="3803073"/>
          </a:xfrm>
          <a:prstGeom prst="rect">
            <a:avLst/>
          </a:prstGeom>
        </p:spPr>
      </p:pic>
    </p:spTree>
    <p:extLst>
      <p:ext uri="{BB962C8B-B14F-4D97-AF65-F5344CB8AC3E}">
        <p14:creationId xmlns="" xmlns:p14="http://schemas.microsoft.com/office/powerpoint/2010/main" val="21515274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5EBCD4B8-21F9-4744-B33A-01AA81D2954A}"/>
              </a:ext>
            </a:extLst>
          </p:cNvPr>
          <p:cNvSpPr>
            <a:spLocks noGrp="1"/>
          </p:cNvSpPr>
          <p:nvPr>
            <p:ph type="title"/>
          </p:nvPr>
        </p:nvSpPr>
        <p:spPr/>
        <p:txBody>
          <a:bodyPr/>
          <a:lstStyle/>
          <a:p>
            <a:r>
              <a:rPr lang="en-US" dirty="0"/>
              <a:t>Directed Acyclic/Cyclic Graphs</a:t>
            </a:r>
          </a:p>
        </p:txBody>
      </p:sp>
      <p:sp>
        <p:nvSpPr>
          <p:cNvPr id="6" name="Content Placeholder 5">
            <a:extLst>
              <a:ext uri="{FF2B5EF4-FFF2-40B4-BE49-F238E27FC236}">
                <a16:creationId xmlns="" xmlns:a16="http://schemas.microsoft.com/office/drawing/2014/main" id="{2CB4D187-04AE-4B34-9C2D-AB8FAFAF5DC1}"/>
              </a:ext>
            </a:extLst>
          </p:cNvPr>
          <p:cNvSpPr>
            <a:spLocks noGrp="1"/>
          </p:cNvSpPr>
          <p:nvPr>
            <p:ph idx="1"/>
          </p:nvPr>
        </p:nvSpPr>
        <p:spPr/>
        <p:txBody>
          <a:bodyPr/>
          <a:lstStyle/>
          <a:p>
            <a:r>
              <a:rPr lang="en-US" dirty="0"/>
              <a:t>If a directed graph contains no cycles, we say that it is a directed acyclic graph (DAG). Otherwise, </a:t>
            </a:r>
            <a:r>
              <a:rPr lang="en-US" i="1" dirty="0"/>
              <a:t>G </a:t>
            </a:r>
            <a:r>
              <a:rPr lang="en-US" dirty="0"/>
              <a:t>is cyclic.</a:t>
            </a:r>
          </a:p>
        </p:txBody>
      </p:sp>
      <p:pic>
        <p:nvPicPr>
          <p:cNvPr id="7" name="Picture 6">
            <a:extLst>
              <a:ext uri="{FF2B5EF4-FFF2-40B4-BE49-F238E27FC236}">
                <a16:creationId xmlns="" xmlns:a16="http://schemas.microsoft.com/office/drawing/2014/main" id="{BDD7FEFD-0B9F-47B6-8326-AF91B1B8E4DF}"/>
              </a:ext>
            </a:extLst>
          </p:cNvPr>
          <p:cNvPicPr>
            <a:picLocks noChangeAspect="1"/>
          </p:cNvPicPr>
          <p:nvPr/>
        </p:nvPicPr>
        <p:blipFill>
          <a:blip r:embed="rId2" cstate="print"/>
          <a:stretch>
            <a:fillRect/>
          </a:stretch>
        </p:blipFill>
        <p:spPr>
          <a:xfrm>
            <a:off x="1129600" y="2603162"/>
            <a:ext cx="9932799" cy="3889713"/>
          </a:xfrm>
          <a:prstGeom prst="rect">
            <a:avLst/>
          </a:prstGeom>
        </p:spPr>
      </p:pic>
    </p:spTree>
    <p:extLst>
      <p:ext uri="{BB962C8B-B14F-4D97-AF65-F5344CB8AC3E}">
        <p14:creationId xmlns="" xmlns:p14="http://schemas.microsoft.com/office/powerpoint/2010/main" val="13431104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4E60A0B-F665-46F1-A1A9-02FD46F138B7}"/>
              </a:ext>
            </a:extLst>
          </p:cNvPr>
          <p:cNvSpPr>
            <a:spLocks noGrp="1"/>
          </p:cNvSpPr>
          <p:nvPr>
            <p:ph type="title"/>
          </p:nvPr>
        </p:nvSpPr>
        <p:spPr/>
        <p:txBody>
          <a:bodyPr/>
          <a:lstStyle/>
          <a:p>
            <a:r>
              <a:rPr lang="en-US" dirty="0"/>
              <a:t>Cycle Detection Problem</a:t>
            </a:r>
          </a:p>
        </p:txBody>
      </p:sp>
      <p:sp>
        <p:nvSpPr>
          <p:cNvPr id="3" name="Content Placeholder 2">
            <a:extLst>
              <a:ext uri="{FF2B5EF4-FFF2-40B4-BE49-F238E27FC236}">
                <a16:creationId xmlns="" xmlns:a16="http://schemas.microsoft.com/office/drawing/2014/main" id="{E0A682AA-6EF6-4194-8DD7-DBB9AFE96F4C}"/>
              </a:ext>
            </a:extLst>
          </p:cNvPr>
          <p:cNvSpPr>
            <a:spLocks noGrp="1"/>
          </p:cNvSpPr>
          <p:nvPr>
            <p:ph idx="1"/>
          </p:nvPr>
        </p:nvSpPr>
        <p:spPr/>
        <p:txBody>
          <a:bodyPr>
            <a:normAutofit/>
          </a:bodyPr>
          <a:lstStyle/>
          <a:p>
            <a:r>
              <a:rPr lang="en-US" sz="3200" dirty="0"/>
              <a:t>Let G = (V, E) be a directed graph. Determine whether it is a DAG.</a:t>
            </a:r>
          </a:p>
          <a:p>
            <a:r>
              <a:rPr lang="en-US" sz="3200" dirty="0"/>
              <a:t>Next, we will describe the depth first search (DFS) algorithm to solve the </a:t>
            </a:r>
            <a:r>
              <a:rPr lang="pl-PL" sz="3200" dirty="0"/>
              <a:t>problem in O(</a:t>
            </a:r>
            <a:r>
              <a:rPr lang="en-US" sz="3200" dirty="0"/>
              <a:t>|</a:t>
            </a:r>
            <a:r>
              <a:rPr lang="pl-PL" sz="3200" dirty="0"/>
              <a:t>V</a:t>
            </a:r>
            <a:r>
              <a:rPr lang="en-US" sz="3200" dirty="0"/>
              <a:t>|</a:t>
            </a:r>
            <a:r>
              <a:rPr lang="pl-PL" sz="3200" dirty="0"/>
              <a:t> + </a:t>
            </a:r>
            <a:r>
              <a:rPr lang="en-US" sz="3200" dirty="0"/>
              <a:t>|</a:t>
            </a:r>
            <a:r>
              <a:rPr lang="pl-PL" sz="3200" dirty="0"/>
              <a:t>E</a:t>
            </a:r>
            <a:r>
              <a:rPr lang="en-US" sz="3200" dirty="0"/>
              <a:t>|</a:t>
            </a:r>
            <a:r>
              <a:rPr lang="pl-PL" sz="3200" dirty="0"/>
              <a:t>) time.</a:t>
            </a:r>
          </a:p>
          <a:p>
            <a:r>
              <a:rPr lang="en-US" sz="3200" dirty="0"/>
              <a:t>Just like BFS, the DFS algorithm also outputs a tree, called the DFS-tree. This tree contains vital information about the input graph that allows us to decide whether the input graph is a DAG.</a:t>
            </a:r>
          </a:p>
        </p:txBody>
      </p:sp>
    </p:spTree>
    <p:extLst>
      <p:ext uri="{BB962C8B-B14F-4D97-AF65-F5344CB8AC3E}">
        <p14:creationId xmlns="" xmlns:p14="http://schemas.microsoft.com/office/powerpoint/2010/main" val="37863057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301929E-3472-465A-9CD4-53B379514354}"/>
              </a:ext>
            </a:extLst>
          </p:cNvPr>
          <p:cNvSpPr>
            <a:spLocks noGrp="1"/>
          </p:cNvSpPr>
          <p:nvPr>
            <p:ph type="title"/>
          </p:nvPr>
        </p:nvSpPr>
        <p:spPr/>
        <p:txBody>
          <a:bodyPr/>
          <a:lstStyle/>
          <a:p>
            <a:r>
              <a:rPr lang="en-US" dirty="0"/>
              <a:t>DFS</a:t>
            </a:r>
          </a:p>
        </p:txBody>
      </p:sp>
      <p:sp>
        <p:nvSpPr>
          <p:cNvPr id="3" name="Content Placeholder 2">
            <a:extLst>
              <a:ext uri="{FF2B5EF4-FFF2-40B4-BE49-F238E27FC236}">
                <a16:creationId xmlns="" xmlns:a16="http://schemas.microsoft.com/office/drawing/2014/main" id="{2044E268-8F93-448F-B028-DC52A5F5F865}"/>
              </a:ext>
            </a:extLst>
          </p:cNvPr>
          <p:cNvSpPr>
            <a:spLocks noGrp="1"/>
          </p:cNvSpPr>
          <p:nvPr>
            <p:ph idx="1"/>
          </p:nvPr>
        </p:nvSpPr>
        <p:spPr/>
        <p:txBody>
          <a:bodyPr>
            <a:normAutofit/>
          </a:bodyPr>
          <a:lstStyle/>
          <a:p>
            <a:r>
              <a:rPr lang="en-US" sz="3600" dirty="0"/>
              <a:t>At the beginning, color all vertices in the graph white. And create an empty DFS tree T.</a:t>
            </a:r>
          </a:p>
          <a:p>
            <a:r>
              <a:rPr lang="en-US" sz="3600" dirty="0"/>
              <a:t>Create a stack S. Pick an arbitrary vertex v. Push v into S, and color it gray (which means “in the stack”).</a:t>
            </a:r>
          </a:p>
          <a:p>
            <a:r>
              <a:rPr lang="en-US" sz="3600" dirty="0"/>
              <a:t>Make v the root of T.</a:t>
            </a:r>
          </a:p>
        </p:txBody>
      </p:sp>
    </p:spTree>
    <p:extLst>
      <p:ext uri="{BB962C8B-B14F-4D97-AF65-F5344CB8AC3E}">
        <p14:creationId xmlns="" xmlns:p14="http://schemas.microsoft.com/office/powerpoint/2010/main" val="19540311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301929E-3472-465A-9CD4-53B379514354}"/>
              </a:ext>
            </a:extLst>
          </p:cNvPr>
          <p:cNvSpPr>
            <a:spLocks noGrp="1"/>
          </p:cNvSpPr>
          <p:nvPr>
            <p:ph type="title"/>
          </p:nvPr>
        </p:nvSpPr>
        <p:spPr/>
        <p:txBody>
          <a:bodyPr/>
          <a:lstStyle/>
          <a:p>
            <a:r>
              <a:rPr lang="en-US" dirty="0"/>
              <a:t>DFS</a:t>
            </a:r>
          </a:p>
        </p:txBody>
      </p:sp>
      <p:sp>
        <p:nvSpPr>
          <p:cNvPr id="3" name="Content Placeholder 2">
            <a:extLst>
              <a:ext uri="{FF2B5EF4-FFF2-40B4-BE49-F238E27FC236}">
                <a16:creationId xmlns="" xmlns:a16="http://schemas.microsoft.com/office/drawing/2014/main" id="{2044E268-8F93-448F-B028-DC52A5F5F865}"/>
              </a:ext>
            </a:extLst>
          </p:cNvPr>
          <p:cNvSpPr>
            <a:spLocks noGrp="1"/>
          </p:cNvSpPr>
          <p:nvPr>
            <p:ph idx="1"/>
          </p:nvPr>
        </p:nvSpPr>
        <p:spPr/>
        <p:txBody>
          <a:bodyPr>
            <a:normAutofit/>
          </a:bodyPr>
          <a:lstStyle/>
          <a:p>
            <a:r>
              <a:rPr lang="en-US" sz="3600" dirty="0"/>
              <a:t>Suppose we start from a.</a:t>
            </a:r>
          </a:p>
          <a:p>
            <a:endParaRPr lang="en-US" sz="3600" dirty="0"/>
          </a:p>
          <a:p>
            <a:endParaRPr lang="en-US" sz="3600" dirty="0"/>
          </a:p>
          <a:p>
            <a:endParaRPr lang="en-US" sz="3600" dirty="0"/>
          </a:p>
          <a:p>
            <a:endParaRPr lang="en-US" sz="3600" dirty="0"/>
          </a:p>
          <a:p>
            <a:endParaRPr lang="en-US" sz="3600" dirty="0"/>
          </a:p>
          <a:p>
            <a:r>
              <a:rPr lang="en-US" sz="3600" dirty="0"/>
              <a:t>S = (a)</a:t>
            </a:r>
          </a:p>
          <a:p>
            <a:endParaRPr lang="en-US" sz="3600" dirty="0"/>
          </a:p>
        </p:txBody>
      </p:sp>
      <p:pic>
        <p:nvPicPr>
          <p:cNvPr id="4" name="Picture 3">
            <a:extLst>
              <a:ext uri="{FF2B5EF4-FFF2-40B4-BE49-F238E27FC236}">
                <a16:creationId xmlns="" xmlns:a16="http://schemas.microsoft.com/office/drawing/2014/main" id="{03F8E8A6-8CD4-4690-86ED-2782CAA69B6C}"/>
              </a:ext>
            </a:extLst>
          </p:cNvPr>
          <p:cNvPicPr>
            <a:picLocks noChangeAspect="1"/>
          </p:cNvPicPr>
          <p:nvPr/>
        </p:nvPicPr>
        <p:blipFill>
          <a:blip r:embed="rId2" cstate="print"/>
          <a:stretch>
            <a:fillRect/>
          </a:stretch>
        </p:blipFill>
        <p:spPr>
          <a:xfrm>
            <a:off x="956199" y="2467993"/>
            <a:ext cx="7460481" cy="3089428"/>
          </a:xfrm>
          <a:prstGeom prst="rect">
            <a:avLst/>
          </a:prstGeom>
        </p:spPr>
      </p:pic>
    </p:spTree>
    <p:extLst>
      <p:ext uri="{BB962C8B-B14F-4D97-AF65-F5344CB8AC3E}">
        <p14:creationId xmlns="" xmlns:p14="http://schemas.microsoft.com/office/powerpoint/2010/main" val="4354759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301929E-3472-465A-9CD4-53B379514354}"/>
              </a:ext>
            </a:extLst>
          </p:cNvPr>
          <p:cNvSpPr>
            <a:spLocks noGrp="1"/>
          </p:cNvSpPr>
          <p:nvPr>
            <p:ph type="title"/>
          </p:nvPr>
        </p:nvSpPr>
        <p:spPr/>
        <p:txBody>
          <a:bodyPr/>
          <a:lstStyle/>
          <a:p>
            <a:r>
              <a:rPr lang="en-US" dirty="0"/>
              <a:t>DFS</a:t>
            </a:r>
          </a:p>
        </p:txBody>
      </p:sp>
      <p:sp>
        <p:nvSpPr>
          <p:cNvPr id="3" name="Content Placeholder 2">
            <a:extLst>
              <a:ext uri="{FF2B5EF4-FFF2-40B4-BE49-F238E27FC236}">
                <a16:creationId xmlns="" xmlns:a16="http://schemas.microsoft.com/office/drawing/2014/main" id="{2044E268-8F93-448F-B028-DC52A5F5F865}"/>
              </a:ext>
            </a:extLst>
          </p:cNvPr>
          <p:cNvSpPr>
            <a:spLocks noGrp="1"/>
          </p:cNvSpPr>
          <p:nvPr>
            <p:ph idx="1"/>
          </p:nvPr>
        </p:nvSpPr>
        <p:spPr/>
        <p:txBody>
          <a:bodyPr>
            <a:normAutofit fontScale="85000" lnSpcReduction="20000"/>
          </a:bodyPr>
          <a:lstStyle/>
          <a:p>
            <a:r>
              <a:rPr lang="en-US" dirty="0"/>
              <a:t>Repeat the following until S is empty.</a:t>
            </a:r>
          </a:p>
          <a:p>
            <a:pPr marL="514350" indent="-514350">
              <a:buFont typeface="+mj-lt"/>
              <a:buAutoNum type="arabicPeriod"/>
            </a:pPr>
            <a:r>
              <a:rPr lang="en-US" dirty="0"/>
              <a:t>Let v be the vertex that currently tops the stack S (</a:t>
            </a:r>
            <a:r>
              <a:rPr lang="en-US" dirty="0">
                <a:solidFill>
                  <a:srgbClr val="FF0000"/>
                </a:solidFill>
              </a:rPr>
              <a:t>don’t remove v from S</a:t>
            </a:r>
            <a:r>
              <a:rPr lang="en-US" dirty="0"/>
              <a:t>)</a:t>
            </a:r>
          </a:p>
          <a:p>
            <a:pPr marL="514350" indent="-514350">
              <a:buFont typeface="+mj-lt"/>
              <a:buAutoNum type="arabicPeriod"/>
            </a:pPr>
            <a:r>
              <a:rPr lang="en-US" dirty="0"/>
              <a:t>Does v still have a white out-neighbor?</a:t>
            </a:r>
          </a:p>
          <a:p>
            <a:pPr marL="971550" lvl="1" indent="-514350">
              <a:buFont typeface="+mj-lt"/>
              <a:buAutoNum type="arabicPeriod"/>
            </a:pPr>
            <a:r>
              <a:rPr lang="en-US" sz="3800" dirty="0"/>
              <a:t>If yes: let it be u.</a:t>
            </a:r>
          </a:p>
          <a:p>
            <a:pPr marL="1428750" lvl="2" indent="-514350">
              <a:buFont typeface="+mj-lt"/>
              <a:buAutoNum type="arabicPeriod"/>
            </a:pPr>
            <a:r>
              <a:rPr lang="en-US" sz="3300" dirty="0"/>
              <a:t>Push u into S, and color u gray.</a:t>
            </a:r>
          </a:p>
          <a:p>
            <a:pPr marL="1428750" lvl="2" indent="-514350">
              <a:buFont typeface="+mj-lt"/>
              <a:buAutoNum type="arabicPeriod"/>
            </a:pPr>
            <a:r>
              <a:rPr lang="en-US" sz="3300" dirty="0"/>
              <a:t>Make u a child of v in the DFS-tree T.</a:t>
            </a:r>
          </a:p>
          <a:p>
            <a:pPr marL="971550" lvl="1" indent="-514350">
              <a:buFont typeface="+mj-lt"/>
              <a:buAutoNum type="arabicPeriod"/>
            </a:pPr>
            <a:r>
              <a:rPr lang="en-US" sz="3800" dirty="0"/>
              <a:t>If no, pop v from S, and color v black (meaning v is done).</a:t>
            </a:r>
            <a:endParaRPr lang="en-US" sz="3000" dirty="0"/>
          </a:p>
          <a:p>
            <a:r>
              <a:rPr lang="en-US" dirty="0"/>
              <a:t>If there are still white vertices, repeat the above by restarting from an arbitrary white vertex v', creating a new DFS-tree rooted at v’.</a:t>
            </a:r>
          </a:p>
          <a:p>
            <a:r>
              <a:rPr lang="en-US" dirty="0"/>
              <a:t>DFS behaves like “exploring the web one click at a time”, as we will see next.</a:t>
            </a:r>
            <a:endParaRPr lang="en-US" sz="3600" dirty="0"/>
          </a:p>
          <a:p>
            <a:endParaRPr lang="en-US" sz="3600" dirty="0"/>
          </a:p>
          <a:p>
            <a:endParaRPr lang="en-US" sz="3600" dirty="0"/>
          </a:p>
          <a:p>
            <a:pPr marL="0" indent="0">
              <a:buNone/>
            </a:pPr>
            <a:endParaRPr lang="en-US" sz="3600" dirty="0"/>
          </a:p>
          <a:p>
            <a:endParaRPr lang="en-US" sz="3600" dirty="0"/>
          </a:p>
        </p:txBody>
      </p:sp>
    </p:spTree>
    <p:extLst>
      <p:ext uri="{BB962C8B-B14F-4D97-AF65-F5344CB8AC3E}">
        <p14:creationId xmlns="" xmlns:p14="http://schemas.microsoft.com/office/powerpoint/2010/main" val="8153855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3A4360-3752-47E4-90FC-54D9ECB9539B}"/>
              </a:ext>
            </a:extLst>
          </p:cNvPr>
          <p:cNvSpPr>
            <a:spLocks noGrp="1"/>
          </p:cNvSpPr>
          <p:nvPr>
            <p:ph type="title"/>
          </p:nvPr>
        </p:nvSpPr>
        <p:spPr/>
        <p:txBody>
          <a:bodyPr/>
          <a:lstStyle/>
          <a:p>
            <a:r>
              <a:rPr lang="en-US" dirty="0"/>
              <a:t>DFS Example</a:t>
            </a:r>
          </a:p>
        </p:txBody>
      </p:sp>
      <p:sp>
        <p:nvSpPr>
          <p:cNvPr id="3" name="Content Placeholder 2">
            <a:extLst>
              <a:ext uri="{FF2B5EF4-FFF2-40B4-BE49-F238E27FC236}">
                <a16:creationId xmlns="" xmlns:a16="http://schemas.microsoft.com/office/drawing/2014/main" id="{90202F01-63AC-4CB1-BCBE-4D98794A0061}"/>
              </a:ext>
            </a:extLst>
          </p:cNvPr>
          <p:cNvSpPr>
            <a:spLocks noGrp="1"/>
          </p:cNvSpPr>
          <p:nvPr>
            <p:ph idx="1"/>
          </p:nvPr>
        </p:nvSpPr>
        <p:spPr/>
        <p:txBody>
          <a:bodyPr>
            <a:normAutofit lnSpcReduction="10000"/>
          </a:bodyPr>
          <a:lstStyle/>
          <a:p>
            <a:pPr marL="0" indent="0">
              <a:buNone/>
            </a:pPr>
            <a:r>
              <a:rPr lang="en-US" dirty="0"/>
              <a:t>Top of stack: a, which has white out-neighbors b, d. Suppose we access b first. Push b into S.</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S= (a, b)</a:t>
            </a:r>
          </a:p>
        </p:txBody>
      </p:sp>
      <p:pic>
        <p:nvPicPr>
          <p:cNvPr id="4" name="Picture 3">
            <a:extLst>
              <a:ext uri="{FF2B5EF4-FFF2-40B4-BE49-F238E27FC236}">
                <a16:creationId xmlns="" xmlns:a16="http://schemas.microsoft.com/office/drawing/2014/main" id="{33EB841D-686B-4AA0-8DC1-93B3A95CBD73}"/>
              </a:ext>
            </a:extLst>
          </p:cNvPr>
          <p:cNvPicPr>
            <a:picLocks noChangeAspect="1"/>
          </p:cNvPicPr>
          <p:nvPr/>
        </p:nvPicPr>
        <p:blipFill>
          <a:blip r:embed="rId2" cstate="print"/>
          <a:stretch>
            <a:fillRect/>
          </a:stretch>
        </p:blipFill>
        <p:spPr>
          <a:xfrm>
            <a:off x="1154097" y="2547891"/>
            <a:ext cx="7077159" cy="2920373"/>
          </a:xfrm>
          <a:prstGeom prst="rect">
            <a:avLst/>
          </a:prstGeom>
        </p:spPr>
      </p:pic>
    </p:spTree>
    <p:extLst>
      <p:ext uri="{BB962C8B-B14F-4D97-AF65-F5344CB8AC3E}">
        <p14:creationId xmlns="" xmlns:p14="http://schemas.microsoft.com/office/powerpoint/2010/main" val="25097120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3A4360-3752-47E4-90FC-54D9ECB9539B}"/>
              </a:ext>
            </a:extLst>
          </p:cNvPr>
          <p:cNvSpPr>
            <a:spLocks noGrp="1"/>
          </p:cNvSpPr>
          <p:nvPr>
            <p:ph type="title"/>
          </p:nvPr>
        </p:nvSpPr>
        <p:spPr/>
        <p:txBody>
          <a:bodyPr/>
          <a:lstStyle/>
          <a:p>
            <a:r>
              <a:rPr lang="en-US" dirty="0"/>
              <a:t>DFS Example</a:t>
            </a:r>
          </a:p>
        </p:txBody>
      </p:sp>
      <p:sp>
        <p:nvSpPr>
          <p:cNvPr id="3" name="Content Placeholder 2">
            <a:extLst>
              <a:ext uri="{FF2B5EF4-FFF2-40B4-BE49-F238E27FC236}">
                <a16:creationId xmlns="" xmlns:a16="http://schemas.microsoft.com/office/drawing/2014/main" id="{90202F01-63AC-4CB1-BCBE-4D98794A0061}"/>
              </a:ext>
            </a:extLst>
          </p:cNvPr>
          <p:cNvSpPr>
            <a:spLocks noGrp="1"/>
          </p:cNvSpPr>
          <p:nvPr>
            <p:ph idx="1"/>
          </p:nvPr>
        </p:nvSpPr>
        <p:spPr/>
        <p:txBody>
          <a:bodyPr>
            <a:normAutofit/>
          </a:bodyPr>
          <a:lstStyle/>
          <a:p>
            <a:pPr marL="0" indent="0">
              <a:buNone/>
            </a:pPr>
            <a:r>
              <a:rPr lang="en-US" dirty="0"/>
              <a:t>After pushing </a:t>
            </a:r>
            <a:r>
              <a:rPr lang="en-US" i="1" dirty="0"/>
              <a:t>c </a:t>
            </a:r>
            <a:r>
              <a:rPr lang="en-US" dirty="0"/>
              <a:t>into </a:t>
            </a:r>
            <a:r>
              <a:rPr lang="en-US" i="1" dirty="0"/>
              <a:t>S</a:t>
            </a:r>
            <a:r>
              <a:rPr lang="en-US" dirty="0"/>
              <a:t>:</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S= (a, b, c)</a:t>
            </a:r>
          </a:p>
        </p:txBody>
      </p:sp>
      <p:pic>
        <p:nvPicPr>
          <p:cNvPr id="5" name="Picture 4">
            <a:extLst>
              <a:ext uri="{FF2B5EF4-FFF2-40B4-BE49-F238E27FC236}">
                <a16:creationId xmlns="" xmlns:a16="http://schemas.microsoft.com/office/drawing/2014/main" id="{46895140-4315-4269-8E89-DF38E54E137D}"/>
              </a:ext>
            </a:extLst>
          </p:cNvPr>
          <p:cNvPicPr>
            <a:picLocks noChangeAspect="1"/>
          </p:cNvPicPr>
          <p:nvPr/>
        </p:nvPicPr>
        <p:blipFill>
          <a:blip r:embed="rId2" cstate="print"/>
          <a:stretch>
            <a:fillRect/>
          </a:stretch>
        </p:blipFill>
        <p:spPr>
          <a:xfrm>
            <a:off x="1174173" y="2296391"/>
            <a:ext cx="7715141" cy="3128268"/>
          </a:xfrm>
          <a:prstGeom prst="rect">
            <a:avLst/>
          </a:prstGeom>
        </p:spPr>
      </p:pic>
    </p:spTree>
    <p:extLst>
      <p:ext uri="{BB962C8B-B14F-4D97-AF65-F5344CB8AC3E}">
        <p14:creationId xmlns="" xmlns:p14="http://schemas.microsoft.com/office/powerpoint/2010/main" val="12657716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3A4360-3752-47E4-90FC-54D9ECB9539B}"/>
              </a:ext>
            </a:extLst>
          </p:cNvPr>
          <p:cNvSpPr>
            <a:spLocks noGrp="1"/>
          </p:cNvSpPr>
          <p:nvPr>
            <p:ph type="title"/>
          </p:nvPr>
        </p:nvSpPr>
        <p:spPr/>
        <p:txBody>
          <a:bodyPr/>
          <a:lstStyle/>
          <a:p>
            <a:r>
              <a:rPr lang="en-US" dirty="0"/>
              <a:t>DFS Example</a:t>
            </a:r>
          </a:p>
        </p:txBody>
      </p:sp>
      <p:sp>
        <p:nvSpPr>
          <p:cNvPr id="3" name="Content Placeholder 2">
            <a:extLst>
              <a:ext uri="{FF2B5EF4-FFF2-40B4-BE49-F238E27FC236}">
                <a16:creationId xmlns="" xmlns:a16="http://schemas.microsoft.com/office/drawing/2014/main" id="{90202F01-63AC-4CB1-BCBE-4D98794A0061}"/>
              </a:ext>
            </a:extLst>
          </p:cNvPr>
          <p:cNvSpPr>
            <a:spLocks noGrp="1"/>
          </p:cNvSpPr>
          <p:nvPr>
            <p:ph idx="1"/>
          </p:nvPr>
        </p:nvSpPr>
        <p:spPr/>
        <p:txBody>
          <a:bodyPr>
            <a:normAutofit/>
          </a:bodyPr>
          <a:lstStyle/>
          <a:p>
            <a:pPr marL="0" indent="0">
              <a:buNone/>
            </a:pPr>
            <a:r>
              <a:rPr lang="en-US" dirty="0"/>
              <a:t>Now c tops the stack. It has white out-neighbors d and e. Suppose we visit d first. Push d into S.</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S= (a, b, c, d)</a:t>
            </a:r>
          </a:p>
        </p:txBody>
      </p:sp>
      <p:pic>
        <p:nvPicPr>
          <p:cNvPr id="4" name="Picture 3">
            <a:extLst>
              <a:ext uri="{FF2B5EF4-FFF2-40B4-BE49-F238E27FC236}">
                <a16:creationId xmlns="" xmlns:a16="http://schemas.microsoft.com/office/drawing/2014/main" id="{009C9221-2A16-4BCF-9EA5-74C3E17B4418}"/>
              </a:ext>
            </a:extLst>
          </p:cNvPr>
          <p:cNvPicPr>
            <a:picLocks noChangeAspect="1"/>
          </p:cNvPicPr>
          <p:nvPr/>
        </p:nvPicPr>
        <p:blipFill>
          <a:blip r:embed="rId2" cstate="print"/>
          <a:stretch>
            <a:fillRect/>
          </a:stretch>
        </p:blipFill>
        <p:spPr>
          <a:xfrm>
            <a:off x="1349405" y="2610035"/>
            <a:ext cx="6861933" cy="2656631"/>
          </a:xfrm>
          <a:prstGeom prst="rect">
            <a:avLst/>
          </a:prstGeom>
        </p:spPr>
      </p:pic>
    </p:spTree>
    <p:extLst>
      <p:ext uri="{BB962C8B-B14F-4D97-AF65-F5344CB8AC3E}">
        <p14:creationId xmlns="" xmlns:p14="http://schemas.microsoft.com/office/powerpoint/2010/main" val="31014235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3A4360-3752-47E4-90FC-54D9ECB9539B}"/>
              </a:ext>
            </a:extLst>
          </p:cNvPr>
          <p:cNvSpPr>
            <a:spLocks noGrp="1"/>
          </p:cNvSpPr>
          <p:nvPr>
            <p:ph type="title"/>
          </p:nvPr>
        </p:nvSpPr>
        <p:spPr/>
        <p:txBody>
          <a:bodyPr/>
          <a:lstStyle/>
          <a:p>
            <a:r>
              <a:rPr lang="en-US" dirty="0"/>
              <a:t>DFS Example</a:t>
            </a:r>
          </a:p>
        </p:txBody>
      </p:sp>
      <p:sp>
        <p:nvSpPr>
          <p:cNvPr id="3" name="Content Placeholder 2">
            <a:extLst>
              <a:ext uri="{FF2B5EF4-FFF2-40B4-BE49-F238E27FC236}">
                <a16:creationId xmlns="" xmlns:a16="http://schemas.microsoft.com/office/drawing/2014/main" id="{90202F01-63AC-4CB1-BCBE-4D98794A0061}"/>
              </a:ext>
            </a:extLst>
          </p:cNvPr>
          <p:cNvSpPr>
            <a:spLocks noGrp="1"/>
          </p:cNvSpPr>
          <p:nvPr>
            <p:ph idx="1"/>
          </p:nvPr>
        </p:nvSpPr>
        <p:spPr/>
        <p:txBody>
          <a:bodyPr>
            <a:normAutofit/>
          </a:bodyPr>
          <a:lstStyle/>
          <a:p>
            <a:pPr marL="0" indent="0">
              <a:buNone/>
            </a:pPr>
            <a:r>
              <a:rPr lang="en-US" dirty="0"/>
              <a:t>After pushing </a:t>
            </a:r>
            <a:r>
              <a:rPr lang="en-US" i="1" dirty="0"/>
              <a:t>g </a:t>
            </a:r>
            <a:r>
              <a:rPr lang="en-US" dirty="0"/>
              <a:t>into </a:t>
            </a:r>
            <a:r>
              <a:rPr lang="en-US" i="1" dirty="0"/>
              <a:t>S</a:t>
            </a:r>
            <a:r>
              <a:rPr lang="en-US" dirty="0"/>
              <a:t>:</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S= (a, b, c, d, g)</a:t>
            </a:r>
          </a:p>
        </p:txBody>
      </p:sp>
      <p:pic>
        <p:nvPicPr>
          <p:cNvPr id="5" name="Picture 4">
            <a:extLst>
              <a:ext uri="{FF2B5EF4-FFF2-40B4-BE49-F238E27FC236}">
                <a16:creationId xmlns="" xmlns:a16="http://schemas.microsoft.com/office/drawing/2014/main" id="{6AE889F8-601F-4E92-8D1E-7AB0C76D7B2F}"/>
              </a:ext>
            </a:extLst>
          </p:cNvPr>
          <p:cNvPicPr>
            <a:picLocks noChangeAspect="1"/>
          </p:cNvPicPr>
          <p:nvPr/>
        </p:nvPicPr>
        <p:blipFill>
          <a:blip r:embed="rId2" cstate="print"/>
          <a:stretch>
            <a:fillRect/>
          </a:stretch>
        </p:blipFill>
        <p:spPr>
          <a:xfrm>
            <a:off x="1257299" y="2337956"/>
            <a:ext cx="7445371" cy="3116324"/>
          </a:xfrm>
          <a:prstGeom prst="rect">
            <a:avLst/>
          </a:prstGeom>
        </p:spPr>
      </p:pic>
    </p:spTree>
    <p:extLst>
      <p:ext uri="{BB962C8B-B14F-4D97-AF65-F5344CB8AC3E}">
        <p14:creationId xmlns="" xmlns:p14="http://schemas.microsoft.com/office/powerpoint/2010/main" val="13413045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3A4360-3752-47E4-90FC-54D9ECB9539B}"/>
              </a:ext>
            </a:extLst>
          </p:cNvPr>
          <p:cNvSpPr>
            <a:spLocks noGrp="1"/>
          </p:cNvSpPr>
          <p:nvPr>
            <p:ph type="title"/>
          </p:nvPr>
        </p:nvSpPr>
        <p:spPr/>
        <p:txBody>
          <a:bodyPr/>
          <a:lstStyle/>
          <a:p>
            <a:r>
              <a:rPr lang="en-US" dirty="0"/>
              <a:t>DFS Example</a:t>
            </a:r>
          </a:p>
        </p:txBody>
      </p:sp>
      <p:sp>
        <p:nvSpPr>
          <p:cNvPr id="3" name="Content Placeholder 2">
            <a:extLst>
              <a:ext uri="{FF2B5EF4-FFF2-40B4-BE49-F238E27FC236}">
                <a16:creationId xmlns="" xmlns:a16="http://schemas.microsoft.com/office/drawing/2014/main" id="{90202F01-63AC-4CB1-BCBE-4D98794A0061}"/>
              </a:ext>
            </a:extLst>
          </p:cNvPr>
          <p:cNvSpPr>
            <a:spLocks noGrp="1"/>
          </p:cNvSpPr>
          <p:nvPr>
            <p:ph idx="1"/>
          </p:nvPr>
        </p:nvSpPr>
        <p:spPr/>
        <p:txBody>
          <a:bodyPr>
            <a:normAutofit/>
          </a:bodyPr>
          <a:lstStyle/>
          <a:p>
            <a:pPr marL="0" indent="0">
              <a:buNone/>
            </a:pPr>
            <a:r>
              <a:rPr lang="en-US" dirty="0"/>
              <a:t>Suppose we visit white out-neighbor f of g first. Push f into S.</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S= (a, b, c, d, g, f)</a:t>
            </a:r>
          </a:p>
        </p:txBody>
      </p:sp>
      <p:pic>
        <p:nvPicPr>
          <p:cNvPr id="4" name="Picture 3">
            <a:extLst>
              <a:ext uri="{FF2B5EF4-FFF2-40B4-BE49-F238E27FC236}">
                <a16:creationId xmlns="" xmlns:a16="http://schemas.microsoft.com/office/drawing/2014/main" id="{B190B475-222D-4F41-913F-2EBA40250B47}"/>
              </a:ext>
            </a:extLst>
          </p:cNvPr>
          <p:cNvPicPr>
            <a:picLocks noChangeAspect="1"/>
          </p:cNvPicPr>
          <p:nvPr/>
        </p:nvPicPr>
        <p:blipFill>
          <a:blip r:embed="rId2" cstate="print"/>
          <a:stretch>
            <a:fillRect/>
          </a:stretch>
        </p:blipFill>
        <p:spPr>
          <a:xfrm>
            <a:off x="1808017" y="2244436"/>
            <a:ext cx="6839193" cy="3175536"/>
          </a:xfrm>
          <a:prstGeom prst="rect">
            <a:avLst/>
          </a:prstGeom>
        </p:spPr>
      </p:pic>
    </p:spTree>
    <p:extLst>
      <p:ext uri="{BB962C8B-B14F-4D97-AF65-F5344CB8AC3E}">
        <p14:creationId xmlns="" xmlns:p14="http://schemas.microsoft.com/office/powerpoint/2010/main" val="26143618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3A4360-3752-47E4-90FC-54D9ECB9539B}"/>
              </a:ext>
            </a:extLst>
          </p:cNvPr>
          <p:cNvSpPr>
            <a:spLocks noGrp="1"/>
          </p:cNvSpPr>
          <p:nvPr>
            <p:ph type="title"/>
          </p:nvPr>
        </p:nvSpPr>
        <p:spPr/>
        <p:txBody>
          <a:bodyPr/>
          <a:lstStyle/>
          <a:p>
            <a:r>
              <a:rPr lang="en-US" dirty="0"/>
              <a:t>DFS Example</a:t>
            </a:r>
          </a:p>
        </p:txBody>
      </p:sp>
      <p:sp>
        <p:nvSpPr>
          <p:cNvPr id="3" name="Content Placeholder 2">
            <a:extLst>
              <a:ext uri="{FF2B5EF4-FFF2-40B4-BE49-F238E27FC236}">
                <a16:creationId xmlns="" xmlns:a16="http://schemas.microsoft.com/office/drawing/2014/main" id="{90202F01-63AC-4CB1-BCBE-4D98794A0061}"/>
              </a:ext>
            </a:extLst>
          </p:cNvPr>
          <p:cNvSpPr>
            <a:spLocks noGrp="1"/>
          </p:cNvSpPr>
          <p:nvPr>
            <p:ph idx="1"/>
          </p:nvPr>
        </p:nvSpPr>
        <p:spPr/>
        <p:txBody>
          <a:bodyPr>
            <a:normAutofit/>
          </a:bodyPr>
          <a:lstStyle/>
          <a:p>
            <a:pPr marL="0" indent="0">
              <a:buNone/>
            </a:pPr>
            <a:r>
              <a:rPr lang="en-US" dirty="0"/>
              <a:t>After pushing </a:t>
            </a:r>
            <a:r>
              <a:rPr lang="en-US" i="1" dirty="0"/>
              <a:t>e </a:t>
            </a:r>
            <a:r>
              <a:rPr lang="en-US" dirty="0"/>
              <a:t>into </a:t>
            </a:r>
            <a:r>
              <a:rPr lang="en-US" i="1" dirty="0"/>
              <a:t>S</a:t>
            </a:r>
            <a:r>
              <a:rPr lang="en-US" dirty="0"/>
              <a:t>:</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S= (a, b, c, d, g, f, e)</a:t>
            </a:r>
          </a:p>
        </p:txBody>
      </p:sp>
      <p:pic>
        <p:nvPicPr>
          <p:cNvPr id="5" name="Picture 4">
            <a:extLst>
              <a:ext uri="{FF2B5EF4-FFF2-40B4-BE49-F238E27FC236}">
                <a16:creationId xmlns="" xmlns:a16="http://schemas.microsoft.com/office/drawing/2014/main" id="{969C6294-24A6-4D70-B47F-E1444331EB7F}"/>
              </a:ext>
            </a:extLst>
          </p:cNvPr>
          <p:cNvPicPr>
            <a:picLocks noChangeAspect="1"/>
          </p:cNvPicPr>
          <p:nvPr/>
        </p:nvPicPr>
        <p:blipFill>
          <a:blip r:embed="rId2" cstate="print"/>
          <a:stretch>
            <a:fillRect/>
          </a:stretch>
        </p:blipFill>
        <p:spPr>
          <a:xfrm>
            <a:off x="2192482" y="2254827"/>
            <a:ext cx="6167778" cy="3198412"/>
          </a:xfrm>
          <a:prstGeom prst="rect">
            <a:avLst/>
          </a:prstGeom>
        </p:spPr>
      </p:pic>
    </p:spTree>
    <p:extLst>
      <p:ext uri="{BB962C8B-B14F-4D97-AF65-F5344CB8AC3E}">
        <p14:creationId xmlns="" xmlns:p14="http://schemas.microsoft.com/office/powerpoint/2010/main" val="6358448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3A4360-3752-47E4-90FC-54D9ECB9539B}"/>
              </a:ext>
            </a:extLst>
          </p:cNvPr>
          <p:cNvSpPr>
            <a:spLocks noGrp="1"/>
          </p:cNvSpPr>
          <p:nvPr>
            <p:ph type="title"/>
          </p:nvPr>
        </p:nvSpPr>
        <p:spPr/>
        <p:txBody>
          <a:bodyPr/>
          <a:lstStyle/>
          <a:p>
            <a:r>
              <a:rPr lang="en-US" dirty="0"/>
              <a:t>DFS Example</a:t>
            </a:r>
          </a:p>
        </p:txBody>
      </p:sp>
      <p:sp>
        <p:nvSpPr>
          <p:cNvPr id="3" name="Content Placeholder 2">
            <a:extLst>
              <a:ext uri="{FF2B5EF4-FFF2-40B4-BE49-F238E27FC236}">
                <a16:creationId xmlns="" xmlns:a16="http://schemas.microsoft.com/office/drawing/2014/main" id="{90202F01-63AC-4CB1-BCBE-4D98794A0061}"/>
              </a:ext>
            </a:extLst>
          </p:cNvPr>
          <p:cNvSpPr>
            <a:spLocks noGrp="1"/>
          </p:cNvSpPr>
          <p:nvPr>
            <p:ph idx="1"/>
          </p:nvPr>
        </p:nvSpPr>
        <p:spPr/>
        <p:txBody>
          <a:bodyPr>
            <a:normAutofit/>
          </a:bodyPr>
          <a:lstStyle/>
          <a:p>
            <a:pPr marL="0" indent="0">
              <a:buNone/>
            </a:pPr>
            <a:r>
              <a:rPr lang="en-US" dirty="0"/>
              <a:t>e has no white out-neighbors. So pop it from S, and color it black. Similarly, f has no white out-neighbors. Pop it from S, and color it black.</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S= (a, b, c, d, g)</a:t>
            </a:r>
          </a:p>
        </p:txBody>
      </p:sp>
      <p:pic>
        <p:nvPicPr>
          <p:cNvPr id="4" name="Picture 3">
            <a:extLst>
              <a:ext uri="{FF2B5EF4-FFF2-40B4-BE49-F238E27FC236}">
                <a16:creationId xmlns="" xmlns:a16="http://schemas.microsoft.com/office/drawing/2014/main" id="{1D274B5C-242F-4982-9B21-98A1A4A2AEC2}"/>
              </a:ext>
            </a:extLst>
          </p:cNvPr>
          <p:cNvPicPr>
            <a:picLocks noChangeAspect="1"/>
          </p:cNvPicPr>
          <p:nvPr/>
        </p:nvPicPr>
        <p:blipFill>
          <a:blip r:embed="rId2" cstate="print"/>
          <a:stretch>
            <a:fillRect/>
          </a:stretch>
        </p:blipFill>
        <p:spPr>
          <a:xfrm>
            <a:off x="4077382" y="2595977"/>
            <a:ext cx="6812292" cy="3580985"/>
          </a:xfrm>
          <a:prstGeom prst="rect">
            <a:avLst/>
          </a:prstGeom>
        </p:spPr>
      </p:pic>
    </p:spTree>
    <p:extLst>
      <p:ext uri="{BB962C8B-B14F-4D97-AF65-F5344CB8AC3E}">
        <p14:creationId xmlns="" xmlns:p14="http://schemas.microsoft.com/office/powerpoint/2010/main" val="1435924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3A4360-3752-47E4-90FC-54D9ECB9539B}"/>
              </a:ext>
            </a:extLst>
          </p:cNvPr>
          <p:cNvSpPr>
            <a:spLocks noGrp="1"/>
          </p:cNvSpPr>
          <p:nvPr>
            <p:ph type="title"/>
          </p:nvPr>
        </p:nvSpPr>
        <p:spPr/>
        <p:txBody>
          <a:bodyPr/>
          <a:lstStyle/>
          <a:p>
            <a:r>
              <a:rPr lang="en-US" dirty="0"/>
              <a:t>DFS Example</a:t>
            </a:r>
          </a:p>
        </p:txBody>
      </p:sp>
      <p:sp>
        <p:nvSpPr>
          <p:cNvPr id="3" name="Content Placeholder 2">
            <a:extLst>
              <a:ext uri="{FF2B5EF4-FFF2-40B4-BE49-F238E27FC236}">
                <a16:creationId xmlns="" xmlns:a16="http://schemas.microsoft.com/office/drawing/2014/main" id="{90202F01-63AC-4CB1-BCBE-4D98794A0061}"/>
              </a:ext>
            </a:extLst>
          </p:cNvPr>
          <p:cNvSpPr>
            <a:spLocks noGrp="1"/>
          </p:cNvSpPr>
          <p:nvPr>
            <p:ph idx="1"/>
          </p:nvPr>
        </p:nvSpPr>
        <p:spPr/>
        <p:txBody>
          <a:bodyPr>
            <a:normAutofit/>
          </a:bodyPr>
          <a:lstStyle/>
          <a:p>
            <a:pPr marL="0" indent="0">
              <a:buNone/>
            </a:pPr>
            <a:r>
              <a:rPr lang="en-US" dirty="0"/>
              <a:t>Now g tops the stack again. It still has a white out-neighbor </a:t>
            </a:r>
            <a:r>
              <a:rPr lang="en-US" dirty="0" err="1"/>
              <a:t>i</a:t>
            </a:r>
            <a:r>
              <a:rPr lang="en-US" dirty="0"/>
              <a:t> . So, push </a:t>
            </a:r>
            <a:r>
              <a:rPr lang="en-US" dirty="0" err="1"/>
              <a:t>i</a:t>
            </a:r>
            <a:r>
              <a:rPr lang="en-US" dirty="0"/>
              <a:t>  into S.</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S= (a, b, c, d, g, </a:t>
            </a:r>
            <a:r>
              <a:rPr lang="en-US" dirty="0" err="1"/>
              <a:t>i</a:t>
            </a:r>
            <a:r>
              <a:rPr lang="en-US" dirty="0"/>
              <a:t>)</a:t>
            </a:r>
          </a:p>
        </p:txBody>
      </p:sp>
      <p:pic>
        <p:nvPicPr>
          <p:cNvPr id="5" name="Picture 4">
            <a:extLst>
              <a:ext uri="{FF2B5EF4-FFF2-40B4-BE49-F238E27FC236}">
                <a16:creationId xmlns="" xmlns:a16="http://schemas.microsoft.com/office/drawing/2014/main" id="{954E833A-9A37-4CD0-97C5-E05695E28725}"/>
              </a:ext>
            </a:extLst>
          </p:cNvPr>
          <p:cNvPicPr>
            <a:picLocks noChangeAspect="1"/>
          </p:cNvPicPr>
          <p:nvPr/>
        </p:nvPicPr>
        <p:blipFill>
          <a:blip r:embed="rId2" cstate="print"/>
          <a:stretch>
            <a:fillRect/>
          </a:stretch>
        </p:blipFill>
        <p:spPr>
          <a:xfrm>
            <a:off x="4055923" y="2473036"/>
            <a:ext cx="7297878" cy="3703927"/>
          </a:xfrm>
          <a:prstGeom prst="rect">
            <a:avLst/>
          </a:prstGeom>
        </p:spPr>
      </p:pic>
    </p:spTree>
    <p:extLst>
      <p:ext uri="{BB962C8B-B14F-4D97-AF65-F5344CB8AC3E}">
        <p14:creationId xmlns="" xmlns:p14="http://schemas.microsoft.com/office/powerpoint/2010/main" val="14919052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3A4360-3752-47E4-90FC-54D9ECB9539B}"/>
              </a:ext>
            </a:extLst>
          </p:cNvPr>
          <p:cNvSpPr>
            <a:spLocks noGrp="1"/>
          </p:cNvSpPr>
          <p:nvPr>
            <p:ph type="title"/>
          </p:nvPr>
        </p:nvSpPr>
        <p:spPr/>
        <p:txBody>
          <a:bodyPr/>
          <a:lstStyle/>
          <a:p>
            <a:r>
              <a:rPr lang="en-US" dirty="0"/>
              <a:t>DFS Example</a:t>
            </a:r>
          </a:p>
        </p:txBody>
      </p:sp>
      <p:sp>
        <p:nvSpPr>
          <p:cNvPr id="3" name="Content Placeholder 2">
            <a:extLst>
              <a:ext uri="{FF2B5EF4-FFF2-40B4-BE49-F238E27FC236}">
                <a16:creationId xmlns="" xmlns:a16="http://schemas.microsoft.com/office/drawing/2014/main" id="{90202F01-63AC-4CB1-BCBE-4D98794A0061}"/>
              </a:ext>
            </a:extLst>
          </p:cNvPr>
          <p:cNvSpPr>
            <a:spLocks noGrp="1"/>
          </p:cNvSpPr>
          <p:nvPr>
            <p:ph idx="1"/>
          </p:nvPr>
        </p:nvSpPr>
        <p:spPr/>
        <p:txBody>
          <a:bodyPr>
            <a:normAutofit/>
          </a:bodyPr>
          <a:lstStyle/>
          <a:p>
            <a:pPr marL="0" indent="0">
              <a:buNone/>
            </a:pPr>
            <a:r>
              <a:rPr lang="en-US" dirty="0"/>
              <a:t>After popping </a:t>
            </a:r>
            <a:r>
              <a:rPr lang="en-US" i="1" dirty="0" err="1"/>
              <a:t>i</a:t>
            </a:r>
            <a:r>
              <a:rPr lang="en-US" i="1" dirty="0"/>
              <a:t> </a:t>
            </a:r>
            <a:r>
              <a:rPr lang="en-US" dirty="0"/>
              <a:t>, </a:t>
            </a:r>
            <a:r>
              <a:rPr lang="en-US" i="1" dirty="0"/>
              <a:t>g</a:t>
            </a:r>
            <a:r>
              <a:rPr lang="en-US" dirty="0"/>
              <a:t>, </a:t>
            </a:r>
            <a:r>
              <a:rPr lang="en-US" i="1" dirty="0"/>
              <a:t>d</a:t>
            </a:r>
            <a:r>
              <a:rPr lang="en-US" dirty="0"/>
              <a:t>, </a:t>
            </a:r>
            <a:r>
              <a:rPr lang="en-US" i="1" dirty="0"/>
              <a:t>c</a:t>
            </a:r>
            <a:r>
              <a:rPr lang="en-US" dirty="0"/>
              <a:t>, </a:t>
            </a:r>
            <a:r>
              <a:rPr lang="en-US" i="1" dirty="0"/>
              <a:t>b</a:t>
            </a:r>
            <a:r>
              <a:rPr lang="en-US" dirty="0"/>
              <a:t>, </a:t>
            </a:r>
            <a:r>
              <a:rPr lang="en-US" i="1" dirty="0"/>
              <a:t>a</a:t>
            </a:r>
            <a:r>
              <a:rPr lang="en-US" dirty="0"/>
              <a:t>:</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S= ()</a:t>
            </a:r>
          </a:p>
        </p:txBody>
      </p:sp>
      <p:pic>
        <p:nvPicPr>
          <p:cNvPr id="4" name="Picture 3">
            <a:extLst>
              <a:ext uri="{FF2B5EF4-FFF2-40B4-BE49-F238E27FC236}">
                <a16:creationId xmlns="" xmlns:a16="http://schemas.microsoft.com/office/drawing/2014/main" id="{9FEEFCF5-A2F9-4BF0-9C7F-84EF4D0166E5}"/>
              </a:ext>
            </a:extLst>
          </p:cNvPr>
          <p:cNvPicPr>
            <a:picLocks noChangeAspect="1"/>
          </p:cNvPicPr>
          <p:nvPr/>
        </p:nvPicPr>
        <p:blipFill>
          <a:blip r:embed="rId2" cstate="print"/>
          <a:stretch>
            <a:fillRect/>
          </a:stretch>
        </p:blipFill>
        <p:spPr>
          <a:xfrm>
            <a:off x="1847671" y="2327564"/>
            <a:ext cx="6352639" cy="3325091"/>
          </a:xfrm>
          <a:prstGeom prst="rect">
            <a:avLst/>
          </a:prstGeom>
        </p:spPr>
      </p:pic>
    </p:spTree>
    <p:extLst>
      <p:ext uri="{BB962C8B-B14F-4D97-AF65-F5344CB8AC3E}">
        <p14:creationId xmlns="" xmlns:p14="http://schemas.microsoft.com/office/powerpoint/2010/main" val="10133009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3A4360-3752-47E4-90FC-54D9ECB9539B}"/>
              </a:ext>
            </a:extLst>
          </p:cNvPr>
          <p:cNvSpPr>
            <a:spLocks noGrp="1"/>
          </p:cNvSpPr>
          <p:nvPr>
            <p:ph type="title"/>
          </p:nvPr>
        </p:nvSpPr>
        <p:spPr/>
        <p:txBody>
          <a:bodyPr/>
          <a:lstStyle/>
          <a:p>
            <a:r>
              <a:rPr lang="en-US" dirty="0"/>
              <a:t>DFS Example</a:t>
            </a:r>
          </a:p>
        </p:txBody>
      </p:sp>
      <p:sp>
        <p:nvSpPr>
          <p:cNvPr id="3" name="Content Placeholder 2">
            <a:extLst>
              <a:ext uri="{FF2B5EF4-FFF2-40B4-BE49-F238E27FC236}">
                <a16:creationId xmlns="" xmlns:a16="http://schemas.microsoft.com/office/drawing/2014/main" id="{90202F01-63AC-4CB1-BCBE-4D98794A0061}"/>
              </a:ext>
            </a:extLst>
          </p:cNvPr>
          <p:cNvSpPr>
            <a:spLocks noGrp="1"/>
          </p:cNvSpPr>
          <p:nvPr>
            <p:ph idx="1"/>
          </p:nvPr>
        </p:nvSpPr>
        <p:spPr/>
        <p:txBody>
          <a:bodyPr>
            <a:normAutofit/>
          </a:bodyPr>
          <a:lstStyle/>
          <a:p>
            <a:pPr marL="0" indent="0">
              <a:buNone/>
            </a:pPr>
            <a:r>
              <a:rPr lang="en-US" dirty="0"/>
              <a:t>Now there is still a white vertex h. So we perform another DFS starting from h.</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S= (h)</a:t>
            </a:r>
          </a:p>
        </p:txBody>
      </p:sp>
      <p:pic>
        <p:nvPicPr>
          <p:cNvPr id="5" name="Picture 4">
            <a:extLst>
              <a:ext uri="{FF2B5EF4-FFF2-40B4-BE49-F238E27FC236}">
                <a16:creationId xmlns="" xmlns:a16="http://schemas.microsoft.com/office/drawing/2014/main" id="{4F00C6DB-5C43-4359-88D2-13C61232B384}"/>
              </a:ext>
            </a:extLst>
          </p:cNvPr>
          <p:cNvPicPr>
            <a:picLocks noChangeAspect="1"/>
          </p:cNvPicPr>
          <p:nvPr/>
        </p:nvPicPr>
        <p:blipFill>
          <a:blip r:embed="rId2" cstate="print"/>
          <a:stretch>
            <a:fillRect/>
          </a:stretch>
        </p:blipFill>
        <p:spPr>
          <a:xfrm>
            <a:off x="2294496" y="2406679"/>
            <a:ext cx="8086023" cy="3770284"/>
          </a:xfrm>
          <a:prstGeom prst="rect">
            <a:avLst/>
          </a:prstGeom>
        </p:spPr>
      </p:pic>
    </p:spTree>
    <p:extLst>
      <p:ext uri="{BB962C8B-B14F-4D97-AF65-F5344CB8AC3E}">
        <p14:creationId xmlns="" xmlns:p14="http://schemas.microsoft.com/office/powerpoint/2010/main" val="26462648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3A4360-3752-47E4-90FC-54D9ECB9539B}"/>
              </a:ext>
            </a:extLst>
          </p:cNvPr>
          <p:cNvSpPr>
            <a:spLocks noGrp="1"/>
          </p:cNvSpPr>
          <p:nvPr>
            <p:ph type="title"/>
          </p:nvPr>
        </p:nvSpPr>
        <p:spPr/>
        <p:txBody>
          <a:bodyPr/>
          <a:lstStyle/>
          <a:p>
            <a:r>
              <a:rPr lang="en-US" dirty="0"/>
              <a:t>DFS Example</a:t>
            </a:r>
          </a:p>
        </p:txBody>
      </p:sp>
      <p:sp>
        <p:nvSpPr>
          <p:cNvPr id="3" name="Content Placeholder 2">
            <a:extLst>
              <a:ext uri="{FF2B5EF4-FFF2-40B4-BE49-F238E27FC236}">
                <a16:creationId xmlns="" xmlns:a16="http://schemas.microsoft.com/office/drawing/2014/main" id="{90202F01-63AC-4CB1-BCBE-4D98794A0061}"/>
              </a:ext>
            </a:extLst>
          </p:cNvPr>
          <p:cNvSpPr>
            <a:spLocks noGrp="1"/>
          </p:cNvSpPr>
          <p:nvPr>
            <p:ph idx="1"/>
          </p:nvPr>
        </p:nvSpPr>
        <p:spPr/>
        <p:txBody>
          <a:bodyPr>
            <a:normAutofit lnSpcReduction="10000"/>
          </a:bodyPr>
          <a:lstStyle/>
          <a:p>
            <a:pPr marL="0" indent="0">
              <a:buNone/>
            </a:pPr>
            <a:r>
              <a:rPr lang="en-US" dirty="0"/>
              <a:t>Pop </a:t>
            </a:r>
            <a:r>
              <a:rPr lang="en-US" i="1" dirty="0"/>
              <a:t>h</a:t>
            </a:r>
            <a:r>
              <a:rPr lang="en-US" dirty="0"/>
              <a:t>. The end.</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S= ()</a:t>
            </a:r>
          </a:p>
          <a:p>
            <a:pPr marL="0" indent="0">
              <a:buNone/>
            </a:pPr>
            <a:r>
              <a:rPr lang="en-US" dirty="0"/>
              <a:t>Note that we have created a DFS-forest, which consists of 2 DFS-trees.</a:t>
            </a:r>
          </a:p>
        </p:txBody>
      </p:sp>
      <p:pic>
        <p:nvPicPr>
          <p:cNvPr id="4" name="Picture 3">
            <a:extLst>
              <a:ext uri="{FF2B5EF4-FFF2-40B4-BE49-F238E27FC236}">
                <a16:creationId xmlns="" xmlns:a16="http://schemas.microsoft.com/office/drawing/2014/main" id="{3C27ACDE-1EF0-41B9-A51A-07286D97C9C4}"/>
              </a:ext>
            </a:extLst>
          </p:cNvPr>
          <p:cNvPicPr>
            <a:picLocks noChangeAspect="1"/>
          </p:cNvPicPr>
          <p:nvPr/>
        </p:nvPicPr>
        <p:blipFill>
          <a:blip r:embed="rId2" cstate="print"/>
          <a:stretch>
            <a:fillRect/>
          </a:stretch>
        </p:blipFill>
        <p:spPr>
          <a:xfrm>
            <a:off x="3344877" y="1825625"/>
            <a:ext cx="8008923" cy="3750571"/>
          </a:xfrm>
          <a:prstGeom prst="rect">
            <a:avLst/>
          </a:prstGeom>
        </p:spPr>
      </p:pic>
    </p:spTree>
    <p:extLst>
      <p:ext uri="{BB962C8B-B14F-4D97-AF65-F5344CB8AC3E}">
        <p14:creationId xmlns="" xmlns:p14="http://schemas.microsoft.com/office/powerpoint/2010/main" val="38641636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E4AD5E1-A47F-4AA6-8B99-F86DB90EEB60}"/>
              </a:ext>
            </a:extLst>
          </p:cNvPr>
          <p:cNvSpPr>
            <a:spLocks noGrp="1"/>
          </p:cNvSpPr>
          <p:nvPr>
            <p:ph type="title"/>
          </p:nvPr>
        </p:nvSpPr>
        <p:spPr/>
        <p:txBody>
          <a:bodyPr/>
          <a:lstStyle/>
          <a:p>
            <a:r>
              <a:rPr lang="en-US" dirty="0"/>
              <a:t>Reachability Application of DFS: Program-Control Flow Analysis</a:t>
            </a:r>
          </a:p>
        </p:txBody>
      </p:sp>
      <p:sp>
        <p:nvSpPr>
          <p:cNvPr id="3" name="Content Placeholder 2">
            <a:extLst>
              <a:ext uri="{FF2B5EF4-FFF2-40B4-BE49-F238E27FC236}">
                <a16:creationId xmlns="" xmlns:a16="http://schemas.microsoft.com/office/drawing/2014/main" id="{6D45D43A-D8BF-4BC3-B6FA-823D3BCB637F}"/>
              </a:ext>
            </a:extLst>
          </p:cNvPr>
          <p:cNvSpPr>
            <a:spLocks noGrp="1"/>
          </p:cNvSpPr>
          <p:nvPr>
            <p:ph sz="half" idx="1"/>
          </p:nvPr>
        </p:nvSpPr>
        <p:spPr/>
        <p:txBody>
          <a:bodyPr>
            <a:normAutofit lnSpcReduction="10000"/>
          </a:bodyPr>
          <a:lstStyle/>
          <a:p>
            <a:r>
              <a:rPr lang="en-US" dirty="0"/>
              <a:t>Every program is a directed graph.</a:t>
            </a:r>
          </a:p>
          <a:p>
            <a:pPr lvl="1"/>
            <a:r>
              <a:rPr lang="en-US" dirty="0"/>
              <a:t>Vertex = basic block of instructions (straight-line program).</a:t>
            </a:r>
          </a:p>
          <a:p>
            <a:pPr lvl="1"/>
            <a:r>
              <a:rPr lang="en-US" dirty="0"/>
              <a:t>Edge = jump.</a:t>
            </a:r>
          </a:p>
          <a:p>
            <a:r>
              <a:rPr lang="en-US" dirty="0"/>
              <a:t>Dead-code elimination.</a:t>
            </a:r>
          </a:p>
          <a:p>
            <a:pPr lvl="1"/>
            <a:r>
              <a:rPr lang="en-US" dirty="0"/>
              <a:t>Find (and remove) unreachable code.</a:t>
            </a:r>
          </a:p>
          <a:p>
            <a:r>
              <a:rPr lang="en-US" dirty="0"/>
              <a:t>Infinite-loop detection.</a:t>
            </a:r>
          </a:p>
          <a:p>
            <a:pPr lvl="1"/>
            <a:r>
              <a:rPr lang="en-US" dirty="0"/>
              <a:t>Determine whether exit is unreachable</a:t>
            </a:r>
          </a:p>
        </p:txBody>
      </p:sp>
      <p:sp>
        <p:nvSpPr>
          <p:cNvPr id="5" name="Content Placeholder 4">
            <a:extLst>
              <a:ext uri="{FF2B5EF4-FFF2-40B4-BE49-F238E27FC236}">
                <a16:creationId xmlns="" xmlns:a16="http://schemas.microsoft.com/office/drawing/2014/main" id="{664298B0-0BA8-42E5-848B-25B37ACBB574}"/>
              </a:ext>
            </a:extLst>
          </p:cNvPr>
          <p:cNvSpPr>
            <a:spLocks noGrp="1"/>
          </p:cNvSpPr>
          <p:nvPr>
            <p:ph sz="half" idx="2"/>
          </p:nvPr>
        </p:nvSpPr>
        <p:spPr/>
        <p:txBody>
          <a:bodyPr>
            <a:normAutofit lnSpcReduction="10000"/>
          </a:bodyPr>
          <a:lstStyle/>
          <a:p>
            <a:endParaRPr lang="en-US"/>
          </a:p>
        </p:txBody>
      </p:sp>
      <p:pic>
        <p:nvPicPr>
          <p:cNvPr id="4" name="Picture 3">
            <a:extLst>
              <a:ext uri="{FF2B5EF4-FFF2-40B4-BE49-F238E27FC236}">
                <a16:creationId xmlns="" xmlns:a16="http://schemas.microsoft.com/office/drawing/2014/main" id="{308B72BD-9B8A-4130-A3CB-4A02A69D22D0}"/>
              </a:ext>
            </a:extLst>
          </p:cNvPr>
          <p:cNvPicPr>
            <a:picLocks noChangeAspect="1"/>
          </p:cNvPicPr>
          <p:nvPr/>
        </p:nvPicPr>
        <p:blipFill>
          <a:blip r:embed="rId2" cstate="print"/>
          <a:stretch>
            <a:fillRect/>
          </a:stretch>
        </p:blipFill>
        <p:spPr>
          <a:xfrm>
            <a:off x="6517797" y="996733"/>
            <a:ext cx="4076400" cy="5790000"/>
          </a:xfrm>
          <a:prstGeom prst="rect">
            <a:avLst/>
          </a:prstGeom>
        </p:spPr>
      </p:pic>
    </p:spTree>
    <p:extLst>
      <p:ext uri="{BB962C8B-B14F-4D97-AF65-F5344CB8AC3E}">
        <p14:creationId xmlns="" xmlns:p14="http://schemas.microsoft.com/office/powerpoint/2010/main" val="29784633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E4AD5E1-A47F-4AA6-8B99-F86DB90EEB60}"/>
              </a:ext>
            </a:extLst>
          </p:cNvPr>
          <p:cNvSpPr>
            <a:spLocks noGrp="1"/>
          </p:cNvSpPr>
          <p:nvPr>
            <p:ph type="title"/>
          </p:nvPr>
        </p:nvSpPr>
        <p:spPr/>
        <p:txBody>
          <a:bodyPr/>
          <a:lstStyle/>
          <a:p>
            <a:r>
              <a:rPr lang="en-US" dirty="0"/>
              <a:t>Reachability Application of DFS: Program-Mark Sweep Garbage Collection</a:t>
            </a:r>
          </a:p>
        </p:txBody>
      </p:sp>
      <p:sp>
        <p:nvSpPr>
          <p:cNvPr id="3" name="Content Placeholder 2">
            <a:extLst>
              <a:ext uri="{FF2B5EF4-FFF2-40B4-BE49-F238E27FC236}">
                <a16:creationId xmlns="" xmlns:a16="http://schemas.microsoft.com/office/drawing/2014/main" id="{6D45D43A-D8BF-4BC3-B6FA-823D3BCB637F}"/>
              </a:ext>
            </a:extLst>
          </p:cNvPr>
          <p:cNvSpPr>
            <a:spLocks noGrp="1"/>
          </p:cNvSpPr>
          <p:nvPr>
            <p:ph sz="half" idx="1"/>
          </p:nvPr>
        </p:nvSpPr>
        <p:spPr/>
        <p:txBody>
          <a:bodyPr>
            <a:normAutofit fontScale="92500"/>
          </a:bodyPr>
          <a:lstStyle/>
          <a:p>
            <a:r>
              <a:rPr lang="en-US" dirty="0"/>
              <a:t>Every data structure is a directed graph.</a:t>
            </a:r>
          </a:p>
          <a:p>
            <a:r>
              <a:rPr lang="en-US" dirty="0"/>
              <a:t>Vertex = object.</a:t>
            </a:r>
          </a:p>
          <a:p>
            <a:r>
              <a:rPr lang="en-US" dirty="0"/>
              <a:t>Edge = reference.</a:t>
            </a:r>
          </a:p>
          <a:p>
            <a:r>
              <a:rPr lang="en-US" dirty="0"/>
              <a:t>Roots. Objects known to be directly accessible by program (e.g., stack).</a:t>
            </a:r>
          </a:p>
          <a:p>
            <a:r>
              <a:rPr lang="en-US" dirty="0"/>
              <a:t>Reachable objects. Objects indirectly accessible by program</a:t>
            </a:r>
          </a:p>
          <a:p>
            <a:r>
              <a:rPr lang="en-US" dirty="0"/>
              <a:t>(starting at a root and following a chain of pointers).</a:t>
            </a:r>
          </a:p>
        </p:txBody>
      </p:sp>
      <p:pic>
        <p:nvPicPr>
          <p:cNvPr id="6" name="Content Placeholder 5">
            <a:extLst>
              <a:ext uri="{FF2B5EF4-FFF2-40B4-BE49-F238E27FC236}">
                <a16:creationId xmlns="" xmlns:a16="http://schemas.microsoft.com/office/drawing/2014/main" id="{C65DED3B-1700-4C6A-A4C6-57613314011C}"/>
              </a:ext>
            </a:extLst>
          </p:cNvPr>
          <p:cNvPicPr>
            <a:picLocks noGrp="1" noChangeAspect="1"/>
          </p:cNvPicPr>
          <p:nvPr>
            <p:ph sz="half" idx="2"/>
          </p:nvPr>
        </p:nvPicPr>
        <p:blipFill>
          <a:blip r:embed="rId2" cstate="print"/>
          <a:stretch>
            <a:fillRect/>
          </a:stretch>
        </p:blipFill>
        <p:spPr>
          <a:xfrm>
            <a:off x="6354922" y="1825625"/>
            <a:ext cx="4510832" cy="4667250"/>
          </a:xfrm>
          <a:prstGeom prst="rect">
            <a:avLst/>
          </a:prstGeom>
        </p:spPr>
      </p:pic>
    </p:spTree>
    <p:extLst>
      <p:ext uri="{BB962C8B-B14F-4D97-AF65-F5344CB8AC3E}">
        <p14:creationId xmlns="" xmlns:p14="http://schemas.microsoft.com/office/powerpoint/2010/main" val="26168959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3A4360-3752-47E4-90FC-54D9ECB9539B}"/>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 xmlns:a16="http://schemas.microsoft.com/office/drawing/2014/main" id="{90202F01-63AC-4CB1-BCBE-4D98794A0061}"/>
              </a:ext>
            </a:extLst>
          </p:cNvPr>
          <p:cNvSpPr>
            <a:spLocks noGrp="1"/>
          </p:cNvSpPr>
          <p:nvPr>
            <p:ph sz="half" idx="1"/>
          </p:nvPr>
        </p:nvSpPr>
        <p:spPr/>
        <p:txBody>
          <a:bodyPr>
            <a:normAutofit lnSpcReduction="10000"/>
          </a:bodyPr>
          <a:lstStyle/>
          <a:p>
            <a:pPr marL="0" indent="0">
              <a:buNone/>
            </a:pPr>
            <a:r>
              <a:rPr lang="en-US" dirty="0"/>
              <a:t>Consider the following directed graph. Which of the following is a valid order of node visitation during depth first search (DFS) traversal?</a:t>
            </a:r>
          </a:p>
          <a:p>
            <a:pPr marL="514350" indent="-514350">
              <a:buFont typeface="+mj-lt"/>
              <a:buAutoNum type="arabicPeriod"/>
            </a:pPr>
            <a:r>
              <a:rPr lang="en-US" dirty="0"/>
              <a:t>A D B C F E</a:t>
            </a:r>
          </a:p>
          <a:p>
            <a:pPr marL="514350" indent="-514350">
              <a:buFont typeface="+mj-lt"/>
              <a:buAutoNum type="arabicPeriod"/>
            </a:pPr>
            <a:r>
              <a:rPr lang="en-US" dirty="0"/>
              <a:t>B F E A D C</a:t>
            </a:r>
          </a:p>
          <a:p>
            <a:pPr marL="514350" indent="-514350">
              <a:buFont typeface="+mj-lt"/>
              <a:buAutoNum type="arabicPeriod"/>
            </a:pPr>
            <a:r>
              <a:rPr lang="en-US" dirty="0"/>
              <a:t>D B F C E A</a:t>
            </a:r>
          </a:p>
          <a:p>
            <a:pPr marL="514350" indent="-514350">
              <a:buFont typeface="+mj-lt"/>
              <a:buAutoNum type="arabicPeriod"/>
            </a:pPr>
            <a:r>
              <a:rPr lang="en-US" dirty="0"/>
              <a:t>C F D A E B</a:t>
            </a:r>
          </a:p>
          <a:p>
            <a:pPr marL="514350" indent="-514350">
              <a:buFont typeface="+mj-lt"/>
              <a:buAutoNum type="arabicPeriod"/>
            </a:pPr>
            <a:r>
              <a:rPr lang="en-US" dirty="0"/>
              <a:t>E A D B C F</a:t>
            </a:r>
          </a:p>
          <a:p>
            <a:pPr marL="0" indent="0">
              <a:buNone/>
            </a:pPr>
            <a:endParaRPr lang="en-US" dirty="0"/>
          </a:p>
          <a:p>
            <a:pPr marL="0" indent="0">
              <a:buNone/>
            </a:pPr>
            <a:endParaRPr lang="en-US" dirty="0"/>
          </a:p>
        </p:txBody>
      </p:sp>
      <p:sp>
        <p:nvSpPr>
          <p:cNvPr id="6" name="Content Placeholder 5">
            <a:extLst>
              <a:ext uri="{FF2B5EF4-FFF2-40B4-BE49-F238E27FC236}">
                <a16:creationId xmlns="" xmlns:a16="http://schemas.microsoft.com/office/drawing/2014/main" id="{E372A7DC-5D33-48CF-9D5F-55A2BF6F9B7E}"/>
              </a:ext>
            </a:extLst>
          </p:cNvPr>
          <p:cNvSpPr>
            <a:spLocks noGrp="1"/>
          </p:cNvSpPr>
          <p:nvPr>
            <p:ph sz="half" idx="2"/>
          </p:nvPr>
        </p:nvSpPr>
        <p:spPr/>
        <p:txBody>
          <a:bodyPr>
            <a:normAutofit lnSpcReduction="10000"/>
          </a:bodyPr>
          <a:lstStyle/>
          <a:p>
            <a:endParaRPr lang="en-US"/>
          </a:p>
        </p:txBody>
      </p:sp>
      <p:pic>
        <p:nvPicPr>
          <p:cNvPr id="5" name="Picture 4">
            <a:extLst>
              <a:ext uri="{FF2B5EF4-FFF2-40B4-BE49-F238E27FC236}">
                <a16:creationId xmlns="" xmlns:a16="http://schemas.microsoft.com/office/drawing/2014/main" id="{14A6EF6D-99C0-4DC6-924E-D263D660AE5C}"/>
              </a:ext>
            </a:extLst>
          </p:cNvPr>
          <p:cNvPicPr>
            <a:picLocks noChangeAspect="1"/>
          </p:cNvPicPr>
          <p:nvPr/>
        </p:nvPicPr>
        <p:blipFill>
          <a:blip r:embed="rId2" cstate="print"/>
          <a:stretch>
            <a:fillRect/>
          </a:stretch>
        </p:blipFill>
        <p:spPr>
          <a:xfrm>
            <a:off x="6184107" y="1825625"/>
            <a:ext cx="5200939" cy="3858202"/>
          </a:xfrm>
          <a:prstGeom prst="rect">
            <a:avLst/>
          </a:prstGeom>
        </p:spPr>
      </p:pic>
    </p:spTree>
    <p:extLst>
      <p:ext uri="{BB962C8B-B14F-4D97-AF65-F5344CB8AC3E}">
        <p14:creationId xmlns="" xmlns:p14="http://schemas.microsoft.com/office/powerpoint/2010/main" val="28494153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F66F33A-6F80-44A1-8889-293225F2A395}"/>
              </a:ext>
            </a:extLst>
          </p:cNvPr>
          <p:cNvSpPr>
            <a:spLocks noGrp="1"/>
          </p:cNvSpPr>
          <p:nvPr>
            <p:ph type="title"/>
          </p:nvPr>
        </p:nvSpPr>
        <p:spPr/>
        <p:txBody>
          <a:bodyPr/>
          <a:lstStyle/>
          <a:p>
            <a:r>
              <a:rPr lang="en-US" dirty="0"/>
              <a:t>Exercise</a:t>
            </a:r>
          </a:p>
        </p:txBody>
      </p:sp>
      <p:pic>
        <p:nvPicPr>
          <p:cNvPr id="6" name="Content Placeholder 5">
            <a:extLst>
              <a:ext uri="{FF2B5EF4-FFF2-40B4-BE49-F238E27FC236}">
                <a16:creationId xmlns="" xmlns:a16="http://schemas.microsoft.com/office/drawing/2014/main" id="{D48CA29E-25AB-45BF-B992-ED3B97469E48}"/>
              </a:ext>
            </a:extLst>
          </p:cNvPr>
          <p:cNvPicPr>
            <a:picLocks noGrp="1" noChangeAspect="1"/>
          </p:cNvPicPr>
          <p:nvPr>
            <p:ph idx="1"/>
          </p:nvPr>
        </p:nvPicPr>
        <p:blipFill>
          <a:blip r:embed="rId2" cstate="print"/>
          <a:stretch>
            <a:fillRect/>
          </a:stretch>
        </p:blipFill>
        <p:spPr>
          <a:xfrm>
            <a:off x="3130827" y="457200"/>
            <a:ext cx="8207406" cy="5548745"/>
          </a:xfrm>
          <a:prstGeom prst="rect">
            <a:avLst/>
          </a:prstGeom>
        </p:spPr>
      </p:pic>
    </p:spTree>
    <p:extLst>
      <p:ext uri="{BB962C8B-B14F-4D97-AF65-F5344CB8AC3E}">
        <p14:creationId xmlns="" xmlns:p14="http://schemas.microsoft.com/office/powerpoint/2010/main" val="12279266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9ABCCDE8-1558-4C1F-815C-69237CC11862}"/>
              </a:ext>
            </a:extLst>
          </p:cNvPr>
          <p:cNvSpPr>
            <a:spLocks noGrp="1"/>
          </p:cNvSpPr>
          <p:nvPr>
            <p:ph type="title"/>
          </p:nvPr>
        </p:nvSpPr>
        <p:spPr/>
        <p:txBody>
          <a:bodyPr/>
          <a:lstStyle/>
          <a:p>
            <a:r>
              <a:rPr lang="en-US" dirty="0"/>
              <a:t>Application of DFS</a:t>
            </a:r>
          </a:p>
        </p:txBody>
      </p:sp>
      <p:sp>
        <p:nvSpPr>
          <p:cNvPr id="6" name="Content Placeholder 5">
            <a:extLst>
              <a:ext uri="{FF2B5EF4-FFF2-40B4-BE49-F238E27FC236}">
                <a16:creationId xmlns="" xmlns:a16="http://schemas.microsoft.com/office/drawing/2014/main" id="{DFD17914-92B4-47F6-AE17-737920F9A3AD}"/>
              </a:ext>
            </a:extLst>
          </p:cNvPr>
          <p:cNvSpPr>
            <a:spLocks noGrp="1"/>
          </p:cNvSpPr>
          <p:nvPr>
            <p:ph idx="1"/>
          </p:nvPr>
        </p:nvSpPr>
        <p:spPr/>
        <p:txBody>
          <a:bodyPr>
            <a:normAutofit/>
          </a:bodyPr>
          <a:lstStyle/>
          <a:p>
            <a:r>
              <a:rPr lang="en-US" sz="3600" dirty="0"/>
              <a:t>DFS-tree (well, perhaps a DFS-forest) encodes valuable information about the input graph. Using this information we can solve certain problems.</a:t>
            </a:r>
          </a:p>
          <a:p>
            <a:pPr lvl="1"/>
            <a:r>
              <a:rPr lang="en-US" sz="3200" dirty="0"/>
              <a:t>Cycle Detection in Graph</a:t>
            </a:r>
          </a:p>
          <a:p>
            <a:pPr lvl="1"/>
            <a:r>
              <a:rPr lang="en-US" sz="3200" dirty="0"/>
              <a:t>Topological Order</a:t>
            </a:r>
          </a:p>
        </p:txBody>
      </p:sp>
    </p:spTree>
    <p:extLst>
      <p:ext uri="{BB962C8B-B14F-4D97-AF65-F5344CB8AC3E}">
        <p14:creationId xmlns="" xmlns:p14="http://schemas.microsoft.com/office/powerpoint/2010/main" val="2316476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9ABCCDE8-1558-4C1F-815C-69237CC11862}"/>
              </a:ext>
            </a:extLst>
          </p:cNvPr>
          <p:cNvSpPr>
            <a:spLocks noGrp="1"/>
          </p:cNvSpPr>
          <p:nvPr>
            <p:ph type="title"/>
          </p:nvPr>
        </p:nvSpPr>
        <p:spPr/>
        <p:txBody>
          <a:bodyPr/>
          <a:lstStyle/>
          <a:p>
            <a:r>
              <a:rPr lang="en-US" dirty="0"/>
              <a:t>Edge </a:t>
            </a:r>
            <a:r>
              <a:rPr lang="en-US" dirty="0" smtClean="0"/>
              <a:t>Classification for Cycle Detection</a:t>
            </a:r>
            <a:endParaRPr lang="en-US" dirty="0"/>
          </a:p>
        </p:txBody>
      </p:sp>
      <p:sp>
        <p:nvSpPr>
          <p:cNvPr id="6" name="Content Placeholder 5">
            <a:extLst>
              <a:ext uri="{FF2B5EF4-FFF2-40B4-BE49-F238E27FC236}">
                <a16:creationId xmlns="" xmlns:a16="http://schemas.microsoft.com/office/drawing/2014/main" id="{DFD17914-92B4-47F6-AE17-737920F9A3AD}"/>
              </a:ext>
            </a:extLst>
          </p:cNvPr>
          <p:cNvSpPr>
            <a:spLocks noGrp="1"/>
          </p:cNvSpPr>
          <p:nvPr>
            <p:ph idx="1"/>
          </p:nvPr>
        </p:nvSpPr>
        <p:spPr/>
        <p:txBody>
          <a:bodyPr>
            <a:normAutofit/>
          </a:bodyPr>
          <a:lstStyle/>
          <a:p>
            <a:r>
              <a:rPr lang="en-US" sz="3600" dirty="0"/>
              <a:t>Suppose that we have already built a DFS-forest T.</a:t>
            </a:r>
          </a:p>
          <a:p>
            <a:r>
              <a:rPr lang="en-US" sz="3600" dirty="0"/>
              <a:t>Let (u, v) be an edge in G (remember that the edge is directed from u to v). It can be classified into:</a:t>
            </a:r>
          </a:p>
          <a:p>
            <a:pPr lvl="1"/>
            <a:r>
              <a:rPr lang="en-US" sz="3200" dirty="0"/>
              <a:t>Forward edge: u is a proper ancestor of v in a DFS-tree of T.</a:t>
            </a:r>
          </a:p>
          <a:p>
            <a:pPr lvl="1"/>
            <a:r>
              <a:rPr lang="en-US" sz="3200" dirty="0"/>
              <a:t>Backward edge: u is a proper descendant of v in a DFS-tree of T.</a:t>
            </a:r>
          </a:p>
          <a:p>
            <a:pPr lvl="1"/>
            <a:r>
              <a:rPr lang="en-US" sz="3200" dirty="0"/>
              <a:t>Cross edge: If neither of the above applies.</a:t>
            </a:r>
            <a:endParaRPr lang="en-US" sz="4000" dirty="0"/>
          </a:p>
        </p:txBody>
      </p:sp>
    </p:spTree>
    <p:extLst>
      <p:ext uri="{BB962C8B-B14F-4D97-AF65-F5344CB8AC3E}">
        <p14:creationId xmlns="" xmlns:p14="http://schemas.microsoft.com/office/powerpoint/2010/main" val="515342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9ABCCDE8-1558-4C1F-815C-69237CC11862}"/>
              </a:ext>
            </a:extLst>
          </p:cNvPr>
          <p:cNvSpPr>
            <a:spLocks noGrp="1"/>
          </p:cNvSpPr>
          <p:nvPr>
            <p:ph type="title"/>
          </p:nvPr>
        </p:nvSpPr>
        <p:spPr/>
        <p:txBody>
          <a:bodyPr/>
          <a:lstStyle/>
          <a:p>
            <a:r>
              <a:rPr lang="en-US" dirty="0"/>
              <a:t>Edge Classification</a:t>
            </a:r>
          </a:p>
        </p:txBody>
      </p:sp>
      <p:sp>
        <p:nvSpPr>
          <p:cNvPr id="9" name="Content Placeholder 8">
            <a:extLst>
              <a:ext uri="{FF2B5EF4-FFF2-40B4-BE49-F238E27FC236}">
                <a16:creationId xmlns="" xmlns:a16="http://schemas.microsoft.com/office/drawing/2014/main" id="{B3AE8731-155A-461C-A528-DE6CCAFCF247}"/>
              </a:ext>
            </a:extLst>
          </p:cNvPr>
          <p:cNvSpPr>
            <a:spLocks noGrp="1"/>
          </p:cNvSpPr>
          <p:nvPr>
            <p:ph idx="1"/>
          </p:nvPr>
        </p:nvSpPr>
        <p:spPr/>
        <p:txBody>
          <a:bodyPr/>
          <a:lstStyle/>
          <a:p>
            <a:r>
              <a:rPr lang="en-US" dirty="0"/>
              <a:t>Forward edges: </a:t>
            </a:r>
          </a:p>
          <a:p>
            <a:pPr marL="0" indent="0">
              <a:buNone/>
            </a:pPr>
            <a:r>
              <a:rPr lang="en-US" dirty="0"/>
              <a:t>(</a:t>
            </a:r>
            <a:r>
              <a:rPr lang="en-US" i="1" dirty="0"/>
              <a:t>a, b</a:t>
            </a:r>
            <a:r>
              <a:rPr lang="en-US" dirty="0"/>
              <a:t>)</a:t>
            </a:r>
            <a:r>
              <a:rPr lang="en-US" i="1" dirty="0"/>
              <a:t>, </a:t>
            </a:r>
            <a:r>
              <a:rPr lang="en-US" dirty="0"/>
              <a:t>(</a:t>
            </a:r>
            <a:r>
              <a:rPr lang="en-US" i="1" dirty="0"/>
              <a:t>a, d</a:t>
            </a:r>
            <a:r>
              <a:rPr lang="en-US" dirty="0"/>
              <a:t>)</a:t>
            </a:r>
            <a:r>
              <a:rPr lang="en-US" i="1" dirty="0"/>
              <a:t>, </a:t>
            </a:r>
            <a:r>
              <a:rPr lang="en-US" dirty="0"/>
              <a:t>(</a:t>
            </a:r>
            <a:r>
              <a:rPr lang="en-US" i="1" dirty="0"/>
              <a:t>b, c</a:t>
            </a:r>
            <a:r>
              <a:rPr lang="en-US" dirty="0"/>
              <a:t>)</a:t>
            </a:r>
            <a:r>
              <a:rPr lang="en-US" i="1" dirty="0"/>
              <a:t>, </a:t>
            </a:r>
            <a:r>
              <a:rPr lang="en-US" dirty="0"/>
              <a:t>(</a:t>
            </a:r>
            <a:r>
              <a:rPr lang="en-US" i="1" dirty="0"/>
              <a:t>c, d</a:t>
            </a:r>
            <a:r>
              <a:rPr lang="en-US" dirty="0"/>
              <a:t>)</a:t>
            </a:r>
            <a:r>
              <a:rPr lang="en-US" i="1" dirty="0"/>
              <a:t>, </a:t>
            </a:r>
            <a:r>
              <a:rPr lang="en-US" dirty="0"/>
              <a:t>(</a:t>
            </a:r>
            <a:r>
              <a:rPr lang="en-US" i="1" dirty="0"/>
              <a:t>c, e</a:t>
            </a:r>
            <a:r>
              <a:rPr lang="en-US" dirty="0"/>
              <a:t>)</a:t>
            </a:r>
            <a:r>
              <a:rPr lang="en-US" i="1" dirty="0"/>
              <a:t>, </a:t>
            </a:r>
            <a:r>
              <a:rPr lang="en-US" dirty="0"/>
              <a:t>(</a:t>
            </a:r>
            <a:r>
              <a:rPr lang="en-US" i="1" dirty="0"/>
              <a:t>d, g</a:t>
            </a:r>
            <a:r>
              <a:rPr lang="en-US" dirty="0"/>
              <a:t>)</a:t>
            </a:r>
            <a:r>
              <a:rPr lang="en-US" i="1" dirty="0"/>
              <a:t>, </a:t>
            </a:r>
            <a:r>
              <a:rPr lang="en-US" dirty="0"/>
              <a:t>(</a:t>
            </a:r>
            <a:r>
              <a:rPr lang="en-US" i="1" dirty="0"/>
              <a:t>g, f </a:t>
            </a:r>
            <a:r>
              <a:rPr lang="en-US" dirty="0"/>
              <a:t>)</a:t>
            </a:r>
            <a:r>
              <a:rPr lang="en-US" i="1" dirty="0"/>
              <a:t>, </a:t>
            </a:r>
            <a:r>
              <a:rPr lang="en-US" dirty="0"/>
              <a:t>(</a:t>
            </a:r>
            <a:r>
              <a:rPr lang="en-US" i="1" dirty="0"/>
              <a:t>g, </a:t>
            </a:r>
            <a:r>
              <a:rPr lang="en-US" i="1" dirty="0" err="1"/>
              <a:t>i</a:t>
            </a:r>
            <a:r>
              <a:rPr lang="en-US" dirty="0"/>
              <a:t>)</a:t>
            </a:r>
            <a:r>
              <a:rPr lang="en-US" i="1" dirty="0"/>
              <a:t>, </a:t>
            </a:r>
            <a:r>
              <a:rPr lang="en-US" dirty="0"/>
              <a:t>(</a:t>
            </a:r>
            <a:r>
              <a:rPr lang="en-US" i="1" dirty="0"/>
              <a:t>f, e</a:t>
            </a:r>
            <a:r>
              <a:rPr lang="en-US" dirty="0"/>
              <a:t>)</a:t>
            </a:r>
            <a:r>
              <a:rPr lang="en-US" i="1" dirty="0"/>
              <a:t>:</a:t>
            </a:r>
          </a:p>
          <a:p>
            <a:r>
              <a:rPr lang="en-US" dirty="0"/>
              <a:t>Backward edges: </a:t>
            </a:r>
          </a:p>
          <a:p>
            <a:pPr marL="0" indent="0">
              <a:buNone/>
            </a:pPr>
            <a:r>
              <a:rPr lang="en-US" dirty="0"/>
              <a:t>(</a:t>
            </a:r>
            <a:r>
              <a:rPr lang="en-US" i="1" dirty="0"/>
              <a:t>e, d</a:t>
            </a:r>
            <a:r>
              <a:rPr lang="en-US" dirty="0"/>
              <a:t>)</a:t>
            </a:r>
          </a:p>
          <a:p>
            <a:r>
              <a:rPr lang="pt-BR" dirty="0"/>
              <a:t>Cross edges: </a:t>
            </a:r>
          </a:p>
          <a:p>
            <a:pPr marL="0" indent="0">
              <a:buNone/>
            </a:pPr>
            <a:r>
              <a:rPr lang="pt-BR" dirty="0"/>
              <a:t>(</a:t>
            </a:r>
            <a:r>
              <a:rPr lang="pt-BR" i="1" dirty="0"/>
              <a:t>i, f </a:t>
            </a:r>
            <a:r>
              <a:rPr lang="pt-BR" dirty="0"/>
              <a:t>), (</a:t>
            </a:r>
            <a:r>
              <a:rPr lang="pt-BR" i="1" dirty="0"/>
              <a:t>h, d</a:t>
            </a:r>
            <a:r>
              <a:rPr lang="pt-BR" dirty="0"/>
              <a:t>), (</a:t>
            </a:r>
            <a:r>
              <a:rPr lang="pt-BR" i="1" dirty="0"/>
              <a:t>h, g</a:t>
            </a:r>
            <a:r>
              <a:rPr lang="pt-BR" dirty="0"/>
              <a:t>).</a:t>
            </a:r>
            <a:endParaRPr lang="en-US" dirty="0"/>
          </a:p>
        </p:txBody>
      </p:sp>
      <p:pic>
        <p:nvPicPr>
          <p:cNvPr id="10" name="Picture 9">
            <a:extLst>
              <a:ext uri="{FF2B5EF4-FFF2-40B4-BE49-F238E27FC236}">
                <a16:creationId xmlns="" xmlns:a16="http://schemas.microsoft.com/office/drawing/2014/main" id="{E10FAEF9-0452-4832-9C97-EF8BBA89B25A}"/>
              </a:ext>
            </a:extLst>
          </p:cNvPr>
          <p:cNvPicPr>
            <a:picLocks noChangeAspect="1"/>
          </p:cNvPicPr>
          <p:nvPr/>
        </p:nvPicPr>
        <p:blipFill>
          <a:blip r:embed="rId2" cstate="print"/>
          <a:stretch>
            <a:fillRect/>
          </a:stretch>
        </p:blipFill>
        <p:spPr>
          <a:xfrm>
            <a:off x="4119239" y="2832368"/>
            <a:ext cx="7047530" cy="3344596"/>
          </a:xfrm>
          <a:prstGeom prst="rect">
            <a:avLst/>
          </a:prstGeom>
        </p:spPr>
      </p:pic>
    </p:spTree>
    <p:extLst>
      <p:ext uri="{BB962C8B-B14F-4D97-AF65-F5344CB8AC3E}">
        <p14:creationId xmlns="" xmlns:p14="http://schemas.microsoft.com/office/powerpoint/2010/main" val="33976784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F66F33A-6F80-44A1-8889-293225F2A395}"/>
              </a:ext>
            </a:extLst>
          </p:cNvPr>
          <p:cNvSpPr>
            <a:spLocks noGrp="1"/>
          </p:cNvSpPr>
          <p:nvPr>
            <p:ph type="title"/>
          </p:nvPr>
        </p:nvSpPr>
        <p:spPr/>
        <p:txBody>
          <a:bodyPr>
            <a:normAutofit fontScale="90000"/>
          </a:bodyPr>
          <a:lstStyle/>
          <a:p>
            <a:r>
              <a:rPr lang="en-US" dirty="0"/>
              <a:t>Edge </a:t>
            </a:r>
            <a:br>
              <a:rPr lang="en-US" dirty="0"/>
            </a:br>
            <a:r>
              <a:rPr lang="en-US" dirty="0"/>
              <a:t>Classification</a:t>
            </a:r>
            <a:br>
              <a:rPr lang="en-US" dirty="0"/>
            </a:br>
            <a:r>
              <a:rPr lang="en-US" dirty="0"/>
              <a:t>Exercise</a:t>
            </a:r>
          </a:p>
        </p:txBody>
      </p:sp>
      <p:pic>
        <p:nvPicPr>
          <p:cNvPr id="6" name="Content Placeholder 5">
            <a:extLst>
              <a:ext uri="{FF2B5EF4-FFF2-40B4-BE49-F238E27FC236}">
                <a16:creationId xmlns="" xmlns:a16="http://schemas.microsoft.com/office/drawing/2014/main" id="{D48CA29E-25AB-45BF-B992-ED3B97469E48}"/>
              </a:ext>
            </a:extLst>
          </p:cNvPr>
          <p:cNvPicPr>
            <a:picLocks noGrp="1" noChangeAspect="1"/>
          </p:cNvPicPr>
          <p:nvPr>
            <p:ph idx="1"/>
          </p:nvPr>
        </p:nvPicPr>
        <p:blipFill>
          <a:blip r:embed="rId2" cstate="print"/>
          <a:stretch>
            <a:fillRect/>
          </a:stretch>
        </p:blipFill>
        <p:spPr>
          <a:xfrm>
            <a:off x="3915052" y="457200"/>
            <a:ext cx="7423181" cy="5018558"/>
          </a:xfrm>
          <a:prstGeom prst="rect">
            <a:avLst/>
          </a:prstGeom>
        </p:spPr>
      </p:pic>
    </p:spTree>
    <p:extLst>
      <p:ext uri="{BB962C8B-B14F-4D97-AF65-F5344CB8AC3E}">
        <p14:creationId xmlns="" xmlns:p14="http://schemas.microsoft.com/office/powerpoint/2010/main" val="7188409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9ABCCDE8-1558-4C1F-815C-69237CC11862}"/>
              </a:ext>
            </a:extLst>
          </p:cNvPr>
          <p:cNvSpPr>
            <a:spLocks noGrp="1"/>
          </p:cNvSpPr>
          <p:nvPr>
            <p:ph type="title"/>
          </p:nvPr>
        </p:nvSpPr>
        <p:spPr/>
        <p:txBody>
          <a:bodyPr/>
          <a:lstStyle/>
          <a:p>
            <a:r>
              <a:rPr lang="en-US" dirty="0"/>
              <a:t>Edge Classification</a:t>
            </a:r>
          </a:p>
        </p:txBody>
      </p:sp>
      <p:sp>
        <p:nvSpPr>
          <p:cNvPr id="9" name="Content Placeholder 8">
            <a:extLst>
              <a:ext uri="{FF2B5EF4-FFF2-40B4-BE49-F238E27FC236}">
                <a16:creationId xmlns="" xmlns:a16="http://schemas.microsoft.com/office/drawing/2014/main" id="{B3AE8731-155A-461C-A528-DE6CCAFCF247}"/>
              </a:ext>
            </a:extLst>
          </p:cNvPr>
          <p:cNvSpPr>
            <a:spLocks noGrp="1"/>
          </p:cNvSpPr>
          <p:nvPr>
            <p:ph idx="1"/>
          </p:nvPr>
        </p:nvSpPr>
        <p:spPr/>
        <p:txBody>
          <a:bodyPr>
            <a:normAutofit/>
          </a:bodyPr>
          <a:lstStyle/>
          <a:p>
            <a:r>
              <a:rPr lang="en-US" sz="4000" dirty="0"/>
              <a:t>After the DFS-forest </a:t>
            </a:r>
            <a:r>
              <a:rPr lang="en-US" sz="4000" i="1" dirty="0"/>
              <a:t>T </a:t>
            </a:r>
            <a:r>
              <a:rPr lang="en-US" sz="4000" dirty="0"/>
              <a:t>has been obtained, we can determine type of each edge (</a:t>
            </a:r>
            <a:r>
              <a:rPr lang="en-US" sz="4000" i="1" dirty="0"/>
              <a:t>u, v</a:t>
            </a:r>
            <a:r>
              <a:rPr lang="en-US" sz="4000" dirty="0"/>
              <a:t>) in constant time. All that is required is to augment the DFS algorithms slightly by remembering when each vertex enters and leaves the stack.</a:t>
            </a:r>
          </a:p>
        </p:txBody>
      </p:sp>
    </p:spTree>
    <p:extLst>
      <p:ext uri="{BB962C8B-B14F-4D97-AF65-F5344CB8AC3E}">
        <p14:creationId xmlns="" xmlns:p14="http://schemas.microsoft.com/office/powerpoint/2010/main" val="28809328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9ABCCDE8-1558-4C1F-815C-69237CC11862}"/>
              </a:ext>
            </a:extLst>
          </p:cNvPr>
          <p:cNvSpPr>
            <a:spLocks noGrp="1"/>
          </p:cNvSpPr>
          <p:nvPr>
            <p:ph type="title"/>
          </p:nvPr>
        </p:nvSpPr>
        <p:spPr/>
        <p:txBody>
          <a:bodyPr/>
          <a:lstStyle/>
          <a:p>
            <a:r>
              <a:rPr lang="en-US" dirty="0"/>
              <a:t>Augmenting DFS For Edge Classification</a:t>
            </a:r>
          </a:p>
        </p:txBody>
      </p:sp>
      <p:sp>
        <p:nvSpPr>
          <p:cNvPr id="9" name="Content Placeholder 8">
            <a:extLst>
              <a:ext uri="{FF2B5EF4-FFF2-40B4-BE49-F238E27FC236}">
                <a16:creationId xmlns="" xmlns:a16="http://schemas.microsoft.com/office/drawing/2014/main" id="{B3AE8731-155A-461C-A528-DE6CCAFCF247}"/>
              </a:ext>
            </a:extLst>
          </p:cNvPr>
          <p:cNvSpPr>
            <a:spLocks noGrp="1"/>
          </p:cNvSpPr>
          <p:nvPr>
            <p:ph idx="1"/>
          </p:nvPr>
        </p:nvSpPr>
        <p:spPr/>
        <p:txBody>
          <a:bodyPr>
            <a:normAutofit lnSpcReduction="10000"/>
          </a:bodyPr>
          <a:lstStyle/>
          <a:p>
            <a:r>
              <a:rPr lang="en-US" dirty="0"/>
              <a:t>Maintain a counter c, which is initially 0. Every time a push or pop is performed on the stack, we increment c by 1.</a:t>
            </a:r>
          </a:p>
          <a:p>
            <a:r>
              <a:rPr lang="en-US" dirty="0"/>
              <a:t>For every vertex v, define:</a:t>
            </a:r>
          </a:p>
          <a:p>
            <a:pPr lvl="1"/>
            <a:r>
              <a:rPr lang="en-US" sz="3200" dirty="0"/>
              <a:t>Its discovery time d-tm(v) to be the value of c right after v is pushed into the stack.</a:t>
            </a:r>
          </a:p>
          <a:p>
            <a:pPr lvl="1"/>
            <a:r>
              <a:rPr lang="en-US" sz="3200" dirty="0"/>
              <a:t>Its finish time f-tm(v) to be the value of c right after v is popped from the stack.</a:t>
            </a:r>
          </a:p>
          <a:p>
            <a:r>
              <a:rPr lang="en-US" dirty="0"/>
              <a:t>Define l(v) = [d-tm(v), f-tm(v)].</a:t>
            </a:r>
          </a:p>
          <a:p>
            <a:r>
              <a:rPr lang="en-US" dirty="0"/>
              <a:t>It is straightforward to obtain l(v) for all v </a:t>
            </a:r>
            <a:r>
              <a:rPr lang="en-US" dirty="0">
                <a:sym typeface="Symbol" panose="05050102010706020507" pitchFamily="18" charset="2"/>
              </a:rPr>
              <a:t></a:t>
            </a:r>
            <a:r>
              <a:rPr lang="en-US" dirty="0"/>
              <a:t> V by paying O(|V|) extra time on top of DFS's running time. (Think: Why?)</a:t>
            </a:r>
            <a:endParaRPr lang="en-US" sz="4000" dirty="0"/>
          </a:p>
        </p:txBody>
      </p:sp>
    </p:spTree>
    <p:extLst>
      <p:ext uri="{BB962C8B-B14F-4D97-AF65-F5344CB8AC3E}">
        <p14:creationId xmlns="" xmlns:p14="http://schemas.microsoft.com/office/powerpoint/2010/main" val="24044439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9ABCCDE8-1558-4C1F-815C-69237CC11862}"/>
              </a:ext>
            </a:extLst>
          </p:cNvPr>
          <p:cNvSpPr>
            <a:spLocks noGrp="1"/>
          </p:cNvSpPr>
          <p:nvPr>
            <p:ph type="title"/>
          </p:nvPr>
        </p:nvSpPr>
        <p:spPr/>
        <p:txBody>
          <a:bodyPr/>
          <a:lstStyle/>
          <a:p>
            <a:r>
              <a:rPr lang="en-US" dirty="0"/>
              <a:t>Augmenting DFS For Edge Classification</a:t>
            </a:r>
          </a:p>
        </p:txBody>
      </p:sp>
      <p:sp>
        <p:nvSpPr>
          <p:cNvPr id="2" name="Content Placeholder 1">
            <a:extLst>
              <a:ext uri="{FF2B5EF4-FFF2-40B4-BE49-F238E27FC236}">
                <a16:creationId xmlns="" xmlns:a16="http://schemas.microsoft.com/office/drawing/2014/main" id="{1AC98063-ECC0-4A19-BAE0-5209F6AF11F1}"/>
              </a:ext>
            </a:extLst>
          </p:cNvPr>
          <p:cNvSpPr>
            <a:spLocks noGrp="1"/>
          </p:cNvSpPr>
          <p:nvPr>
            <p:ph sz="half" idx="1"/>
          </p:nvPr>
        </p:nvSpPr>
        <p:spPr/>
        <p:txBody>
          <a:bodyPr>
            <a:normAutofit lnSpcReduction="10000"/>
          </a:bodyPr>
          <a:lstStyle/>
          <a:p>
            <a:r>
              <a:rPr lang="en-US" i="1" dirty="0"/>
              <a:t>l</a:t>
            </a:r>
            <a:r>
              <a:rPr lang="en-US" dirty="0"/>
              <a:t>(</a:t>
            </a:r>
            <a:r>
              <a:rPr lang="en-US" i="1" dirty="0"/>
              <a:t>a</a:t>
            </a:r>
            <a:r>
              <a:rPr lang="en-US" dirty="0"/>
              <a:t>) = [1</a:t>
            </a:r>
            <a:r>
              <a:rPr lang="en-US" i="1" dirty="0"/>
              <a:t>, </a:t>
            </a:r>
            <a:r>
              <a:rPr lang="en-US" dirty="0"/>
              <a:t>16]</a:t>
            </a:r>
          </a:p>
          <a:p>
            <a:r>
              <a:rPr lang="en-US" i="1" dirty="0"/>
              <a:t>l</a:t>
            </a:r>
            <a:r>
              <a:rPr lang="en-US" dirty="0"/>
              <a:t>(</a:t>
            </a:r>
            <a:r>
              <a:rPr lang="en-US" i="1" dirty="0"/>
              <a:t>b</a:t>
            </a:r>
            <a:r>
              <a:rPr lang="en-US" dirty="0"/>
              <a:t>) = [2</a:t>
            </a:r>
            <a:r>
              <a:rPr lang="en-US" i="1" dirty="0"/>
              <a:t>, </a:t>
            </a:r>
            <a:r>
              <a:rPr lang="en-US" dirty="0"/>
              <a:t>15]</a:t>
            </a:r>
          </a:p>
          <a:p>
            <a:r>
              <a:rPr lang="en-US" i="1" dirty="0"/>
              <a:t>l</a:t>
            </a:r>
            <a:r>
              <a:rPr lang="en-US" dirty="0"/>
              <a:t>(</a:t>
            </a:r>
            <a:r>
              <a:rPr lang="en-US" i="1" dirty="0"/>
              <a:t>c</a:t>
            </a:r>
            <a:r>
              <a:rPr lang="en-US" dirty="0"/>
              <a:t>) = [3</a:t>
            </a:r>
            <a:r>
              <a:rPr lang="en-US" i="1" dirty="0"/>
              <a:t>, </a:t>
            </a:r>
            <a:r>
              <a:rPr lang="en-US" dirty="0"/>
              <a:t>14]</a:t>
            </a:r>
          </a:p>
          <a:p>
            <a:r>
              <a:rPr lang="en-US" i="1" dirty="0"/>
              <a:t>l</a:t>
            </a:r>
            <a:r>
              <a:rPr lang="en-US" dirty="0"/>
              <a:t>(</a:t>
            </a:r>
            <a:r>
              <a:rPr lang="en-US" i="1" dirty="0"/>
              <a:t>d</a:t>
            </a:r>
            <a:r>
              <a:rPr lang="en-US" dirty="0"/>
              <a:t>) = [4</a:t>
            </a:r>
            <a:r>
              <a:rPr lang="en-US" i="1" dirty="0"/>
              <a:t>, </a:t>
            </a:r>
            <a:r>
              <a:rPr lang="en-US" dirty="0"/>
              <a:t>13]</a:t>
            </a:r>
          </a:p>
          <a:p>
            <a:r>
              <a:rPr lang="en-US" i="1" dirty="0"/>
              <a:t>l</a:t>
            </a:r>
            <a:r>
              <a:rPr lang="en-US" dirty="0"/>
              <a:t>(</a:t>
            </a:r>
            <a:r>
              <a:rPr lang="en-US" i="1" dirty="0"/>
              <a:t>g</a:t>
            </a:r>
            <a:r>
              <a:rPr lang="en-US" dirty="0"/>
              <a:t>) = [5</a:t>
            </a:r>
            <a:r>
              <a:rPr lang="en-US" i="1" dirty="0"/>
              <a:t>, </a:t>
            </a:r>
            <a:r>
              <a:rPr lang="en-US" dirty="0"/>
              <a:t>12]</a:t>
            </a:r>
          </a:p>
          <a:p>
            <a:r>
              <a:rPr lang="en-US" i="1" dirty="0"/>
              <a:t>l</a:t>
            </a:r>
            <a:r>
              <a:rPr lang="en-US" dirty="0"/>
              <a:t>(</a:t>
            </a:r>
            <a:r>
              <a:rPr lang="en-US" i="1" dirty="0"/>
              <a:t>f </a:t>
            </a:r>
            <a:r>
              <a:rPr lang="en-US" dirty="0"/>
              <a:t>) = [6</a:t>
            </a:r>
            <a:r>
              <a:rPr lang="en-US" i="1" dirty="0"/>
              <a:t>, </a:t>
            </a:r>
            <a:r>
              <a:rPr lang="en-US" dirty="0"/>
              <a:t>9]</a:t>
            </a:r>
          </a:p>
          <a:p>
            <a:r>
              <a:rPr lang="en-US" i="1" dirty="0"/>
              <a:t>l</a:t>
            </a:r>
            <a:r>
              <a:rPr lang="en-US" dirty="0"/>
              <a:t>(</a:t>
            </a:r>
            <a:r>
              <a:rPr lang="en-US" i="1" dirty="0"/>
              <a:t>e</a:t>
            </a:r>
            <a:r>
              <a:rPr lang="en-US" dirty="0"/>
              <a:t>) = [7</a:t>
            </a:r>
            <a:r>
              <a:rPr lang="en-US" i="1" dirty="0"/>
              <a:t>, </a:t>
            </a:r>
            <a:r>
              <a:rPr lang="en-US" dirty="0"/>
              <a:t>8]</a:t>
            </a:r>
          </a:p>
          <a:p>
            <a:r>
              <a:rPr lang="en-US" i="1" dirty="0"/>
              <a:t>l</a:t>
            </a:r>
            <a:r>
              <a:rPr lang="en-US" dirty="0"/>
              <a:t>(</a:t>
            </a:r>
            <a:r>
              <a:rPr lang="en-US" i="1" dirty="0" err="1"/>
              <a:t>i</a:t>
            </a:r>
            <a:r>
              <a:rPr lang="en-US" i="1" dirty="0"/>
              <a:t> </a:t>
            </a:r>
            <a:r>
              <a:rPr lang="en-US" dirty="0"/>
              <a:t>) = [10</a:t>
            </a:r>
            <a:r>
              <a:rPr lang="en-US" i="1" dirty="0"/>
              <a:t>, </a:t>
            </a:r>
            <a:r>
              <a:rPr lang="en-US" dirty="0"/>
              <a:t>11]</a:t>
            </a:r>
          </a:p>
          <a:p>
            <a:r>
              <a:rPr lang="en-US" i="1" dirty="0"/>
              <a:t>l</a:t>
            </a:r>
            <a:r>
              <a:rPr lang="en-US" dirty="0"/>
              <a:t>(</a:t>
            </a:r>
            <a:r>
              <a:rPr lang="en-US" i="1" dirty="0"/>
              <a:t>h</a:t>
            </a:r>
            <a:r>
              <a:rPr lang="en-US" dirty="0"/>
              <a:t>) = [17</a:t>
            </a:r>
            <a:r>
              <a:rPr lang="en-US" i="1" dirty="0"/>
              <a:t>, </a:t>
            </a:r>
            <a:r>
              <a:rPr lang="en-US" dirty="0"/>
              <a:t>18]</a:t>
            </a:r>
          </a:p>
        </p:txBody>
      </p:sp>
      <p:pic>
        <p:nvPicPr>
          <p:cNvPr id="4" name="Content Placeholder 3">
            <a:extLst>
              <a:ext uri="{FF2B5EF4-FFF2-40B4-BE49-F238E27FC236}">
                <a16:creationId xmlns="" xmlns:a16="http://schemas.microsoft.com/office/drawing/2014/main" id="{7F4A033B-C4BE-4527-B412-374EA4C28945}"/>
              </a:ext>
            </a:extLst>
          </p:cNvPr>
          <p:cNvPicPr>
            <a:picLocks noGrp="1" noChangeAspect="1"/>
          </p:cNvPicPr>
          <p:nvPr>
            <p:ph sz="half" idx="2"/>
          </p:nvPr>
        </p:nvPicPr>
        <p:blipFill>
          <a:blip r:embed="rId2" cstate="print"/>
          <a:stretch>
            <a:fillRect/>
          </a:stretch>
        </p:blipFill>
        <p:spPr>
          <a:xfrm>
            <a:off x="3660704" y="1776845"/>
            <a:ext cx="8044919" cy="3751119"/>
          </a:xfrm>
          <a:prstGeom prst="rect">
            <a:avLst/>
          </a:prstGeom>
        </p:spPr>
      </p:pic>
    </p:spTree>
    <p:extLst>
      <p:ext uri="{BB962C8B-B14F-4D97-AF65-F5344CB8AC3E}">
        <p14:creationId xmlns="" xmlns:p14="http://schemas.microsoft.com/office/powerpoint/2010/main" val="14651343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9ABCCDE8-1558-4C1F-815C-69237CC11862}"/>
              </a:ext>
            </a:extLst>
          </p:cNvPr>
          <p:cNvSpPr>
            <a:spLocks noGrp="1"/>
          </p:cNvSpPr>
          <p:nvPr>
            <p:ph type="title"/>
          </p:nvPr>
        </p:nvSpPr>
        <p:spPr/>
        <p:txBody>
          <a:bodyPr/>
          <a:lstStyle/>
          <a:p>
            <a:r>
              <a:rPr lang="en-US" dirty="0"/>
              <a:t>Exercise</a:t>
            </a:r>
          </a:p>
        </p:txBody>
      </p:sp>
      <p:sp>
        <p:nvSpPr>
          <p:cNvPr id="2" name="Content Placeholder 1">
            <a:extLst>
              <a:ext uri="{FF2B5EF4-FFF2-40B4-BE49-F238E27FC236}">
                <a16:creationId xmlns="" xmlns:a16="http://schemas.microsoft.com/office/drawing/2014/main" id="{1AC98063-ECC0-4A19-BAE0-5209F6AF11F1}"/>
              </a:ext>
            </a:extLst>
          </p:cNvPr>
          <p:cNvSpPr>
            <a:spLocks noGrp="1"/>
          </p:cNvSpPr>
          <p:nvPr>
            <p:ph idx="1"/>
          </p:nvPr>
        </p:nvSpPr>
        <p:spPr/>
        <p:txBody>
          <a:bodyPr>
            <a:normAutofit/>
          </a:bodyPr>
          <a:lstStyle/>
          <a:p>
            <a:r>
              <a:rPr lang="en-US" sz="4000" dirty="0"/>
              <a:t>In a depth-first search of a directed graph, vertex </a:t>
            </a:r>
            <a:r>
              <a:rPr lang="en-US" sz="4000" i="1" dirty="0"/>
              <a:t>x </a:t>
            </a:r>
            <a:r>
              <a:rPr lang="en-US" sz="4000" dirty="0"/>
              <a:t>has a discovery time of 10 and a finish time of 19. What can you say about discovery and finish times of the ancestors of </a:t>
            </a:r>
            <a:r>
              <a:rPr lang="en-US" sz="4000" i="1" dirty="0"/>
              <a:t>x</a:t>
            </a:r>
            <a:r>
              <a:rPr lang="en-US" sz="4000" dirty="0"/>
              <a:t>?</a:t>
            </a:r>
          </a:p>
        </p:txBody>
      </p:sp>
    </p:spTree>
    <p:extLst>
      <p:ext uri="{BB962C8B-B14F-4D97-AF65-F5344CB8AC3E}">
        <p14:creationId xmlns="" xmlns:p14="http://schemas.microsoft.com/office/powerpoint/2010/main" val="34129504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9ABCCDE8-1558-4C1F-815C-69237CC11862}"/>
              </a:ext>
            </a:extLst>
          </p:cNvPr>
          <p:cNvSpPr>
            <a:spLocks noGrp="1"/>
          </p:cNvSpPr>
          <p:nvPr>
            <p:ph type="title"/>
          </p:nvPr>
        </p:nvSpPr>
        <p:spPr/>
        <p:txBody>
          <a:bodyPr/>
          <a:lstStyle/>
          <a:p>
            <a:r>
              <a:rPr lang="en-US" dirty="0"/>
              <a:t>Quiz</a:t>
            </a:r>
          </a:p>
        </p:txBody>
      </p:sp>
      <p:sp>
        <p:nvSpPr>
          <p:cNvPr id="2" name="Content Placeholder 1">
            <a:extLst>
              <a:ext uri="{FF2B5EF4-FFF2-40B4-BE49-F238E27FC236}">
                <a16:creationId xmlns="" xmlns:a16="http://schemas.microsoft.com/office/drawing/2014/main" id="{1AC98063-ECC0-4A19-BAE0-5209F6AF11F1}"/>
              </a:ext>
            </a:extLst>
          </p:cNvPr>
          <p:cNvSpPr>
            <a:spLocks noGrp="1"/>
          </p:cNvSpPr>
          <p:nvPr>
            <p:ph idx="1"/>
          </p:nvPr>
        </p:nvSpPr>
        <p:spPr/>
        <p:txBody>
          <a:bodyPr>
            <a:normAutofit/>
          </a:bodyPr>
          <a:lstStyle/>
          <a:p>
            <a:r>
              <a:rPr lang="en-US" sz="4400" dirty="0"/>
              <a:t>Give a counterexample to the conjecture that if a directed graph </a:t>
            </a:r>
            <a:r>
              <a:rPr lang="en-US" sz="4400" i="1" dirty="0"/>
              <a:t>G </a:t>
            </a:r>
            <a:r>
              <a:rPr lang="en-US" sz="4400" dirty="0"/>
              <a:t>contains a path from </a:t>
            </a:r>
            <a:r>
              <a:rPr lang="en-US" sz="4400" i="1" dirty="0"/>
              <a:t>u </a:t>
            </a:r>
            <a:r>
              <a:rPr lang="en-US" sz="4400" dirty="0"/>
              <a:t>to </a:t>
            </a:r>
            <a:r>
              <a:rPr lang="en-US" sz="4400" i="1" dirty="0"/>
              <a:t>v</a:t>
            </a:r>
            <a:r>
              <a:rPr lang="en-US" sz="4400" dirty="0"/>
              <a:t>, then any depth-first search must result in d</a:t>
            </a:r>
            <a:r>
              <a:rPr lang="en-US" sz="4400" i="1" dirty="0"/>
              <a:t>-</a:t>
            </a:r>
            <a:r>
              <a:rPr lang="pl-PL" sz="4400" i="1" dirty="0"/>
              <a:t>tm</a:t>
            </a:r>
            <a:r>
              <a:rPr lang="pl-PL" sz="4400" dirty="0"/>
              <a:t>(</a:t>
            </a:r>
            <a:r>
              <a:rPr lang="pl-PL" sz="4400" i="1" dirty="0"/>
              <a:t>v</a:t>
            </a:r>
            <a:r>
              <a:rPr lang="pl-PL" sz="4400" dirty="0"/>
              <a:t>) </a:t>
            </a:r>
            <a:r>
              <a:rPr lang="pl-PL" sz="4400" i="1" dirty="0"/>
              <a:t>&lt; f</a:t>
            </a:r>
            <a:r>
              <a:rPr lang="en-US" sz="4400" i="1" dirty="0"/>
              <a:t>-</a:t>
            </a:r>
            <a:r>
              <a:rPr lang="pl-PL" sz="4400" i="1" dirty="0"/>
              <a:t>tm</a:t>
            </a:r>
            <a:r>
              <a:rPr lang="pl-PL" sz="4400" dirty="0"/>
              <a:t>(</a:t>
            </a:r>
            <a:r>
              <a:rPr lang="pl-PL" sz="4400" i="1" dirty="0"/>
              <a:t>u</a:t>
            </a:r>
            <a:r>
              <a:rPr lang="pl-PL" sz="4400" dirty="0"/>
              <a:t>).</a:t>
            </a:r>
            <a:endParaRPr lang="en-US" sz="6000" dirty="0"/>
          </a:p>
        </p:txBody>
      </p:sp>
    </p:spTree>
    <p:extLst>
      <p:ext uri="{BB962C8B-B14F-4D97-AF65-F5344CB8AC3E}">
        <p14:creationId xmlns="" xmlns:p14="http://schemas.microsoft.com/office/powerpoint/2010/main" val="10895466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9ABCCDE8-1558-4C1F-815C-69237CC11862}"/>
              </a:ext>
            </a:extLst>
          </p:cNvPr>
          <p:cNvSpPr>
            <a:spLocks noGrp="1"/>
          </p:cNvSpPr>
          <p:nvPr>
            <p:ph type="title"/>
          </p:nvPr>
        </p:nvSpPr>
        <p:spPr/>
        <p:txBody>
          <a:bodyPr/>
          <a:lstStyle/>
          <a:p>
            <a:r>
              <a:rPr lang="en-US" dirty="0"/>
              <a:t>Parenthesis Theorem</a:t>
            </a:r>
          </a:p>
        </p:txBody>
      </p:sp>
      <p:sp>
        <p:nvSpPr>
          <p:cNvPr id="2" name="Content Placeholder 1">
            <a:extLst>
              <a:ext uri="{FF2B5EF4-FFF2-40B4-BE49-F238E27FC236}">
                <a16:creationId xmlns="" xmlns:a16="http://schemas.microsoft.com/office/drawing/2014/main" id="{1AC98063-ECC0-4A19-BAE0-5209F6AF11F1}"/>
              </a:ext>
            </a:extLst>
          </p:cNvPr>
          <p:cNvSpPr>
            <a:spLocks noGrp="1"/>
          </p:cNvSpPr>
          <p:nvPr>
            <p:ph idx="1"/>
          </p:nvPr>
        </p:nvSpPr>
        <p:spPr/>
        <p:txBody>
          <a:bodyPr>
            <a:normAutofit/>
          </a:bodyPr>
          <a:lstStyle/>
          <a:p>
            <a:r>
              <a:rPr lang="en-US" sz="3600" b="1" dirty="0"/>
              <a:t>Theorem: </a:t>
            </a:r>
            <a:r>
              <a:rPr lang="en-US" sz="3600" dirty="0"/>
              <a:t>An edge (</a:t>
            </a:r>
            <a:r>
              <a:rPr lang="en-US" sz="3600" i="1" dirty="0"/>
              <a:t>u, v</a:t>
            </a:r>
            <a:r>
              <a:rPr lang="en-US" sz="3600" dirty="0"/>
              <a:t>) is:</a:t>
            </a:r>
          </a:p>
          <a:p>
            <a:r>
              <a:rPr lang="en-US" sz="3600" dirty="0"/>
              <a:t>a forward edge in the DFS-forest if and only if </a:t>
            </a:r>
            <a:r>
              <a:rPr lang="en-US" sz="3600" i="1" dirty="0"/>
              <a:t>l</a:t>
            </a:r>
            <a:r>
              <a:rPr lang="en-US" sz="3600" dirty="0"/>
              <a:t>(</a:t>
            </a:r>
            <a:r>
              <a:rPr lang="en-US" sz="3600" i="1" dirty="0"/>
              <a:t>u</a:t>
            </a:r>
            <a:r>
              <a:rPr lang="en-US" sz="3600" dirty="0"/>
              <a:t>) contains </a:t>
            </a:r>
            <a:r>
              <a:rPr lang="en-US" sz="3600" i="1" dirty="0"/>
              <a:t>l</a:t>
            </a:r>
            <a:r>
              <a:rPr lang="en-US" sz="3600" dirty="0"/>
              <a:t>(</a:t>
            </a:r>
            <a:r>
              <a:rPr lang="en-US" sz="3600" i="1" dirty="0"/>
              <a:t>v</a:t>
            </a:r>
            <a:r>
              <a:rPr lang="en-US" sz="3600" dirty="0"/>
              <a:t>).</a:t>
            </a:r>
          </a:p>
          <a:p>
            <a:r>
              <a:rPr lang="en-US" sz="3600" dirty="0"/>
              <a:t>a back edge in the DFS-forest if and only if </a:t>
            </a:r>
            <a:r>
              <a:rPr lang="en-US" sz="3600" i="1" dirty="0"/>
              <a:t>l</a:t>
            </a:r>
            <a:r>
              <a:rPr lang="en-US" sz="3600" dirty="0"/>
              <a:t>(</a:t>
            </a:r>
            <a:r>
              <a:rPr lang="en-US" sz="3600" i="1" dirty="0"/>
              <a:t>u</a:t>
            </a:r>
            <a:r>
              <a:rPr lang="en-US" sz="3600" dirty="0"/>
              <a:t>) is contained in </a:t>
            </a:r>
            <a:r>
              <a:rPr lang="en-US" sz="3600" i="1" dirty="0"/>
              <a:t>l</a:t>
            </a:r>
            <a:r>
              <a:rPr lang="en-US" sz="3600" dirty="0"/>
              <a:t>(</a:t>
            </a:r>
            <a:r>
              <a:rPr lang="en-US" sz="3600" i="1" dirty="0"/>
              <a:t>v</a:t>
            </a:r>
            <a:r>
              <a:rPr lang="en-US" sz="3600" dirty="0"/>
              <a:t>).</a:t>
            </a:r>
          </a:p>
          <a:p>
            <a:r>
              <a:rPr lang="en-US" sz="3600" dirty="0"/>
              <a:t>a cross edge in the DFS-forest if and only if </a:t>
            </a:r>
            <a:r>
              <a:rPr lang="en-US" sz="3600" i="1" dirty="0"/>
              <a:t>l</a:t>
            </a:r>
            <a:r>
              <a:rPr lang="en-US" sz="3600" dirty="0"/>
              <a:t>(</a:t>
            </a:r>
            <a:r>
              <a:rPr lang="en-US" sz="3600" i="1" dirty="0"/>
              <a:t>u</a:t>
            </a:r>
            <a:r>
              <a:rPr lang="en-US" sz="3600" dirty="0"/>
              <a:t>) and </a:t>
            </a:r>
            <a:r>
              <a:rPr lang="en-US" sz="3600" i="1" dirty="0"/>
              <a:t>l</a:t>
            </a:r>
            <a:r>
              <a:rPr lang="en-US" sz="3600" dirty="0"/>
              <a:t>(</a:t>
            </a:r>
            <a:r>
              <a:rPr lang="en-US" sz="3600" i="1" dirty="0"/>
              <a:t>v</a:t>
            </a:r>
            <a:r>
              <a:rPr lang="en-US" sz="3600" dirty="0"/>
              <a:t>) are disjoint.</a:t>
            </a:r>
          </a:p>
        </p:txBody>
      </p:sp>
    </p:spTree>
    <p:extLst>
      <p:ext uri="{BB962C8B-B14F-4D97-AF65-F5344CB8AC3E}">
        <p14:creationId xmlns="" xmlns:p14="http://schemas.microsoft.com/office/powerpoint/2010/main" val="3465181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9ABCCDE8-1558-4C1F-815C-69237CC11862}"/>
              </a:ext>
            </a:extLst>
          </p:cNvPr>
          <p:cNvSpPr>
            <a:spLocks noGrp="1"/>
          </p:cNvSpPr>
          <p:nvPr>
            <p:ph type="title"/>
          </p:nvPr>
        </p:nvSpPr>
        <p:spPr/>
        <p:txBody>
          <a:bodyPr/>
          <a:lstStyle/>
          <a:p>
            <a:r>
              <a:rPr lang="en-US" dirty="0"/>
              <a:t>Cycle Theorem</a:t>
            </a:r>
          </a:p>
        </p:txBody>
      </p:sp>
      <p:sp>
        <p:nvSpPr>
          <p:cNvPr id="2" name="Content Placeholder 1">
            <a:extLst>
              <a:ext uri="{FF2B5EF4-FFF2-40B4-BE49-F238E27FC236}">
                <a16:creationId xmlns="" xmlns:a16="http://schemas.microsoft.com/office/drawing/2014/main" id="{1AC98063-ECC0-4A19-BAE0-5209F6AF11F1}"/>
              </a:ext>
            </a:extLst>
          </p:cNvPr>
          <p:cNvSpPr>
            <a:spLocks noGrp="1"/>
          </p:cNvSpPr>
          <p:nvPr>
            <p:ph idx="1"/>
          </p:nvPr>
        </p:nvSpPr>
        <p:spPr/>
        <p:txBody>
          <a:bodyPr>
            <a:normAutofit/>
          </a:bodyPr>
          <a:lstStyle/>
          <a:p>
            <a:r>
              <a:rPr lang="en-US" sz="3200" b="1" dirty="0"/>
              <a:t>Theorem: </a:t>
            </a:r>
            <a:r>
              <a:rPr lang="en-US" sz="3200" dirty="0"/>
              <a:t>Let T be an arbitrary DFS-forest. G contains a cycle if and only if there is a backward edge with respect to T.</a:t>
            </a:r>
          </a:p>
          <a:p>
            <a:r>
              <a:rPr lang="en-US" sz="3200" b="1" dirty="0"/>
              <a:t>Proof: </a:t>
            </a:r>
            <a:r>
              <a:rPr lang="en-US" sz="3200" dirty="0"/>
              <a:t>The “if-direction” is obvious. Proving the “only-if direction” is more involved and is done using additional Theorem.</a:t>
            </a:r>
            <a:endParaRPr lang="en-US" sz="4000" dirty="0"/>
          </a:p>
        </p:txBody>
      </p:sp>
    </p:spTree>
    <p:extLst>
      <p:ext uri="{BB962C8B-B14F-4D97-AF65-F5344CB8AC3E}">
        <p14:creationId xmlns="" xmlns:p14="http://schemas.microsoft.com/office/powerpoint/2010/main" val="25775374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06500AA-0FBD-4DE7-AF0A-9688FE766A91}"/>
              </a:ext>
            </a:extLst>
          </p:cNvPr>
          <p:cNvSpPr>
            <a:spLocks noGrp="1"/>
          </p:cNvSpPr>
          <p:nvPr>
            <p:ph type="title"/>
          </p:nvPr>
        </p:nvSpPr>
        <p:spPr/>
        <p:txBody>
          <a:bodyPr/>
          <a:lstStyle/>
          <a:p>
            <a:r>
              <a:rPr lang="en-US" dirty="0"/>
              <a:t>White Path Theorem</a:t>
            </a:r>
          </a:p>
        </p:txBody>
      </p:sp>
      <p:sp>
        <p:nvSpPr>
          <p:cNvPr id="3" name="Content Placeholder 2">
            <a:extLst>
              <a:ext uri="{FF2B5EF4-FFF2-40B4-BE49-F238E27FC236}">
                <a16:creationId xmlns="" xmlns:a16="http://schemas.microsoft.com/office/drawing/2014/main" id="{EDF712EC-2838-4A70-A102-B46429E3FE66}"/>
              </a:ext>
            </a:extLst>
          </p:cNvPr>
          <p:cNvSpPr>
            <a:spLocks noGrp="1"/>
          </p:cNvSpPr>
          <p:nvPr>
            <p:ph idx="1"/>
          </p:nvPr>
        </p:nvSpPr>
        <p:spPr/>
        <p:txBody>
          <a:bodyPr>
            <a:normAutofit/>
          </a:bodyPr>
          <a:lstStyle/>
          <a:p>
            <a:r>
              <a:rPr lang="en-US" sz="3600" b="1" dirty="0"/>
              <a:t>Theorem: </a:t>
            </a:r>
            <a:r>
              <a:rPr lang="en-US" sz="3600" dirty="0"/>
              <a:t>Let </a:t>
            </a:r>
            <a:r>
              <a:rPr lang="en-US" sz="3600" i="1" dirty="0"/>
              <a:t>u </a:t>
            </a:r>
            <a:r>
              <a:rPr lang="en-US" sz="3600" dirty="0"/>
              <a:t>be a vertex in </a:t>
            </a:r>
            <a:r>
              <a:rPr lang="en-US" sz="3600" i="1" dirty="0"/>
              <a:t>G</a:t>
            </a:r>
            <a:r>
              <a:rPr lang="en-US" sz="3600" dirty="0"/>
              <a:t>. Consider the moment when </a:t>
            </a:r>
            <a:r>
              <a:rPr lang="en-US" sz="3600" i="1" dirty="0"/>
              <a:t>u </a:t>
            </a:r>
            <a:r>
              <a:rPr lang="en-US" sz="3600" dirty="0"/>
              <a:t>is pushed into the stack in the DFS algorithm. Then, a vertex </a:t>
            </a:r>
            <a:r>
              <a:rPr lang="en-US" sz="3600" i="1" dirty="0"/>
              <a:t>v </a:t>
            </a:r>
            <a:r>
              <a:rPr lang="en-US" sz="3600" dirty="0"/>
              <a:t>becomes a proper descendant of </a:t>
            </a:r>
            <a:r>
              <a:rPr lang="en-US" sz="3600" i="1" dirty="0"/>
              <a:t>u </a:t>
            </a:r>
            <a:r>
              <a:rPr lang="en-US" sz="3600" dirty="0"/>
              <a:t>in the DFS-forest if and only if the following is true:</a:t>
            </a:r>
          </a:p>
          <a:p>
            <a:r>
              <a:rPr lang="en-US" sz="3600" dirty="0"/>
              <a:t>We can go from </a:t>
            </a:r>
            <a:r>
              <a:rPr lang="en-US" sz="3600" i="1" dirty="0"/>
              <a:t>u </a:t>
            </a:r>
            <a:r>
              <a:rPr lang="en-US" sz="3600" dirty="0"/>
              <a:t>to </a:t>
            </a:r>
            <a:r>
              <a:rPr lang="en-US" sz="3600" i="1" dirty="0"/>
              <a:t>v </a:t>
            </a:r>
            <a:r>
              <a:rPr lang="en-US" sz="3600" dirty="0"/>
              <a:t>by traveling only on white vertices.</a:t>
            </a:r>
          </a:p>
        </p:txBody>
      </p:sp>
    </p:spTree>
    <p:extLst>
      <p:ext uri="{BB962C8B-B14F-4D97-AF65-F5344CB8AC3E}">
        <p14:creationId xmlns="" xmlns:p14="http://schemas.microsoft.com/office/powerpoint/2010/main" val="4461696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E94F66A-4CBF-4F6D-8FDE-B57A0A2F7EB2}"/>
              </a:ext>
            </a:extLst>
          </p:cNvPr>
          <p:cNvSpPr>
            <a:spLocks noGrp="1"/>
          </p:cNvSpPr>
          <p:nvPr>
            <p:ph type="title"/>
          </p:nvPr>
        </p:nvSpPr>
        <p:spPr/>
        <p:txBody>
          <a:bodyPr/>
          <a:lstStyle/>
          <a:p>
            <a:r>
              <a:rPr lang="en-US" dirty="0"/>
              <a:t>White Path Theorem Example</a:t>
            </a:r>
          </a:p>
        </p:txBody>
      </p:sp>
      <p:sp>
        <p:nvSpPr>
          <p:cNvPr id="3" name="Content Placeholder 2">
            <a:extLst>
              <a:ext uri="{FF2B5EF4-FFF2-40B4-BE49-F238E27FC236}">
                <a16:creationId xmlns="" xmlns:a16="http://schemas.microsoft.com/office/drawing/2014/main" id="{A49F7DFE-EA17-40AA-A1A6-62E906DC9DA8}"/>
              </a:ext>
            </a:extLst>
          </p:cNvPr>
          <p:cNvSpPr>
            <a:spLocks noGrp="1"/>
          </p:cNvSpPr>
          <p:nvPr>
            <p:ph idx="1"/>
          </p:nvPr>
        </p:nvSpPr>
        <p:spPr/>
        <p:txBody>
          <a:bodyPr>
            <a:normAutofit fontScale="92500" lnSpcReduction="20000"/>
          </a:bodyPr>
          <a:lstStyle/>
          <a:p>
            <a:r>
              <a:rPr lang="en-US" dirty="0"/>
              <a:t>Consider the moment in our previous example when </a:t>
            </a:r>
            <a:r>
              <a:rPr lang="en-US" i="1" dirty="0"/>
              <a:t>g </a:t>
            </a:r>
            <a:r>
              <a:rPr lang="en-US" dirty="0"/>
              <a:t>just entered the stack. </a:t>
            </a:r>
            <a:r>
              <a:rPr lang="en-US" i="1" dirty="0"/>
              <a:t>S </a:t>
            </a:r>
            <a:r>
              <a:rPr lang="en-US" dirty="0"/>
              <a:t>= (</a:t>
            </a:r>
            <a:r>
              <a:rPr lang="en-US" i="1" dirty="0"/>
              <a:t>a, b, c, d, g</a:t>
            </a:r>
            <a:r>
              <a:rPr lang="en-US" dirty="0"/>
              <a:t>).</a:t>
            </a:r>
          </a:p>
          <a:p>
            <a:endParaRPr lang="en-US" dirty="0"/>
          </a:p>
          <a:p>
            <a:endParaRPr lang="en-US" dirty="0"/>
          </a:p>
          <a:p>
            <a:endParaRPr lang="en-US" dirty="0"/>
          </a:p>
          <a:p>
            <a:endParaRPr lang="en-US" dirty="0"/>
          </a:p>
          <a:p>
            <a:endParaRPr lang="en-US" dirty="0"/>
          </a:p>
          <a:p>
            <a:endParaRPr lang="en-US" dirty="0"/>
          </a:p>
          <a:p>
            <a:r>
              <a:rPr lang="en-US" dirty="0"/>
              <a:t>We can see that </a:t>
            </a:r>
            <a:r>
              <a:rPr lang="en-US" i="1" dirty="0"/>
              <a:t>g </a:t>
            </a:r>
            <a:r>
              <a:rPr lang="en-US" dirty="0"/>
              <a:t>can reach </a:t>
            </a:r>
            <a:r>
              <a:rPr lang="en-US" i="1" dirty="0"/>
              <a:t>f</a:t>
            </a:r>
            <a:r>
              <a:rPr lang="en-US" dirty="0"/>
              <a:t>, </a:t>
            </a:r>
            <a:r>
              <a:rPr lang="en-US" i="1" dirty="0"/>
              <a:t>e</a:t>
            </a:r>
            <a:r>
              <a:rPr lang="en-US" dirty="0"/>
              <a:t>, </a:t>
            </a:r>
            <a:r>
              <a:rPr lang="en-US" i="1" dirty="0" err="1"/>
              <a:t>i</a:t>
            </a:r>
            <a:r>
              <a:rPr lang="en-US" i="1" dirty="0"/>
              <a:t> </a:t>
            </a:r>
            <a:r>
              <a:rPr lang="en-US" dirty="0"/>
              <a:t>by hopping on only white vertices. Therefore, </a:t>
            </a:r>
            <a:r>
              <a:rPr lang="en-US" i="1" dirty="0"/>
              <a:t>f</a:t>
            </a:r>
            <a:r>
              <a:rPr lang="en-US" dirty="0"/>
              <a:t>, </a:t>
            </a:r>
            <a:r>
              <a:rPr lang="en-US" i="1" dirty="0"/>
              <a:t>e</a:t>
            </a:r>
            <a:r>
              <a:rPr lang="en-US" dirty="0"/>
              <a:t>, </a:t>
            </a:r>
            <a:r>
              <a:rPr lang="en-US" i="1" dirty="0" err="1"/>
              <a:t>i</a:t>
            </a:r>
            <a:r>
              <a:rPr lang="en-US" i="1" dirty="0"/>
              <a:t> </a:t>
            </a:r>
            <a:r>
              <a:rPr lang="en-US" dirty="0"/>
              <a:t>are all proper descendants of </a:t>
            </a:r>
            <a:r>
              <a:rPr lang="en-US" i="1" dirty="0"/>
              <a:t>g </a:t>
            </a:r>
            <a:r>
              <a:rPr lang="en-US" dirty="0"/>
              <a:t>in the DFS-forest, and </a:t>
            </a:r>
            <a:r>
              <a:rPr lang="en-US" i="1" dirty="0"/>
              <a:t>g </a:t>
            </a:r>
            <a:r>
              <a:rPr lang="en-US" dirty="0"/>
              <a:t>has no other descendants.</a:t>
            </a:r>
          </a:p>
        </p:txBody>
      </p:sp>
      <p:pic>
        <p:nvPicPr>
          <p:cNvPr id="4" name="Picture 3">
            <a:extLst>
              <a:ext uri="{FF2B5EF4-FFF2-40B4-BE49-F238E27FC236}">
                <a16:creationId xmlns="" xmlns:a16="http://schemas.microsoft.com/office/drawing/2014/main" id="{CBC3B9FB-D99C-464E-AA89-64005D291B95}"/>
              </a:ext>
            </a:extLst>
          </p:cNvPr>
          <p:cNvPicPr>
            <a:picLocks noChangeAspect="1"/>
          </p:cNvPicPr>
          <p:nvPr/>
        </p:nvPicPr>
        <p:blipFill>
          <a:blip r:embed="rId2" cstate="print"/>
          <a:stretch>
            <a:fillRect/>
          </a:stretch>
        </p:blipFill>
        <p:spPr>
          <a:xfrm>
            <a:off x="2555689" y="2503504"/>
            <a:ext cx="5740471" cy="2414726"/>
          </a:xfrm>
          <a:prstGeom prst="rect">
            <a:avLst/>
          </a:prstGeom>
        </p:spPr>
      </p:pic>
    </p:spTree>
    <p:extLst>
      <p:ext uri="{BB962C8B-B14F-4D97-AF65-F5344CB8AC3E}">
        <p14:creationId xmlns="" xmlns:p14="http://schemas.microsoft.com/office/powerpoint/2010/main" val="16715425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E94F66A-4CBF-4F6D-8FDE-B57A0A2F7EB2}"/>
              </a:ext>
            </a:extLst>
          </p:cNvPr>
          <p:cNvSpPr>
            <a:spLocks noGrp="1"/>
          </p:cNvSpPr>
          <p:nvPr>
            <p:ph type="title"/>
          </p:nvPr>
        </p:nvSpPr>
        <p:spPr/>
        <p:txBody>
          <a:bodyPr/>
          <a:lstStyle/>
          <a:p>
            <a:r>
              <a:rPr lang="en-US" dirty="0"/>
              <a:t>Proving Only-if Direction of Cycle Theorem</a:t>
            </a:r>
          </a:p>
        </p:txBody>
      </p:sp>
      <p:sp>
        <p:nvSpPr>
          <p:cNvPr id="3" name="Content Placeholder 2">
            <a:extLst>
              <a:ext uri="{FF2B5EF4-FFF2-40B4-BE49-F238E27FC236}">
                <a16:creationId xmlns="" xmlns:a16="http://schemas.microsoft.com/office/drawing/2014/main" id="{A49F7DFE-EA17-40AA-A1A6-62E906DC9DA8}"/>
              </a:ext>
            </a:extLst>
          </p:cNvPr>
          <p:cNvSpPr>
            <a:spLocks noGrp="1"/>
          </p:cNvSpPr>
          <p:nvPr>
            <p:ph idx="1"/>
          </p:nvPr>
        </p:nvSpPr>
        <p:spPr/>
        <p:txBody>
          <a:bodyPr>
            <a:normAutofit/>
          </a:bodyPr>
          <a:lstStyle/>
          <a:p>
            <a:r>
              <a:rPr lang="en-US" dirty="0"/>
              <a:t>We will now prove that if </a:t>
            </a:r>
            <a:r>
              <a:rPr lang="en-US" i="1" dirty="0"/>
              <a:t>G </a:t>
            </a:r>
            <a:r>
              <a:rPr lang="en-US" dirty="0"/>
              <a:t>has a cycle, then there must be a backward edge in the DFS-forest.</a:t>
            </a:r>
          </a:p>
          <a:p>
            <a:r>
              <a:rPr lang="en-US" dirty="0"/>
              <a:t>Suppose that the cycle is </a:t>
            </a:r>
            <a:r>
              <a:rPr lang="en-US" i="1" dirty="0"/>
              <a:t>v</a:t>
            </a:r>
            <a:r>
              <a:rPr lang="en-US" dirty="0"/>
              <a:t>1 </a:t>
            </a:r>
            <a:r>
              <a:rPr lang="en-US" dirty="0">
                <a:sym typeface="Wingdings" panose="05000000000000000000" pitchFamily="2" charset="2"/>
              </a:rPr>
              <a:t></a:t>
            </a:r>
            <a:r>
              <a:rPr lang="en-US" i="1" dirty="0"/>
              <a:t> v</a:t>
            </a:r>
            <a:r>
              <a:rPr lang="en-US" dirty="0"/>
              <a:t>2 </a:t>
            </a:r>
            <a:r>
              <a:rPr lang="en-US" i="1" dirty="0"/>
              <a:t>!</a:t>
            </a:r>
            <a:r>
              <a:rPr lang="en-US" i="1" dirty="0">
                <a:sym typeface="Wingdings" panose="05000000000000000000" pitchFamily="2" charset="2"/>
              </a:rPr>
              <a:t>… </a:t>
            </a:r>
            <a:r>
              <a:rPr lang="en-US" i="1" dirty="0"/>
              <a:t> </a:t>
            </a:r>
            <a:r>
              <a:rPr lang="en-US" i="1" dirty="0" err="1"/>
              <a:t>vl</a:t>
            </a:r>
            <a:r>
              <a:rPr lang="en-US" i="1" dirty="0"/>
              <a:t> </a:t>
            </a:r>
            <a:r>
              <a:rPr lang="en-US" i="1" dirty="0">
                <a:sym typeface="Wingdings" panose="05000000000000000000" pitchFamily="2" charset="2"/>
              </a:rPr>
              <a:t></a:t>
            </a:r>
            <a:r>
              <a:rPr lang="en-US" i="1" dirty="0"/>
              <a:t> v</a:t>
            </a:r>
            <a:r>
              <a:rPr lang="en-US" dirty="0"/>
              <a:t>1.</a:t>
            </a:r>
          </a:p>
          <a:p>
            <a:r>
              <a:rPr lang="en-US" dirty="0"/>
              <a:t>Let </a:t>
            </a:r>
            <a:r>
              <a:rPr lang="en-US" i="1" dirty="0"/>
              <a:t>vi </a:t>
            </a:r>
            <a:r>
              <a:rPr lang="en-US" dirty="0"/>
              <a:t>, for some </a:t>
            </a:r>
            <a:r>
              <a:rPr lang="en-US" i="1" dirty="0" err="1"/>
              <a:t>i</a:t>
            </a:r>
            <a:r>
              <a:rPr lang="en-US" i="1" dirty="0"/>
              <a:t> </a:t>
            </a:r>
            <a:r>
              <a:rPr lang="en-US" i="1" dirty="0">
                <a:sym typeface="Wingdings" panose="05000000000000000000" pitchFamily="2" charset="2"/>
              </a:rPr>
              <a:t></a:t>
            </a:r>
            <a:r>
              <a:rPr lang="en-US" i="1" dirty="0"/>
              <a:t> </a:t>
            </a:r>
            <a:r>
              <a:rPr lang="en-US" dirty="0"/>
              <a:t>[1</a:t>
            </a:r>
            <a:r>
              <a:rPr lang="en-US" i="1" dirty="0"/>
              <a:t>, l </a:t>
            </a:r>
            <a:r>
              <a:rPr lang="en-US" dirty="0"/>
              <a:t>], be the vertex in the cycle that is the first to enter the stack. Then, by the white path theorem, all the other vertices in the cycle must be proper descendants of </a:t>
            </a:r>
            <a:r>
              <a:rPr lang="en-US" i="1" dirty="0"/>
              <a:t>vi </a:t>
            </a:r>
            <a:r>
              <a:rPr lang="en-US" dirty="0"/>
              <a:t>in the DFS-forest. This means that the edge pointing to </a:t>
            </a:r>
            <a:r>
              <a:rPr lang="en-US" i="1" dirty="0"/>
              <a:t>vi </a:t>
            </a:r>
            <a:r>
              <a:rPr lang="en-US" dirty="0"/>
              <a:t>in the cycle is a back edge.</a:t>
            </a:r>
          </a:p>
          <a:p>
            <a:r>
              <a:rPr lang="en-US" dirty="0"/>
              <a:t>We thus have completed the proof of the cycle theorem.</a:t>
            </a:r>
          </a:p>
        </p:txBody>
      </p:sp>
    </p:spTree>
    <p:extLst>
      <p:ext uri="{BB962C8B-B14F-4D97-AF65-F5344CB8AC3E}">
        <p14:creationId xmlns="" xmlns:p14="http://schemas.microsoft.com/office/powerpoint/2010/main" val="12239771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9ABCCDE8-1558-4C1F-815C-69237CC11862}"/>
              </a:ext>
            </a:extLst>
          </p:cNvPr>
          <p:cNvSpPr>
            <a:spLocks noGrp="1"/>
          </p:cNvSpPr>
          <p:nvPr>
            <p:ph type="title"/>
          </p:nvPr>
        </p:nvSpPr>
        <p:spPr/>
        <p:txBody>
          <a:bodyPr/>
          <a:lstStyle/>
          <a:p>
            <a:r>
              <a:rPr lang="en-US" dirty="0"/>
              <a:t>Cycle Detection</a:t>
            </a:r>
          </a:p>
        </p:txBody>
      </p:sp>
      <p:sp>
        <p:nvSpPr>
          <p:cNvPr id="2" name="Content Placeholder 1">
            <a:extLst>
              <a:ext uri="{FF2B5EF4-FFF2-40B4-BE49-F238E27FC236}">
                <a16:creationId xmlns="" xmlns:a16="http://schemas.microsoft.com/office/drawing/2014/main" id="{1AC98063-ECC0-4A19-BAE0-5209F6AF11F1}"/>
              </a:ext>
            </a:extLst>
          </p:cNvPr>
          <p:cNvSpPr>
            <a:spLocks noGrp="1"/>
          </p:cNvSpPr>
          <p:nvPr>
            <p:ph idx="1"/>
          </p:nvPr>
        </p:nvSpPr>
        <p:spPr/>
        <p:txBody>
          <a:bodyPr>
            <a:normAutofit lnSpcReduction="10000"/>
          </a:bodyPr>
          <a:lstStyle/>
          <a:p>
            <a:r>
              <a:rPr lang="en-US" sz="3200" dirty="0"/>
              <a:t>Equipped with the cycle theorem, we know that we can detect whether G has a cycle easily after having obtained a DFS-forest T:</a:t>
            </a:r>
          </a:p>
          <a:p>
            <a:pPr lvl="1"/>
            <a:r>
              <a:rPr lang="en-US" sz="2800" dirty="0"/>
              <a:t>For every edge (u, v), determine whether it is a backward edge in O(1) time.</a:t>
            </a:r>
          </a:p>
          <a:p>
            <a:r>
              <a:rPr lang="en-US" sz="3200" dirty="0"/>
              <a:t>If no backward edges are found, decide G to be a DAG, otherwise, G has at least a cycle.</a:t>
            </a:r>
          </a:p>
          <a:p>
            <a:r>
              <a:rPr lang="en-US" sz="3200" dirty="0"/>
              <a:t>Only O(|E|) extra time is needed.</a:t>
            </a:r>
          </a:p>
          <a:p>
            <a:r>
              <a:rPr lang="en-US" sz="3200" dirty="0"/>
              <a:t>We now conclude that the cycle detection problem can be solved in O(|V| + |E|) time.</a:t>
            </a:r>
            <a:endParaRPr lang="en-US" sz="4400" dirty="0"/>
          </a:p>
        </p:txBody>
      </p:sp>
    </p:spTree>
    <p:extLst>
      <p:ext uri="{BB962C8B-B14F-4D97-AF65-F5344CB8AC3E}">
        <p14:creationId xmlns="" xmlns:p14="http://schemas.microsoft.com/office/powerpoint/2010/main" val="9101938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9ABCCDE8-1558-4C1F-815C-69237CC11862}"/>
              </a:ext>
            </a:extLst>
          </p:cNvPr>
          <p:cNvSpPr>
            <a:spLocks noGrp="1"/>
          </p:cNvSpPr>
          <p:nvPr>
            <p:ph type="title"/>
          </p:nvPr>
        </p:nvSpPr>
        <p:spPr/>
        <p:txBody>
          <a:bodyPr/>
          <a:lstStyle/>
          <a:p>
            <a:r>
              <a:rPr lang="en-US" dirty="0"/>
              <a:t>Topological Order: Application of DFS</a:t>
            </a:r>
          </a:p>
        </p:txBody>
      </p:sp>
      <p:sp>
        <p:nvSpPr>
          <p:cNvPr id="2" name="Content Placeholder 1">
            <a:extLst>
              <a:ext uri="{FF2B5EF4-FFF2-40B4-BE49-F238E27FC236}">
                <a16:creationId xmlns="" xmlns:a16="http://schemas.microsoft.com/office/drawing/2014/main" id="{1AC98063-ECC0-4A19-BAE0-5209F6AF11F1}"/>
              </a:ext>
            </a:extLst>
          </p:cNvPr>
          <p:cNvSpPr>
            <a:spLocks noGrp="1"/>
          </p:cNvSpPr>
          <p:nvPr>
            <p:ph idx="1"/>
          </p:nvPr>
        </p:nvSpPr>
        <p:spPr/>
        <p:txBody>
          <a:bodyPr>
            <a:normAutofit/>
          </a:bodyPr>
          <a:lstStyle/>
          <a:p>
            <a:r>
              <a:rPr lang="en-US" sz="3600" dirty="0"/>
              <a:t>Let G = (V, E) be a directed acyclic graph (DAG).</a:t>
            </a:r>
          </a:p>
          <a:p>
            <a:r>
              <a:rPr lang="en-US" sz="3600" dirty="0"/>
              <a:t>A topological order of G is an ordering of the vertices in V such that, for any edge (u, v), it must hold that u precedes v in the ordering.</a:t>
            </a:r>
            <a:endParaRPr lang="en-US" sz="5400" dirty="0"/>
          </a:p>
        </p:txBody>
      </p:sp>
    </p:spTree>
    <p:extLst>
      <p:ext uri="{BB962C8B-B14F-4D97-AF65-F5344CB8AC3E}">
        <p14:creationId xmlns="" xmlns:p14="http://schemas.microsoft.com/office/powerpoint/2010/main" val="15486594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9ABCCDE8-1558-4C1F-815C-69237CC11862}"/>
              </a:ext>
            </a:extLst>
          </p:cNvPr>
          <p:cNvSpPr>
            <a:spLocks noGrp="1"/>
          </p:cNvSpPr>
          <p:nvPr>
            <p:ph type="title"/>
          </p:nvPr>
        </p:nvSpPr>
        <p:spPr/>
        <p:txBody>
          <a:bodyPr/>
          <a:lstStyle/>
          <a:p>
            <a:r>
              <a:rPr lang="en-US" dirty="0"/>
              <a:t>Example</a:t>
            </a:r>
          </a:p>
        </p:txBody>
      </p:sp>
      <p:sp>
        <p:nvSpPr>
          <p:cNvPr id="2" name="Content Placeholder 1">
            <a:extLst>
              <a:ext uri="{FF2B5EF4-FFF2-40B4-BE49-F238E27FC236}">
                <a16:creationId xmlns="" xmlns:a16="http://schemas.microsoft.com/office/drawing/2014/main" id="{1AC98063-ECC0-4A19-BAE0-5209F6AF11F1}"/>
              </a:ext>
            </a:extLst>
          </p:cNvPr>
          <p:cNvSpPr>
            <a:spLocks noGrp="1"/>
          </p:cNvSpPr>
          <p:nvPr>
            <p:ph sz="half" idx="1"/>
          </p:nvPr>
        </p:nvSpPr>
        <p:spPr/>
        <p:txBody>
          <a:bodyPr>
            <a:normAutofit/>
          </a:bodyPr>
          <a:lstStyle/>
          <a:p>
            <a:r>
              <a:rPr lang="en-US" dirty="0"/>
              <a:t>The following are two possible topological orders:</a:t>
            </a:r>
          </a:p>
          <a:p>
            <a:pPr marL="0" indent="0">
              <a:buNone/>
            </a:pPr>
            <a:r>
              <a:rPr lang="pt-BR" i="1" dirty="0"/>
              <a:t>h</a:t>
            </a:r>
            <a:r>
              <a:rPr lang="pt-BR" dirty="0"/>
              <a:t>, </a:t>
            </a:r>
            <a:r>
              <a:rPr lang="pt-BR" i="1" dirty="0"/>
              <a:t>a</a:t>
            </a:r>
            <a:r>
              <a:rPr lang="pt-BR" dirty="0"/>
              <a:t>, </a:t>
            </a:r>
            <a:r>
              <a:rPr lang="pt-BR" i="1" dirty="0"/>
              <a:t>b</a:t>
            </a:r>
            <a:r>
              <a:rPr lang="pt-BR" dirty="0"/>
              <a:t>, </a:t>
            </a:r>
            <a:r>
              <a:rPr lang="pt-BR" i="1" dirty="0"/>
              <a:t>c</a:t>
            </a:r>
            <a:r>
              <a:rPr lang="pt-BR" dirty="0"/>
              <a:t>, </a:t>
            </a:r>
            <a:r>
              <a:rPr lang="pt-BR" i="1" dirty="0"/>
              <a:t>d</a:t>
            </a:r>
            <a:r>
              <a:rPr lang="pt-BR" dirty="0"/>
              <a:t>, </a:t>
            </a:r>
            <a:r>
              <a:rPr lang="pt-BR" i="1" dirty="0"/>
              <a:t>g</a:t>
            </a:r>
            <a:r>
              <a:rPr lang="pt-BR" dirty="0"/>
              <a:t>, </a:t>
            </a:r>
            <a:r>
              <a:rPr lang="pt-BR" i="1" dirty="0"/>
              <a:t>i </a:t>
            </a:r>
            <a:r>
              <a:rPr lang="pt-BR" dirty="0"/>
              <a:t>, </a:t>
            </a:r>
            <a:r>
              <a:rPr lang="pt-BR" i="1" dirty="0"/>
              <a:t>f </a:t>
            </a:r>
            <a:r>
              <a:rPr lang="pt-BR" dirty="0"/>
              <a:t>, </a:t>
            </a:r>
            <a:r>
              <a:rPr lang="pt-BR" i="1" dirty="0"/>
              <a:t>e</a:t>
            </a:r>
          </a:p>
          <a:p>
            <a:pPr marL="0" indent="0">
              <a:buNone/>
            </a:pPr>
            <a:r>
              <a:rPr lang="pt-BR" i="1" dirty="0"/>
              <a:t>a</a:t>
            </a:r>
            <a:r>
              <a:rPr lang="pt-BR" dirty="0"/>
              <a:t>, </a:t>
            </a:r>
            <a:r>
              <a:rPr lang="pt-BR" i="1" dirty="0"/>
              <a:t>b</a:t>
            </a:r>
            <a:r>
              <a:rPr lang="pt-BR" dirty="0"/>
              <a:t>, </a:t>
            </a:r>
            <a:r>
              <a:rPr lang="pt-BR" i="1" dirty="0"/>
              <a:t>c</a:t>
            </a:r>
            <a:r>
              <a:rPr lang="pt-BR" dirty="0"/>
              <a:t>, </a:t>
            </a:r>
            <a:r>
              <a:rPr lang="pt-BR" i="1" dirty="0"/>
              <a:t>d</a:t>
            </a:r>
            <a:r>
              <a:rPr lang="pt-BR" dirty="0"/>
              <a:t>, </a:t>
            </a:r>
            <a:r>
              <a:rPr lang="pt-BR" i="1" dirty="0"/>
              <a:t>g</a:t>
            </a:r>
            <a:r>
              <a:rPr lang="pt-BR" dirty="0"/>
              <a:t>, </a:t>
            </a:r>
            <a:r>
              <a:rPr lang="pt-BR" i="1" dirty="0"/>
              <a:t>i </a:t>
            </a:r>
            <a:r>
              <a:rPr lang="pt-BR" dirty="0"/>
              <a:t>, </a:t>
            </a:r>
            <a:r>
              <a:rPr lang="pt-BR" i="1" dirty="0"/>
              <a:t>f </a:t>
            </a:r>
            <a:r>
              <a:rPr lang="pt-BR" dirty="0"/>
              <a:t>, </a:t>
            </a:r>
            <a:r>
              <a:rPr lang="pt-BR" i="1" dirty="0"/>
              <a:t>e, h</a:t>
            </a:r>
          </a:p>
          <a:p>
            <a:r>
              <a:rPr lang="en-US" dirty="0"/>
              <a:t>An ordering that is not a topological order:</a:t>
            </a:r>
          </a:p>
          <a:p>
            <a:pPr marL="0" indent="0">
              <a:buNone/>
            </a:pPr>
            <a:r>
              <a:rPr lang="en-US" i="1" dirty="0"/>
              <a:t>h, a</a:t>
            </a:r>
            <a:r>
              <a:rPr lang="en-US" dirty="0"/>
              <a:t>, </a:t>
            </a:r>
            <a:r>
              <a:rPr lang="en-US" i="1" dirty="0"/>
              <a:t>d</a:t>
            </a:r>
            <a:r>
              <a:rPr lang="en-US" dirty="0"/>
              <a:t>, </a:t>
            </a:r>
            <a:r>
              <a:rPr lang="en-US" i="1" dirty="0"/>
              <a:t>b</a:t>
            </a:r>
            <a:r>
              <a:rPr lang="en-US" dirty="0"/>
              <a:t>, </a:t>
            </a:r>
            <a:r>
              <a:rPr lang="en-US" i="1" dirty="0"/>
              <a:t>c</a:t>
            </a:r>
            <a:r>
              <a:rPr lang="en-US" dirty="0"/>
              <a:t>, </a:t>
            </a:r>
            <a:r>
              <a:rPr lang="en-US" i="1" dirty="0"/>
              <a:t>g</a:t>
            </a:r>
            <a:r>
              <a:rPr lang="en-US" dirty="0"/>
              <a:t>, </a:t>
            </a:r>
            <a:r>
              <a:rPr lang="en-US" i="1" dirty="0" err="1"/>
              <a:t>i</a:t>
            </a:r>
            <a:r>
              <a:rPr lang="en-US" i="1" dirty="0"/>
              <a:t> </a:t>
            </a:r>
            <a:r>
              <a:rPr lang="en-US" dirty="0"/>
              <a:t>, </a:t>
            </a:r>
            <a:r>
              <a:rPr lang="en-US" i="1" dirty="0"/>
              <a:t>f </a:t>
            </a:r>
            <a:r>
              <a:rPr lang="en-US" dirty="0"/>
              <a:t>, </a:t>
            </a:r>
            <a:r>
              <a:rPr lang="en-US" i="1" dirty="0"/>
              <a:t>e </a:t>
            </a:r>
            <a:r>
              <a:rPr lang="en-US" dirty="0"/>
              <a:t>(because of edge (</a:t>
            </a:r>
            <a:r>
              <a:rPr lang="en-US" i="1" dirty="0"/>
              <a:t>c, d</a:t>
            </a:r>
            <a:r>
              <a:rPr lang="en-US" dirty="0"/>
              <a:t>)).</a:t>
            </a:r>
            <a:endParaRPr lang="en-US" sz="5400" dirty="0"/>
          </a:p>
        </p:txBody>
      </p:sp>
      <p:sp>
        <p:nvSpPr>
          <p:cNvPr id="4" name="Content Placeholder 3">
            <a:extLst>
              <a:ext uri="{FF2B5EF4-FFF2-40B4-BE49-F238E27FC236}">
                <a16:creationId xmlns="" xmlns:a16="http://schemas.microsoft.com/office/drawing/2014/main" id="{49204E45-B0FC-4383-B0EC-436F18C6D135}"/>
              </a:ext>
            </a:extLst>
          </p:cNvPr>
          <p:cNvSpPr>
            <a:spLocks noGrp="1"/>
          </p:cNvSpPr>
          <p:nvPr>
            <p:ph sz="half" idx="2"/>
          </p:nvPr>
        </p:nvSpPr>
        <p:spPr/>
        <p:txBody>
          <a:bodyPr/>
          <a:lstStyle/>
          <a:p>
            <a:endParaRPr lang="en-US"/>
          </a:p>
        </p:txBody>
      </p:sp>
      <p:pic>
        <p:nvPicPr>
          <p:cNvPr id="3" name="Picture 2">
            <a:extLst>
              <a:ext uri="{FF2B5EF4-FFF2-40B4-BE49-F238E27FC236}">
                <a16:creationId xmlns="" xmlns:a16="http://schemas.microsoft.com/office/drawing/2014/main" id="{47D94587-F85B-49A7-9C7F-44B8AB9D90EA}"/>
              </a:ext>
            </a:extLst>
          </p:cNvPr>
          <p:cNvPicPr>
            <a:picLocks noChangeAspect="1"/>
          </p:cNvPicPr>
          <p:nvPr/>
        </p:nvPicPr>
        <p:blipFill>
          <a:blip r:embed="rId2" cstate="print"/>
          <a:stretch>
            <a:fillRect/>
          </a:stretch>
        </p:blipFill>
        <p:spPr>
          <a:xfrm>
            <a:off x="6172200" y="1825625"/>
            <a:ext cx="5181600" cy="3485141"/>
          </a:xfrm>
          <a:prstGeom prst="rect">
            <a:avLst/>
          </a:prstGeom>
        </p:spPr>
      </p:pic>
    </p:spTree>
    <p:extLst>
      <p:ext uri="{BB962C8B-B14F-4D97-AF65-F5344CB8AC3E}">
        <p14:creationId xmlns="" xmlns:p14="http://schemas.microsoft.com/office/powerpoint/2010/main" val="35550325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9ABCCDE8-1558-4C1F-815C-69237CC11862}"/>
              </a:ext>
            </a:extLst>
          </p:cNvPr>
          <p:cNvSpPr>
            <a:spLocks noGrp="1"/>
          </p:cNvSpPr>
          <p:nvPr>
            <p:ph type="title"/>
          </p:nvPr>
        </p:nvSpPr>
        <p:spPr/>
        <p:txBody>
          <a:bodyPr/>
          <a:lstStyle/>
          <a:p>
            <a:r>
              <a:rPr lang="en-US" dirty="0"/>
              <a:t>Remarks</a:t>
            </a:r>
          </a:p>
        </p:txBody>
      </p:sp>
      <p:sp>
        <p:nvSpPr>
          <p:cNvPr id="2" name="Content Placeholder 1">
            <a:extLst>
              <a:ext uri="{FF2B5EF4-FFF2-40B4-BE49-F238E27FC236}">
                <a16:creationId xmlns="" xmlns:a16="http://schemas.microsoft.com/office/drawing/2014/main" id="{1AC98063-ECC0-4A19-BAE0-5209F6AF11F1}"/>
              </a:ext>
            </a:extLst>
          </p:cNvPr>
          <p:cNvSpPr>
            <a:spLocks noGrp="1"/>
          </p:cNvSpPr>
          <p:nvPr>
            <p:ph idx="1"/>
          </p:nvPr>
        </p:nvSpPr>
        <p:spPr/>
        <p:txBody>
          <a:bodyPr>
            <a:normAutofit/>
          </a:bodyPr>
          <a:lstStyle/>
          <a:p>
            <a:r>
              <a:rPr lang="en-US" sz="3600" dirty="0"/>
              <a:t>A directed cyclic graph has no topological orders (think: why?)</a:t>
            </a:r>
          </a:p>
          <a:p>
            <a:r>
              <a:rPr lang="en-US" sz="3600" dirty="0"/>
              <a:t>Every DAG has a topological order.</a:t>
            </a:r>
          </a:p>
          <a:p>
            <a:r>
              <a:rPr lang="en-US" sz="3600" dirty="0"/>
              <a:t>This will be a corollary from our subsequent discussion.</a:t>
            </a:r>
            <a:endParaRPr lang="en-US" sz="6600" dirty="0"/>
          </a:p>
        </p:txBody>
      </p:sp>
    </p:spTree>
    <p:extLst>
      <p:ext uri="{BB962C8B-B14F-4D97-AF65-F5344CB8AC3E}">
        <p14:creationId xmlns="" xmlns:p14="http://schemas.microsoft.com/office/powerpoint/2010/main" val="13121779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9ABCCDE8-1558-4C1F-815C-69237CC11862}"/>
              </a:ext>
            </a:extLst>
          </p:cNvPr>
          <p:cNvSpPr>
            <a:spLocks noGrp="1"/>
          </p:cNvSpPr>
          <p:nvPr>
            <p:ph type="title"/>
          </p:nvPr>
        </p:nvSpPr>
        <p:spPr/>
        <p:txBody>
          <a:bodyPr/>
          <a:lstStyle/>
          <a:p>
            <a:r>
              <a:rPr lang="en-US" dirty="0"/>
              <a:t>Topological Sort Problem</a:t>
            </a:r>
          </a:p>
        </p:txBody>
      </p:sp>
      <p:sp>
        <p:nvSpPr>
          <p:cNvPr id="2" name="Content Placeholder 1">
            <a:extLst>
              <a:ext uri="{FF2B5EF4-FFF2-40B4-BE49-F238E27FC236}">
                <a16:creationId xmlns="" xmlns:a16="http://schemas.microsoft.com/office/drawing/2014/main" id="{1AC98063-ECC0-4A19-BAE0-5209F6AF11F1}"/>
              </a:ext>
            </a:extLst>
          </p:cNvPr>
          <p:cNvSpPr>
            <a:spLocks noGrp="1"/>
          </p:cNvSpPr>
          <p:nvPr>
            <p:ph idx="1"/>
          </p:nvPr>
        </p:nvSpPr>
        <p:spPr/>
        <p:txBody>
          <a:bodyPr>
            <a:normAutofit/>
          </a:bodyPr>
          <a:lstStyle/>
          <a:p>
            <a:r>
              <a:rPr lang="en-US" sz="4400" dirty="0"/>
              <a:t>Let </a:t>
            </a:r>
            <a:r>
              <a:rPr lang="en-US" sz="4400" i="1" dirty="0"/>
              <a:t>G </a:t>
            </a:r>
            <a:r>
              <a:rPr lang="en-US" sz="4400" dirty="0"/>
              <a:t>= (</a:t>
            </a:r>
            <a:r>
              <a:rPr lang="en-US" sz="4400" i="1" dirty="0"/>
              <a:t>V, E</a:t>
            </a:r>
            <a:r>
              <a:rPr lang="en-US" sz="4400" dirty="0"/>
              <a:t>) be a directed acyclic graph (DAG). The goal of topological sort is to produce a topological order of </a:t>
            </a:r>
            <a:r>
              <a:rPr lang="en-US" sz="4400" i="1" dirty="0"/>
              <a:t>G</a:t>
            </a:r>
            <a:r>
              <a:rPr lang="en-US" sz="4400" dirty="0"/>
              <a:t>.</a:t>
            </a:r>
            <a:endParaRPr lang="en-US" sz="9600" dirty="0"/>
          </a:p>
        </p:txBody>
      </p:sp>
    </p:spTree>
    <p:extLst>
      <p:ext uri="{BB962C8B-B14F-4D97-AF65-F5344CB8AC3E}">
        <p14:creationId xmlns="" xmlns:p14="http://schemas.microsoft.com/office/powerpoint/2010/main" val="1344636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9ABCCDE8-1558-4C1F-815C-69237CC11862}"/>
              </a:ext>
            </a:extLst>
          </p:cNvPr>
          <p:cNvSpPr>
            <a:spLocks noGrp="1"/>
          </p:cNvSpPr>
          <p:nvPr>
            <p:ph type="title"/>
          </p:nvPr>
        </p:nvSpPr>
        <p:spPr/>
        <p:txBody>
          <a:bodyPr/>
          <a:lstStyle/>
          <a:p>
            <a:r>
              <a:rPr lang="en-US" dirty="0"/>
              <a:t>Topological Sort Algorithm</a:t>
            </a:r>
          </a:p>
        </p:txBody>
      </p:sp>
      <p:sp>
        <p:nvSpPr>
          <p:cNvPr id="2" name="Content Placeholder 1">
            <a:extLst>
              <a:ext uri="{FF2B5EF4-FFF2-40B4-BE49-F238E27FC236}">
                <a16:creationId xmlns="" xmlns:a16="http://schemas.microsoft.com/office/drawing/2014/main" id="{1AC98063-ECC0-4A19-BAE0-5209F6AF11F1}"/>
              </a:ext>
            </a:extLst>
          </p:cNvPr>
          <p:cNvSpPr>
            <a:spLocks noGrp="1"/>
          </p:cNvSpPr>
          <p:nvPr>
            <p:ph idx="1"/>
          </p:nvPr>
        </p:nvSpPr>
        <p:spPr/>
        <p:txBody>
          <a:bodyPr>
            <a:normAutofit/>
          </a:bodyPr>
          <a:lstStyle/>
          <a:p>
            <a:r>
              <a:rPr lang="en-US" sz="3600" dirty="0"/>
              <a:t>Create an empty list L.</a:t>
            </a:r>
          </a:p>
          <a:p>
            <a:r>
              <a:rPr lang="en-US" sz="3600" dirty="0"/>
              <a:t>Run DFS on G. Whenever a vertex v turns black (i.e., it is popped from the stack), append it to L.</a:t>
            </a:r>
          </a:p>
          <a:p>
            <a:r>
              <a:rPr lang="en-US" sz="3600" dirty="0"/>
              <a:t>Output the reverse order of L.</a:t>
            </a:r>
          </a:p>
          <a:p>
            <a:pPr marL="0" indent="0">
              <a:buNone/>
            </a:pPr>
            <a:r>
              <a:rPr lang="en-US" sz="3600" dirty="0"/>
              <a:t>The total running time is clearly O(|V| + |E|).</a:t>
            </a:r>
            <a:endParaRPr lang="en-US" sz="13800" dirty="0"/>
          </a:p>
        </p:txBody>
      </p:sp>
    </p:spTree>
    <p:extLst>
      <p:ext uri="{BB962C8B-B14F-4D97-AF65-F5344CB8AC3E}">
        <p14:creationId xmlns="" xmlns:p14="http://schemas.microsoft.com/office/powerpoint/2010/main" val="25231468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9ABCCDE8-1558-4C1F-815C-69237CC11862}"/>
              </a:ext>
            </a:extLst>
          </p:cNvPr>
          <p:cNvSpPr>
            <a:spLocks noGrp="1"/>
          </p:cNvSpPr>
          <p:nvPr>
            <p:ph type="title"/>
          </p:nvPr>
        </p:nvSpPr>
        <p:spPr/>
        <p:txBody>
          <a:bodyPr/>
          <a:lstStyle/>
          <a:p>
            <a:r>
              <a:rPr lang="en-US" dirty="0"/>
              <a:t>Example1</a:t>
            </a:r>
          </a:p>
        </p:txBody>
      </p:sp>
      <p:sp>
        <p:nvSpPr>
          <p:cNvPr id="2" name="Content Placeholder 1">
            <a:extLst>
              <a:ext uri="{FF2B5EF4-FFF2-40B4-BE49-F238E27FC236}">
                <a16:creationId xmlns="" xmlns:a16="http://schemas.microsoft.com/office/drawing/2014/main" id="{1AC98063-ECC0-4A19-BAE0-5209F6AF11F1}"/>
              </a:ext>
            </a:extLst>
          </p:cNvPr>
          <p:cNvSpPr>
            <a:spLocks noGrp="1"/>
          </p:cNvSpPr>
          <p:nvPr>
            <p:ph sz="half" idx="1"/>
          </p:nvPr>
        </p:nvSpPr>
        <p:spPr/>
        <p:txBody>
          <a:bodyPr>
            <a:normAutofit/>
          </a:bodyPr>
          <a:lstStyle/>
          <a:p>
            <a:r>
              <a:rPr lang="en-US" dirty="0"/>
              <a:t>Suppose that we run DFS starting from </a:t>
            </a:r>
            <a:r>
              <a:rPr lang="en-US" i="1" dirty="0"/>
              <a:t>a</a:t>
            </a:r>
            <a:r>
              <a:rPr lang="en-US" dirty="0"/>
              <a:t>. The following is one possible order by which the vertices turn black:</a:t>
            </a:r>
          </a:p>
          <a:p>
            <a:pPr marL="0" indent="0">
              <a:buNone/>
            </a:pPr>
            <a:r>
              <a:rPr lang="pt-BR" i="1" dirty="0"/>
              <a:t>e</a:t>
            </a:r>
            <a:r>
              <a:rPr lang="pt-BR" dirty="0"/>
              <a:t>, </a:t>
            </a:r>
            <a:r>
              <a:rPr lang="pt-BR" i="1" dirty="0"/>
              <a:t>f </a:t>
            </a:r>
            <a:r>
              <a:rPr lang="pt-BR" dirty="0"/>
              <a:t>, </a:t>
            </a:r>
            <a:r>
              <a:rPr lang="pt-BR" i="1" dirty="0"/>
              <a:t>i </a:t>
            </a:r>
            <a:r>
              <a:rPr lang="pt-BR" dirty="0"/>
              <a:t>, </a:t>
            </a:r>
            <a:r>
              <a:rPr lang="pt-BR" i="1" dirty="0"/>
              <a:t>g</a:t>
            </a:r>
            <a:r>
              <a:rPr lang="pt-BR" dirty="0"/>
              <a:t>, </a:t>
            </a:r>
            <a:r>
              <a:rPr lang="pt-BR" i="1" dirty="0"/>
              <a:t>d</a:t>
            </a:r>
            <a:r>
              <a:rPr lang="pt-BR" dirty="0"/>
              <a:t>, </a:t>
            </a:r>
            <a:r>
              <a:rPr lang="pt-BR" i="1" dirty="0"/>
              <a:t>c</a:t>
            </a:r>
            <a:r>
              <a:rPr lang="pt-BR" dirty="0"/>
              <a:t>, </a:t>
            </a:r>
            <a:r>
              <a:rPr lang="pt-BR" i="1" dirty="0"/>
              <a:t>b</a:t>
            </a:r>
            <a:r>
              <a:rPr lang="pt-BR" dirty="0"/>
              <a:t>, </a:t>
            </a:r>
            <a:r>
              <a:rPr lang="pt-BR" i="1" dirty="0"/>
              <a:t>a</a:t>
            </a:r>
            <a:r>
              <a:rPr lang="pt-BR" dirty="0"/>
              <a:t>, </a:t>
            </a:r>
            <a:r>
              <a:rPr lang="pt-BR" i="1" dirty="0"/>
              <a:t>h</a:t>
            </a:r>
          </a:p>
          <a:p>
            <a:pPr marL="0" indent="0">
              <a:buNone/>
            </a:pPr>
            <a:endParaRPr lang="en-US" dirty="0"/>
          </a:p>
          <a:p>
            <a:pPr marL="0" indent="0">
              <a:buNone/>
            </a:pPr>
            <a:r>
              <a:rPr lang="en-US" dirty="0"/>
              <a:t>Therefore, we output </a:t>
            </a:r>
            <a:r>
              <a:rPr lang="en-US" i="1" dirty="0"/>
              <a:t>h</a:t>
            </a:r>
            <a:r>
              <a:rPr lang="en-US" dirty="0"/>
              <a:t>, </a:t>
            </a:r>
            <a:r>
              <a:rPr lang="en-US" i="1" dirty="0"/>
              <a:t>a</a:t>
            </a:r>
            <a:r>
              <a:rPr lang="en-US" dirty="0"/>
              <a:t>, </a:t>
            </a:r>
            <a:r>
              <a:rPr lang="en-US" i="1" dirty="0"/>
              <a:t>b</a:t>
            </a:r>
            <a:r>
              <a:rPr lang="en-US" dirty="0"/>
              <a:t>, </a:t>
            </a:r>
            <a:r>
              <a:rPr lang="en-US" i="1" dirty="0"/>
              <a:t>c</a:t>
            </a:r>
            <a:r>
              <a:rPr lang="en-US" dirty="0"/>
              <a:t>, </a:t>
            </a:r>
            <a:r>
              <a:rPr lang="en-US" i="1" dirty="0"/>
              <a:t>d</a:t>
            </a:r>
            <a:r>
              <a:rPr lang="en-US" dirty="0"/>
              <a:t>, </a:t>
            </a:r>
            <a:r>
              <a:rPr lang="en-US" i="1" dirty="0"/>
              <a:t>g</a:t>
            </a:r>
            <a:r>
              <a:rPr lang="en-US" dirty="0"/>
              <a:t>, </a:t>
            </a:r>
            <a:r>
              <a:rPr lang="en-US" i="1" dirty="0" err="1"/>
              <a:t>i</a:t>
            </a:r>
            <a:r>
              <a:rPr lang="en-US" i="1" dirty="0"/>
              <a:t> </a:t>
            </a:r>
            <a:r>
              <a:rPr lang="en-US" dirty="0"/>
              <a:t>, </a:t>
            </a:r>
            <a:r>
              <a:rPr lang="en-US" i="1" dirty="0"/>
              <a:t>f </a:t>
            </a:r>
            <a:r>
              <a:rPr lang="en-US" dirty="0"/>
              <a:t>, </a:t>
            </a:r>
            <a:r>
              <a:rPr lang="en-US" i="1" dirty="0"/>
              <a:t>e </a:t>
            </a:r>
            <a:r>
              <a:rPr lang="en-US" dirty="0"/>
              <a:t>as a topological order.</a:t>
            </a:r>
            <a:endParaRPr lang="en-US" sz="13800" dirty="0"/>
          </a:p>
        </p:txBody>
      </p:sp>
      <p:sp>
        <p:nvSpPr>
          <p:cNvPr id="4" name="Content Placeholder 3">
            <a:extLst>
              <a:ext uri="{FF2B5EF4-FFF2-40B4-BE49-F238E27FC236}">
                <a16:creationId xmlns="" xmlns:a16="http://schemas.microsoft.com/office/drawing/2014/main" id="{94ED3361-64DE-4F0E-B037-04C5D4C6BCEB}"/>
              </a:ext>
            </a:extLst>
          </p:cNvPr>
          <p:cNvSpPr>
            <a:spLocks noGrp="1"/>
          </p:cNvSpPr>
          <p:nvPr>
            <p:ph sz="half" idx="2"/>
          </p:nvPr>
        </p:nvSpPr>
        <p:spPr/>
        <p:txBody>
          <a:bodyPr/>
          <a:lstStyle/>
          <a:p>
            <a:endParaRPr lang="en-US"/>
          </a:p>
        </p:txBody>
      </p:sp>
      <p:pic>
        <p:nvPicPr>
          <p:cNvPr id="3" name="Picture 2">
            <a:extLst>
              <a:ext uri="{FF2B5EF4-FFF2-40B4-BE49-F238E27FC236}">
                <a16:creationId xmlns="" xmlns:a16="http://schemas.microsoft.com/office/drawing/2014/main" id="{F136E2E2-3B17-4AE5-8815-E4753ADBDF1D}"/>
              </a:ext>
            </a:extLst>
          </p:cNvPr>
          <p:cNvPicPr>
            <a:picLocks noChangeAspect="1"/>
          </p:cNvPicPr>
          <p:nvPr/>
        </p:nvPicPr>
        <p:blipFill>
          <a:blip r:embed="rId2" cstate="print"/>
          <a:stretch>
            <a:fillRect/>
          </a:stretch>
        </p:blipFill>
        <p:spPr>
          <a:xfrm>
            <a:off x="6172200" y="1825625"/>
            <a:ext cx="5179962" cy="3297093"/>
          </a:xfrm>
          <a:prstGeom prst="rect">
            <a:avLst/>
          </a:prstGeom>
        </p:spPr>
      </p:pic>
    </p:spTree>
    <p:extLst>
      <p:ext uri="{BB962C8B-B14F-4D97-AF65-F5344CB8AC3E}">
        <p14:creationId xmlns="" xmlns:p14="http://schemas.microsoft.com/office/powerpoint/2010/main" val="14365701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9ABCCDE8-1558-4C1F-815C-69237CC11862}"/>
              </a:ext>
            </a:extLst>
          </p:cNvPr>
          <p:cNvSpPr>
            <a:spLocks noGrp="1"/>
          </p:cNvSpPr>
          <p:nvPr>
            <p:ph type="title"/>
          </p:nvPr>
        </p:nvSpPr>
        <p:spPr/>
        <p:txBody>
          <a:bodyPr/>
          <a:lstStyle/>
          <a:p>
            <a:r>
              <a:rPr lang="en-US" dirty="0"/>
              <a:t>Example2</a:t>
            </a:r>
          </a:p>
        </p:txBody>
      </p:sp>
      <p:sp>
        <p:nvSpPr>
          <p:cNvPr id="2" name="Content Placeholder 1">
            <a:extLst>
              <a:ext uri="{FF2B5EF4-FFF2-40B4-BE49-F238E27FC236}">
                <a16:creationId xmlns="" xmlns:a16="http://schemas.microsoft.com/office/drawing/2014/main" id="{1AC98063-ECC0-4A19-BAE0-5209F6AF11F1}"/>
              </a:ext>
            </a:extLst>
          </p:cNvPr>
          <p:cNvSpPr>
            <a:spLocks noGrp="1"/>
          </p:cNvSpPr>
          <p:nvPr>
            <p:ph sz="half" idx="1"/>
          </p:nvPr>
        </p:nvSpPr>
        <p:spPr/>
        <p:txBody>
          <a:bodyPr>
            <a:normAutofit/>
          </a:bodyPr>
          <a:lstStyle/>
          <a:p>
            <a:r>
              <a:rPr lang="en-US" dirty="0"/>
              <a:t>Suppose that we run DFS starting from </a:t>
            </a:r>
            <a:r>
              <a:rPr lang="en-US" i="1" dirty="0"/>
              <a:t>d</a:t>
            </a:r>
            <a:r>
              <a:rPr lang="en-US" dirty="0"/>
              <a:t>, then restarting from </a:t>
            </a:r>
            <a:r>
              <a:rPr lang="en-US" i="1" dirty="0"/>
              <a:t>h</a:t>
            </a:r>
            <a:r>
              <a:rPr lang="en-US" dirty="0"/>
              <a:t>, and then from </a:t>
            </a:r>
            <a:r>
              <a:rPr lang="en-US" i="1" dirty="0"/>
              <a:t>a</a:t>
            </a:r>
            <a:r>
              <a:rPr lang="en-US" dirty="0"/>
              <a:t>. The following is one possible order by which the vertices turn black:</a:t>
            </a:r>
          </a:p>
          <a:p>
            <a:pPr marL="0" indent="0">
              <a:buNone/>
            </a:pPr>
            <a:r>
              <a:rPr lang="pt-BR" i="1" dirty="0"/>
              <a:t>e</a:t>
            </a:r>
            <a:r>
              <a:rPr lang="pt-BR" dirty="0"/>
              <a:t>, </a:t>
            </a:r>
            <a:r>
              <a:rPr lang="pt-BR" i="1" dirty="0"/>
              <a:t>f </a:t>
            </a:r>
            <a:r>
              <a:rPr lang="pt-BR" dirty="0"/>
              <a:t>, </a:t>
            </a:r>
            <a:r>
              <a:rPr lang="pt-BR" i="1" dirty="0"/>
              <a:t>i </a:t>
            </a:r>
            <a:r>
              <a:rPr lang="pt-BR" dirty="0"/>
              <a:t>, </a:t>
            </a:r>
            <a:r>
              <a:rPr lang="pt-BR" i="1" dirty="0"/>
              <a:t>g</a:t>
            </a:r>
            <a:r>
              <a:rPr lang="pt-BR" dirty="0"/>
              <a:t>, </a:t>
            </a:r>
            <a:r>
              <a:rPr lang="pt-BR" i="1" dirty="0"/>
              <a:t>d</a:t>
            </a:r>
            <a:r>
              <a:rPr lang="pt-BR" dirty="0"/>
              <a:t>, </a:t>
            </a:r>
            <a:r>
              <a:rPr lang="pt-BR" i="1" dirty="0"/>
              <a:t>h</a:t>
            </a:r>
            <a:r>
              <a:rPr lang="pt-BR" dirty="0"/>
              <a:t>, </a:t>
            </a:r>
            <a:r>
              <a:rPr lang="pt-BR" i="1" dirty="0"/>
              <a:t>c</a:t>
            </a:r>
            <a:r>
              <a:rPr lang="pt-BR" dirty="0"/>
              <a:t>, </a:t>
            </a:r>
            <a:r>
              <a:rPr lang="pt-BR" i="1" dirty="0"/>
              <a:t>b</a:t>
            </a:r>
            <a:r>
              <a:rPr lang="pt-BR" dirty="0"/>
              <a:t>, </a:t>
            </a:r>
            <a:r>
              <a:rPr lang="pt-BR" i="1" dirty="0"/>
              <a:t>a</a:t>
            </a:r>
            <a:r>
              <a:rPr lang="pt-BR" dirty="0"/>
              <a:t>.</a:t>
            </a:r>
            <a:endParaRPr lang="en-US" dirty="0"/>
          </a:p>
          <a:p>
            <a:pPr marL="0" indent="0">
              <a:buNone/>
            </a:pPr>
            <a:endParaRPr lang="en-US" dirty="0"/>
          </a:p>
          <a:p>
            <a:pPr marL="0" indent="0">
              <a:buNone/>
            </a:pPr>
            <a:r>
              <a:rPr lang="en-US" dirty="0"/>
              <a:t>Therefore, we output </a:t>
            </a:r>
            <a:r>
              <a:rPr lang="en-US" i="1" dirty="0" smtClean="0"/>
              <a:t>a</a:t>
            </a:r>
            <a:r>
              <a:rPr lang="en-US" dirty="0"/>
              <a:t>, </a:t>
            </a:r>
            <a:r>
              <a:rPr lang="en-US" i="1" dirty="0"/>
              <a:t>b</a:t>
            </a:r>
            <a:r>
              <a:rPr lang="en-US" dirty="0"/>
              <a:t>, </a:t>
            </a:r>
            <a:r>
              <a:rPr lang="en-US" i="1" dirty="0"/>
              <a:t>c</a:t>
            </a:r>
            <a:r>
              <a:rPr lang="en-US" dirty="0"/>
              <a:t>, </a:t>
            </a:r>
            <a:r>
              <a:rPr lang="en-US" dirty="0" smtClean="0"/>
              <a:t>h, </a:t>
            </a:r>
            <a:r>
              <a:rPr lang="en-US" i="1" dirty="0" smtClean="0"/>
              <a:t>d</a:t>
            </a:r>
            <a:r>
              <a:rPr lang="en-US" dirty="0"/>
              <a:t>, </a:t>
            </a:r>
            <a:r>
              <a:rPr lang="en-US" i="1" dirty="0"/>
              <a:t>g</a:t>
            </a:r>
            <a:r>
              <a:rPr lang="en-US" dirty="0"/>
              <a:t>, </a:t>
            </a:r>
            <a:r>
              <a:rPr lang="en-US" i="1" dirty="0" err="1"/>
              <a:t>i</a:t>
            </a:r>
            <a:r>
              <a:rPr lang="en-US" i="1" dirty="0"/>
              <a:t> </a:t>
            </a:r>
            <a:r>
              <a:rPr lang="en-US" dirty="0"/>
              <a:t>, </a:t>
            </a:r>
            <a:r>
              <a:rPr lang="en-US" i="1" dirty="0"/>
              <a:t>f </a:t>
            </a:r>
            <a:r>
              <a:rPr lang="en-US" dirty="0"/>
              <a:t>, </a:t>
            </a:r>
            <a:r>
              <a:rPr lang="en-US" i="1" dirty="0"/>
              <a:t>e </a:t>
            </a:r>
            <a:r>
              <a:rPr lang="en-US" dirty="0"/>
              <a:t>as a topological order.</a:t>
            </a:r>
            <a:endParaRPr lang="en-US" sz="13800" dirty="0"/>
          </a:p>
        </p:txBody>
      </p:sp>
      <p:sp>
        <p:nvSpPr>
          <p:cNvPr id="4" name="Content Placeholder 3">
            <a:extLst>
              <a:ext uri="{FF2B5EF4-FFF2-40B4-BE49-F238E27FC236}">
                <a16:creationId xmlns="" xmlns:a16="http://schemas.microsoft.com/office/drawing/2014/main" id="{94ED3361-64DE-4F0E-B037-04C5D4C6BCEB}"/>
              </a:ext>
            </a:extLst>
          </p:cNvPr>
          <p:cNvSpPr>
            <a:spLocks noGrp="1"/>
          </p:cNvSpPr>
          <p:nvPr>
            <p:ph sz="half" idx="2"/>
          </p:nvPr>
        </p:nvSpPr>
        <p:spPr/>
        <p:txBody>
          <a:bodyPr/>
          <a:lstStyle/>
          <a:p>
            <a:endParaRPr lang="en-US"/>
          </a:p>
        </p:txBody>
      </p:sp>
      <p:pic>
        <p:nvPicPr>
          <p:cNvPr id="3" name="Picture 2">
            <a:extLst>
              <a:ext uri="{FF2B5EF4-FFF2-40B4-BE49-F238E27FC236}">
                <a16:creationId xmlns="" xmlns:a16="http://schemas.microsoft.com/office/drawing/2014/main" id="{F136E2E2-3B17-4AE5-8815-E4753ADBDF1D}"/>
              </a:ext>
            </a:extLst>
          </p:cNvPr>
          <p:cNvPicPr>
            <a:picLocks noChangeAspect="1"/>
          </p:cNvPicPr>
          <p:nvPr/>
        </p:nvPicPr>
        <p:blipFill>
          <a:blip r:embed="rId2" cstate="print"/>
          <a:stretch>
            <a:fillRect/>
          </a:stretch>
        </p:blipFill>
        <p:spPr>
          <a:xfrm>
            <a:off x="6172200" y="1825625"/>
            <a:ext cx="5179962" cy="3297093"/>
          </a:xfrm>
          <a:prstGeom prst="rect">
            <a:avLst/>
          </a:prstGeom>
        </p:spPr>
      </p:pic>
    </p:spTree>
    <p:extLst>
      <p:ext uri="{BB962C8B-B14F-4D97-AF65-F5344CB8AC3E}">
        <p14:creationId xmlns="" xmlns:p14="http://schemas.microsoft.com/office/powerpoint/2010/main" val="35548791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A8E5285-2BE8-4C5D-B2BD-62FED308BEA8}"/>
              </a:ext>
            </a:extLst>
          </p:cNvPr>
          <p:cNvSpPr>
            <a:spLocks noGrp="1"/>
          </p:cNvSpPr>
          <p:nvPr>
            <p:ph type="title"/>
          </p:nvPr>
        </p:nvSpPr>
        <p:spPr/>
        <p:txBody>
          <a:bodyPr/>
          <a:lstStyle/>
          <a:p>
            <a:r>
              <a:rPr lang="en-US" dirty="0"/>
              <a:t>Application of Topological Sort: Precedence Task Scheduling</a:t>
            </a:r>
          </a:p>
        </p:txBody>
      </p:sp>
      <p:sp>
        <p:nvSpPr>
          <p:cNvPr id="3" name="Content Placeholder 2">
            <a:extLst>
              <a:ext uri="{FF2B5EF4-FFF2-40B4-BE49-F238E27FC236}">
                <a16:creationId xmlns="" xmlns:a16="http://schemas.microsoft.com/office/drawing/2014/main" id="{4B987E12-C83D-4CB5-8CC8-5D97F90DA87B}"/>
              </a:ext>
            </a:extLst>
          </p:cNvPr>
          <p:cNvSpPr>
            <a:spLocks noGrp="1"/>
          </p:cNvSpPr>
          <p:nvPr>
            <p:ph idx="1"/>
          </p:nvPr>
        </p:nvSpPr>
        <p:spPr/>
        <p:txBody>
          <a:bodyPr/>
          <a:lstStyle/>
          <a:p>
            <a:r>
              <a:rPr lang="en-US" dirty="0"/>
              <a:t>Goal. Given a set of tasks to be completed with precedence constraints, in which order should we schedule the tasks?</a:t>
            </a:r>
          </a:p>
          <a:p>
            <a:r>
              <a:rPr lang="en-US" dirty="0"/>
              <a:t>Directed graph model. </a:t>
            </a:r>
          </a:p>
          <a:p>
            <a:r>
              <a:rPr lang="en-US" dirty="0"/>
              <a:t>vertex = task, </a:t>
            </a:r>
          </a:p>
          <a:p>
            <a:r>
              <a:rPr lang="en-US" dirty="0"/>
              <a:t>edge = precedence constraint.</a:t>
            </a:r>
          </a:p>
        </p:txBody>
      </p:sp>
    </p:spTree>
    <p:extLst>
      <p:ext uri="{BB962C8B-B14F-4D97-AF65-F5344CB8AC3E}">
        <p14:creationId xmlns="" xmlns:p14="http://schemas.microsoft.com/office/powerpoint/2010/main" val="31653841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CBACF48-AAE0-40D6-B803-AF7AAB3BCA92}"/>
              </a:ext>
            </a:extLst>
          </p:cNvPr>
          <p:cNvSpPr>
            <a:spLocks noGrp="1"/>
          </p:cNvSpPr>
          <p:nvPr>
            <p:ph type="title"/>
          </p:nvPr>
        </p:nvSpPr>
        <p:spPr/>
        <p:txBody>
          <a:bodyPr/>
          <a:lstStyle/>
          <a:p>
            <a:r>
              <a:rPr lang="en-US" dirty="0"/>
              <a:t>Example of Precedence Task Scheduling</a:t>
            </a:r>
          </a:p>
        </p:txBody>
      </p:sp>
      <p:sp>
        <p:nvSpPr>
          <p:cNvPr id="3" name="Content Placeholder 2">
            <a:extLst>
              <a:ext uri="{FF2B5EF4-FFF2-40B4-BE49-F238E27FC236}">
                <a16:creationId xmlns="" xmlns:a16="http://schemas.microsoft.com/office/drawing/2014/main" id="{DA9EFFA6-0BF8-403C-A14D-3569A8536FF3}"/>
              </a:ext>
            </a:extLst>
          </p:cNvPr>
          <p:cNvSpPr>
            <a:spLocks noGrp="1"/>
          </p:cNvSpPr>
          <p:nvPr>
            <p:ph sz="half" idx="1"/>
          </p:nvPr>
        </p:nvSpPr>
        <p:spPr/>
        <p:txBody>
          <a:bodyPr/>
          <a:lstStyle/>
          <a:p>
            <a:r>
              <a:rPr lang="en-US" dirty="0"/>
              <a:t>Tasks:</a:t>
            </a:r>
          </a:p>
          <a:p>
            <a:pPr lvl="1"/>
            <a:r>
              <a:rPr lang="en-US" sz="2800" dirty="0"/>
              <a:t>0. Algorithms</a:t>
            </a:r>
          </a:p>
          <a:p>
            <a:pPr lvl="1"/>
            <a:r>
              <a:rPr lang="en-US" sz="2800" dirty="0"/>
              <a:t>1. Complexity Theory</a:t>
            </a:r>
          </a:p>
          <a:p>
            <a:pPr lvl="1"/>
            <a:r>
              <a:rPr lang="en-US" sz="2800" dirty="0"/>
              <a:t>2. Artificial Intelligence</a:t>
            </a:r>
          </a:p>
          <a:p>
            <a:pPr lvl="1"/>
            <a:r>
              <a:rPr lang="en-US" sz="2800" dirty="0"/>
              <a:t>3. Intro to CS</a:t>
            </a:r>
          </a:p>
          <a:p>
            <a:pPr lvl="1"/>
            <a:r>
              <a:rPr lang="en-US" sz="2800" dirty="0"/>
              <a:t>4. Cryptography</a:t>
            </a:r>
          </a:p>
          <a:p>
            <a:pPr lvl="1"/>
            <a:r>
              <a:rPr lang="en-US" sz="2800" dirty="0"/>
              <a:t>5. Scientific Computing</a:t>
            </a:r>
          </a:p>
          <a:p>
            <a:pPr lvl="1"/>
            <a:r>
              <a:rPr lang="en-US" sz="2800" dirty="0"/>
              <a:t>6. Advanced Programming</a:t>
            </a:r>
          </a:p>
          <a:p>
            <a:endParaRPr lang="en-US" dirty="0"/>
          </a:p>
        </p:txBody>
      </p:sp>
      <p:sp>
        <p:nvSpPr>
          <p:cNvPr id="7" name="TextBox 6">
            <a:extLst>
              <a:ext uri="{FF2B5EF4-FFF2-40B4-BE49-F238E27FC236}">
                <a16:creationId xmlns="" xmlns:a16="http://schemas.microsoft.com/office/drawing/2014/main" id="{1EA51047-352D-4B53-B275-A86CA4C050AD}"/>
              </a:ext>
            </a:extLst>
          </p:cNvPr>
          <p:cNvSpPr txBox="1"/>
          <p:nvPr/>
        </p:nvSpPr>
        <p:spPr>
          <a:xfrm>
            <a:off x="7655829" y="1318747"/>
            <a:ext cx="3164541" cy="369332"/>
          </a:xfrm>
          <a:prstGeom prst="rect">
            <a:avLst/>
          </a:prstGeom>
          <a:noFill/>
        </p:spPr>
        <p:txBody>
          <a:bodyPr wrap="square" rtlCol="0">
            <a:spAutoFit/>
          </a:bodyPr>
          <a:lstStyle/>
          <a:p>
            <a:r>
              <a:rPr lang="en-US" dirty="0"/>
              <a:t>Precedence constrained graph</a:t>
            </a:r>
          </a:p>
        </p:txBody>
      </p:sp>
      <p:pic>
        <p:nvPicPr>
          <p:cNvPr id="9" name="Content Placeholder 8">
            <a:extLst>
              <a:ext uri="{FF2B5EF4-FFF2-40B4-BE49-F238E27FC236}">
                <a16:creationId xmlns="" xmlns:a16="http://schemas.microsoft.com/office/drawing/2014/main" id="{E9EE8B5E-402A-42C6-B5AA-460BCF2FBBFD}"/>
              </a:ext>
            </a:extLst>
          </p:cNvPr>
          <p:cNvPicPr>
            <a:picLocks noGrp="1" noChangeAspect="1"/>
          </p:cNvPicPr>
          <p:nvPr>
            <p:ph sz="half" idx="2"/>
          </p:nvPr>
        </p:nvPicPr>
        <p:blipFill>
          <a:blip r:embed="rId2" cstate="print"/>
          <a:stretch>
            <a:fillRect/>
          </a:stretch>
        </p:blipFill>
        <p:spPr>
          <a:xfrm>
            <a:off x="6641696" y="1673525"/>
            <a:ext cx="4779450" cy="4028535"/>
          </a:xfrm>
          <a:prstGeom prst="rect">
            <a:avLst/>
          </a:prstGeom>
        </p:spPr>
      </p:pic>
    </p:spTree>
    <p:extLst>
      <p:ext uri="{BB962C8B-B14F-4D97-AF65-F5344CB8AC3E}">
        <p14:creationId xmlns="" xmlns:p14="http://schemas.microsoft.com/office/powerpoint/2010/main" val="387446114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CBACF48-AAE0-40D6-B803-AF7AAB3BCA92}"/>
              </a:ext>
            </a:extLst>
          </p:cNvPr>
          <p:cNvSpPr>
            <a:spLocks noGrp="1"/>
          </p:cNvSpPr>
          <p:nvPr>
            <p:ph type="title"/>
          </p:nvPr>
        </p:nvSpPr>
        <p:spPr/>
        <p:txBody>
          <a:bodyPr/>
          <a:lstStyle/>
          <a:p>
            <a:r>
              <a:rPr lang="en-US" dirty="0"/>
              <a:t>Topological Sort</a:t>
            </a:r>
          </a:p>
        </p:txBody>
      </p:sp>
      <p:sp>
        <p:nvSpPr>
          <p:cNvPr id="3" name="Content Placeholder 2">
            <a:extLst>
              <a:ext uri="{FF2B5EF4-FFF2-40B4-BE49-F238E27FC236}">
                <a16:creationId xmlns="" xmlns:a16="http://schemas.microsoft.com/office/drawing/2014/main" id="{DA9EFFA6-0BF8-403C-A14D-3569A8536FF3}"/>
              </a:ext>
            </a:extLst>
          </p:cNvPr>
          <p:cNvSpPr>
            <a:spLocks noGrp="1"/>
          </p:cNvSpPr>
          <p:nvPr>
            <p:ph sz="half" idx="1"/>
          </p:nvPr>
        </p:nvSpPr>
        <p:spPr/>
        <p:txBody>
          <a:bodyPr>
            <a:normAutofit lnSpcReduction="10000"/>
          </a:bodyPr>
          <a:lstStyle/>
          <a:p>
            <a:r>
              <a:rPr lang="en-US" dirty="0"/>
              <a:t>DAG. Directed acyclic graph.</a:t>
            </a:r>
          </a:p>
          <a:p>
            <a:r>
              <a:rPr lang="en-US" dirty="0"/>
              <a:t>Topological sort. Redraw DAG so all edges point upwards.</a:t>
            </a:r>
          </a:p>
          <a:p>
            <a:r>
              <a:rPr lang="en-US" dirty="0"/>
              <a:t>Directed Edges:</a:t>
            </a:r>
          </a:p>
          <a:p>
            <a:r>
              <a:rPr lang="en-US" dirty="0"/>
              <a:t>0→5, 0→2, 0→1</a:t>
            </a:r>
          </a:p>
          <a:p>
            <a:r>
              <a:rPr lang="en-US" dirty="0"/>
              <a:t>3→6, 3→5, 3→4, 3→2</a:t>
            </a:r>
          </a:p>
          <a:p>
            <a:r>
              <a:rPr lang="en-US" dirty="0"/>
              <a:t>5→2</a:t>
            </a:r>
          </a:p>
          <a:p>
            <a:r>
              <a:rPr lang="en-US" dirty="0"/>
              <a:t>6→4, 6→0</a:t>
            </a:r>
          </a:p>
          <a:p>
            <a:r>
              <a:rPr lang="en-US" dirty="0"/>
              <a:t>1→4</a:t>
            </a:r>
          </a:p>
        </p:txBody>
      </p:sp>
      <p:sp>
        <p:nvSpPr>
          <p:cNvPr id="4" name="Content Placeholder 3">
            <a:extLst>
              <a:ext uri="{FF2B5EF4-FFF2-40B4-BE49-F238E27FC236}">
                <a16:creationId xmlns="" xmlns:a16="http://schemas.microsoft.com/office/drawing/2014/main" id="{37F3D01D-A038-49A5-B592-2C1C23BF8143}"/>
              </a:ext>
            </a:extLst>
          </p:cNvPr>
          <p:cNvSpPr>
            <a:spLocks noGrp="1"/>
          </p:cNvSpPr>
          <p:nvPr>
            <p:ph sz="half" idx="2"/>
          </p:nvPr>
        </p:nvSpPr>
        <p:spPr/>
        <p:txBody>
          <a:bodyPr>
            <a:normAutofit lnSpcReduction="10000"/>
          </a:bodyPr>
          <a:lstStyle/>
          <a:p>
            <a:endParaRPr lang="en-US" dirty="0"/>
          </a:p>
        </p:txBody>
      </p:sp>
      <p:pic>
        <p:nvPicPr>
          <p:cNvPr id="5" name="Picture 4">
            <a:extLst>
              <a:ext uri="{FF2B5EF4-FFF2-40B4-BE49-F238E27FC236}">
                <a16:creationId xmlns="" xmlns:a16="http://schemas.microsoft.com/office/drawing/2014/main" id="{E9EE8B5E-402A-42C6-B5AA-460BCF2FBBFD}"/>
              </a:ext>
            </a:extLst>
          </p:cNvPr>
          <p:cNvPicPr>
            <a:picLocks noChangeAspect="1"/>
          </p:cNvPicPr>
          <p:nvPr/>
        </p:nvPicPr>
        <p:blipFill>
          <a:blip r:embed="rId2" cstate="print"/>
          <a:stretch>
            <a:fillRect/>
          </a:stretch>
        </p:blipFill>
        <p:spPr>
          <a:xfrm>
            <a:off x="5101431" y="2771953"/>
            <a:ext cx="4042538" cy="3407402"/>
          </a:xfrm>
          <a:prstGeom prst="rect">
            <a:avLst/>
          </a:prstGeom>
        </p:spPr>
      </p:pic>
      <p:pic>
        <p:nvPicPr>
          <p:cNvPr id="6" name="Picture 5">
            <a:extLst>
              <a:ext uri="{FF2B5EF4-FFF2-40B4-BE49-F238E27FC236}">
                <a16:creationId xmlns="" xmlns:a16="http://schemas.microsoft.com/office/drawing/2014/main" id="{3D97AE9A-DD32-48A3-B631-C9D16550E3CE}"/>
              </a:ext>
            </a:extLst>
          </p:cNvPr>
          <p:cNvPicPr>
            <a:picLocks noChangeAspect="1"/>
          </p:cNvPicPr>
          <p:nvPr/>
        </p:nvPicPr>
        <p:blipFill>
          <a:blip r:embed="rId3" cstate="print"/>
          <a:stretch>
            <a:fillRect/>
          </a:stretch>
        </p:blipFill>
        <p:spPr>
          <a:xfrm>
            <a:off x="9143969" y="1302983"/>
            <a:ext cx="2286031" cy="4754058"/>
          </a:xfrm>
          <a:prstGeom prst="rect">
            <a:avLst/>
          </a:prstGeom>
        </p:spPr>
      </p:pic>
      <p:sp>
        <p:nvSpPr>
          <p:cNvPr id="7" name="TextBox 6">
            <a:extLst>
              <a:ext uri="{FF2B5EF4-FFF2-40B4-BE49-F238E27FC236}">
                <a16:creationId xmlns="" xmlns:a16="http://schemas.microsoft.com/office/drawing/2014/main" id="{1EA51047-352D-4B53-B275-A86CA4C050AD}"/>
              </a:ext>
            </a:extLst>
          </p:cNvPr>
          <p:cNvSpPr txBox="1"/>
          <p:nvPr/>
        </p:nvSpPr>
        <p:spPr>
          <a:xfrm>
            <a:off x="5783896" y="5916625"/>
            <a:ext cx="3164541" cy="369332"/>
          </a:xfrm>
          <a:prstGeom prst="rect">
            <a:avLst/>
          </a:prstGeom>
          <a:noFill/>
        </p:spPr>
        <p:txBody>
          <a:bodyPr wrap="square" rtlCol="0">
            <a:spAutoFit/>
          </a:bodyPr>
          <a:lstStyle/>
          <a:p>
            <a:r>
              <a:rPr lang="en-US" dirty="0"/>
              <a:t>Precedence constrained graph</a:t>
            </a:r>
          </a:p>
        </p:txBody>
      </p:sp>
      <p:sp>
        <p:nvSpPr>
          <p:cNvPr id="8" name="TextBox 7">
            <a:extLst>
              <a:ext uri="{FF2B5EF4-FFF2-40B4-BE49-F238E27FC236}">
                <a16:creationId xmlns="" xmlns:a16="http://schemas.microsoft.com/office/drawing/2014/main" id="{CD99C766-7419-4F98-8222-AA0227165059}"/>
              </a:ext>
            </a:extLst>
          </p:cNvPr>
          <p:cNvSpPr txBox="1"/>
          <p:nvPr/>
        </p:nvSpPr>
        <p:spPr>
          <a:xfrm>
            <a:off x="9435323" y="5932336"/>
            <a:ext cx="1918477" cy="369332"/>
          </a:xfrm>
          <a:prstGeom prst="rect">
            <a:avLst/>
          </a:prstGeom>
          <a:noFill/>
        </p:spPr>
        <p:txBody>
          <a:bodyPr wrap="square" rtlCol="0">
            <a:spAutoFit/>
          </a:bodyPr>
          <a:lstStyle/>
          <a:p>
            <a:r>
              <a:rPr lang="en-US" dirty="0"/>
              <a:t>Feasible schedule</a:t>
            </a:r>
          </a:p>
        </p:txBody>
      </p:sp>
    </p:spTree>
    <p:extLst>
      <p:ext uri="{BB962C8B-B14F-4D97-AF65-F5344CB8AC3E}">
        <p14:creationId xmlns="" xmlns:p14="http://schemas.microsoft.com/office/powerpoint/2010/main" val="29368493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CBACF48-AAE0-40D6-B803-AF7AAB3BCA92}"/>
              </a:ext>
            </a:extLst>
          </p:cNvPr>
          <p:cNvSpPr>
            <a:spLocks noGrp="1"/>
          </p:cNvSpPr>
          <p:nvPr>
            <p:ph type="title"/>
          </p:nvPr>
        </p:nvSpPr>
        <p:spPr/>
        <p:txBody>
          <a:bodyPr/>
          <a:lstStyle/>
          <a:p>
            <a:r>
              <a:rPr lang="en-US" dirty="0"/>
              <a:t>Topological Sort</a:t>
            </a:r>
          </a:p>
        </p:txBody>
      </p:sp>
      <p:sp>
        <p:nvSpPr>
          <p:cNvPr id="3" name="Content Placeholder 2">
            <a:extLst>
              <a:ext uri="{FF2B5EF4-FFF2-40B4-BE49-F238E27FC236}">
                <a16:creationId xmlns="" xmlns:a16="http://schemas.microsoft.com/office/drawing/2014/main" id="{DA9EFFA6-0BF8-403C-A14D-3569A8536FF3}"/>
              </a:ext>
            </a:extLst>
          </p:cNvPr>
          <p:cNvSpPr>
            <a:spLocks noGrp="1"/>
          </p:cNvSpPr>
          <p:nvPr>
            <p:ph sz="half" idx="1"/>
          </p:nvPr>
        </p:nvSpPr>
        <p:spPr/>
        <p:txBody>
          <a:bodyPr>
            <a:normAutofit/>
          </a:bodyPr>
          <a:lstStyle/>
          <a:p>
            <a:r>
              <a:rPr lang="en-US" dirty="0"/>
              <a:t>Run depth-first search.</a:t>
            </a:r>
          </a:p>
          <a:p>
            <a:r>
              <a:rPr lang="en-US" dirty="0"/>
              <a:t>Return vertices in reverse </a:t>
            </a:r>
            <a:r>
              <a:rPr lang="en-US" dirty="0" err="1"/>
              <a:t>postorder</a:t>
            </a:r>
            <a:r>
              <a:rPr lang="en-US" dirty="0"/>
              <a:t>.</a:t>
            </a:r>
          </a:p>
          <a:p>
            <a:r>
              <a:rPr lang="en-US" dirty="0"/>
              <a:t>0 1 ()</a:t>
            </a:r>
          </a:p>
          <a:p>
            <a:r>
              <a:rPr lang="en-US" dirty="0"/>
              <a:t>1 4 (4, 1)</a:t>
            </a:r>
          </a:p>
          <a:p>
            <a:r>
              <a:rPr lang="en-US" dirty="0"/>
              <a:t>0 2 (4, 1, 2)</a:t>
            </a:r>
          </a:p>
          <a:p>
            <a:r>
              <a:rPr lang="en-US" dirty="0"/>
              <a:t>0 5 (4, 1, 2, 5, 0)</a:t>
            </a:r>
          </a:p>
          <a:p>
            <a:r>
              <a:rPr lang="en-US" dirty="0"/>
              <a:t>3 6 (4, 1, 2, 5, 0, 6, 3)</a:t>
            </a:r>
          </a:p>
        </p:txBody>
      </p:sp>
      <p:pic>
        <p:nvPicPr>
          <p:cNvPr id="9" name="Content Placeholder 8">
            <a:extLst>
              <a:ext uri="{FF2B5EF4-FFF2-40B4-BE49-F238E27FC236}">
                <a16:creationId xmlns="" xmlns:a16="http://schemas.microsoft.com/office/drawing/2014/main" id="{AC269421-AB94-46AD-8D67-9CCA7061CC3D}"/>
              </a:ext>
            </a:extLst>
          </p:cNvPr>
          <p:cNvPicPr>
            <a:picLocks noGrp="1" noChangeAspect="1"/>
          </p:cNvPicPr>
          <p:nvPr>
            <p:ph sz="half" idx="2"/>
          </p:nvPr>
        </p:nvPicPr>
        <p:blipFill>
          <a:blip r:embed="rId2" cstate="print"/>
          <a:stretch>
            <a:fillRect/>
          </a:stretch>
        </p:blipFill>
        <p:spPr>
          <a:xfrm>
            <a:off x="6463553" y="1690688"/>
            <a:ext cx="4511267" cy="4712750"/>
          </a:xfrm>
          <a:prstGeom prst="rect">
            <a:avLst/>
          </a:prstGeom>
        </p:spPr>
      </p:pic>
    </p:spTree>
    <p:extLst>
      <p:ext uri="{BB962C8B-B14F-4D97-AF65-F5344CB8AC3E}">
        <p14:creationId xmlns="" xmlns:p14="http://schemas.microsoft.com/office/powerpoint/2010/main" val="389828453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CBACF48-AAE0-40D6-B803-AF7AAB3BCA92}"/>
              </a:ext>
            </a:extLst>
          </p:cNvPr>
          <p:cNvSpPr>
            <a:spLocks noGrp="1"/>
          </p:cNvSpPr>
          <p:nvPr>
            <p:ph type="title"/>
          </p:nvPr>
        </p:nvSpPr>
        <p:spPr/>
        <p:txBody>
          <a:bodyPr/>
          <a:lstStyle/>
          <a:p>
            <a:r>
              <a:rPr lang="en-US" dirty="0"/>
              <a:t>Topological Sort</a:t>
            </a:r>
          </a:p>
        </p:txBody>
      </p:sp>
      <p:sp>
        <p:nvSpPr>
          <p:cNvPr id="3" name="Content Placeholder 2">
            <a:extLst>
              <a:ext uri="{FF2B5EF4-FFF2-40B4-BE49-F238E27FC236}">
                <a16:creationId xmlns="" xmlns:a16="http://schemas.microsoft.com/office/drawing/2014/main" id="{DA9EFFA6-0BF8-403C-A14D-3569A8536FF3}"/>
              </a:ext>
            </a:extLst>
          </p:cNvPr>
          <p:cNvSpPr>
            <a:spLocks noGrp="1"/>
          </p:cNvSpPr>
          <p:nvPr>
            <p:ph sz="half" idx="1"/>
          </p:nvPr>
        </p:nvSpPr>
        <p:spPr/>
        <p:txBody>
          <a:bodyPr>
            <a:normAutofit/>
          </a:bodyPr>
          <a:lstStyle/>
          <a:p>
            <a:r>
              <a:rPr lang="en-US" dirty="0"/>
              <a:t>Run depth-first search.</a:t>
            </a:r>
          </a:p>
          <a:p>
            <a:r>
              <a:rPr lang="en-US" dirty="0"/>
              <a:t>Return vertices in reverse </a:t>
            </a:r>
            <a:r>
              <a:rPr lang="en-US" dirty="0" err="1"/>
              <a:t>postorder</a:t>
            </a:r>
            <a:r>
              <a:rPr lang="en-US" dirty="0"/>
              <a:t>.</a:t>
            </a:r>
          </a:p>
          <a:p>
            <a:r>
              <a:rPr lang="en-US" dirty="0" err="1"/>
              <a:t>Postorder</a:t>
            </a:r>
            <a:r>
              <a:rPr lang="en-US" dirty="0"/>
              <a:t>:</a:t>
            </a:r>
          </a:p>
          <a:p>
            <a:pPr marL="0" indent="0">
              <a:buNone/>
            </a:pPr>
            <a:r>
              <a:rPr lang="en-US" dirty="0"/>
              <a:t>4, 1, 2, 5, 0, 6, 3</a:t>
            </a:r>
          </a:p>
          <a:p>
            <a:r>
              <a:rPr lang="en-US" dirty="0"/>
              <a:t>Topological </a:t>
            </a:r>
            <a:r>
              <a:rPr lang="en-US"/>
              <a:t>order:</a:t>
            </a:r>
          </a:p>
          <a:p>
            <a:pPr marL="0" indent="0">
              <a:buNone/>
            </a:pPr>
            <a:r>
              <a:rPr lang="en-US"/>
              <a:t>3</a:t>
            </a:r>
            <a:r>
              <a:rPr lang="en-US" dirty="0"/>
              <a:t>, 6, 0, 5, 2, 1, 4</a:t>
            </a:r>
          </a:p>
        </p:txBody>
      </p:sp>
      <p:pic>
        <p:nvPicPr>
          <p:cNvPr id="9" name="Content Placeholder 8">
            <a:extLst>
              <a:ext uri="{FF2B5EF4-FFF2-40B4-BE49-F238E27FC236}">
                <a16:creationId xmlns="" xmlns:a16="http://schemas.microsoft.com/office/drawing/2014/main" id="{AC269421-AB94-46AD-8D67-9CCA7061CC3D}"/>
              </a:ext>
            </a:extLst>
          </p:cNvPr>
          <p:cNvPicPr>
            <a:picLocks noGrp="1" noChangeAspect="1"/>
          </p:cNvPicPr>
          <p:nvPr>
            <p:ph sz="half" idx="2"/>
          </p:nvPr>
        </p:nvPicPr>
        <p:blipFill>
          <a:blip r:embed="rId2" cstate="print"/>
          <a:stretch>
            <a:fillRect/>
          </a:stretch>
        </p:blipFill>
        <p:spPr>
          <a:xfrm>
            <a:off x="6355975" y="1825625"/>
            <a:ext cx="4489677" cy="4690195"/>
          </a:xfrm>
          <a:prstGeom prst="rect">
            <a:avLst/>
          </a:prstGeom>
        </p:spPr>
      </p:pic>
    </p:spTree>
    <p:extLst>
      <p:ext uri="{BB962C8B-B14F-4D97-AF65-F5344CB8AC3E}">
        <p14:creationId xmlns="" xmlns:p14="http://schemas.microsoft.com/office/powerpoint/2010/main" val="210665984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D43A3E59-A308-4BF9-94E4-0FB13D80925A}"/>
              </a:ext>
            </a:extLst>
          </p:cNvPr>
          <p:cNvSpPr>
            <a:spLocks noGrp="1"/>
          </p:cNvSpPr>
          <p:nvPr>
            <p:ph type="title"/>
          </p:nvPr>
        </p:nvSpPr>
        <p:spPr/>
        <p:txBody>
          <a:bodyPr/>
          <a:lstStyle/>
          <a:p>
            <a:r>
              <a:rPr lang="en-US" dirty="0"/>
              <a:t>Topological Sort Exercise</a:t>
            </a:r>
          </a:p>
        </p:txBody>
      </p:sp>
      <p:pic>
        <p:nvPicPr>
          <p:cNvPr id="6" name="Content Placeholder 5">
            <a:extLst>
              <a:ext uri="{FF2B5EF4-FFF2-40B4-BE49-F238E27FC236}">
                <a16:creationId xmlns="" xmlns:a16="http://schemas.microsoft.com/office/drawing/2014/main" id="{D48CA29E-25AB-45BF-B992-ED3B97469E48}"/>
              </a:ext>
            </a:extLst>
          </p:cNvPr>
          <p:cNvPicPr>
            <a:picLocks noGrp="1" noChangeAspect="1"/>
          </p:cNvPicPr>
          <p:nvPr>
            <p:ph sz="half" idx="1"/>
          </p:nvPr>
        </p:nvPicPr>
        <p:blipFill>
          <a:blip r:embed="rId2" cstate="print"/>
          <a:stretch>
            <a:fillRect/>
          </a:stretch>
        </p:blipFill>
        <p:spPr>
          <a:xfrm>
            <a:off x="0" y="1644361"/>
            <a:ext cx="7711735" cy="5213639"/>
          </a:xfrm>
          <a:prstGeom prst="rect">
            <a:avLst/>
          </a:prstGeom>
        </p:spPr>
      </p:pic>
      <p:sp>
        <p:nvSpPr>
          <p:cNvPr id="4" name="Content Placeholder 3">
            <a:extLst>
              <a:ext uri="{FF2B5EF4-FFF2-40B4-BE49-F238E27FC236}">
                <a16:creationId xmlns="" xmlns:a16="http://schemas.microsoft.com/office/drawing/2014/main" id="{4BA5A4B1-5BB4-47EC-B5A7-6A015F6AA828}"/>
              </a:ext>
            </a:extLst>
          </p:cNvPr>
          <p:cNvSpPr>
            <a:spLocks noGrp="1"/>
          </p:cNvSpPr>
          <p:nvPr>
            <p:ph sz="half" idx="2"/>
          </p:nvPr>
        </p:nvSpPr>
        <p:spPr>
          <a:xfrm>
            <a:off x="7781364" y="1825625"/>
            <a:ext cx="3572435" cy="4351338"/>
          </a:xfrm>
        </p:spPr>
        <p:txBody>
          <a:bodyPr/>
          <a:lstStyle/>
          <a:p>
            <a:r>
              <a:rPr lang="en-US" dirty="0"/>
              <a:t>Convert this cyclic graph into DAG and create a topological sort on DAG</a:t>
            </a:r>
          </a:p>
        </p:txBody>
      </p:sp>
    </p:spTree>
    <p:extLst>
      <p:ext uri="{BB962C8B-B14F-4D97-AF65-F5344CB8AC3E}">
        <p14:creationId xmlns="" xmlns:p14="http://schemas.microsoft.com/office/powerpoint/2010/main" val="30138247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8783</TotalTime>
  <Words>3066</Words>
  <Application>Microsoft Office PowerPoint</Application>
  <PresentationFormat>Custom</PresentationFormat>
  <Paragraphs>344</Paragraphs>
  <Slides>59</Slides>
  <Notes>0</Notes>
  <HiddenSlides>0</HiddenSlides>
  <MMClips>0</MMClips>
  <ScaleCrop>false</ScaleCrop>
  <HeadingPairs>
    <vt:vector size="4" baseType="variant">
      <vt:variant>
        <vt:lpstr>Theme</vt:lpstr>
      </vt:variant>
      <vt:variant>
        <vt:i4>1</vt:i4>
      </vt:variant>
      <vt:variant>
        <vt:lpstr>Slide Titles</vt:lpstr>
      </vt:variant>
      <vt:variant>
        <vt:i4>59</vt:i4>
      </vt:variant>
    </vt:vector>
  </HeadingPairs>
  <TitlesOfParts>
    <vt:vector size="60" baseType="lpstr">
      <vt:lpstr>Office Theme</vt:lpstr>
      <vt:lpstr>Algorithms &amp; Data Structures</vt:lpstr>
      <vt:lpstr>Graph Topics</vt:lpstr>
      <vt:lpstr>Graph</vt:lpstr>
      <vt:lpstr>Directed Graph</vt:lpstr>
      <vt:lpstr>Directed Graph: Degrees</vt:lpstr>
      <vt:lpstr>Directed Graph: Representation</vt:lpstr>
      <vt:lpstr>Adjacency List Representation of Directed Graph</vt:lpstr>
      <vt:lpstr>Adjacency Matrix Representation of Directed Graph</vt:lpstr>
      <vt:lpstr>Depth First Search in Graph</vt:lpstr>
      <vt:lpstr>Paths and Cycles</vt:lpstr>
      <vt:lpstr>Cycle Examples</vt:lpstr>
      <vt:lpstr>Directed Acyclic/Cyclic Graphs</vt:lpstr>
      <vt:lpstr>Cycle Detection Problem</vt:lpstr>
      <vt:lpstr>DFS</vt:lpstr>
      <vt:lpstr>DFS</vt:lpstr>
      <vt:lpstr>DFS</vt:lpstr>
      <vt:lpstr>DFS Example</vt:lpstr>
      <vt:lpstr>DFS Example</vt:lpstr>
      <vt:lpstr>DFS Example</vt:lpstr>
      <vt:lpstr>DFS Example</vt:lpstr>
      <vt:lpstr>DFS Example</vt:lpstr>
      <vt:lpstr>DFS Example</vt:lpstr>
      <vt:lpstr>DFS Example</vt:lpstr>
      <vt:lpstr>DFS Example</vt:lpstr>
      <vt:lpstr>DFS Example</vt:lpstr>
      <vt:lpstr>DFS Example</vt:lpstr>
      <vt:lpstr>DFS Example</vt:lpstr>
      <vt:lpstr>Reachability Application of DFS: Program-Control Flow Analysis</vt:lpstr>
      <vt:lpstr>Reachability Application of DFS: Program-Mark Sweep Garbage Collection</vt:lpstr>
      <vt:lpstr>Quiz</vt:lpstr>
      <vt:lpstr>Exercise</vt:lpstr>
      <vt:lpstr>Application of DFS</vt:lpstr>
      <vt:lpstr>Edge Classification for Cycle Detection</vt:lpstr>
      <vt:lpstr>Edge Classification</vt:lpstr>
      <vt:lpstr>Edge  Classification Exercise</vt:lpstr>
      <vt:lpstr>Edge Classification</vt:lpstr>
      <vt:lpstr>Augmenting DFS For Edge Classification</vt:lpstr>
      <vt:lpstr>Augmenting DFS For Edge Classification</vt:lpstr>
      <vt:lpstr>Exercise</vt:lpstr>
      <vt:lpstr>Quiz</vt:lpstr>
      <vt:lpstr>Parenthesis Theorem</vt:lpstr>
      <vt:lpstr>Cycle Theorem</vt:lpstr>
      <vt:lpstr>White Path Theorem</vt:lpstr>
      <vt:lpstr>White Path Theorem Example</vt:lpstr>
      <vt:lpstr>Proving Only-if Direction of Cycle Theorem</vt:lpstr>
      <vt:lpstr>Cycle Detection</vt:lpstr>
      <vt:lpstr>Topological Order: Application of DFS</vt:lpstr>
      <vt:lpstr>Example</vt:lpstr>
      <vt:lpstr>Remarks</vt:lpstr>
      <vt:lpstr>Topological Sort Problem</vt:lpstr>
      <vt:lpstr>Topological Sort Algorithm</vt:lpstr>
      <vt:lpstr>Example1</vt:lpstr>
      <vt:lpstr>Example2</vt:lpstr>
      <vt:lpstr>Application of Topological Sort: Precedence Task Scheduling</vt:lpstr>
      <vt:lpstr>Example of Precedence Task Scheduling</vt:lpstr>
      <vt:lpstr>Topological Sort</vt:lpstr>
      <vt:lpstr>Topological Sort</vt:lpstr>
      <vt:lpstr>Topological Sort</vt:lpstr>
      <vt:lpstr>Topological Sort Exercise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IT623 Algorithms &amp; Data Structures</dc:title>
  <dc:creator>Amit Mankodi</dc:creator>
  <cp:lastModifiedBy>Admin</cp:lastModifiedBy>
  <cp:revision>336</cp:revision>
  <dcterms:created xsi:type="dcterms:W3CDTF">2019-05-21T10:07:53Z</dcterms:created>
  <dcterms:modified xsi:type="dcterms:W3CDTF">2020-11-10T02:52:03Z</dcterms:modified>
</cp:coreProperties>
</file>