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sldIdLst>
    <p:sldId id="257" r:id="rId3"/>
    <p:sldId id="258" r:id="rId4"/>
    <p:sldId id="259" r:id="rId5"/>
    <p:sldId id="260" r:id="rId6"/>
    <p:sldId id="262" r:id="rId7"/>
    <p:sldId id="267" r:id="rId8"/>
    <p:sldId id="261" r:id="rId9"/>
    <p:sldId id="266" r:id="rId10"/>
    <p:sldId id="263" r:id="rId11"/>
    <p:sldId id="264" r:id="rId12"/>
    <p:sldId id="265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3" r:id="rId26"/>
    <p:sldId id="282" r:id="rId27"/>
    <p:sldId id="284" r:id="rId28"/>
    <p:sldId id="286" r:id="rId29"/>
    <p:sldId id="281" r:id="rId30"/>
    <p:sldId id="285" r:id="rId31"/>
    <p:sldId id="288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8" r:id="rId48"/>
    <p:sldId id="309" r:id="rId49"/>
    <p:sldId id="310" r:id="rId50"/>
    <p:sldId id="311" r:id="rId51"/>
    <p:sldId id="312" r:id="rId52"/>
    <p:sldId id="30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1806-38DA-447D-A4B6-C420C6106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9ECCC-50C5-4F48-8DED-1C94072E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F24E3-0AF8-45B7-B279-06AAC06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937CE-F340-473F-B98A-C1F83AC9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8E85-362E-42F6-A005-469F0A31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DDD6-C8D3-49D6-818E-6D4E8F55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29AF-69A3-4D8D-91C8-25B6B521E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857E-D76C-42AD-97B5-FE0FA456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BBDD-27A3-4F6F-A084-83A5CE1E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601D6-423A-4F07-BCC6-F2F73CD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0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5E4F-9EDB-42F1-BFA2-271AFDD9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0236E-0CBF-46E8-BF54-61C80A68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5A937-D41B-4CAB-BB59-C8E40FC6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4D22-4DB1-47CD-8A2D-898156D5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539BC-63AF-4AB4-8D0C-53A52CD9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B815-0BC7-438A-B992-3F612399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3342-710B-45D0-AC3B-A7BBDE55C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0A96C-77A1-441A-867D-F2FE3F4B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2CAE5-C13C-4813-9746-9C0A658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0ECBB-F3BE-495E-8994-8A80A8F1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3AC-9D16-4319-A791-925D2DB9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8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00C1-479C-4550-B6E6-82F1E87C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71884-FF53-4689-812E-9A1F9EAA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F599E-8B8F-499E-9BFE-62DAD9CDE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0C640-2C79-42AE-802A-E616FC442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6C772-E955-4A0F-9F92-43382ACCB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16492-7F9A-4F20-AE69-AE512424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1B09E-A0C4-447F-9C25-26AD1080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658D6-ECC7-406B-BFDA-7453C67A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2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E4E4-00CA-47D6-B7FA-A707F845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3D389-F574-467E-B02C-F92FF5CA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F0162-FBA6-417F-A6F3-8B544B70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055DE-70C7-4161-8FC4-75470503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96E50-3E23-43CA-8EC6-D2313F21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4134A-79EB-4AC1-AC98-00401C0A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94F56-D6BB-4D1F-9E33-EC7E4528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9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057A-99D7-46C8-8062-CE9AF94C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D1B2-9E59-4644-AE1C-E49E4A85C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0A87A-10B8-4858-B5E4-45D03367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4385-A582-43FD-9F4F-87C93D01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4FDC9-56AF-4B04-8AE2-E153BAB5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2F9C3-75EC-454F-ACD7-1693E41E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5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05E7-BC45-4F2C-A511-E3AAAB0B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C12BC-D0FB-4181-A2A0-EE68E2887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D24A8-F299-4C0A-BE3D-109DDC1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00099-777C-43BA-9D53-ACF5202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55B84-A97D-4B06-8EF5-B5D5370A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D0024-C3BE-42F4-9EF3-4A86604F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CABB-FD66-4ABE-AE07-16B0B151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59014-E73A-4644-A233-1A557C86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5C153-1FAE-4E39-8CA5-BF753709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0AC2-3A25-40E2-8577-AEF20F1D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BAF9-9427-464F-83CD-1BF6E1FE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FFBBB2-313B-41F5-AA26-7F0F8DDA9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E6E7D-46AC-4F54-951F-7CC5B9560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9C3F-8555-4D0B-BD5F-0864F9C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18780-3DE8-444F-BA8D-5CF43931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F3D89-609C-4CE3-9E9F-E3C01C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3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CA424-95C8-4175-BC51-B72FC14B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02A-4435-48D1-9ED5-F69E8646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38AA2-A710-4411-A3D3-FF02FBE1D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D4C68-4A03-4E79-9D14-6BC24C439BF7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39033-BB70-4E2D-B670-586CCB5F3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4EA8-C3B4-43C3-9B95-200AEE10B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836C5-97FD-4C1B-BD09-027D8770B9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4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0310-C4CF-4FD8-AEBE-00CC25A2D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Algorithms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4E8C-9AE5-45FA-9AF6-9980CF3F8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Divide And Conquer</a:t>
            </a:r>
          </a:p>
        </p:txBody>
      </p:sp>
    </p:spTree>
    <p:extLst>
      <p:ext uri="{BB962C8B-B14F-4D97-AF65-F5344CB8AC3E}">
        <p14:creationId xmlns:p14="http://schemas.microsoft.com/office/powerpoint/2010/main" val="32403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0FD0-3A1A-4377-BC16-9E0FFF99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45E9-DEE8-4EFB-BB29-F193B23A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Brute Force: Look at all possibilities</a:t>
            </a:r>
          </a:p>
          <a:p>
            <a:r>
              <a:rPr lang="en-US" sz="3200" dirty="0"/>
              <a:t>Divide-and-Conquer (Recursion): Divide the larger problem into subproblems and solve subproblems</a:t>
            </a:r>
          </a:p>
          <a:p>
            <a:r>
              <a:rPr lang="en-US" sz="3200" dirty="0"/>
              <a:t>Dynamic Programming: Recursive algorithms many time solve the same problem multiple times, Dynamic Programming allows to save the work and reuse when required</a:t>
            </a:r>
          </a:p>
          <a:p>
            <a:r>
              <a:rPr lang="en-US" sz="3200" dirty="0"/>
              <a:t>Greedy: Try to find the solution quickly by optimizing decision based on local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3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820F-5C27-4C2A-965E-12CA35DC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Brute-Force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6601-0405-4E75-9512-92D2460076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int factorial(n):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fact := 1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1 to n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fact := fact *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fact;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D1E42-E9C9-4F13-9265-474EE3E0E4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int power(m, n):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pow := m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:= 1 to n-1  do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pow := pow * m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return pow;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72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820F-5C27-4C2A-965E-12CA35DC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Divide-and-Conquer (Recursion)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6601-0405-4E75-9512-92D2460076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int factorial(n):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if (n==1)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1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else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n * factorial(n-1)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D1E42-E9C9-4F13-9265-474EE3E0E4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highlight>
                  <a:srgbClr val="000000"/>
                </a:highlight>
                <a:latin typeface="Arial" panose="020B0604020202020204" pitchFamily="34" charset="0"/>
              </a:rPr>
              <a:t>int power(n, m):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highlight>
                  <a:srgbClr val="000000"/>
                </a:highlight>
                <a:latin typeface="Arial" panose="020B0604020202020204" pitchFamily="34" charset="0"/>
              </a:rPr>
              <a:t>      if (m==1)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highlight>
                  <a:srgbClr val="000000"/>
                </a:highlight>
                <a:latin typeface="Arial" panose="020B0604020202020204" pitchFamily="34" charset="0"/>
              </a:rPr>
              <a:t>	        return n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highlight>
                  <a:srgbClr val="000000"/>
                </a:highlight>
                <a:latin typeface="Arial" panose="020B0604020202020204" pitchFamily="34" charset="0"/>
              </a:rPr>
              <a:t>	    else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highlight>
                  <a:srgbClr val="000000"/>
                </a:highlight>
                <a:latin typeface="Arial" panose="020B0604020202020204" pitchFamily="34" charset="0"/>
              </a:rPr>
              <a:t>	        return n * power(n, m-1)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Implement recursive power algorithm</a:t>
            </a:r>
          </a:p>
        </p:txBody>
      </p:sp>
    </p:spTree>
    <p:extLst>
      <p:ext uri="{BB962C8B-B14F-4D97-AF65-F5344CB8AC3E}">
        <p14:creationId xmlns:p14="http://schemas.microsoft.com/office/powerpoint/2010/main" val="301382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4405-0B37-4635-86CD-57281203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3747-CF6A-4D6B-AA24-BCABB45DA0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factorial(4)</a:t>
            </a:r>
          </a:p>
          <a:p>
            <a:pPr marL="0" indent="0">
              <a:buNone/>
            </a:pPr>
            <a:r>
              <a:rPr lang="en-US" dirty="0"/>
              <a:t>4 * factorial(3)</a:t>
            </a:r>
          </a:p>
          <a:p>
            <a:pPr marL="0" indent="0">
              <a:buNone/>
            </a:pPr>
            <a:r>
              <a:rPr lang="en-US" dirty="0"/>
              <a:t>4 * (3 * factorial(2))</a:t>
            </a:r>
          </a:p>
          <a:p>
            <a:pPr marL="0" indent="0">
              <a:buNone/>
            </a:pPr>
            <a:r>
              <a:rPr lang="en-US" dirty="0"/>
              <a:t>4 * (3 * (2 * factorial(1)))</a:t>
            </a:r>
          </a:p>
          <a:p>
            <a:pPr marL="0" indent="0">
              <a:buNone/>
            </a:pPr>
            <a:r>
              <a:rPr lang="en-US" dirty="0"/>
              <a:t>4 * (3 * (2 * 1))</a:t>
            </a:r>
          </a:p>
          <a:p>
            <a:pPr marL="0" indent="0">
              <a:buNone/>
            </a:pPr>
            <a:r>
              <a:rPr lang="en-US" dirty="0"/>
              <a:t>4 * (3 * 2)</a:t>
            </a:r>
          </a:p>
          <a:p>
            <a:pPr marL="0" indent="0">
              <a:buNone/>
            </a:pPr>
            <a:r>
              <a:rPr lang="en-US" dirty="0"/>
              <a:t>4 * 6</a:t>
            </a:r>
          </a:p>
          <a:p>
            <a:pPr marL="0" indent="0">
              <a:buNone/>
            </a:pPr>
            <a:r>
              <a:rPr lang="en-US" dirty="0"/>
              <a:t>24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8DB76-4DDF-4445-9AF8-0473F4F1E6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Work out Recursive Power Solution:</a:t>
            </a:r>
          </a:p>
          <a:p>
            <a:pPr marL="0" indent="0">
              <a:buNone/>
            </a:pPr>
            <a:r>
              <a:rPr lang="en-US" dirty="0"/>
              <a:t>power(2,4)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factorial(2,3)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(2 * factorial(2,2))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(2 * (2 * factorial(2,1)))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(2 * (2 * 2))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(2 * 4)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2 * 8</a:t>
            </a:r>
          </a:p>
          <a:p>
            <a:pPr marL="0" indent="0">
              <a:buNone/>
            </a:pPr>
            <a:r>
              <a:rPr lang="en-US" dirty="0">
                <a:highlight>
                  <a:srgbClr val="000000"/>
                </a:highlight>
              </a:rPr>
              <a:t>16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198F10-560E-4A00-A0BC-352A7E1A1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recursion go on forever?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1A8FB-EAD1-4566-8A73-407F2D33B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What if the argument is zero or negative?</a:t>
            </a:r>
          </a:p>
          <a:p>
            <a:pPr>
              <a:defRPr/>
            </a:pPr>
            <a:r>
              <a:rPr lang="en-US" dirty="0" err="1"/>
              <a:t>E.g</a:t>
            </a:r>
            <a:r>
              <a:rPr lang="en-US" dirty="0"/>
              <a:t>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fact -1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= -1 * (fact -2)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= -1 * (-2 * (fact -3))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= -1 * (-2 * (-3 * (fact -4)))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= -1 * (-2 * (-3 * (-4 * (fact -5))))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   ...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As we can see n will never become 1 and hence recursion will go on infinitely</a:t>
            </a:r>
          </a:p>
          <a:p>
            <a:pPr>
              <a:defRPr/>
            </a:pPr>
            <a:r>
              <a:rPr lang="en-US" dirty="0"/>
              <a:t>It is only defined (i.e., gets an answer) for positive arguments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6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68C5C4-8A42-4C59-AA5B-580FAE9E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Recursion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D0B22-EB40-4006-A6ED-E9077889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</a:rPr>
              <a:t>When an algorithm calls itself to solve subproblems until terminating condition or base case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/>
              <a:t>For example, </a:t>
            </a:r>
            <a:r>
              <a:rPr lang="en-US" altLang="en-US" sz="3200" dirty="0">
                <a:latin typeface="Arial" panose="020B0604020202020204" pitchFamily="34" charset="0"/>
              </a:rPr>
              <a:t>factorial</a:t>
            </a:r>
            <a:r>
              <a:rPr lang="en-US" sz="3200" dirty="0"/>
              <a:t>(n) calls itself until with n=n, n=n-1, n=n-2 and so on until the base case of n=1 is reached</a:t>
            </a:r>
          </a:p>
          <a:p>
            <a:r>
              <a:rPr lang="en-US" sz="3200" dirty="0"/>
              <a:t>For example, </a:t>
            </a:r>
            <a:r>
              <a:rPr lang="en-US" altLang="en-US" sz="3200" dirty="0">
                <a:latin typeface="Arial" panose="020B0604020202020204" pitchFamily="34" charset="0"/>
              </a:rPr>
              <a:t>power</a:t>
            </a:r>
            <a:r>
              <a:rPr lang="en-US" sz="3200" dirty="0"/>
              <a:t>(</a:t>
            </a:r>
            <a:r>
              <a:rPr lang="en-US" sz="3200" dirty="0" err="1"/>
              <a:t>n,m</a:t>
            </a:r>
            <a:r>
              <a:rPr lang="en-US" sz="3200" dirty="0"/>
              <a:t>) calls itself until with m=m, m=m-1, m=m-2 and so on until the base case of m=1 is reached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8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1EC0-12EC-49F3-AE5A-50D37FE7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Terminating Condition or Base Case?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CAC60-A05F-4F61-9C04-93D4E158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factorial is defined for all positive integer arguments, n.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n could be 1 – the result is 1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factorial 1 = 1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This is known as the base case.</a:t>
            </a:r>
          </a:p>
          <a:p>
            <a:r>
              <a:rPr lang="en-US" altLang="en-US" dirty="0"/>
              <a:t>All other (positive integer) n are bigger than 1, and so we can subtract 1 from n only a finite number of times before reaching 1.</a:t>
            </a:r>
          </a:p>
          <a:p>
            <a:pPr lvl="1"/>
            <a:r>
              <a:rPr lang="pt-BR" altLang="en-US" dirty="0"/>
              <a:t>factorial n = n * factorial(n - 1)</a:t>
            </a:r>
          </a:p>
          <a:p>
            <a:r>
              <a:rPr lang="en-US" altLang="en-US" dirty="0"/>
              <a:t>This is known as the recursive case i.e. we solve subproblem factorial(n-1) to solve factorial(n)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3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3020-D2ED-485D-A23B-CF495397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425F-1B73-4F9C-BD69-003A4676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To be well defined it must:</a:t>
            </a:r>
          </a:p>
          <a:p>
            <a:pPr lvl="1"/>
            <a:r>
              <a:rPr lang="en-US" altLang="en-US" sz="3200" dirty="0"/>
              <a:t>Have a clearly identified range of arguments for which it is meant to work.</a:t>
            </a:r>
          </a:p>
          <a:p>
            <a:pPr lvl="1"/>
            <a:r>
              <a:rPr lang="en-US" altLang="en-US" sz="3200" dirty="0"/>
              <a:t>Have at least one base case, which does not cause a call to the same method.</a:t>
            </a:r>
          </a:p>
          <a:p>
            <a:pPr lvl="1"/>
            <a:r>
              <a:rPr lang="en-US" altLang="en-US" sz="3200" dirty="0"/>
              <a:t>In all recursive cases the arguments passed to a call of the same method, are nearer to a base case, than those given.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19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CC3F-163A-4B25-A829-CB8B3A81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 Box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7F68-489D-47AB-8FA0-1A6D6DDE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altLang="en-US" dirty="0"/>
              <a:t>Label each recursive call in the body of the recursive method</a:t>
            </a:r>
          </a:p>
          <a:p>
            <a:pPr marL="533400" indent="-533400">
              <a:buFontTx/>
              <a:buAutoNum type="arabicPeriod"/>
            </a:pPr>
            <a:r>
              <a:rPr lang="en-US" altLang="en-US" dirty="0"/>
              <a:t>Represent each call to the method by a new box containing the method's local environment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Arguments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Local variables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placeholder for value returned by each recursive call from the current box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The return value of the method itself</a:t>
            </a:r>
          </a:p>
          <a:p>
            <a:pPr marL="533400" indent="-533400">
              <a:buFontTx/>
              <a:buAutoNum type="arabicPeriod"/>
            </a:pPr>
            <a:r>
              <a:rPr lang="en-US" altLang="en-US" dirty="0"/>
              <a:t>Draw an arrow from box to box, where each represents another recursive call</a:t>
            </a:r>
          </a:p>
          <a:p>
            <a:pPr marL="533400" indent="-533400">
              <a:buFontTx/>
              <a:buAutoNum type="arabicPeriod"/>
            </a:pPr>
            <a:r>
              <a:rPr lang="en-US" altLang="en-US" dirty="0"/>
              <a:t>Cross off boxes as methods return</a:t>
            </a:r>
          </a:p>
        </p:txBody>
      </p:sp>
    </p:spTree>
    <p:extLst>
      <p:ext uri="{BB962C8B-B14F-4D97-AF65-F5344CB8AC3E}">
        <p14:creationId xmlns:p14="http://schemas.microsoft.com/office/powerpoint/2010/main" val="49753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24D4-7FE3-41BA-A59A-44FD701C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795EA-4D6C-41C4-ACB6-6B568ABD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Factorial Box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EDC6E-EBE3-4EBD-BC74-05DEC56B6844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1352365" y="2916313"/>
            <a:ext cx="1676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n = 4</a:t>
            </a:r>
          </a:p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A: fact(n-1)=?</a:t>
            </a:r>
          </a:p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return 4 * 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FDC7CB-C03C-45E4-8C6A-665E0D88817E}"/>
              </a:ext>
            </a:extLst>
          </p:cNvPr>
          <p:cNvGrpSpPr>
            <a:grpSpLocks/>
          </p:cNvGrpSpPr>
          <p:nvPr/>
        </p:nvGrpSpPr>
        <p:grpSpPr bwMode="auto">
          <a:xfrm>
            <a:off x="3028765" y="2916313"/>
            <a:ext cx="2362200" cy="914400"/>
            <a:chOff x="1248" y="1248"/>
            <a:chExt cx="1488" cy="5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08681B-5852-4FA7-A3B3-E20EE98B2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248"/>
              <a:ext cx="1056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n = 3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A: fact(n-1)=?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return 3 * ?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0AA416C5-3264-4F4A-B840-1B03932F4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296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16A85E-6112-4DF5-9605-EC648519A822}"/>
              </a:ext>
            </a:extLst>
          </p:cNvPr>
          <p:cNvGrpSpPr>
            <a:grpSpLocks/>
          </p:cNvGrpSpPr>
          <p:nvPr/>
        </p:nvGrpSpPr>
        <p:grpSpPr bwMode="auto">
          <a:xfrm>
            <a:off x="5390965" y="2916313"/>
            <a:ext cx="2286000" cy="914400"/>
            <a:chOff x="2736" y="1248"/>
            <a:chExt cx="1440" cy="5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BF5AF2-2720-48D4-BDF1-8A6FEEF83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248"/>
              <a:ext cx="1056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n = 2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A: fact(n-1)=?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return 2 * ?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FB220E41-4486-4A9B-A73C-B0EBEDA0E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248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28">
            <a:extLst>
              <a:ext uri="{FF2B5EF4-FFF2-40B4-BE49-F238E27FC236}">
                <a16:creationId xmlns:a16="http://schemas.microsoft.com/office/drawing/2014/main" id="{43CFCEFD-3CF2-42FA-9F3D-E824051273A9}"/>
              </a:ext>
            </a:extLst>
          </p:cNvPr>
          <p:cNvGrpSpPr>
            <a:grpSpLocks/>
          </p:cNvGrpSpPr>
          <p:nvPr/>
        </p:nvGrpSpPr>
        <p:grpSpPr bwMode="auto">
          <a:xfrm>
            <a:off x="4476565" y="4592713"/>
            <a:ext cx="1524000" cy="685800"/>
            <a:chOff x="2160" y="2688"/>
            <a:chExt cx="960" cy="432"/>
          </a:xfrm>
        </p:grpSpPr>
        <p:sp>
          <p:nvSpPr>
            <p:cNvPr id="12" name="Line 29">
              <a:extLst>
                <a:ext uri="{FF2B5EF4-FFF2-40B4-BE49-F238E27FC236}">
                  <a16:creationId xmlns:a16="http://schemas.microsoft.com/office/drawing/2014/main" id="{0515DEE5-C611-4DCF-AB29-C893B7331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" y="2976"/>
              <a:ext cx="52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30">
              <a:extLst>
                <a:ext uri="{FF2B5EF4-FFF2-40B4-BE49-F238E27FC236}">
                  <a16:creationId xmlns:a16="http://schemas.microsoft.com/office/drawing/2014/main" id="{18696A04-05FE-41FF-A014-DD4D710344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688"/>
              <a:ext cx="528" cy="432"/>
              <a:chOff x="2160" y="2688"/>
              <a:chExt cx="528" cy="432"/>
            </a:xfrm>
          </p:grpSpPr>
          <p:sp>
            <p:nvSpPr>
              <p:cNvPr id="14" name="Rectangle 31">
                <a:extLst>
                  <a:ext uri="{FF2B5EF4-FFF2-40B4-BE49-F238E27FC236}">
                    <a16:creationId xmlns:a16="http://schemas.microsoft.com/office/drawing/2014/main" id="{DE86619D-A816-4832-AA1B-ABC3F4C9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688"/>
                <a:ext cx="144" cy="2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kumimoji="1" lang="en-US" altLang="ja-JP" sz="2000">
                    <a:solidFill>
                      <a:srgbClr val="000000"/>
                    </a:solidFill>
                    <a:ea typeface="MS PGothic" panose="020B0600070205080204" pitchFamily="34" charset="-128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" name="Rectangle 32">
                <a:extLst>
                  <a:ext uri="{FF2B5EF4-FFF2-40B4-BE49-F238E27FC236}">
                    <a16:creationId xmlns:a16="http://schemas.microsoft.com/office/drawing/2014/main" id="{F32062DB-EDF3-4500-B663-2829A19FB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928"/>
                <a:ext cx="144" cy="1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kumimoji="1" lang="en-US" altLang="ja-JP" sz="2000">
                    <a:solidFill>
                      <a:srgbClr val="000000"/>
                    </a:solidFill>
                    <a:ea typeface="MS PGothic" panose="020B0600070205080204" pitchFamily="34" charset="-128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5EFCE444-4FA1-4876-B943-9618CC57CFFB}"/>
              </a:ext>
            </a:extLst>
          </p:cNvPr>
          <p:cNvGrpSpPr>
            <a:grpSpLocks/>
          </p:cNvGrpSpPr>
          <p:nvPr/>
        </p:nvGrpSpPr>
        <p:grpSpPr bwMode="auto">
          <a:xfrm>
            <a:off x="7676965" y="2916313"/>
            <a:ext cx="2286000" cy="914400"/>
            <a:chOff x="2736" y="1248"/>
            <a:chExt cx="1440" cy="576"/>
          </a:xfrm>
        </p:grpSpPr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15DEA1D2-BE68-4370-AF30-7C95403E8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248"/>
              <a:ext cx="1056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n = 1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 </a:t>
              </a:r>
            </a:p>
            <a:p>
              <a:pPr eaLnBrk="1" hangingPunct="1"/>
              <a:r>
                <a:rPr kumimoji="1" lang="en-US" altLang="ja-JP" sz="2000" dirty="0">
                  <a:solidFill>
                    <a:srgbClr val="000000"/>
                  </a:solidFill>
                  <a:ea typeface="MS PGothic" panose="020B0600070205080204" pitchFamily="34" charset="-128"/>
                  <a:cs typeface="Arial" panose="020B0604020202020204" pitchFamily="34" charset="0"/>
                </a:rPr>
                <a:t>return 1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05CAAF00-3725-4898-BACC-59AE0E4C06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248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28">
            <a:extLst>
              <a:ext uri="{FF2B5EF4-FFF2-40B4-BE49-F238E27FC236}">
                <a16:creationId xmlns:a16="http://schemas.microsoft.com/office/drawing/2014/main" id="{D8DF1F74-4114-4B23-A7E1-A597E2449F17}"/>
              </a:ext>
            </a:extLst>
          </p:cNvPr>
          <p:cNvGrpSpPr>
            <a:grpSpLocks/>
          </p:cNvGrpSpPr>
          <p:nvPr/>
        </p:nvGrpSpPr>
        <p:grpSpPr bwMode="auto">
          <a:xfrm>
            <a:off x="6838765" y="4668913"/>
            <a:ext cx="1524000" cy="609600"/>
            <a:chOff x="2160" y="2736"/>
            <a:chExt cx="960" cy="384"/>
          </a:xfrm>
          <a:solidFill>
            <a:schemeClr val="accent1"/>
          </a:solidFill>
        </p:grpSpPr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5F586ECE-5370-4CE2-90C0-3294BEF6B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" y="2976"/>
              <a:ext cx="528" cy="9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4003E2C5-0CB5-49D6-88BE-4CA0B53DD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736"/>
              <a:ext cx="528" cy="384"/>
              <a:chOff x="2160" y="2736"/>
              <a:chExt cx="528" cy="384"/>
            </a:xfrm>
            <a:grpFill/>
          </p:grpSpPr>
          <p:sp>
            <p:nvSpPr>
              <p:cNvPr id="22" name="Rectangle 31">
                <a:extLst>
                  <a:ext uri="{FF2B5EF4-FFF2-40B4-BE49-F238E27FC236}">
                    <a16:creationId xmlns:a16="http://schemas.microsoft.com/office/drawing/2014/main" id="{781C153B-E0C7-4DE4-BD54-B9F7D1DDA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44" cy="2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1" lang="en-US" altLang="ja-JP" sz="2000" dirty="0">
                    <a:solidFill>
                      <a:srgbClr val="000000"/>
                    </a:solidFill>
                    <a:ea typeface="MS PGothic" pitchFamily="34" charset="-128"/>
                    <a:cs typeface="Arial" charset="0"/>
                  </a:rPr>
                  <a:t>1</a:t>
                </a:r>
              </a:p>
            </p:txBody>
          </p:sp>
          <p:sp>
            <p:nvSpPr>
              <p:cNvPr id="23" name="Rectangle 32">
                <a:extLst>
                  <a:ext uri="{FF2B5EF4-FFF2-40B4-BE49-F238E27FC236}">
                    <a16:creationId xmlns:a16="http://schemas.microsoft.com/office/drawing/2014/main" id="{97F03180-8618-4C63-B816-593AF1E45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928"/>
                <a:ext cx="144" cy="19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1" lang="en-US" altLang="ja-JP" sz="2000" dirty="0">
                    <a:solidFill>
                      <a:srgbClr val="000000"/>
                    </a:solidFill>
                    <a:ea typeface="MS PGothic" pitchFamily="34" charset="-128"/>
                    <a:cs typeface="Arial" charset="0"/>
                  </a:rPr>
                  <a:t>2</a:t>
                </a:r>
              </a:p>
            </p:txBody>
          </p:sp>
        </p:grpSp>
      </p:grpSp>
      <p:sp>
        <p:nvSpPr>
          <p:cNvPr id="24" name="Rectangle 8">
            <a:extLst>
              <a:ext uri="{FF2B5EF4-FFF2-40B4-BE49-F238E27FC236}">
                <a16:creationId xmlns:a16="http://schemas.microsoft.com/office/drawing/2014/main" id="{51D43812-D0FC-4AE2-8490-44C0C8A18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765" y="4364113"/>
            <a:ext cx="1676400" cy="9144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n = 2</a:t>
            </a:r>
          </a:p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A: fact(n-1)=</a:t>
            </a:r>
          </a:p>
          <a:p>
            <a:pPr eaLnBrk="1" hangingPunct="1"/>
            <a:r>
              <a:rPr kumimoji="1" lang="en-US" altLang="ja-JP" sz="2000" dirty="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return 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0642B571-8C18-4638-89AC-E9F43EB59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565" y="4364113"/>
            <a:ext cx="1676400" cy="9144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n = 3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A: fact(n-1)=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return </a:t>
            </a:r>
          </a:p>
        </p:txBody>
      </p:sp>
      <p:grpSp>
        <p:nvGrpSpPr>
          <p:cNvPr id="26" name="Group 28">
            <a:extLst>
              <a:ext uri="{FF2B5EF4-FFF2-40B4-BE49-F238E27FC236}">
                <a16:creationId xmlns:a16="http://schemas.microsoft.com/office/drawing/2014/main" id="{40D42273-7BC3-4D95-9D4D-D5FE5C32FB21}"/>
              </a:ext>
            </a:extLst>
          </p:cNvPr>
          <p:cNvGrpSpPr>
            <a:grpSpLocks/>
          </p:cNvGrpSpPr>
          <p:nvPr/>
        </p:nvGrpSpPr>
        <p:grpSpPr bwMode="auto">
          <a:xfrm>
            <a:off x="2190565" y="4668913"/>
            <a:ext cx="1524000" cy="609600"/>
            <a:chOff x="2160" y="2736"/>
            <a:chExt cx="960" cy="384"/>
          </a:xfrm>
          <a:solidFill>
            <a:schemeClr val="accent1"/>
          </a:solidFill>
        </p:grpSpPr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99D1767C-0A90-49D1-8B38-17D18C070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" y="2976"/>
              <a:ext cx="528" cy="9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8" name="Group 30">
              <a:extLst>
                <a:ext uri="{FF2B5EF4-FFF2-40B4-BE49-F238E27FC236}">
                  <a16:creationId xmlns:a16="http://schemas.microsoft.com/office/drawing/2014/main" id="{AB8736D3-7624-40BE-B9D4-2398C45AE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736"/>
              <a:ext cx="528" cy="384"/>
              <a:chOff x="2160" y="2736"/>
              <a:chExt cx="528" cy="384"/>
            </a:xfrm>
            <a:grpFill/>
          </p:grpSpPr>
          <p:sp>
            <p:nvSpPr>
              <p:cNvPr id="29" name="Rectangle 31">
                <a:extLst>
                  <a:ext uri="{FF2B5EF4-FFF2-40B4-BE49-F238E27FC236}">
                    <a16:creationId xmlns:a16="http://schemas.microsoft.com/office/drawing/2014/main" id="{4BA8FCDF-793F-4E58-A09C-8B105F1B1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44" cy="24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1" lang="en-US" altLang="ja-JP" sz="2000" dirty="0">
                    <a:solidFill>
                      <a:srgbClr val="000000"/>
                    </a:solidFill>
                    <a:ea typeface="MS PGothic" pitchFamily="34" charset="-128"/>
                    <a:cs typeface="Arial" charset="0"/>
                  </a:rPr>
                  <a:t>6</a:t>
                </a:r>
              </a:p>
            </p:txBody>
          </p:sp>
          <p:sp>
            <p:nvSpPr>
              <p:cNvPr id="30" name="Rectangle 32">
                <a:extLst>
                  <a:ext uri="{FF2B5EF4-FFF2-40B4-BE49-F238E27FC236}">
                    <a16:creationId xmlns:a16="http://schemas.microsoft.com/office/drawing/2014/main" id="{8605A2DE-FEB0-4EF3-99C9-5D64BF5BE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928"/>
                <a:ext cx="144" cy="19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1" lang="en-US" altLang="ja-JP" sz="2000" dirty="0">
                    <a:solidFill>
                      <a:srgbClr val="000000"/>
                    </a:solidFill>
                    <a:ea typeface="MS PGothic" pitchFamily="34" charset="-128"/>
                    <a:cs typeface="Arial" charset="0"/>
                  </a:rPr>
                  <a:t>24</a:t>
                </a:r>
              </a:p>
            </p:txBody>
          </p:sp>
        </p:grpSp>
      </p:grpSp>
      <p:sp>
        <p:nvSpPr>
          <p:cNvPr id="31" name="Rectangle 8">
            <a:extLst>
              <a:ext uri="{FF2B5EF4-FFF2-40B4-BE49-F238E27FC236}">
                <a16:creationId xmlns:a16="http://schemas.microsoft.com/office/drawing/2014/main" id="{BC3858AF-7BA1-4C72-AFFB-B575BBAB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365" y="4364113"/>
            <a:ext cx="1676400" cy="9144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n = 4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A: fact(n-1)=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return</a:t>
            </a: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C20696DD-AEB2-446F-92D9-A3DA59EDB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565" y="4364113"/>
            <a:ext cx="1676400" cy="9144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n = 1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kumimoji="1" lang="en-US" altLang="ja-JP" sz="2000">
                <a:solidFill>
                  <a:srgbClr val="000000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41250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E052-3150-4EE0-9B09-FA11E313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9B6F-A500-412A-9E78-1F3E564E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// Consider code below which prints series 1 to n</a:t>
            </a:r>
          </a:p>
          <a:p>
            <a:pPr marL="0" indent="0">
              <a:buNone/>
            </a:pPr>
            <a:r>
              <a:rPr lang="en-US" altLang="en-US" dirty="0"/>
              <a:t>// Precondition: n &gt;= 0</a:t>
            </a:r>
          </a:p>
          <a:p>
            <a:pPr marL="0" indent="0">
              <a:buNone/>
            </a:pPr>
            <a:r>
              <a:rPr lang="en-US" dirty="0"/>
              <a:t>public static void </a:t>
            </a:r>
            <a:r>
              <a:rPr lang="en-US" dirty="0" err="1"/>
              <a:t>print_series</a:t>
            </a:r>
            <a:r>
              <a:rPr lang="en-US" dirty="0"/>
              <a:t>(n) {</a:t>
            </a:r>
          </a:p>
          <a:p>
            <a:pPr marL="0" indent="0">
              <a:buNone/>
            </a:pPr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recursive version of this </a:t>
            </a:r>
            <a:r>
              <a:rPr lang="en-US"/>
              <a:t>code (without using any loops)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E052-3150-4EE0-9B09-FA11E313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9B6F-A500-412A-9E78-1F3E564E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Consider code below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// precondition: x &gt;= 0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public void mystery(int x)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{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    if ((x / 10) != 0)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       mystery(x / 10);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sz="2800" dirty="0" err="1"/>
              <a:t>System.out.print</a:t>
            </a:r>
            <a:r>
              <a:rPr lang="en-US" altLang="en-US" sz="2800" dirty="0"/>
              <a:t>(x % 10);</a:t>
            </a:r>
          </a:p>
          <a:p>
            <a:pPr marL="400050" lvl="1" indent="0">
              <a:buFontTx/>
              <a:buNone/>
            </a:pPr>
            <a:r>
              <a:rPr lang="en-US" altLang="en-US" sz="2800" dirty="0"/>
              <a:t>}</a:t>
            </a:r>
          </a:p>
          <a:p>
            <a:r>
              <a:rPr lang="en-US" altLang="en-US" dirty="0"/>
              <a:t>Draw Box Trace for mystery(487653).</a:t>
            </a:r>
          </a:p>
        </p:txBody>
      </p:sp>
    </p:spTree>
    <p:extLst>
      <p:ext uri="{BB962C8B-B14F-4D97-AF65-F5344CB8AC3E}">
        <p14:creationId xmlns:p14="http://schemas.microsoft.com/office/powerpoint/2010/main" val="159578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0D3A-A157-428C-9B00-7840EFE5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1893-49B4-4CCA-876D-FA6E0FB2A7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public static void identify(int a[], int </a:t>
            </a:r>
            <a:r>
              <a:rPr lang="en-US" dirty="0" err="1"/>
              <a:t>i</a:t>
            </a:r>
            <a:r>
              <a:rPr lang="en-US" dirty="0"/>
              <a:t>)     { </a:t>
            </a:r>
          </a:p>
          <a:p>
            <a:pPr marL="0" indent="0">
              <a:buNone/>
            </a:pPr>
            <a:r>
              <a:rPr lang="en-US" dirty="0"/>
              <a:t>    static int m=999999;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i</a:t>
            </a:r>
            <a:r>
              <a:rPr lang="en-US" dirty="0"/>
              <a:t> == ARR_SIZE)  </a:t>
            </a:r>
          </a:p>
          <a:p>
            <a:pPr marL="0" indent="0">
              <a:buNone/>
            </a:pPr>
            <a:r>
              <a:rPr lang="en-US" dirty="0"/>
              <a:t>        return m; </a:t>
            </a:r>
          </a:p>
          <a:p>
            <a:pPr marL="0" indent="0">
              <a:buNone/>
            </a:pPr>
            <a:r>
              <a:rPr lang="en-US" dirty="0"/>
              <a:t>    else 	{</a:t>
            </a:r>
          </a:p>
          <a:p>
            <a:pPr marL="0" indent="0">
              <a:buNone/>
            </a:pPr>
            <a:r>
              <a:rPr lang="en-US" dirty="0"/>
              <a:t>	    if (m &gt; a[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		    m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	    identify(a,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3ED5C-3A50-465D-BD1A-7DAE16A363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dirty="0"/>
              <a:t>Briefly describe what is identify() achieving?</a:t>
            </a:r>
          </a:p>
        </p:txBody>
      </p:sp>
    </p:spTree>
    <p:extLst>
      <p:ext uri="{BB962C8B-B14F-4D97-AF65-F5344CB8AC3E}">
        <p14:creationId xmlns:p14="http://schemas.microsoft.com/office/powerpoint/2010/main" val="163510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B2B476-36A9-4849-A1AB-0F23CB48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Number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E639B-FA66-48E9-9700-FE5160582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 number system (base 10) : digits 0-9</a:t>
            </a:r>
          </a:p>
          <a:p>
            <a:pPr lvl="1"/>
            <a:r>
              <a:rPr lang="en-US" dirty="0"/>
              <a:t>Decimal 153 = 1*10</a:t>
            </a:r>
            <a:r>
              <a:rPr lang="en-US" baseline="30000" dirty="0"/>
              <a:t>2</a:t>
            </a:r>
            <a:r>
              <a:rPr lang="en-US" dirty="0"/>
              <a:t> + 5*10</a:t>
            </a:r>
            <a:r>
              <a:rPr lang="en-US" baseline="30000" dirty="0"/>
              <a:t>1</a:t>
            </a:r>
            <a:r>
              <a:rPr lang="en-US" dirty="0"/>
              <a:t> + 3*10</a:t>
            </a:r>
            <a:r>
              <a:rPr lang="en-US" baseline="30000" dirty="0"/>
              <a:t>0</a:t>
            </a:r>
          </a:p>
          <a:p>
            <a:pPr lvl="1"/>
            <a:r>
              <a:rPr lang="en-US" dirty="0"/>
              <a:t>Decimal 59 = 5*10</a:t>
            </a:r>
            <a:r>
              <a:rPr lang="en-US" baseline="30000" dirty="0"/>
              <a:t>1</a:t>
            </a:r>
            <a:r>
              <a:rPr lang="en-US" dirty="0"/>
              <a:t> + 9*0</a:t>
            </a:r>
            <a:r>
              <a:rPr lang="en-US" baseline="30000" dirty="0"/>
              <a:t>0</a:t>
            </a:r>
          </a:p>
          <a:p>
            <a:r>
              <a:rPr lang="en-US" dirty="0"/>
              <a:t>Binary number system (base 2): bits 0-1</a:t>
            </a:r>
          </a:p>
          <a:p>
            <a:pPr lvl="1"/>
            <a:r>
              <a:rPr lang="en-US" dirty="0"/>
              <a:t>Binary 111011 </a:t>
            </a:r>
            <a:r>
              <a:rPr lang="en-US" dirty="0" smtClean="0"/>
              <a:t>= 1*2</a:t>
            </a:r>
            <a:r>
              <a:rPr lang="en-US" baseline="30000" dirty="0"/>
              <a:t>5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1*2</a:t>
            </a:r>
            <a:r>
              <a:rPr lang="en-US" baseline="30000" dirty="0"/>
              <a:t>4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1*2</a:t>
            </a:r>
            <a:r>
              <a:rPr lang="en-US" baseline="30000" dirty="0"/>
              <a:t>3</a:t>
            </a:r>
            <a:r>
              <a:rPr lang="en-US" dirty="0" smtClean="0"/>
              <a:t> </a:t>
            </a:r>
            <a:r>
              <a:rPr lang="en-US" dirty="0"/>
              <a:t>+ 0*2</a:t>
            </a:r>
            <a:r>
              <a:rPr lang="en-US" baseline="30000" dirty="0"/>
              <a:t>2</a:t>
            </a:r>
            <a:r>
              <a:rPr lang="en-US" dirty="0"/>
              <a:t> + 1*2</a:t>
            </a:r>
            <a:r>
              <a:rPr lang="en-US" baseline="30000" dirty="0"/>
              <a:t>1</a:t>
            </a:r>
            <a:r>
              <a:rPr lang="en-US" dirty="0"/>
              <a:t> + </a:t>
            </a:r>
            <a:r>
              <a:rPr lang="en-US" dirty="0" smtClean="0"/>
              <a:t>1*2</a:t>
            </a:r>
            <a:r>
              <a:rPr lang="en-US" baseline="30000" dirty="0" smtClean="0"/>
              <a:t>0</a:t>
            </a:r>
            <a:r>
              <a:rPr lang="en-US" dirty="0" smtClean="0"/>
              <a:t> = 32+16+8+0+2+1=59 </a:t>
            </a:r>
            <a:endParaRPr lang="en-US" baseline="30000" dirty="0"/>
          </a:p>
          <a:p>
            <a:r>
              <a:rPr lang="en-US" dirty="0"/>
              <a:t>Convert Decimal TO Binary</a:t>
            </a:r>
          </a:p>
          <a:p>
            <a:pPr marL="0" indent="0">
              <a:buNone/>
            </a:pPr>
            <a:endParaRPr lang="en-US" dirty="0"/>
          </a:p>
          <a:p>
            <a:endParaRPr lang="en-US" baseline="30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5F71D2-E95C-4539-A22B-BBCEBB323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70683"/>
              </p:ext>
            </p:extLst>
          </p:nvPr>
        </p:nvGraphicFramePr>
        <p:xfrm>
          <a:off x="5625485" y="4012404"/>
          <a:ext cx="4055414" cy="2833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454">
                  <a:extLst>
                    <a:ext uri="{9D8B030D-6E8A-4147-A177-3AD203B41FA5}">
                      <a16:colId xmlns:a16="http://schemas.microsoft.com/office/drawing/2014/main" val="2611878949"/>
                    </a:ext>
                  </a:extLst>
                </a:gridCol>
                <a:gridCol w="1379347">
                  <a:extLst>
                    <a:ext uri="{9D8B030D-6E8A-4147-A177-3AD203B41FA5}">
                      <a16:colId xmlns:a16="http://schemas.microsoft.com/office/drawing/2014/main" val="2969987501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200759984"/>
                    </a:ext>
                  </a:extLst>
                </a:gridCol>
              </a:tblGrid>
              <a:tr h="4381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Quotient (/)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Reminder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51174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59/2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250398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29/2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85007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14/2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340496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7/2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887234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3/2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06149"/>
                  </a:ext>
                </a:extLst>
              </a:tr>
              <a:tr h="399227">
                <a:tc>
                  <a:txBody>
                    <a:bodyPr/>
                    <a:lstStyle/>
                    <a:p>
                      <a:r>
                        <a:rPr lang="en-US" dirty="0"/>
                        <a:t>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763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6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D01F-A865-4134-9AAD-638C79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to Binary Conversion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71AD-9A2C-436A-8246-2C06F792C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Write a method </a:t>
            </a:r>
            <a:r>
              <a:rPr lang="en-US" dirty="0" err="1">
                <a:ea typeface="ＭＳ Ｐゴシック" charset="0"/>
              </a:rPr>
              <a:t>printBinary</a:t>
            </a:r>
            <a:r>
              <a:rPr lang="en-US" dirty="0">
                <a:ea typeface="ＭＳ Ｐゴシック" charset="0"/>
              </a:rPr>
              <a:t> that accepts an integer and prints that number's representation in binary (base 2).</a:t>
            </a:r>
          </a:p>
          <a:p>
            <a:pPr lvl="1">
              <a:defRPr/>
            </a:pPr>
            <a:r>
              <a:rPr lang="en-US" sz="2800" dirty="0">
                <a:ea typeface="ＭＳ Ｐゴシック" charset="0"/>
              </a:rPr>
              <a:t>Ex: </a:t>
            </a:r>
            <a:r>
              <a:rPr lang="en-US" sz="2800" dirty="0" err="1">
                <a:ea typeface="ＭＳ Ｐゴシック" charset="0"/>
              </a:rPr>
              <a:t>printBinary</a:t>
            </a:r>
            <a:r>
              <a:rPr lang="en-US" sz="2800" dirty="0">
                <a:ea typeface="ＭＳ Ｐゴシック" charset="0"/>
              </a:rPr>
              <a:t>(7)  prints 111</a:t>
            </a:r>
          </a:p>
          <a:p>
            <a:pPr lvl="1">
              <a:defRPr/>
            </a:pPr>
            <a:r>
              <a:rPr lang="en-US" sz="2800" dirty="0">
                <a:ea typeface="ＭＳ Ｐゴシック" charset="0"/>
              </a:rPr>
              <a:t>Ex: </a:t>
            </a:r>
            <a:r>
              <a:rPr lang="en-US" sz="2800" dirty="0" err="1">
                <a:ea typeface="ＭＳ Ｐゴシック" charset="0"/>
              </a:rPr>
              <a:t>printBinary</a:t>
            </a:r>
            <a:r>
              <a:rPr lang="en-US" sz="2800" dirty="0">
                <a:ea typeface="ＭＳ Ｐゴシック" charset="0"/>
              </a:rPr>
              <a:t>(12) prints 1100</a:t>
            </a:r>
          </a:p>
          <a:p>
            <a:pPr lvl="1">
              <a:defRPr/>
            </a:pPr>
            <a:r>
              <a:rPr lang="en-US" sz="2800" dirty="0">
                <a:ea typeface="ＭＳ Ｐゴシック" charset="0"/>
              </a:rPr>
              <a:t>Ex: </a:t>
            </a:r>
            <a:r>
              <a:rPr lang="en-US" sz="2800" dirty="0" err="1">
                <a:ea typeface="ＭＳ Ｐゴシック" charset="0"/>
              </a:rPr>
              <a:t>printBinary</a:t>
            </a:r>
            <a:r>
              <a:rPr lang="en-US" sz="2800" dirty="0">
                <a:ea typeface="ＭＳ Ｐゴシック" charset="0"/>
              </a:rPr>
              <a:t>(42) prints 101010</a:t>
            </a:r>
          </a:p>
          <a:p>
            <a:pPr marL="342900" lvl="1" indent="-342900">
              <a:buFontTx/>
              <a:buChar char="•"/>
              <a:defRPr/>
            </a:pPr>
            <a:r>
              <a:rPr lang="en-US" sz="2800" dirty="0">
                <a:ea typeface="ＭＳ Ｐゴシック" charset="0"/>
              </a:rPr>
              <a:t>Write the method recursively and without using any loops.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A600-E575-4C21-BB05-5F9B2B17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Recursive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BFB6C-BE0E-4F4A-9764-B0BC169EE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ea typeface="MS PGothic" panose="020B0600070205080204" pitchFamily="34" charset="-128"/>
              </a:rPr>
              <a:t>What is the Base Case: What is/are easy smallest decimal numbers to print in binary?</a:t>
            </a:r>
          </a:p>
          <a:p>
            <a:pPr lvl="1"/>
            <a:r>
              <a:rPr lang="en-US" altLang="en-US" sz="2800" dirty="0">
                <a:ea typeface="MS PGothic" panose="020B0600070205080204" pitchFamily="34" charset="-128"/>
              </a:rPr>
              <a:t>0 </a:t>
            </a:r>
          </a:p>
          <a:p>
            <a:pPr lvl="1"/>
            <a:r>
              <a:rPr lang="en-US" altLang="en-US" sz="2800" dirty="0">
                <a:ea typeface="MS PGothic" panose="020B0600070205080204" pitchFamily="34" charset="-128"/>
              </a:rPr>
              <a:t>1</a:t>
            </a:r>
          </a:p>
          <a:p>
            <a:r>
              <a:rPr lang="en-US" altLang="en-US" sz="3200" dirty="0">
                <a:ea typeface="MS PGothic" panose="020B0600070205080204" pitchFamily="34" charset="-128"/>
              </a:rPr>
              <a:t>We have two base case n==1 or n==0 ( i.e. n&lt;2)</a:t>
            </a:r>
          </a:p>
          <a:p>
            <a:r>
              <a:rPr lang="en-US" altLang="en-US" sz="3200" dirty="0" smtClean="0">
                <a:ea typeface="MS PGothic" panose="020B0600070205080204" pitchFamily="34" charset="-128"/>
              </a:rPr>
              <a:t>What is the recursive case: Can </a:t>
            </a:r>
            <a:r>
              <a:rPr lang="en-US" altLang="en-US" sz="3200" dirty="0">
                <a:ea typeface="MS PGothic" panose="020B0600070205080204" pitchFamily="34" charset="-128"/>
              </a:rPr>
              <a:t>we express a larger number in terms of a smaller number(s)?</a:t>
            </a: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44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7DB9-544B-4D4C-85CD-0B645D83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Case </a:t>
            </a:r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EE5A6-47F0-4293-B46C-236FE08F3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dirty="0"/>
              <a:t>Suppose we have some arbitrary integer N</a:t>
            </a:r>
          </a:p>
          <a:p>
            <a:pPr lvl="1"/>
            <a:r>
              <a:rPr lang="en-US" altLang="en-US" sz="3200" dirty="0"/>
              <a:t>What is (N / 2)'s binary representation?</a:t>
            </a:r>
            <a:endParaRPr lang="en-US" altLang="en-US" sz="4000" dirty="0"/>
          </a:p>
          <a:p>
            <a:pPr lvl="1"/>
            <a:r>
              <a:rPr lang="en-US" altLang="en-US" sz="3200" dirty="0"/>
              <a:t>What is (N % 2)'s binary representation?</a:t>
            </a:r>
          </a:p>
          <a:p>
            <a:r>
              <a:rPr lang="en-US" altLang="en-US" sz="3600" dirty="0"/>
              <a:t>Ex: N is 10010101011 (base 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8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FCA4-6A98-410B-BC78-9FFFD4DB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printBinary</a:t>
            </a:r>
            <a:r>
              <a:rPr lang="en-US" altLang="en-US" dirty="0"/>
              <a:t> solution1 – Only prints the bits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47AB-7C20-41C8-BDCC-F65B0832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// Prints the given integer's binary representation.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// Precondition: n &gt;= 0</a:t>
            </a:r>
            <a:endParaRPr lang="en-US" altLang="en-US" sz="2400" dirty="0"/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public static void </a:t>
            </a:r>
            <a:r>
              <a:rPr lang="en-US" altLang="en-US" sz="2400" dirty="0" err="1"/>
              <a:t>printBinary</a:t>
            </a:r>
            <a:r>
              <a:rPr lang="en-US" altLang="en-US" sz="2400" dirty="0"/>
              <a:t>(int n)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if (n &lt; 2)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        // base case; same as base 10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</a:t>
            </a:r>
            <a:r>
              <a:rPr lang="en-US" altLang="en-US" sz="2400" dirty="0" err="1"/>
              <a:t>System.out.println</a:t>
            </a:r>
            <a:r>
              <a:rPr lang="en-US" altLang="en-US" sz="2400" dirty="0"/>
              <a:t>(n);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} else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        // recursive case; break number apart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        </a:t>
            </a:r>
            <a:r>
              <a:rPr lang="en-US" altLang="en-US" sz="2400" b="1" dirty="0" err="1"/>
              <a:t>printBinary</a:t>
            </a:r>
            <a:r>
              <a:rPr lang="en-US" altLang="en-US" sz="2400" b="1" dirty="0"/>
              <a:t>(n / 2);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        </a:t>
            </a:r>
            <a:r>
              <a:rPr lang="en-US" altLang="en-US" sz="2400" b="1" dirty="0" err="1"/>
              <a:t>printBinary</a:t>
            </a:r>
            <a:r>
              <a:rPr lang="en-US" altLang="en-US" sz="2400" b="1" dirty="0"/>
              <a:t>(n % 2);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38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FCA4-6A98-410B-BC78-9FFFD4DB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printBinary</a:t>
            </a:r>
            <a:r>
              <a:rPr lang="en-US" altLang="en-US" dirty="0"/>
              <a:t> solution2 – Prints </a:t>
            </a:r>
            <a:r>
              <a:rPr lang="en-US" altLang="en-US" dirty="0" smtClean="0"/>
              <a:t>Reassembled </a:t>
            </a:r>
            <a:r>
              <a:rPr lang="en-US" altLang="en-US" dirty="0"/>
              <a:t>Bits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47AB-7C20-41C8-BDCC-F65B0832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// Prints the given integer's binary representation.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b="1" dirty="0"/>
              <a:t>// Precondition: n &gt;= 0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static int sum=0;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static int </a:t>
            </a:r>
            <a:r>
              <a:rPr lang="en-US" altLang="en-US" sz="2400" dirty="0" err="1"/>
              <a:t>printBinary</a:t>
            </a:r>
            <a:r>
              <a:rPr lang="en-US" altLang="en-US" sz="2400" dirty="0"/>
              <a:t>(int n)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if (n == 0)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// base case; same as base 10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return sum;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} else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// recursive case; break number apart 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</a:t>
            </a:r>
            <a:r>
              <a:rPr lang="en-US" altLang="en-US" sz="2400" dirty="0" err="1"/>
              <a:t>printBinary</a:t>
            </a:r>
            <a:r>
              <a:rPr lang="en-US" altLang="en-US" sz="2400" dirty="0"/>
              <a:t>(n / 2);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sum = 10*sum + (n%2);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            return sum;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/>
              <a:t>}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4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D5BD-64F3-4CB7-80CA-0803C0B6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Algorithm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ABA1CE-0B65-4E43-82F6-1297BFD5D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an ordered list of number (sorted array) find the, a given number x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BINARY-SEARCH (A, lo, hi, x) </a:t>
            </a:r>
            <a:endParaRPr lang="en-US" altLang="en-US" sz="1000" dirty="0">
              <a:sym typeface="Symbol" panose="05050102010706020507" pitchFamily="18" charset="2"/>
            </a:endParaRP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(lo &gt; hi)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dirty="0">
                <a:sym typeface="Symbol" panose="05050102010706020507" pitchFamily="18" charset="2"/>
              </a:rPr>
              <a:t>return</a:t>
            </a:r>
            <a:r>
              <a:rPr lang="en-US" altLang="en-US" dirty="0">
                <a:sym typeface="Symbol" panose="05050102010706020507" pitchFamily="18" charset="2"/>
              </a:rPr>
              <a:t> FALSE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mid  (</a:t>
            </a:r>
            <a:r>
              <a:rPr lang="en-US" altLang="en-US" dirty="0" err="1">
                <a:sym typeface="Symbol" panose="05050102010706020507" pitchFamily="18" charset="2"/>
              </a:rPr>
              <a:t>lo+hi</a:t>
            </a:r>
            <a:r>
              <a:rPr lang="en-US" altLang="en-US" dirty="0">
                <a:sym typeface="Symbol" panose="05050102010706020507" pitchFamily="18" charset="2"/>
              </a:rPr>
              <a:t>)/2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x = A[mid]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return TRUE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&lt; A[mid] 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BINARY-SEARCH (A, lo, mid-1, x)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&gt; A[mid] 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 		BINARY-SEARCH (A, mid+1, hi, x)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15D2D2D0-F9F8-47A4-9AC2-AA03962E9AC1}"/>
              </a:ext>
            </a:extLst>
          </p:cNvPr>
          <p:cNvGrpSpPr>
            <a:grpSpLocks/>
          </p:cNvGrpSpPr>
          <p:nvPr/>
        </p:nvGrpSpPr>
        <p:grpSpPr bwMode="auto">
          <a:xfrm>
            <a:off x="4683942" y="2339182"/>
            <a:ext cx="4267200" cy="1665287"/>
            <a:chOff x="2736" y="1872"/>
            <a:chExt cx="2688" cy="1049"/>
          </a:xfrm>
        </p:grpSpPr>
        <p:grpSp>
          <p:nvGrpSpPr>
            <p:cNvPr id="11" name="Group 5">
              <a:extLst>
                <a:ext uri="{FF2B5EF4-FFF2-40B4-BE49-F238E27FC236}">
                  <a16:creationId xmlns:a16="http://schemas.microsoft.com/office/drawing/2014/main" id="{F32129CA-FE40-47B9-852A-3780049919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872"/>
              <a:ext cx="2688" cy="480"/>
              <a:chOff x="528" y="1392"/>
              <a:chExt cx="2688" cy="480"/>
            </a:xfrm>
          </p:grpSpPr>
          <p:grpSp>
            <p:nvGrpSpPr>
              <p:cNvPr id="20" name="Group 6">
                <a:extLst>
                  <a:ext uri="{FF2B5EF4-FFF2-40B4-BE49-F238E27FC236}">
                    <a16:creationId xmlns:a16="http://schemas.microsoft.com/office/drawing/2014/main" id="{7D8BDC29-536A-4337-BBCB-33FFF1E007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584"/>
                <a:ext cx="2688" cy="288"/>
                <a:chOff x="528" y="1440"/>
                <a:chExt cx="2688" cy="288"/>
              </a:xfrm>
            </p:grpSpPr>
            <p:sp>
              <p:nvSpPr>
                <p:cNvPr id="29" name="Rectangle 7">
                  <a:extLst>
                    <a:ext uri="{FF2B5EF4-FFF2-40B4-BE49-F238E27FC236}">
                      <a16:creationId xmlns:a16="http://schemas.microsoft.com/office/drawing/2014/main" id="{201160AC-9738-4AAB-A61D-6561995EDD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</a:rPr>
                    <a:t>12</a:t>
                  </a:r>
                  <a:endParaRPr lang="en-US" alt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0" name="Rectangle 8">
                  <a:extLst>
                    <a:ext uri="{FF2B5EF4-FFF2-40B4-BE49-F238E27FC236}">
                      <a16:creationId xmlns:a16="http://schemas.microsoft.com/office/drawing/2014/main" id="{ACF6DD4A-7624-4B6F-A257-B7E9CA73B3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</a:rPr>
                    <a:t>11</a:t>
                  </a:r>
                  <a:endParaRPr lang="en-US" alt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1" name="Rectangle 9">
                  <a:extLst>
                    <a:ext uri="{FF2B5EF4-FFF2-40B4-BE49-F238E27FC236}">
                      <a16:creationId xmlns:a16="http://schemas.microsoft.com/office/drawing/2014/main" id="{BA46DDB1-308E-4640-9025-B8E2592160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</a:rPr>
                    <a:t>10</a:t>
                  </a:r>
                  <a:endParaRPr lang="en-US" alt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2" name="Rectangle 10">
                  <a:extLst>
                    <a:ext uri="{FF2B5EF4-FFF2-40B4-BE49-F238E27FC236}">
                      <a16:creationId xmlns:a16="http://schemas.microsoft.com/office/drawing/2014/main" id="{A65294CF-FAC1-44E4-88DB-F61E364B2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</a:rPr>
                    <a:t>9</a:t>
                  </a:r>
                  <a:endParaRPr lang="en-US" alt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3" name="Rectangle 11">
                  <a:extLst>
                    <a:ext uri="{FF2B5EF4-FFF2-40B4-BE49-F238E27FC236}">
                      <a16:creationId xmlns:a16="http://schemas.microsoft.com/office/drawing/2014/main" id="{D634798E-4B26-4B33-AF8E-D91938698F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</a:rPr>
                    <a:t>7</a:t>
                  </a:r>
                  <a:endParaRPr lang="en-US" alt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4" name="Rectangle 12">
                  <a:extLst>
                    <a:ext uri="{FF2B5EF4-FFF2-40B4-BE49-F238E27FC236}">
                      <a16:creationId xmlns:a16="http://schemas.microsoft.com/office/drawing/2014/main" id="{0FD6E186-BBE2-4091-9B29-D42EE1C29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 dirty="0">
                      <a:solidFill>
                        <a:schemeClr val="accent2"/>
                      </a:solidFill>
                    </a:rPr>
                    <a:t>5</a:t>
                  </a:r>
                  <a:endParaRPr lang="en-US" altLang="en-US" sz="2400" baseline="-25000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5" name="Rectangle 13">
                  <a:extLst>
                    <a:ext uri="{FF2B5EF4-FFF2-40B4-BE49-F238E27FC236}">
                      <a16:creationId xmlns:a16="http://schemas.microsoft.com/office/drawing/2014/main" id="{3B9C91E7-1A0F-40D4-840E-6675C6FC23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 dirty="0">
                      <a:solidFill>
                        <a:schemeClr val="accent2"/>
                      </a:solidFill>
                    </a:rPr>
                    <a:t>3</a:t>
                  </a:r>
                  <a:endParaRPr lang="en-US" altLang="en-US" sz="2400" baseline="-25000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6" name="Rectangle 14">
                  <a:extLst>
                    <a:ext uri="{FF2B5EF4-FFF2-40B4-BE49-F238E27FC236}">
                      <a16:creationId xmlns:a16="http://schemas.microsoft.com/office/drawing/2014/main" id="{65C8225D-C81A-4F19-BB3F-AA54133EB8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 dirty="0">
                      <a:solidFill>
                        <a:schemeClr val="accent2"/>
                      </a:solidFill>
                    </a:rPr>
                    <a:t>4</a:t>
                  </a:r>
                </a:p>
              </p:txBody>
            </p:sp>
            <p:sp>
              <p:nvSpPr>
                <p:cNvPr id="37" name="Line 15">
                  <a:extLst>
                    <a:ext uri="{FF2B5EF4-FFF2-40B4-BE49-F238E27FC236}">
                      <a16:creationId xmlns:a16="http://schemas.microsoft.com/office/drawing/2014/main" id="{2EB157B2-EAD1-46BA-98DA-FF2EE717D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38" name="Line 16">
                  <a:extLst>
                    <a:ext uri="{FF2B5EF4-FFF2-40B4-BE49-F238E27FC236}">
                      <a16:creationId xmlns:a16="http://schemas.microsoft.com/office/drawing/2014/main" id="{5D5A2FB3-0DAA-4A80-8A45-2C9CCC57BF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728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39" name="Line 17">
                  <a:extLst>
                    <a:ext uri="{FF2B5EF4-FFF2-40B4-BE49-F238E27FC236}">
                      <a16:creationId xmlns:a16="http://schemas.microsoft.com/office/drawing/2014/main" id="{D76AA2F8-83DA-4C44-858B-A8079CC9B4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0" name="Line 18">
                  <a:extLst>
                    <a:ext uri="{FF2B5EF4-FFF2-40B4-BE49-F238E27FC236}">
                      <a16:creationId xmlns:a16="http://schemas.microsoft.com/office/drawing/2014/main" id="{6809B08F-AAFA-4D75-B036-9044E3E18F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1" name="Line 19">
                  <a:extLst>
                    <a:ext uri="{FF2B5EF4-FFF2-40B4-BE49-F238E27FC236}">
                      <a16:creationId xmlns:a16="http://schemas.microsoft.com/office/drawing/2014/main" id="{6E09A6CA-557A-4537-A120-989966329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2" name="Line 20">
                  <a:extLst>
                    <a:ext uri="{FF2B5EF4-FFF2-40B4-BE49-F238E27FC236}">
                      <a16:creationId xmlns:a16="http://schemas.microsoft.com/office/drawing/2014/main" id="{F1827540-787C-4FCE-8764-A716F6132B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3" name="Line 21">
                  <a:extLst>
                    <a:ext uri="{FF2B5EF4-FFF2-40B4-BE49-F238E27FC236}">
                      <a16:creationId xmlns:a16="http://schemas.microsoft.com/office/drawing/2014/main" id="{513D5186-1959-47CE-8F5F-803987E3D7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4" name="Line 22">
                  <a:extLst>
                    <a:ext uri="{FF2B5EF4-FFF2-40B4-BE49-F238E27FC236}">
                      <a16:creationId xmlns:a16="http://schemas.microsoft.com/office/drawing/2014/main" id="{403ED2E3-951C-457F-A247-EED2A1B62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5" name="Line 23">
                  <a:extLst>
                    <a:ext uri="{FF2B5EF4-FFF2-40B4-BE49-F238E27FC236}">
                      <a16:creationId xmlns:a16="http://schemas.microsoft.com/office/drawing/2014/main" id="{B66B4440-6E5B-4C58-B885-A1C87BBC02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6" name="Line 24">
                  <a:extLst>
                    <a:ext uri="{FF2B5EF4-FFF2-40B4-BE49-F238E27FC236}">
                      <a16:creationId xmlns:a16="http://schemas.microsoft.com/office/drawing/2014/main" id="{15A1F89A-75C2-4EC1-BF7F-4D594DC89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47" name="Line 25">
                  <a:extLst>
                    <a:ext uri="{FF2B5EF4-FFF2-40B4-BE49-F238E27FC236}">
                      <a16:creationId xmlns:a16="http://schemas.microsoft.com/office/drawing/2014/main" id="{01A20F02-5288-48FC-A30F-E6EFC9AEAB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</p:grpSp>
          <p:sp>
            <p:nvSpPr>
              <p:cNvPr id="21" name="Text Box 26">
                <a:extLst>
                  <a:ext uri="{FF2B5EF4-FFF2-40B4-BE49-F238E27FC236}">
                    <a16:creationId xmlns:a16="http://schemas.microsoft.com/office/drawing/2014/main" id="{4113DDAA-F60B-4DAD-9CE1-B009D3DAC2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 dirty="0"/>
                  <a:t>1</a:t>
                </a:r>
              </a:p>
            </p:txBody>
          </p:sp>
          <p:sp>
            <p:nvSpPr>
              <p:cNvPr id="22" name="Text Box 27">
                <a:extLst>
                  <a:ext uri="{FF2B5EF4-FFF2-40B4-BE49-F238E27FC236}">
                    <a16:creationId xmlns:a16="http://schemas.microsoft.com/office/drawing/2014/main" id="{7226C11B-AE87-4386-B86E-D1F132D0F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2</a:t>
                </a:r>
              </a:p>
            </p:txBody>
          </p:sp>
          <p:sp>
            <p:nvSpPr>
              <p:cNvPr id="23" name="Text Box 28">
                <a:extLst>
                  <a:ext uri="{FF2B5EF4-FFF2-40B4-BE49-F238E27FC236}">
                    <a16:creationId xmlns:a16="http://schemas.microsoft.com/office/drawing/2014/main" id="{BB695245-E80F-457C-A6F4-D7E38BA77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 dirty="0"/>
                  <a:t>3</a:t>
                </a:r>
              </a:p>
            </p:txBody>
          </p:sp>
          <p:sp>
            <p:nvSpPr>
              <p:cNvPr id="24" name="Text Box 29">
                <a:extLst>
                  <a:ext uri="{FF2B5EF4-FFF2-40B4-BE49-F238E27FC236}">
                    <a16:creationId xmlns:a16="http://schemas.microsoft.com/office/drawing/2014/main" id="{A0FED735-A810-4963-A2D4-581069629E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4</a:t>
                </a:r>
              </a:p>
            </p:txBody>
          </p:sp>
          <p:sp>
            <p:nvSpPr>
              <p:cNvPr id="25" name="Text Box 30">
                <a:extLst>
                  <a:ext uri="{FF2B5EF4-FFF2-40B4-BE49-F238E27FC236}">
                    <a16:creationId xmlns:a16="http://schemas.microsoft.com/office/drawing/2014/main" id="{69100AA5-0740-49A7-B29E-1A51C7EFC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5</a:t>
                </a:r>
              </a:p>
            </p:txBody>
          </p:sp>
          <p:sp>
            <p:nvSpPr>
              <p:cNvPr id="26" name="Text Box 31">
                <a:extLst>
                  <a:ext uri="{FF2B5EF4-FFF2-40B4-BE49-F238E27FC236}">
                    <a16:creationId xmlns:a16="http://schemas.microsoft.com/office/drawing/2014/main" id="{F3A1BD77-CEF1-4A96-B49E-0B90B187D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6</a:t>
                </a:r>
              </a:p>
            </p:txBody>
          </p:sp>
          <p:sp>
            <p:nvSpPr>
              <p:cNvPr id="27" name="Text Box 32">
                <a:extLst>
                  <a:ext uri="{FF2B5EF4-FFF2-40B4-BE49-F238E27FC236}">
                    <a16:creationId xmlns:a16="http://schemas.microsoft.com/office/drawing/2014/main" id="{63A80ACD-CDBA-44F3-BE68-93AF791293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7</a:t>
                </a:r>
              </a:p>
            </p:txBody>
          </p:sp>
          <p:sp>
            <p:nvSpPr>
              <p:cNvPr id="28" name="Text Box 33">
                <a:extLst>
                  <a:ext uri="{FF2B5EF4-FFF2-40B4-BE49-F238E27FC236}">
                    <a16:creationId xmlns:a16="http://schemas.microsoft.com/office/drawing/2014/main" id="{FBA7781C-9D07-45EA-84CF-E87379606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8</a:t>
                </a:r>
              </a:p>
            </p:txBody>
          </p:sp>
        </p:grpSp>
        <p:grpSp>
          <p:nvGrpSpPr>
            <p:cNvPr id="12" name="Group 34">
              <a:extLst>
                <a:ext uri="{FF2B5EF4-FFF2-40B4-BE49-F238E27FC236}">
                  <a16:creationId xmlns:a16="http://schemas.microsoft.com/office/drawing/2014/main" id="{FBDE7BC0-186B-4FFC-88DA-7B157392F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448"/>
              <a:ext cx="660" cy="375"/>
              <a:chOff x="3936" y="2448"/>
              <a:chExt cx="660" cy="375"/>
            </a:xfrm>
          </p:grpSpPr>
          <p:sp>
            <p:nvSpPr>
              <p:cNvPr id="17" name="Text Box 35">
                <a:extLst>
                  <a:ext uri="{FF2B5EF4-FFF2-40B4-BE49-F238E27FC236}">
                    <a16:creationId xmlns:a16="http://schemas.microsoft.com/office/drawing/2014/main" id="{728A46F6-EC86-43C2-A433-D4858DBC29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592"/>
                <a:ext cx="3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b="1" dirty="0"/>
                  <a:t>mid</a:t>
                </a:r>
              </a:p>
            </p:txBody>
          </p:sp>
          <p:sp>
            <p:nvSpPr>
              <p:cNvPr id="18" name="Line 36">
                <a:extLst>
                  <a:ext uri="{FF2B5EF4-FFF2-40B4-BE49-F238E27FC236}">
                    <a16:creationId xmlns:a16="http://schemas.microsoft.com/office/drawing/2014/main" id="{852C89B9-ED54-4F47-B25C-0476C54AD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37">
                <a:extLst>
                  <a:ext uri="{FF2B5EF4-FFF2-40B4-BE49-F238E27FC236}">
                    <a16:creationId xmlns:a16="http://schemas.microsoft.com/office/drawing/2014/main" id="{E02E62F8-234F-4009-A0CE-3917C330C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Box 38">
              <a:extLst>
                <a:ext uri="{FF2B5EF4-FFF2-40B4-BE49-F238E27FC236}">
                  <a16:creationId xmlns:a16="http://schemas.microsoft.com/office/drawing/2014/main" id="{DE8AEEEE-CE29-445F-96DC-BEFDE17E7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688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/>
                <a:t>lo</a:t>
              </a:r>
            </a:p>
          </p:txBody>
        </p:sp>
        <p:sp>
          <p:nvSpPr>
            <p:cNvPr id="14" name="Text Box 39">
              <a:extLst>
                <a:ext uri="{FF2B5EF4-FFF2-40B4-BE49-F238E27FC236}">
                  <a16:creationId xmlns:a16="http://schemas.microsoft.com/office/drawing/2014/main" id="{8465D29F-88F6-483C-B7ED-2E63AB9DD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2688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dirty="0"/>
                <a:t>hi</a:t>
              </a:r>
            </a:p>
          </p:txBody>
        </p:sp>
        <p:sp>
          <p:nvSpPr>
            <p:cNvPr id="15" name="Line 40">
              <a:extLst>
                <a:ext uri="{FF2B5EF4-FFF2-40B4-BE49-F238E27FC236}">
                  <a16:creationId xmlns:a16="http://schemas.microsoft.com/office/drawing/2014/main" id="{44C574B0-3537-4FA8-87B5-E1AA81DE9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1">
              <a:extLst>
                <a:ext uri="{FF2B5EF4-FFF2-40B4-BE49-F238E27FC236}">
                  <a16:creationId xmlns:a16="http://schemas.microsoft.com/office/drawing/2014/main" id="{E59BDC30-F326-4322-B8CA-2344B2403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508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CB26-525B-48AD-95D0-C07ABE2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Algorithm – Example 1A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1192-B73D-47ED-977E-D2416F1D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A[8] = {1, 2, 3, 4, 5, 7, 9, 11}</a:t>
            </a:r>
          </a:p>
          <a:p>
            <a:pPr lvl="1"/>
            <a:r>
              <a:rPr lang="en-US" altLang="en-US" dirty="0"/>
              <a:t>lo = 1	hi = 8	  </a:t>
            </a:r>
            <a:r>
              <a:rPr lang="en-US" altLang="en-US" dirty="0">
                <a:solidFill>
                  <a:srgbClr val="DD0111"/>
                </a:solidFill>
              </a:rPr>
              <a:t>x = 7</a:t>
            </a:r>
          </a:p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D721294-C466-4130-A64E-ED5F67FFCD3A}"/>
              </a:ext>
            </a:extLst>
          </p:cNvPr>
          <p:cNvGrpSpPr>
            <a:grpSpLocks/>
          </p:cNvGrpSpPr>
          <p:nvPr/>
        </p:nvGrpSpPr>
        <p:grpSpPr bwMode="auto">
          <a:xfrm>
            <a:off x="4000871" y="3539186"/>
            <a:ext cx="5638800" cy="457200"/>
            <a:chOff x="1536" y="1584"/>
            <a:chExt cx="3552" cy="288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C83CACE6-2469-41F8-9AC8-A76513FE8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/>
                <a:t>mid = 4, lo = 5, hi = 8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F977A0AA-2ED0-4057-AD3A-D2F751F5D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B98C335-EAB7-4489-8AE2-7455B8743AED}"/>
              </a:ext>
            </a:extLst>
          </p:cNvPr>
          <p:cNvGrpSpPr>
            <a:grpSpLocks/>
          </p:cNvGrpSpPr>
          <p:nvPr/>
        </p:nvGrpSpPr>
        <p:grpSpPr bwMode="auto">
          <a:xfrm>
            <a:off x="5067671" y="4772673"/>
            <a:ext cx="4953000" cy="747713"/>
            <a:chOff x="2208" y="2064"/>
            <a:chExt cx="3120" cy="471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B288B716-D959-4D7C-9532-49C346FCD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6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E8CA7F47-34FB-496C-8C5F-41A994527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093"/>
              <a:ext cx="19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/>
                <a:t>mid = 6, A[mid] = x  Found!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18FAA92-9EB6-44F3-87B1-17B288CD6FDF}"/>
              </a:ext>
            </a:extLst>
          </p:cNvPr>
          <p:cNvGrpSpPr>
            <a:grpSpLocks/>
          </p:cNvGrpSpPr>
          <p:nvPr/>
        </p:nvGrpSpPr>
        <p:grpSpPr bwMode="auto">
          <a:xfrm>
            <a:off x="2400671" y="4772673"/>
            <a:ext cx="4267200" cy="457200"/>
            <a:chOff x="528" y="1440"/>
            <a:chExt cx="2688" cy="288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4624ECB5-48DD-43B3-9A46-87FCEE96D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41DB5D1-FCE5-4E96-9935-BC2B9304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78BD93F5-60D1-4D2D-88B6-5209D7BEC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481E180-1435-43C2-9D7B-D8102C307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CE30446B-A5E9-4E84-9F33-F4C1F0677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3737CF17-0018-4255-92C6-42EFE38CA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46486A9F-026A-4048-A95B-539A21B52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B0D9AEAC-ACCD-45A4-8683-3D5F150EB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9077DC85-1437-42F0-BD15-53C6F6855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02238828-C5D1-4E58-8249-BCB69996E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0B09ED85-654D-49E3-89EF-8D6F99628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DC237BE-1E51-49DA-B777-5C201FDD4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13C9AF30-A116-486B-9E87-5BD265ECE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0865BBAD-F966-438A-B071-8D1725820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6DCB7B05-E12B-41FA-B171-09F042337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D54EEDF7-A4F9-48E3-807E-37C4D62D6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7B5CB188-FF14-4ADD-88A4-E59B01585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CE30789D-FE37-4C66-81EF-98D952948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2003E4A0-964E-46EF-8CC7-862E7339A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30" name="Group 31">
            <a:extLst>
              <a:ext uri="{FF2B5EF4-FFF2-40B4-BE49-F238E27FC236}">
                <a16:creationId xmlns:a16="http://schemas.microsoft.com/office/drawing/2014/main" id="{08973324-6E80-4E31-922F-49540BE682CA}"/>
              </a:ext>
            </a:extLst>
          </p:cNvPr>
          <p:cNvGrpSpPr>
            <a:grpSpLocks/>
          </p:cNvGrpSpPr>
          <p:nvPr/>
        </p:nvGrpSpPr>
        <p:grpSpPr bwMode="auto">
          <a:xfrm>
            <a:off x="2400671" y="3539186"/>
            <a:ext cx="4267200" cy="457200"/>
            <a:chOff x="528" y="1440"/>
            <a:chExt cx="2688" cy="288"/>
          </a:xfrm>
        </p:grpSpPr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3E3F32D6-5096-4911-B40B-D3084DA07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9FE9B2B4-DE93-4695-B97B-95C8C0401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C65193EE-20FE-4955-A290-1B763FC3A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1E4C1B17-E8D7-4C62-A8DA-3A4A5211B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1A27D69C-FD08-4A26-926A-02B3A1114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 dirty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5DB454C8-4D1C-4C9F-A510-FE82BBC1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7FB5D560-6A71-468C-A090-88942ADC0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A721476A-D686-4578-A585-361DD2E8F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40CF6B8D-1EFC-48E1-9D2C-46133E266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0" name="Line 41">
              <a:extLst>
                <a:ext uri="{FF2B5EF4-FFF2-40B4-BE49-F238E27FC236}">
                  <a16:creationId xmlns:a16="http://schemas.microsoft.com/office/drawing/2014/main" id="{1DB6F4F7-14E0-4564-A26F-901F7316D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4F14959E-C61D-4F96-84BC-2AAFBF4F6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F672E5C2-D6EC-4EC4-B60C-9FD03564B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7B283C43-679C-44B6-844D-2005E300D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BA7459BC-DD37-4B9B-8D02-9574E2C7F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5" name="Line 46">
              <a:extLst>
                <a:ext uri="{FF2B5EF4-FFF2-40B4-BE49-F238E27FC236}">
                  <a16:creationId xmlns:a16="http://schemas.microsoft.com/office/drawing/2014/main" id="{8CDAC075-D78F-427E-AADD-45F5B8B1A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 dirty="0"/>
            </a:p>
          </p:txBody>
        </p:sp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9761BCF1-B802-413E-ADCA-8C5A4B2D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84D88791-37DA-4F8A-AC0E-D06EBBF1E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AFE62FC5-02DE-4F18-8CF2-6B11E74D7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0B0EE3B0-6F4C-49A4-AD09-0DC0A2D4F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sp>
        <p:nvSpPr>
          <p:cNvPr id="50" name="Text Box 51">
            <a:extLst>
              <a:ext uri="{FF2B5EF4-FFF2-40B4-BE49-F238E27FC236}">
                <a16:creationId xmlns:a16="http://schemas.microsoft.com/office/drawing/2014/main" id="{37823519-0ADE-4F58-B049-6D7A72FF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30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1</a:t>
            </a:r>
          </a:p>
        </p:txBody>
      </p:sp>
      <p:sp>
        <p:nvSpPr>
          <p:cNvPr id="51" name="Text Box 52">
            <a:extLst>
              <a:ext uri="{FF2B5EF4-FFF2-40B4-BE49-F238E27FC236}">
                <a16:creationId xmlns:a16="http://schemas.microsoft.com/office/drawing/2014/main" id="{6E09988D-65E2-4F95-B8CC-4EACA2518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4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2</a:t>
            </a:r>
          </a:p>
        </p:txBody>
      </p:sp>
      <p:sp>
        <p:nvSpPr>
          <p:cNvPr id="52" name="Text Box 53">
            <a:extLst>
              <a:ext uri="{FF2B5EF4-FFF2-40B4-BE49-F238E27FC236}">
                <a16:creationId xmlns:a16="http://schemas.microsoft.com/office/drawing/2014/main" id="{0A541872-53D8-4E19-8E2E-69AAA3CF9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8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3</a:t>
            </a:r>
          </a:p>
        </p:txBody>
      </p:sp>
      <p:sp>
        <p:nvSpPr>
          <p:cNvPr id="53" name="Text Box 54">
            <a:extLst>
              <a:ext uri="{FF2B5EF4-FFF2-40B4-BE49-F238E27FC236}">
                <a16:creationId xmlns:a16="http://schemas.microsoft.com/office/drawing/2014/main" id="{F4733B3F-667C-4A17-8F0D-4319A5027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32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4</a:t>
            </a:r>
          </a:p>
        </p:txBody>
      </p:sp>
      <p:sp>
        <p:nvSpPr>
          <p:cNvPr id="54" name="Text Box 55">
            <a:extLst>
              <a:ext uri="{FF2B5EF4-FFF2-40B4-BE49-F238E27FC236}">
                <a16:creationId xmlns:a16="http://schemas.microsoft.com/office/drawing/2014/main" id="{DDB1067C-5FA2-492E-9122-D620A5931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6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5</a:t>
            </a:r>
          </a:p>
        </p:txBody>
      </p:sp>
      <p:sp>
        <p:nvSpPr>
          <p:cNvPr id="55" name="Text Box 56">
            <a:extLst>
              <a:ext uri="{FF2B5EF4-FFF2-40B4-BE49-F238E27FC236}">
                <a16:creationId xmlns:a16="http://schemas.microsoft.com/office/drawing/2014/main" id="{9012FF3E-A8C8-48F1-B70A-DFD2CD04B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6</a:t>
            </a:r>
          </a:p>
        </p:txBody>
      </p:sp>
      <p:sp>
        <p:nvSpPr>
          <p:cNvPr id="56" name="Text Box 57">
            <a:extLst>
              <a:ext uri="{FF2B5EF4-FFF2-40B4-BE49-F238E27FC236}">
                <a16:creationId xmlns:a16="http://schemas.microsoft.com/office/drawing/2014/main" id="{E4C33550-755B-41D5-BBA8-A44240C94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4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7</a:t>
            </a:r>
          </a:p>
        </p:txBody>
      </p:sp>
      <p:sp>
        <p:nvSpPr>
          <p:cNvPr id="57" name="Text Box 58">
            <a:extLst>
              <a:ext uri="{FF2B5EF4-FFF2-40B4-BE49-F238E27FC236}">
                <a16:creationId xmlns:a16="http://schemas.microsoft.com/office/drawing/2014/main" id="{D6F67ABE-030A-4732-AEBE-4CEDEAAE8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871" y="323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8</a:t>
            </a:r>
          </a:p>
        </p:txBody>
      </p:sp>
      <p:sp>
        <p:nvSpPr>
          <p:cNvPr id="58" name="Text Box 59">
            <a:extLst>
              <a:ext uri="{FF2B5EF4-FFF2-40B4-BE49-F238E27FC236}">
                <a16:creationId xmlns:a16="http://schemas.microsoft.com/office/drawing/2014/main" id="{6FD770B4-0002-4993-BB6E-2749BEC70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684" y="4458348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8</a:t>
            </a:r>
          </a:p>
        </p:txBody>
      </p:sp>
      <p:sp>
        <p:nvSpPr>
          <p:cNvPr id="59" name="Text Box 60">
            <a:extLst>
              <a:ext uri="{FF2B5EF4-FFF2-40B4-BE49-F238E27FC236}">
                <a16:creationId xmlns:a16="http://schemas.microsoft.com/office/drawing/2014/main" id="{770F59C2-9826-48FD-A653-21461499E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746" y="4475811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7</a:t>
            </a:r>
          </a:p>
        </p:txBody>
      </p:sp>
      <p:sp>
        <p:nvSpPr>
          <p:cNvPr id="60" name="Text Box 61">
            <a:extLst>
              <a:ext uri="{FF2B5EF4-FFF2-40B4-BE49-F238E27FC236}">
                <a16:creationId xmlns:a16="http://schemas.microsoft.com/office/drawing/2014/main" id="{58C84A26-77AE-4C29-A073-7A7094430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309" y="448533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6</a:t>
            </a:r>
          </a:p>
        </p:txBody>
      </p:sp>
      <p:sp>
        <p:nvSpPr>
          <p:cNvPr id="61" name="Text Box 62">
            <a:extLst>
              <a:ext uri="{FF2B5EF4-FFF2-40B4-BE49-F238E27FC236}">
                <a16:creationId xmlns:a16="http://schemas.microsoft.com/office/drawing/2014/main" id="{F8E61E30-F504-406E-B530-926070E98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896" y="450438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890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CB26-525B-48AD-95D0-C07ABE2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Algorithm – Example 1B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1192-B73D-47ED-977E-D2416F1D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A[8] = {1, 2, 3, 4, 5, 7, 9, 11}</a:t>
            </a:r>
          </a:p>
          <a:p>
            <a:pPr lvl="1"/>
            <a:r>
              <a:rPr lang="en-US" altLang="en-US" dirty="0"/>
              <a:t>lo = 1	hi = 8	  </a:t>
            </a:r>
            <a:r>
              <a:rPr lang="en-US" altLang="en-US" dirty="0">
                <a:solidFill>
                  <a:srgbClr val="DD0111"/>
                </a:solidFill>
              </a:rPr>
              <a:t>x = 6</a:t>
            </a:r>
          </a:p>
          <a:p>
            <a:endParaRPr lang="en-US" dirty="0"/>
          </a:p>
        </p:txBody>
      </p:sp>
      <p:grpSp>
        <p:nvGrpSpPr>
          <p:cNvPr id="62" name="Group 5">
            <a:extLst>
              <a:ext uri="{FF2B5EF4-FFF2-40B4-BE49-F238E27FC236}">
                <a16:creationId xmlns:a16="http://schemas.microsoft.com/office/drawing/2014/main" id="{2BC4D687-9661-4F86-8A50-8E1208103115}"/>
              </a:ext>
            </a:extLst>
          </p:cNvPr>
          <p:cNvGrpSpPr>
            <a:grpSpLocks/>
          </p:cNvGrpSpPr>
          <p:nvPr/>
        </p:nvGrpSpPr>
        <p:grpSpPr bwMode="auto">
          <a:xfrm>
            <a:off x="3807783" y="3046620"/>
            <a:ext cx="5638800" cy="457200"/>
            <a:chOff x="1536" y="1584"/>
            <a:chExt cx="3552" cy="288"/>
          </a:xfrm>
        </p:grpSpPr>
        <p:sp>
          <p:nvSpPr>
            <p:cNvPr id="63" name="Text Box 6">
              <a:extLst>
                <a:ext uri="{FF2B5EF4-FFF2-40B4-BE49-F238E27FC236}">
                  <a16:creationId xmlns:a16="http://schemas.microsoft.com/office/drawing/2014/main" id="{E1A63EDE-3702-4478-84C4-AF7C4D0FA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mid = 4, lo = 5, hi = 8</a:t>
              </a:r>
            </a:p>
          </p:txBody>
        </p:sp>
        <p:sp>
          <p:nvSpPr>
            <p:cNvPr id="64" name="Oval 7">
              <a:extLst>
                <a:ext uri="{FF2B5EF4-FFF2-40B4-BE49-F238E27FC236}">
                  <a16:creationId xmlns:a16="http://schemas.microsoft.com/office/drawing/2014/main" id="{C547455D-F52B-4BC0-8579-6568F067D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5" name="Group 8">
            <a:extLst>
              <a:ext uri="{FF2B5EF4-FFF2-40B4-BE49-F238E27FC236}">
                <a16:creationId xmlns:a16="http://schemas.microsoft.com/office/drawing/2014/main" id="{42B32980-6D84-417F-9712-844876DA62C8}"/>
              </a:ext>
            </a:extLst>
          </p:cNvPr>
          <p:cNvGrpSpPr>
            <a:grpSpLocks/>
          </p:cNvGrpSpPr>
          <p:nvPr/>
        </p:nvGrpSpPr>
        <p:grpSpPr bwMode="auto">
          <a:xfrm>
            <a:off x="4874583" y="3875295"/>
            <a:ext cx="5257800" cy="457200"/>
            <a:chOff x="2208" y="3408"/>
            <a:chExt cx="3312" cy="288"/>
          </a:xfrm>
        </p:grpSpPr>
        <p:sp>
          <p:nvSpPr>
            <p:cNvPr id="66" name="Oval 9">
              <a:extLst>
                <a:ext uri="{FF2B5EF4-FFF2-40B4-BE49-F238E27FC236}">
                  <a16:creationId xmlns:a16="http://schemas.microsoft.com/office/drawing/2014/main" id="{F3CC8DDF-344C-44CC-A775-28969C4C3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7" name="Text Box 10">
              <a:extLst>
                <a:ext uri="{FF2B5EF4-FFF2-40B4-BE49-F238E27FC236}">
                  <a16:creationId xmlns:a16="http://schemas.microsoft.com/office/drawing/2014/main" id="{FC53EA1B-47AD-4A8D-98CE-955DAEEB9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437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mid = 6, A[6] = 7, lo = 5, hi = 5</a:t>
              </a:r>
            </a:p>
          </p:txBody>
        </p:sp>
      </p:grpSp>
      <p:grpSp>
        <p:nvGrpSpPr>
          <p:cNvPr id="68" name="Group 11">
            <a:extLst>
              <a:ext uri="{FF2B5EF4-FFF2-40B4-BE49-F238E27FC236}">
                <a16:creationId xmlns:a16="http://schemas.microsoft.com/office/drawing/2014/main" id="{7BFA7825-A30A-4870-92F9-D22F03A86DBC}"/>
              </a:ext>
            </a:extLst>
          </p:cNvPr>
          <p:cNvGrpSpPr>
            <a:grpSpLocks/>
          </p:cNvGrpSpPr>
          <p:nvPr/>
        </p:nvGrpSpPr>
        <p:grpSpPr bwMode="auto">
          <a:xfrm>
            <a:off x="2207583" y="3875295"/>
            <a:ext cx="4267200" cy="457200"/>
            <a:chOff x="528" y="1440"/>
            <a:chExt cx="2688" cy="288"/>
          </a:xfrm>
        </p:grpSpPr>
        <p:sp>
          <p:nvSpPr>
            <p:cNvPr id="69" name="Rectangle 12">
              <a:extLst>
                <a:ext uri="{FF2B5EF4-FFF2-40B4-BE49-F238E27FC236}">
                  <a16:creationId xmlns:a16="http://schemas.microsoft.com/office/drawing/2014/main" id="{CC7BB054-38F2-4BDF-BCE2-49444D00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70" name="Rectangle 13">
              <a:extLst>
                <a:ext uri="{FF2B5EF4-FFF2-40B4-BE49-F238E27FC236}">
                  <a16:creationId xmlns:a16="http://schemas.microsoft.com/office/drawing/2014/main" id="{074BD208-266E-4AEA-BA24-E7F38B5B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71" name="Rectangle 14">
              <a:extLst>
                <a:ext uri="{FF2B5EF4-FFF2-40B4-BE49-F238E27FC236}">
                  <a16:creationId xmlns:a16="http://schemas.microsoft.com/office/drawing/2014/main" id="{E332332C-7019-4850-B5B4-41E315D88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2" name="Rectangle 15">
              <a:extLst>
                <a:ext uri="{FF2B5EF4-FFF2-40B4-BE49-F238E27FC236}">
                  <a16:creationId xmlns:a16="http://schemas.microsoft.com/office/drawing/2014/main" id="{A1ECC0AA-E168-4B5A-B870-6070CB5EB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3" name="Rectangle 16">
              <a:extLst>
                <a:ext uri="{FF2B5EF4-FFF2-40B4-BE49-F238E27FC236}">
                  <a16:creationId xmlns:a16="http://schemas.microsoft.com/office/drawing/2014/main" id="{860641B7-AFB1-47E7-BF6B-6C4BF3656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4" name="Rectangle 17">
              <a:extLst>
                <a:ext uri="{FF2B5EF4-FFF2-40B4-BE49-F238E27FC236}">
                  <a16:creationId xmlns:a16="http://schemas.microsoft.com/office/drawing/2014/main" id="{625C2BF0-00B0-428A-9850-B748367A8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5" name="Rectangle 18">
              <a:extLst>
                <a:ext uri="{FF2B5EF4-FFF2-40B4-BE49-F238E27FC236}">
                  <a16:creationId xmlns:a16="http://schemas.microsoft.com/office/drawing/2014/main" id="{29399C33-BED7-4C6F-ABAB-5437DC568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6" name="Rectangle 19">
              <a:extLst>
                <a:ext uri="{FF2B5EF4-FFF2-40B4-BE49-F238E27FC236}">
                  <a16:creationId xmlns:a16="http://schemas.microsoft.com/office/drawing/2014/main" id="{9E8DFF6A-F726-44B2-B05C-ECDE4DFD7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7" name="Line 20">
              <a:extLst>
                <a:ext uri="{FF2B5EF4-FFF2-40B4-BE49-F238E27FC236}">
                  <a16:creationId xmlns:a16="http://schemas.microsoft.com/office/drawing/2014/main" id="{73E44295-B9C9-4822-979A-9D0059A1F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78" name="Line 21">
              <a:extLst>
                <a:ext uri="{FF2B5EF4-FFF2-40B4-BE49-F238E27FC236}">
                  <a16:creationId xmlns:a16="http://schemas.microsoft.com/office/drawing/2014/main" id="{33208E7D-7AD4-4A15-BDDB-82F8906EC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79" name="Line 22">
              <a:extLst>
                <a:ext uri="{FF2B5EF4-FFF2-40B4-BE49-F238E27FC236}">
                  <a16:creationId xmlns:a16="http://schemas.microsoft.com/office/drawing/2014/main" id="{7722CA4D-6E49-4A9F-9BC6-A3684A0EF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0" name="Line 23">
              <a:extLst>
                <a:ext uri="{FF2B5EF4-FFF2-40B4-BE49-F238E27FC236}">
                  <a16:creationId xmlns:a16="http://schemas.microsoft.com/office/drawing/2014/main" id="{4CDECBBD-86A9-487B-8B92-9D83EA7EB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1" name="Line 24">
              <a:extLst>
                <a:ext uri="{FF2B5EF4-FFF2-40B4-BE49-F238E27FC236}">
                  <a16:creationId xmlns:a16="http://schemas.microsoft.com/office/drawing/2014/main" id="{8EE57FD6-5158-499A-AF9D-A4C251441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2" name="Line 25">
              <a:extLst>
                <a:ext uri="{FF2B5EF4-FFF2-40B4-BE49-F238E27FC236}">
                  <a16:creationId xmlns:a16="http://schemas.microsoft.com/office/drawing/2014/main" id="{F8502E8B-860C-4633-9AB4-5D60126FA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3" name="Line 26">
              <a:extLst>
                <a:ext uri="{FF2B5EF4-FFF2-40B4-BE49-F238E27FC236}">
                  <a16:creationId xmlns:a16="http://schemas.microsoft.com/office/drawing/2014/main" id="{B598418C-8E5A-4E22-B605-E8D0A8452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94138D10-0540-4920-BAFC-DE8396294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5" name="Line 28">
              <a:extLst>
                <a:ext uri="{FF2B5EF4-FFF2-40B4-BE49-F238E27FC236}">
                  <a16:creationId xmlns:a16="http://schemas.microsoft.com/office/drawing/2014/main" id="{F46326BC-7254-4392-B157-8001FAA5B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6" name="Line 29">
              <a:extLst>
                <a:ext uri="{FF2B5EF4-FFF2-40B4-BE49-F238E27FC236}">
                  <a16:creationId xmlns:a16="http://schemas.microsoft.com/office/drawing/2014/main" id="{51898B9B-A185-4781-92F0-7EAB6D9D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87" name="Line 30">
              <a:extLst>
                <a:ext uri="{FF2B5EF4-FFF2-40B4-BE49-F238E27FC236}">
                  <a16:creationId xmlns:a16="http://schemas.microsoft.com/office/drawing/2014/main" id="{5A32BABA-D7AA-48D6-954C-8920EEA86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88" name="Group 31">
            <a:extLst>
              <a:ext uri="{FF2B5EF4-FFF2-40B4-BE49-F238E27FC236}">
                <a16:creationId xmlns:a16="http://schemas.microsoft.com/office/drawing/2014/main" id="{6B8FA68C-EDFB-4A4F-8548-8F7BA029B869}"/>
              </a:ext>
            </a:extLst>
          </p:cNvPr>
          <p:cNvGrpSpPr>
            <a:grpSpLocks/>
          </p:cNvGrpSpPr>
          <p:nvPr/>
        </p:nvGrpSpPr>
        <p:grpSpPr bwMode="auto">
          <a:xfrm>
            <a:off x="2207583" y="2741820"/>
            <a:ext cx="4267200" cy="762000"/>
            <a:chOff x="528" y="1392"/>
            <a:chExt cx="2688" cy="480"/>
          </a:xfrm>
        </p:grpSpPr>
        <p:grpSp>
          <p:nvGrpSpPr>
            <p:cNvPr id="89" name="Group 32">
              <a:extLst>
                <a:ext uri="{FF2B5EF4-FFF2-40B4-BE49-F238E27FC236}">
                  <a16:creationId xmlns:a16="http://schemas.microsoft.com/office/drawing/2014/main" id="{9C819759-1454-41E1-BD74-4C509D1FF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584"/>
              <a:ext cx="2688" cy="288"/>
              <a:chOff x="528" y="1440"/>
              <a:chExt cx="2688" cy="288"/>
            </a:xfrm>
          </p:grpSpPr>
          <p:sp>
            <p:nvSpPr>
              <p:cNvPr id="98" name="Rectangle 33">
                <a:extLst>
                  <a:ext uri="{FF2B5EF4-FFF2-40B4-BE49-F238E27FC236}">
                    <a16:creationId xmlns:a16="http://schemas.microsoft.com/office/drawing/2014/main" id="{8D004E48-7159-4376-A2A0-B178BE5B3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11</a:t>
                </a:r>
              </a:p>
            </p:txBody>
          </p:sp>
          <p:sp>
            <p:nvSpPr>
              <p:cNvPr id="99" name="Rectangle 34">
                <a:extLst>
                  <a:ext uri="{FF2B5EF4-FFF2-40B4-BE49-F238E27FC236}">
                    <a16:creationId xmlns:a16="http://schemas.microsoft.com/office/drawing/2014/main" id="{BE8BE51D-867E-4981-B98D-A81D7B2FE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9</a:t>
                </a:r>
              </a:p>
            </p:txBody>
          </p:sp>
          <p:sp>
            <p:nvSpPr>
              <p:cNvPr id="100" name="Rectangle 35">
                <a:extLst>
                  <a:ext uri="{FF2B5EF4-FFF2-40B4-BE49-F238E27FC236}">
                    <a16:creationId xmlns:a16="http://schemas.microsoft.com/office/drawing/2014/main" id="{4A9765A3-F4E4-45C3-81C3-44EB02C9C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7</a:t>
                </a:r>
              </a:p>
            </p:txBody>
          </p:sp>
          <p:sp>
            <p:nvSpPr>
              <p:cNvPr id="101" name="Rectangle 36">
                <a:extLst>
                  <a:ext uri="{FF2B5EF4-FFF2-40B4-BE49-F238E27FC236}">
                    <a16:creationId xmlns:a16="http://schemas.microsoft.com/office/drawing/2014/main" id="{0C30FB65-8490-4F8F-8BAD-92922E15B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5</a:t>
                </a:r>
              </a:p>
            </p:txBody>
          </p:sp>
          <p:sp>
            <p:nvSpPr>
              <p:cNvPr id="102" name="Rectangle 37">
                <a:extLst>
                  <a:ext uri="{FF2B5EF4-FFF2-40B4-BE49-F238E27FC236}">
                    <a16:creationId xmlns:a16="http://schemas.microsoft.com/office/drawing/2014/main" id="{AA4B9AD7-583B-4170-8318-6299C2818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4</a:t>
                </a:r>
              </a:p>
            </p:txBody>
          </p:sp>
          <p:sp>
            <p:nvSpPr>
              <p:cNvPr id="103" name="Rectangle 38">
                <a:extLst>
                  <a:ext uri="{FF2B5EF4-FFF2-40B4-BE49-F238E27FC236}">
                    <a16:creationId xmlns:a16="http://schemas.microsoft.com/office/drawing/2014/main" id="{F2C474E2-5CFD-4A8A-BC65-5A1BCDEB1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3</a:t>
                </a:r>
              </a:p>
            </p:txBody>
          </p:sp>
          <p:sp>
            <p:nvSpPr>
              <p:cNvPr id="104" name="Rectangle 39">
                <a:extLst>
                  <a:ext uri="{FF2B5EF4-FFF2-40B4-BE49-F238E27FC236}">
                    <a16:creationId xmlns:a16="http://schemas.microsoft.com/office/drawing/2014/main" id="{5B8E41FC-6DDA-48A0-A120-B7FE30F69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2</a:t>
                </a:r>
              </a:p>
            </p:txBody>
          </p:sp>
          <p:sp>
            <p:nvSpPr>
              <p:cNvPr id="105" name="Rectangle 40">
                <a:extLst>
                  <a:ext uri="{FF2B5EF4-FFF2-40B4-BE49-F238E27FC236}">
                    <a16:creationId xmlns:a16="http://schemas.microsoft.com/office/drawing/2014/main" id="{40E411ED-5286-43F2-82E9-098E12D5B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106" name="Line 41">
                <a:extLst>
                  <a:ext uri="{FF2B5EF4-FFF2-40B4-BE49-F238E27FC236}">
                    <a16:creationId xmlns:a16="http://schemas.microsoft.com/office/drawing/2014/main" id="{3660D070-58F5-4523-8893-D39287D80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90C9EFC0-9552-404B-AD52-23E015696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728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08" name="Line 43">
                <a:extLst>
                  <a:ext uri="{FF2B5EF4-FFF2-40B4-BE49-F238E27FC236}">
                    <a16:creationId xmlns:a16="http://schemas.microsoft.com/office/drawing/2014/main" id="{FF22B094-96B8-4072-A428-15EA84233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09" name="Line 44">
                <a:extLst>
                  <a:ext uri="{FF2B5EF4-FFF2-40B4-BE49-F238E27FC236}">
                    <a16:creationId xmlns:a16="http://schemas.microsoft.com/office/drawing/2014/main" id="{10FF4E51-ADCD-4FA8-B645-48D2F9FF7F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0" name="Line 45">
                <a:extLst>
                  <a:ext uri="{FF2B5EF4-FFF2-40B4-BE49-F238E27FC236}">
                    <a16:creationId xmlns:a16="http://schemas.microsoft.com/office/drawing/2014/main" id="{305B7192-C716-45AA-A161-2A4249001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1" name="Line 46">
                <a:extLst>
                  <a:ext uri="{FF2B5EF4-FFF2-40B4-BE49-F238E27FC236}">
                    <a16:creationId xmlns:a16="http://schemas.microsoft.com/office/drawing/2014/main" id="{CFF25510-2FD0-4D9A-B63D-CDA0E7415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2" name="Line 47">
                <a:extLst>
                  <a:ext uri="{FF2B5EF4-FFF2-40B4-BE49-F238E27FC236}">
                    <a16:creationId xmlns:a16="http://schemas.microsoft.com/office/drawing/2014/main" id="{A9D06245-4DFB-4EE8-B291-424D983FB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3" name="Line 48">
                <a:extLst>
                  <a:ext uri="{FF2B5EF4-FFF2-40B4-BE49-F238E27FC236}">
                    <a16:creationId xmlns:a16="http://schemas.microsoft.com/office/drawing/2014/main" id="{0E3C7764-6D2B-40ED-B9A8-C76B0F15F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4" name="Line 49">
                <a:extLst>
                  <a:ext uri="{FF2B5EF4-FFF2-40B4-BE49-F238E27FC236}">
                    <a16:creationId xmlns:a16="http://schemas.microsoft.com/office/drawing/2014/main" id="{D02A7D93-10E9-4F0B-9D9E-96160F2AE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5" name="Line 50">
                <a:extLst>
                  <a:ext uri="{FF2B5EF4-FFF2-40B4-BE49-F238E27FC236}">
                    <a16:creationId xmlns:a16="http://schemas.microsoft.com/office/drawing/2014/main" id="{6E2BA834-C2E7-4A63-94F2-114CB388A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116" name="Line 51">
                <a:extLst>
                  <a:ext uri="{FF2B5EF4-FFF2-40B4-BE49-F238E27FC236}">
                    <a16:creationId xmlns:a16="http://schemas.microsoft.com/office/drawing/2014/main" id="{7BA6846B-755D-44E6-88CD-EFC61A658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</p:grpSp>
        <p:sp>
          <p:nvSpPr>
            <p:cNvPr id="90" name="Text Box 52">
              <a:extLst>
                <a:ext uri="{FF2B5EF4-FFF2-40B4-BE49-F238E27FC236}">
                  <a16:creationId xmlns:a16="http://schemas.microsoft.com/office/drawing/2014/main" id="{2990E125-5264-4ED8-BBBA-E96AF2556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1</a:t>
              </a:r>
            </a:p>
          </p:txBody>
        </p:sp>
        <p:sp>
          <p:nvSpPr>
            <p:cNvPr id="91" name="Text Box 53">
              <a:extLst>
                <a:ext uri="{FF2B5EF4-FFF2-40B4-BE49-F238E27FC236}">
                  <a16:creationId xmlns:a16="http://schemas.microsoft.com/office/drawing/2014/main" id="{D66A93A3-5EC6-44E3-9228-78223AA1C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2</a:t>
              </a:r>
            </a:p>
          </p:txBody>
        </p:sp>
        <p:sp>
          <p:nvSpPr>
            <p:cNvPr id="92" name="Text Box 54">
              <a:extLst>
                <a:ext uri="{FF2B5EF4-FFF2-40B4-BE49-F238E27FC236}">
                  <a16:creationId xmlns:a16="http://schemas.microsoft.com/office/drawing/2014/main" id="{75FC7D68-28AD-47CD-BDA2-3825EE655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3</a:t>
              </a:r>
            </a:p>
          </p:txBody>
        </p:sp>
        <p:sp>
          <p:nvSpPr>
            <p:cNvPr id="93" name="Text Box 55">
              <a:extLst>
                <a:ext uri="{FF2B5EF4-FFF2-40B4-BE49-F238E27FC236}">
                  <a16:creationId xmlns:a16="http://schemas.microsoft.com/office/drawing/2014/main" id="{FAB0CE59-62E0-4ADD-BC5E-85EC7A051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4</a:t>
              </a:r>
            </a:p>
          </p:txBody>
        </p:sp>
        <p:sp>
          <p:nvSpPr>
            <p:cNvPr id="94" name="Text Box 56">
              <a:extLst>
                <a:ext uri="{FF2B5EF4-FFF2-40B4-BE49-F238E27FC236}">
                  <a16:creationId xmlns:a16="http://schemas.microsoft.com/office/drawing/2014/main" id="{556D0F78-58F6-41A7-86F8-98D986AA5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5</a:t>
              </a:r>
            </a:p>
          </p:txBody>
        </p:sp>
        <p:sp>
          <p:nvSpPr>
            <p:cNvPr id="95" name="Text Box 57">
              <a:extLst>
                <a:ext uri="{FF2B5EF4-FFF2-40B4-BE49-F238E27FC236}">
                  <a16:creationId xmlns:a16="http://schemas.microsoft.com/office/drawing/2014/main" id="{597992CA-012B-4E1B-B8CF-1287B532D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6</a:t>
              </a:r>
            </a:p>
          </p:txBody>
        </p:sp>
        <p:sp>
          <p:nvSpPr>
            <p:cNvPr id="96" name="Text Box 58">
              <a:extLst>
                <a:ext uri="{FF2B5EF4-FFF2-40B4-BE49-F238E27FC236}">
                  <a16:creationId xmlns:a16="http://schemas.microsoft.com/office/drawing/2014/main" id="{D954A173-E5EE-4175-B0D3-85C42631D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7</a:t>
              </a:r>
            </a:p>
          </p:txBody>
        </p:sp>
        <p:sp>
          <p:nvSpPr>
            <p:cNvPr id="97" name="Text Box 59">
              <a:extLst>
                <a:ext uri="{FF2B5EF4-FFF2-40B4-BE49-F238E27FC236}">
                  <a16:creationId xmlns:a16="http://schemas.microsoft.com/office/drawing/2014/main" id="{71726FD1-6D7A-4B56-922B-C0D0065D8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8</a:t>
              </a:r>
            </a:p>
          </p:txBody>
        </p:sp>
      </p:grpSp>
      <p:grpSp>
        <p:nvGrpSpPr>
          <p:cNvPr id="117" name="Group 60">
            <a:extLst>
              <a:ext uri="{FF2B5EF4-FFF2-40B4-BE49-F238E27FC236}">
                <a16:creationId xmlns:a16="http://schemas.microsoft.com/office/drawing/2014/main" id="{0F4E5064-6FFC-45B7-8C80-57BD984FEB9A}"/>
              </a:ext>
            </a:extLst>
          </p:cNvPr>
          <p:cNvGrpSpPr>
            <a:grpSpLocks/>
          </p:cNvGrpSpPr>
          <p:nvPr/>
        </p:nvGrpSpPr>
        <p:grpSpPr bwMode="auto">
          <a:xfrm>
            <a:off x="2207583" y="4738895"/>
            <a:ext cx="4267200" cy="457200"/>
            <a:chOff x="528" y="1440"/>
            <a:chExt cx="2688" cy="288"/>
          </a:xfrm>
        </p:grpSpPr>
        <p:sp>
          <p:nvSpPr>
            <p:cNvPr id="118" name="Rectangle 61">
              <a:extLst>
                <a:ext uri="{FF2B5EF4-FFF2-40B4-BE49-F238E27FC236}">
                  <a16:creationId xmlns:a16="http://schemas.microsoft.com/office/drawing/2014/main" id="{5236F2DC-CD78-4AFA-AEA7-83AF2EF17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119" name="Rectangle 62">
              <a:extLst>
                <a:ext uri="{FF2B5EF4-FFF2-40B4-BE49-F238E27FC236}">
                  <a16:creationId xmlns:a16="http://schemas.microsoft.com/office/drawing/2014/main" id="{9D8E10CA-96C6-4C97-8378-268303B96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120" name="Rectangle 63">
              <a:extLst>
                <a:ext uri="{FF2B5EF4-FFF2-40B4-BE49-F238E27FC236}">
                  <a16:creationId xmlns:a16="http://schemas.microsoft.com/office/drawing/2014/main" id="{F85C4845-AC80-428F-BB5E-E36178CB0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21" name="Rectangle 64">
              <a:extLst>
                <a:ext uri="{FF2B5EF4-FFF2-40B4-BE49-F238E27FC236}">
                  <a16:creationId xmlns:a16="http://schemas.microsoft.com/office/drawing/2014/main" id="{05D0F215-59FE-4B03-A677-24FB601C7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22" name="Rectangle 65">
              <a:extLst>
                <a:ext uri="{FF2B5EF4-FFF2-40B4-BE49-F238E27FC236}">
                  <a16:creationId xmlns:a16="http://schemas.microsoft.com/office/drawing/2014/main" id="{691EBD70-3AFB-4748-8BFB-F58053DD7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23" name="Rectangle 66">
              <a:extLst>
                <a:ext uri="{FF2B5EF4-FFF2-40B4-BE49-F238E27FC236}">
                  <a16:creationId xmlns:a16="http://schemas.microsoft.com/office/drawing/2014/main" id="{55C17AB7-3FDA-4678-A68E-3B14EDA3D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24" name="Rectangle 67">
              <a:extLst>
                <a:ext uri="{FF2B5EF4-FFF2-40B4-BE49-F238E27FC236}">
                  <a16:creationId xmlns:a16="http://schemas.microsoft.com/office/drawing/2014/main" id="{D8F4B9F1-45C3-4294-B090-2E9870B80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25" name="Rectangle 68">
              <a:extLst>
                <a:ext uri="{FF2B5EF4-FFF2-40B4-BE49-F238E27FC236}">
                  <a16:creationId xmlns:a16="http://schemas.microsoft.com/office/drawing/2014/main" id="{954DC161-7304-4DFA-A090-8F99C7A79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26" name="Line 69">
              <a:extLst>
                <a:ext uri="{FF2B5EF4-FFF2-40B4-BE49-F238E27FC236}">
                  <a16:creationId xmlns:a16="http://schemas.microsoft.com/office/drawing/2014/main" id="{21B4670A-DAFD-4870-B8BA-62FDECE40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27" name="Line 70">
              <a:extLst>
                <a:ext uri="{FF2B5EF4-FFF2-40B4-BE49-F238E27FC236}">
                  <a16:creationId xmlns:a16="http://schemas.microsoft.com/office/drawing/2014/main" id="{77B2AA03-6BA9-4801-B55A-645B2159B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28" name="Line 71">
              <a:extLst>
                <a:ext uri="{FF2B5EF4-FFF2-40B4-BE49-F238E27FC236}">
                  <a16:creationId xmlns:a16="http://schemas.microsoft.com/office/drawing/2014/main" id="{5BB76D6E-CE02-42F9-8FA7-A6CADFAF3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29" name="Line 72">
              <a:extLst>
                <a:ext uri="{FF2B5EF4-FFF2-40B4-BE49-F238E27FC236}">
                  <a16:creationId xmlns:a16="http://schemas.microsoft.com/office/drawing/2014/main" id="{BE62E87D-5368-40B8-BE2A-77645AD1C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0" name="Line 73">
              <a:extLst>
                <a:ext uri="{FF2B5EF4-FFF2-40B4-BE49-F238E27FC236}">
                  <a16:creationId xmlns:a16="http://schemas.microsoft.com/office/drawing/2014/main" id="{EEBCE432-D980-42A5-B4BF-47E1DA7BA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1" name="Line 74">
              <a:extLst>
                <a:ext uri="{FF2B5EF4-FFF2-40B4-BE49-F238E27FC236}">
                  <a16:creationId xmlns:a16="http://schemas.microsoft.com/office/drawing/2014/main" id="{09DB345D-E314-4E46-A348-7A77FE006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2" name="Line 75">
              <a:extLst>
                <a:ext uri="{FF2B5EF4-FFF2-40B4-BE49-F238E27FC236}">
                  <a16:creationId xmlns:a16="http://schemas.microsoft.com/office/drawing/2014/main" id="{78E270D3-3B41-4727-9BA4-A233453D5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3" name="Line 76">
              <a:extLst>
                <a:ext uri="{FF2B5EF4-FFF2-40B4-BE49-F238E27FC236}">
                  <a16:creationId xmlns:a16="http://schemas.microsoft.com/office/drawing/2014/main" id="{485B5796-63EE-4AD3-81CB-594722034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4" name="Line 77">
              <a:extLst>
                <a:ext uri="{FF2B5EF4-FFF2-40B4-BE49-F238E27FC236}">
                  <a16:creationId xmlns:a16="http://schemas.microsoft.com/office/drawing/2014/main" id="{286F1714-32A2-4F08-B5B2-5E4085CD1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5" name="Line 78">
              <a:extLst>
                <a:ext uri="{FF2B5EF4-FFF2-40B4-BE49-F238E27FC236}">
                  <a16:creationId xmlns:a16="http://schemas.microsoft.com/office/drawing/2014/main" id="{1BD0D2DC-F69E-4081-9021-0464E7042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36" name="Line 79">
              <a:extLst>
                <a:ext uri="{FF2B5EF4-FFF2-40B4-BE49-F238E27FC236}">
                  <a16:creationId xmlns:a16="http://schemas.microsoft.com/office/drawing/2014/main" id="{D00843DF-A840-42F1-A8E4-2BB230F27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137" name="Group 80">
            <a:extLst>
              <a:ext uri="{FF2B5EF4-FFF2-40B4-BE49-F238E27FC236}">
                <a16:creationId xmlns:a16="http://schemas.microsoft.com/office/drawing/2014/main" id="{C9D1A3A1-6117-43E1-BBEE-2C48EB4000E5}"/>
              </a:ext>
            </a:extLst>
          </p:cNvPr>
          <p:cNvGrpSpPr>
            <a:grpSpLocks/>
          </p:cNvGrpSpPr>
          <p:nvPr/>
        </p:nvGrpSpPr>
        <p:grpSpPr bwMode="auto">
          <a:xfrm>
            <a:off x="4341183" y="4738895"/>
            <a:ext cx="5791200" cy="687388"/>
            <a:chOff x="1872" y="3792"/>
            <a:chExt cx="3648" cy="433"/>
          </a:xfrm>
        </p:grpSpPr>
        <p:sp>
          <p:nvSpPr>
            <p:cNvPr id="138" name="Oval 81">
              <a:extLst>
                <a:ext uri="{FF2B5EF4-FFF2-40B4-BE49-F238E27FC236}">
                  <a16:creationId xmlns:a16="http://schemas.microsoft.com/office/drawing/2014/main" id="{76EA3270-A3BF-40CA-B9E4-009A29D87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792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9" name="Text Box 82">
              <a:extLst>
                <a:ext uri="{FF2B5EF4-FFF2-40B4-BE49-F238E27FC236}">
                  <a16:creationId xmlns:a16="http://schemas.microsoft.com/office/drawing/2014/main" id="{68B66450-47E8-408F-968B-0BB9DAE4D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21"/>
              <a:ext cx="21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mid = 5, A[5] = 5, lo = 6, hi = 5 </a:t>
              </a:r>
            </a:p>
            <a:p>
              <a:pPr eaLnBrk="1" hangingPunct="1"/>
              <a:r>
                <a:rPr lang="en-US" altLang="en-US"/>
                <a:t>	NOT FOUND!</a:t>
              </a:r>
            </a:p>
          </p:txBody>
        </p:sp>
      </p:grpSp>
      <p:sp>
        <p:nvSpPr>
          <p:cNvPr id="140" name="Line 83">
            <a:extLst>
              <a:ext uri="{FF2B5EF4-FFF2-40B4-BE49-F238E27FC236}">
                <a16:creationId xmlns:a16="http://schemas.microsoft.com/office/drawing/2014/main" id="{8BEB7914-92B9-4BFF-B88A-F1ED86A705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0308" y="3580020"/>
            <a:ext cx="0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Line 84">
            <a:extLst>
              <a:ext uri="{FF2B5EF4-FFF2-40B4-BE49-F238E27FC236}">
                <a16:creationId xmlns:a16="http://schemas.microsoft.com/office/drawing/2014/main" id="{764CD5F4-5A25-4D68-94C3-A5007189CF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6971" y="3524458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Line 85">
            <a:extLst>
              <a:ext uri="{FF2B5EF4-FFF2-40B4-BE49-F238E27FC236}">
                <a16:creationId xmlns:a16="http://schemas.microsoft.com/office/drawing/2014/main" id="{54BAEF4B-8DA4-49D4-8DDB-27D52D11B6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63433" y="4356308"/>
            <a:ext cx="7938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Line 86">
            <a:extLst>
              <a:ext uri="{FF2B5EF4-FFF2-40B4-BE49-F238E27FC236}">
                <a16:creationId xmlns:a16="http://schemas.microsoft.com/office/drawing/2014/main" id="{5935F65D-143C-4435-95BA-2CEE13E977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9033" y="4383295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" name="Group 89">
            <a:extLst>
              <a:ext uri="{FF2B5EF4-FFF2-40B4-BE49-F238E27FC236}">
                <a16:creationId xmlns:a16="http://schemas.microsoft.com/office/drawing/2014/main" id="{7051F046-E3A1-417C-AB10-9E78004DCB8B}"/>
              </a:ext>
            </a:extLst>
          </p:cNvPr>
          <p:cNvGrpSpPr>
            <a:grpSpLocks/>
          </p:cNvGrpSpPr>
          <p:nvPr/>
        </p:nvGrpSpPr>
        <p:grpSpPr bwMode="auto">
          <a:xfrm>
            <a:off x="2231396" y="5577095"/>
            <a:ext cx="4267200" cy="457200"/>
            <a:chOff x="528" y="1440"/>
            <a:chExt cx="2688" cy="288"/>
          </a:xfrm>
        </p:grpSpPr>
        <p:sp>
          <p:nvSpPr>
            <p:cNvPr id="145" name="Rectangle 90">
              <a:extLst>
                <a:ext uri="{FF2B5EF4-FFF2-40B4-BE49-F238E27FC236}">
                  <a16:creationId xmlns:a16="http://schemas.microsoft.com/office/drawing/2014/main" id="{D2679306-6163-4B2A-904D-B015AFB7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146" name="Rectangle 91">
              <a:extLst>
                <a:ext uri="{FF2B5EF4-FFF2-40B4-BE49-F238E27FC236}">
                  <a16:creationId xmlns:a16="http://schemas.microsoft.com/office/drawing/2014/main" id="{9F6786EC-3E1C-426E-B245-8E0C82160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147" name="Rectangle 92">
              <a:extLst>
                <a:ext uri="{FF2B5EF4-FFF2-40B4-BE49-F238E27FC236}">
                  <a16:creationId xmlns:a16="http://schemas.microsoft.com/office/drawing/2014/main" id="{8AE6239A-435B-491A-B7D9-377E6E954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48" name="Rectangle 93">
              <a:extLst>
                <a:ext uri="{FF2B5EF4-FFF2-40B4-BE49-F238E27FC236}">
                  <a16:creationId xmlns:a16="http://schemas.microsoft.com/office/drawing/2014/main" id="{06D7D6D1-AE1E-470F-B6CA-50773D060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49" name="Rectangle 94">
              <a:extLst>
                <a:ext uri="{FF2B5EF4-FFF2-40B4-BE49-F238E27FC236}">
                  <a16:creationId xmlns:a16="http://schemas.microsoft.com/office/drawing/2014/main" id="{DDE7D567-586B-4673-8A75-52DA7871A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50" name="Rectangle 95">
              <a:extLst>
                <a:ext uri="{FF2B5EF4-FFF2-40B4-BE49-F238E27FC236}">
                  <a16:creationId xmlns:a16="http://schemas.microsoft.com/office/drawing/2014/main" id="{878D35E6-D374-4292-B7D3-438162DF3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51" name="Rectangle 96">
              <a:extLst>
                <a:ext uri="{FF2B5EF4-FFF2-40B4-BE49-F238E27FC236}">
                  <a16:creationId xmlns:a16="http://schemas.microsoft.com/office/drawing/2014/main" id="{E89994BB-A3A3-4317-A502-91A16A4AD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52" name="Rectangle 97">
              <a:extLst>
                <a:ext uri="{FF2B5EF4-FFF2-40B4-BE49-F238E27FC236}">
                  <a16:creationId xmlns:a16="http://schemas.microsoft.com/office/drawing/2014/main" id="{FFCBFA49-077E-4617-A1E6-9387DB1A6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53" name="Line 98">
              <a:extLst>
                <a:ext uri="{FF2B5EF4-FFF2-40B4-BE49-F238E27FC236}">
                  <a16:creationId xmlns:a16="http://schemas.microsoft.com/office/drawing/2014/main" id="{6F1A5187-9679-4B14-9AEF-2B7CE5BA4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4" name="Line 99">
              <a:extLst>
                <a:ext uri="{FF2B5EF4-FFF2-40B4-BE49-F238E27FC236}">
                  <a16:creationId xmlns:a16="http://schemas.microsoft.com/office/drawing/2014/main" id="{60A961D9-1A25-42B2-8CF3-3DB148533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5" name="Line 100">
              <a:extLst>
                <a:ext uri="{FF2B5EF4-FFF2-40B4-BE49-F238E27FC236}">
                  <a16:creationId xmlns:a16="http://schemas.microsoft.com/office/drawing/2014/main" id="{8F6C57E5-BC41-4E27-90D0-4EAFD04F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6" name="Line 101">
              <a:extLst>
                <a:ext uri="{FF2B5EF4-FFF2-40B4-BE49-F238E27FC236}">
                  <a16:creationId xmlns:a16="http://schemas.microsoft.com/office/drawing/2014/main" id="{1DA0FC30-E991-4C35-A072-421A4A45E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7" name="Line 102">
              <a:extLst>
                <a:ext uri="{FF2B5EF4-FFF2-40B4-BE49-F238E27FC236}">
                  <a16:creationId xmlns:a16="http://schemas.microsoft.com/office/drawing/2014/main" id="{2069B65E-EB68-4EFD-BF80-DF3C23D23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8" name="Line 103">
              <a:extLst>
                <a:ext uri="{FF2B5EF4-FFF2-40B4-BE49-F238E27FC236}">
                  <a16:creationId xmlns:a16="http://schemas.microsoft.com/office/drawing/2014/main" id="{0651A01F-DAB8-4273-BB40-FFA91C394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59" name="Line 104">
              <a:extLst>
                <a:ext uri="{FF2B5EF4-FFF2-40B4-BE49-F238E27FC236}">
                  <a16:creationId xmlns:a16="http://schemas.microsoft.com/office/drawing/2014/main" id="{4137D015-5EA8-4FA8-AE6F-97FE99882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60" name="Line 105">
              <a:extLst>
                <a:ext uri="{FF2B5EF4-FFF2-40B4-BE49-F238E27FC236}">
                  <a16:creationId xmlns:a16="http://schemas.microsoft.com/office/drawing/2014/main" id="{DE7E2443-E09F-4563-BAF3-7FA725E8D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61" name="Line 106">
              <a:extLst>
                <a:ext uri="{FF2B5EF4-FFF2-40B4-BE49-F238E27FC236}">
                  <a16:creationId xmlns:a16="http://schemas.microsoft.com/office/drawing/2014/main" id="{EDA716C2-1C05-455D-AD58-50AFE15F9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62" name="Line 107">
              <a:extLst>
                <a:ext uri="{FF2B5EF4-FFF2-40B4-BE49-F238E27FC236}">
                  <a16:creationId xmlns:a16="http://schemas.microsoft.com/office/drawing/2014/main" id="{FA37014D-9814-471E-9BF8-E63784D6F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163" name="Line 108">
              <a:extLst>
                <a:ext uri="{FF2B5EF4-FFF2-40B4-BE49-F238E27FC236}">
                  <a16:creationId xmlns:a16="http://schemas.microsoft.com/office/drawing/2014/main" id="{3D9CB448-4696-4CED-BE6A-2225585F1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sp>
        <p:nvSpPr>
          <p:cNvPr id="164" name="Line 109">
            <a:extLst>
              <a:ext uri="{FF2B5EF4-FFF2-40B4-BE49-F238E27FC236}">
                <a16:creationId xmlns:a16="http://schemas.microsoft.com/office/drawing/2014/main" id="{AEF7A9F2-935C-4670-9B25-2E80C7F05D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79296" y="5251658"/>
            <a:ext cx="9525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110">
            <a:extLst>
              <a:ext uri="{FF2B5EF4-FFF2-40B4-BE49-F238E27FC236}">
                <a16:creationId xmlns:a16="http://schemas.microsoft.com/office/drawing/2014/main" id="{267A880C-AE18-4ACC-BB5B-0B5FF345E9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1546" y="5270708"/>
            <a:ext cx="0" cy="193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111">
            <a:extLst>
              <a:ext uri="{FF2B5EF4-FFF2-40B4-BE49-F238E27FC236}">
                <a16:creationId xmlns:a16="http://schemas.microsoft.com/office/drawing/2014/main" id="{7A2628F7-405E-43DD-A896-5697A29AD5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0496" y="6093033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112">
            <a:extLst>
              <a:ext uri="{FF2B5EF4-FFF2-40B4-BE49-F238E27FC236}">
                <a16:creationId xmlns:a16="http://schemas.microsoft.com/office/drawing/2014/main" id="{77E2877A-45D4-43FF-A201-B3F792A503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8521" y="6102558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Text Box 113">
            <a:extLst>
              <a:ext uri="{FF2B5EF4-FFF2-40B4-BE49-F238E27FC236}">
                <a16:creationId xmlns:a16="http://schemas.microsoft.com/office/drawing/2014/main" id="{97151FC1-B485-465A-B7E5-E4AE8B6AB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8" y="3459370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69" name="Text Box 114">
            <a:extLst>
              <a:ext uri="{FF2B5EF4-FFF2-40B4-BE49-F238E27FC236}">
                <a16:creationId xmlns:a16="http://schemas.microsoft.com/office/drawing/2014/main" id="{96183937-072A-48B2-874C-6FC5D70AB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5546" y="3441908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  <p:sp>
        <p:nvSpPr>
          <p:cNvPr id="170" name="Text Box 115">
            <a:extLst>
              <a:ext uri="{FF2B5EF4-FFF2-40B4-BE49-F238E27FC236}">
                <a16:creationId xmlns:a16="http://schemas.microsoft.com/office/drawing/2014/main" id="{26D7FD12-DD43-4E59-8043-BE8A56A78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221" y="4369008"/>
            <a:ext cx="52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71" name="Text Box 116">
            <a:extLst>
              <a:ext uri="{FF2B5EF4-FFF2-40B4-BE49-F238E27FC236}">
                <a16:creationId xmlns:a16="http://schemas.microsoft.com/office/drawing/2014/main" id="{00F66EDB-7354-43A1-B243-1EAE64BE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446" y="6132720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72" name="Text Box 117">
            <a:extLst>
              <a:ext uri="{FF2B5EF4-FFF2-40B4-BE49-F238E27FC236}">
                <a16:creationId xmlns:a16="http://schemas.microsoft.com/office/drawing/2014/main" id="{ACF0C6A7-9192-478B-9ECB-9DF35B87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521" y="6134308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  <p:sp>
        <p:nvSpPr>
          <p:cNvPr id="173" name="Text Box 118">
            <a:extLst>
              <a:ext uri="{FF2B5EF4-FFF2-40B4-BE49-F238E27FC236}">
                <a16:creationId xmlns:a16="http://schemas.microsoft.com/office/drawing/2014/main" id="{81392C96-8287-4FCE-8C76-FF7E5D4C1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833" y="4361070"/>
            <a:ext cx="61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04195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CB26-525B-48AD-95D0-C07ABE2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Algorithm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1192-B73D-47ED-977E-D2416F1D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A[10] = {2, 5, 8, 12, 16, 23, 38, 56, 72, 91}</a:t>
            </a:r>
          </a:p>
          <a:p>
            <a:pPr lvl="1"/>
            <a:r>
              <a:rPr lang="en-US" altLang="en-US" dirty="0"/>
              <a:t>lo = 1	hi = 10	  </a:t>
            </a:r>
            <a:r>
              <a:rPr lang="en-US" altLang="en-US" dirty="0">
                <a:solidFill>
                  <a:srgbClr val="DD0111"/>
                </a:solidFill>
              </a:rPr>
              <a:t>x = 23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4" name="Content Placeholder 3">
            <a:extLst>
              <a:ext uri="{FF2B5EF4-FFF2-40B4-BE49-F238E27FC236}">
                <a16:creationId xmlns:a16="http://schemas.microsoft.com/office/drawing/2014/main" id="{0A4B1934-7985-49D0-94ED-4F81235A605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035" y="2530259"/>
            <a:ext cx="7643673" cy="39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6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64D5-2206-4BB7-967C-198000BA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Big O, Big </a:t>
            </a:r>
            <a:r>
              <a:rPr lang="en-US" dirty="0">
                <a:sym typeface="Symbol" panose="05050102010706020507" pitchFamily="18" charset="2"/>
              </a:rPr>
              <a:t> and Big 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434D-04A6-4035-8EDA-27F65A0D8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definitions imply a constant n</a:t>
            </a:r>
            <a:r>
              <a:rPr lang="en-US" altLang="en-US" baseline="-25000" dirty="0"/>
              <a:t>0</a:t>
            </a:r>
            <a:r>
              <a:rPr lang="en-US" altLang="en-US" dirty="0"/>
              <a:t> </a:t>
            </a:r>
            <a:r>
              <a:rPr lang="en-US" altLang="en-US" i="1" dirty="0"/>
              <a:t>beyond which </a:t>
            </a:r>
            <a:r>
              <a:rPr lang="en-US" altLang="en-US" dirty="0"/>
              <a:t>they are satisfied. We do not care about small values of n.</a:t>
            </a:r>
          </a:p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EBE873-3E92-4EC9-ACCE-295069997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23099"/>
            <a:ext cx="10014088" cy="3572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7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A189-797E-4796-A471-481EFE97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Recurrences and Running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A911-C71B-4AA0-BB2E-CC836553D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en-US" sz="2400" dirty="0"/>
              <a:t>An equation or inequality that describes a function in terms of its value on smaller inputs.</a:t>
            </a:r>
          </a:p>
          <a:p>
            <a:pPr>
              <a:lnSpc>
                <a:spcPct val="130000"/>
              </a:lnSpc>
              <a:buNone/>
            </a:pPr>
            <a:r>
              <a:rPr lang="en-US" altLang="en-US" sz="2400" dirty="0"/>
              <a:t>				 T(n) = T(n-1) + n</a:t>
            </a:r>
          </a:p>
          <a:p>
            <a:pPr>
              <a:lnSpc>
                <a:spcPct val="130000"/>
              </a:lnSpc>
            </a:pPr>
            <a:r>
              <a:rPr lang="en-US" altLang="en-US" sz="2400" dirty="0">
                <a:solidFill>
                  <a:srgbClr val="CC0000"/>
                </a:solidFill>
              </a:rPr>
              <a:t>Recurrences arise when an algorithm contains recursive calls to itself</a:t>
            </a:r>
          </a:p>
          <a:p>
            <a:pPr>
              <a:lnSpc>
                <a:spcPct val="160000"/>
              </a:lnSpc>
            </a:pPr>
            <a:r>
              <a:rPr lang="en-US" altLang="en-US" sz="2400" dirty="0"/>
              <a:t>What is the actual running time of the algorithm?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Need to solve the recurrence	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Find an explicit formula of the expression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Bound the recurrence by an expression that involves 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4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F6F1-5C4B-42C4-A346-1590BAFC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 Examples with Runtimes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EA4E-408C-4D80-A20E-4DCA3050E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T(n) = T(n-1) + c			</a:t>
            </a:r>
            <a:r>
              <a:rPr lang="el-GR" altLang="en-US" dirty="0"/>
              <a:t>Θ</a:t>
            </a:r>
            <a:r>
              <a:rPr lang="en-US" altLang="en-US" dirty="0"/>
              <a:t>(n)</a:t>
            </a:r>
            <a:endParaRPr lang="el-GR" altLang="en-US" dirty="0"/>
          </a:p>
          <a:p>
            <a:pPr lvl="1"/>
            <a:r>
              <a:rPr lang="en-US" altLang="en-US" dirty="0"/>
              <a:t>Recursive algorithm that iterates through each item by splitting the input into two parts, part 1 is one element and part 2 is n-1 elements and solving part 2 </a:t>
            </a:r>
            <a:r>
              <a:rPr lang="en-US" altLang="en-US" dirty="0" err="1"/>
              <a:t>recursiely</a:t>
            </a:r>
            <a:endParaRPr lang="en-US" altLang="en-US" dirty="0"/>
          </a:p>
          <a:p>
            <a:r>
              <a:rPr lang="en-US" altLang="en-US" dirty="0"/>
              <a:t>T(n) = T(n-1) + n			</a:t>
            </a:r>
            <a:r>
              <a:rPr lang="el-GR" altLang="en-US" dirty="0"/>
              <a:t>Θ</a:t>
            </a:r>
            <a:r>
              <a:rPr lang="en-US" altLang="en-US" dirty="0"/>
              <a:t>(n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  <a:endParaRPr lang="el-GR" altLang="en-US" dirty="0"/>
          </a:p>
          <a:p>
            <a:pPr lvl="1"/>
            <a:r>
              <a:rPr lang="en-US" altLang="en-US" dirty="0"/>
              <a:t>Recursive algorithm that loops through the input to eliminate one item</a:t>
            </a:r>
          </a:p>
          <a:p>
            <a:r>
              <a:rPr lang="en-US" altLang="en-US" dirty="0"/>
              <a:t>T(n) = T(n/2) + c			</a:t>
            </a:r>
            <a:r>
              <a:rPr lang="el-GR" altLang="en-US" dirty="0"/>
              <a:t>Θ</a:t>
            </a:r>
            <a:r>
              <a:rPr lang="en-US" altLang="en-US" dirty="0"/>
              <a:t>(</a:t>
            </a:r>
            <a:r>
              <a:rPr lang="en-US" altLang="en-US" dirty="0" err="1"/>
              <a:t>lgn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Recursive algorithm that halves the input in one step</a:t>
            </a:r>
          </a:p>
          <a:p>
            <a:r>
              <a:rPr lang="en-US" altLang="en-US" dirty="0"/>
              <a:t>T(n) = T(n/2) + n			</a:t>
            </a:r>
            <a:r>
              <a:rPr lang="el-GR" altLang="en-US" dirty="0"/>
              <a:t>Θ</a:t>
            </a:r>
            <a:r>
              <a:rPr lang="en-US" altLang="en-US" dirty="0"/>
              <a:t>(n)</a:t>
            </a:r>
          </a:p>
          <a:p>
            <a:pPr lvl="1"/>
            <a:r>
              <a:rPr lang="en-US" altLang="en-US" dirty="0"/>
              <a:t>Recursive algorithm that halves the input but must examine every item in the input</a:t>
            </a:r>
          </a:p>
          <a:p>
            <a:r>
              <a:rPr lang="en-US" altLang="en-US" dirty="0"/>
              <a:t>T(n) = 2T(n/2) + 1			</a:t>
            </a:r>
            <a:r>
              <a:rPr lang="el-GR" altLang="en-US" dirty="0"/>
              <a:t>Θ</a:t>
            </a:r>
            <a:r>
              <a:rPr lang="en-US" altLang="en-US" dirty="0"/>
              <a:t>(n)</a:t>
            </a:r>
          </a:p>
          <a:p>
            <a:pPr lvl="1"/>
            <a:r>
              <a:rPr lang="en-US" altLang="en-US" dirty="0"/>
              <a:t>Recursive algorithm that splits the input into 2 halves and does a constant amount of other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6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EEF9-085B-4BF9-A8CA-EE0B569E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Algorithms: factorial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CE2DB-6505-4D89-8CAB-4667C526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int factorial(n):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if (n==1)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1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else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n * factorial(n-1)</a:t>
            </a: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None/>
            </a:pP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Total Time  T(n) = c + T(n-1)  </a:t>
            </a:r>
            <a:r>
              <a:rPr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(n)</a:t>
            </a: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Where T(n-1) is the time it takes to solve subproblem with input n-1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B4B0E-FEE6-4BFF-B34F-CD9F47C53DEC}"/>
              </a:ext>
            </a:extLst>
          </p:cNvPr>
          <p:cNvSpPr txBox="1"/>
          <p:nvPr/>
        </p:nvSpPr>
        <p:spPr>
          <a:xfrm>
            <a:off x="5433134" y="2565633"/>
            <a:ext cx="246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Time 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A81E67-0893-48C3-8DBE-85B5F46D14DF}"/>
              </a:ext>
            </a:extLst>
          </p:cNvPr>
          <p:cNvCxnSpPr/>
          <p:nvPr/>
        </p:nvCxnSpPr>
        <p:spPr>
          <a:xfrm flipH="1">
            <a:off x="3551068" y="2796466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71E842-7B02-433A-9274-FDA0C04E2831}"/>
              </a:ext>
            </a:extLst>
          </p:cNvPr>
          <p:cNvSpPr txBox="1"/>
          <p:nvPr/>
        </p:nvSpPr>
        <p:spPr>
          <a:xfrm>
            <a:off x="8302193" y="3899133"/>
            <a:ext cx="30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Subproblem of size n-1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2FE0AA-C5B0-4CEF-B611-12ABF20C52EC}"/>
              </a:ext>
            </a:extLst>
          </p:cNvPr>
          <p:cNvCxnSpPr/>
          <p:nvPr/>
        </p:nvCxnSpPr>
        <p:spPr>
          <a:xfrm flipH="1">
            <a:off x="6420127" y="4129966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D6DE-4A2D-4D12-9330-DAA2BF1C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Algorithms: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A2E6-2AC5-4497-83AF-7A2116B76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int power(m, n):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  if (n==1)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m</a:t>
            </a:r>
          </a:p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	    else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</a:rPr>
              <a:t>	        return m * power(m, n-1)</a:t>
            </a: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None/>
            </a:pPr>
            <a:endParaRPr lang="en-US" dirty="0"/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Total Time  T(n) = c + T(n-1)  </a:t>
            </a:r>
            <a:r>
              <a:rPr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(n)</a:t>
            </a: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Where T(n-1) is the time it takes to solve subproblem with input n-1</a:t>
            </a: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250AD-530A-42C2-A343-FD46A635CCBB}"/>
              </a:ext>
            </a:extLst>
          </p:cNvPr>
          <p:cNvSpPr txBox="1"/>
          <p:nvPr/>
        </p:nvSpPr>
        <p:spPr>
          <a:xfrm>
            <a:off x="5433134" y="2565633"/>
            <a:ext cx="246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Time 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E427DE-A483-43B2-9A04-EE94DB5157FE}"/>
              </a:ext>
            </a:extLst>
          </p:cNvPr>
          <p:cNvCxnSpPr/>
          <p:nvPr/>
        </p:nvCxnSpPr>
        <p:spPr>
          <a:xfrm flipH="1">
            <a:off x="3551068" y="2796466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5601E7-CAF1-49BE-920A-57318E7F089E}"/>
              </a:ext>
            </a:extLst>
          </p:cNvPr>
          <p:cNvSpPr txBox="1"/>
          <p:nvPr/>
        </p:nvSpPr>
        <p:spPr>
          <a:xfrm>
            <a:off x="8220723" y="3899133"/>
            <a:ext cx="313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Subproblem of size n-1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638EE1-C40D-4A34-8AAD-2225774E311E}"/>
              </a:ext>
            </a:extLst>
          </p:cNvPr>
          <p:cNvCxnSpPr/>
          <p:nvPr/>
        </p:nvCxnSpPr>
        <p:spPr>
          <a:xfrm flipH="1">
            <a:off x="6420127" y="4129966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85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161C-3CF3-472E-8E18-FEF9924A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Algorithms: BINARY-SEARCH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51E4-29CF-48D9-A6FC-AF5CF354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BINARY-SEARCH (A, lo, hi, x) </a:t>
            </a:r>
            <a:endParaRPr lang="en-US" altLang="en-US" sz="1000" dirty="0">
              <a:sym typeface="Symbol" panose="05050102010706020507" pitchFamily="18" charset="2"/>
            </a:endParaRP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(lo &gt; hi)	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dirty="0">
                <a:sym typeface="Symbol" panose="05050102010706020507" pitchFamily="18" charset="2"/>
              </a:rPr>
              <a:t>return</a:t>
            </a:r>
            <a:r>
              <a:rPr lang="en-US" altLang="en-US" dirty="0">
                <a:sym typeface="Symbol" panose="05050102010706020507" pitchFamily="18" charset="2"/>
              </a:rPr>
              <a:t> FALSE	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mid  (</a:t>
            </a:r>
            <a:r>
              <a:rPr lang="en-US" altLang="en-US" dirty="0" err="1">
                <a:sym typeface="Symbol" panose="05050102010706020507" pitchFamily="18" charset="2"/>
              </a:rPr>
              <a:t>lo+hi</a:t>
            </a:r>
            <a:r>
              <a:rPr lang="en-US" altLang="en-US" dirty="0">
                <a:sym typeface="Symbol" panose="05050102010706020507" pitchFamily="18" charset="2"/>
              </a:rPr>
              <a:t>)/2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x = A[mid]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return TRUE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&lt; A[mid] )				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	BINARY-SEARCH (A, lo, mid-1, x)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&gt; A[mid] )	// 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&lt; A[mid] )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OR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 x &gt; A[mid] )</a:t>
            </a:r>
          </a:p>
          <a:p>
            <a:pPr marL="457200" indent="-457200">
              <a:buNone/>
            </a:pPr>
            <a:r>
              <a:rPr lang="en-US" altLang="en-US" dirty="0">
                <a:sym typeface="Symbol" panose="05050102010706020507" pitchFamily="18" charset="2"/>
              </a:rPr>
              <a:t> 		BINARY-SEARCH (A, mid+1, hi, x)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T(n) = c1 + c2 + c3 + T(n/2) </a:t>
            </a:r>
            <a:r>
              <a:rPr lang="en-US" dirty="0">
                <a:sym typeface="Wingdings" panose="05000000000000000000" pitchFamily="2" charset="2"/>
              </a:rPr>
              <a:t> c + T(n/2)  </a:t>
            </a:r>
            <a:r>
              <a:rPr lang="en-US" dirty="0">
                <a:sym typeface="Symbol" panose="05050102010706020507" pitchFamily="18" charset="2"/>
              </a:rPr>
              <a:t>(lg n)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59C0A-48ED-4050-9495-445365041EB7}"/>
              </a:ext>
            </a:extLst>
          </p:cNvPr>
          <p:cNvSpPr txBox="1"/>
          <p:nvPr/>
        </p:nvSpPr>
        <p:spPr>
          <a:xfrm>
            <a:off x="5852234" y="2384658"/>
            <a:ext cx="246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Time c1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88DC13-2735-411C-B6A4-2A237D1A79A4}"/>
              </a:ext>
            </a:extLst>
          </p:cNvPr>
          <p:cNvCxnSpPr/>
          <p:nvPr/>
        </p:nvCxnSpPr>
        <p:spPr>
          <a:xfrm flipH="1">
            <a:off x="3970168" y="2615491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E8E60B-B863-43DC-9C76-C014AA6C0297}"/>
              </a:ext>
            </a:extLst>
          </p:cNvPr>
          <p:cNvSpPr txBox="1"/>
          <p:nvPr/>
        </p:nvSpPr>
        <p:spPr>
          <a:xfrm>
            <a:off x="5852234" y="2981260"/>
            <a:ext cx="246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Time c2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C41562-1B84-4A77-A1C8-751DE8763888}"/>
              </a:ext>
            </a:extLst>
          </p:cNvPr>
          <p:cNvCxnSpPr/>
          <p:nvPr/>
        </p:nvCxnSpPr>
        <p:spPr>
          <a:xfrm flipH="1">
            <a:off x="3970168" y="3212093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9953AE-F4C4-4CFF-9DC3-3C0BEBB96F16}"/>
              </a:ext>
            </a:extLst>
          </p:cNvPr>
          <p:cNvSpPr txBox="1"/>
          <p:nvPr/>
        </p:nvSpPr>
        <p:spPr>
          <a:xfrm>
            <a:off x="5852234" y="3520845"/>
            <a:ext cx="2461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Constant Time c3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0F568C-A07A-4031-9690-BF0EB4F99B9E}"/>
              </a:ext>
            </a:extLst>
          </p:cNvPr>
          <p:cNvCxnSpPr/>
          <p:nvPr/>
        </p:nvCxnSpPr>
        <p:spPr>
          <a:xfrm flipH="1">
            <a:off x="3970168" y="3751678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3158F3-0B3F-48DD-9FEA-1F9952FF3912}"/>
              </a:ext>
            </a:extLst>
          </p:cNvPr>
          <p:cNvSpPr txBox="1"/>
          <p:nvPr/>
        </p:nvSpPr>
        <p:spPr>
          <a:xfrm>
            <a:off x="7634888" y="4261330"/>
            <a:ext cx="30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Subproblem of size n/2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8C484A-8683-4AF7-8C21-7AD19A6F9C24}"/>
              </a:ext>
            </a:extLst>
          </p:cNvPr>
          <p:cNvCxnSpPr/>
          <p:nvPr/>
        </p:nvCxnSpPr>
        <p:spPr>
          <a:xfrm flipH="1">
            <a:off x="5752822" y="4492162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C24FEDC-0CFA-49AF-96C8-6D6DA9FA8EE5}"/>
              </a:ext>
            </a:extLst>
          </p:cNvPr>
          <p:cNvSpPr txBox="1"/>
          <p:nvPr/>
        </p:nvSpPr>
        <p:spPr>
          <a:xfrm>
            <a:off x="7634888" y="5001815"/>
            <a:ext cx="30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Subproblem of size n/2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42D55D-0E2F-47CF-9AE7-8C69FD9C9654}"/>
              </a:ext>
            </a:extLst>
          </p:cNvPr>
          <p:cNvCxnSpPr/>
          <p:nvPr/>
        </p:nvCxnSpPr>
        <p:spPr>
          <a:xfrm flipH="1">
            <a:off x="5752822" y="5232648"/>
            <a:ext cx="188206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BAE9-B977-4E1E-950D-368EE46C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9CF89-DF5C-4E32-880D-947294E8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Analysis of Recursive Algorithms: </a:t>
            </a:r>
            <a:r>
              <a:rPr lang="en-US" sz="3600" dirty="0" err="1"/>
              <a:t>printBinary</a:t>
            </a:r>
            <a:endParaRPr lang="en-US" sz="3600" dirty="0"/>
          </a:p>
          <a:p>
            <a:r>
              <a:rPr lang="en-US" sz="3600" dirty="0"/>
              <a:t>We have two solutions for </a:t>
            </a:r>
            <a:r>
              <a:rPr lang="en-US" sz="3600" dirty="0" err="1"/>
              <a:t>printBinary</a:t>
            </a:r>
            <a:r>
              <a:rPr lang="en-US" sz="3600" dirty="0"/>
              <a:t>.</a:t>
            </a:r>
          </a:p>
          <a:p>
            <a:r>
              <a:rPr lang="en-US" sz="3600" dirty="0"/>
              <a:t>Work out Recurrence equation for both solution 1 and solution 2.</a:t>
            </a:r>
          </a:p>
          <a:p>
            <a:r>
              <a:rPr lang="en-US" sz="3600" dirty="0"/>
              <a:t>Compare which solution is better?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88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6CD79-7C35-4DE6-863F-D84C4C6D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Recurrence Equation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8EC77-3489-4FE0-8BE6-12A218E4A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8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A4AA64-48CC-4D6B-9973-98A1157A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Solving Recurrences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BEBD96-9948-4C08-AB43-383ACB30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Iteration Method</a:t>
            </a:r>
          </a:p>
          <a:p>
            <a:endParaRPr lang="en-US" sz="3600" dirty="0"/>
          </a:p>
          <a:p>
            <a:r>
              <a:rPr lang="en-US" sz="3600" dirty="0"/>
              <a:t>Substitution Method</a:t>
            </a:r>
          </a:p>
          <a:p>
            <a:endParaRPr lang="en-US" sz="3600" dirty="0"/>
          </a:p>
          <a:p>
            <a:r>
              <a:rPr lang="en-US" sz="3600" dirty="0"/>
              <a:t>Recurrence Tree Method</a:t>
            </a:r>
          </a:p>
          <a:p>
            <a:endParaRPr lang="en-US" sz="3600" dirty="0"/>
          </a:p>
          <a:p>
            <a:r>
              <a:rPr lang="en-US" sz="3600" dirty="0"/>
              <a:t>Master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4C72-650F-4A54-B430-2062CE05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C89B-282E-40A3-9D35-FE115B9E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dirty="0"/>
              <a:t>Convert the recurrence into a summation and try to bound it using known series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Iterate the recurrence until the initial condition is reached.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Use back-substitution to express the recurrence in terms of </a:t>
            </a:r>
            <a:r>
              <a:rPr lang="en-US" altLang="en-US" i="1" dirty="0"/>
              <a:t>n</a:t>
            </a:r>
            <a:r>
              <a:rPr lang="en-US" altLang="en-US" dirty="0"/>
              <a:t> and the initial (boundary) condition.</a:t>
            </a:r>
            <a:endParaRPr lang="el-GR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49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1785-5FF7-420D-A5E4-9B7672FD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Method: Solve Recurrence for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D41C-5FFF-4943-9859-0C64F1303B73}"/>
              </a:ext>
            </a:extLst>
          </p:cNvPr>
          <p:cNvSpPr>
            <a:spLocks noGrp="1"/>
          </p:cNvSpPr>
          <p:nvPr>
            <p:ph idx="1"/>
          </p:nvPr>
        </p:nvSpPr>
        <p:spPr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T(n) = c + T(n-1)	</a:t>
            </a:r>
            <a:r>
              <a:rPr lang="en-US" dirty="0">
                <a:sym typeface="Wingdings" panose="05000000000000000000" pitchFamily="2" charset="2"/>
              </a:rPr>
              <a:t> T(n-1) = c + T(n-2)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c + (c + T(n-2))	</a:t>
            </a:r>
            <a:r>
              <a:rPr lang="en-US" dirty="0">
                <a:sym typeface="Wingdings" panose="05000000000000000000" pitchFamily="2" charset="2"/>
              </a:rPr>
              <a:t> substituting T(n-1), T(n-2) = c + T(n-3)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c + (c + (c + T(n-3)))	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T(n) = c + c + c + … + c + c + T(2)	</a:t>
            </a:r>
            <a:r>
              <a:rPr lang="en-US" dirty="0">
                <a:sym typeface="Wingdings" panose="05000000000000000000" pitchFamily="2" charset="2"/>
              </a:rPr>
              <a:t> T(2) = c + T(1)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T(n) = c + c + c + … + c + c + c +T(1) </a:t>
            </a:r>
            <a:r>
              <a:rPr lang="en-US" dirty="0">
                <a:sym typeface="Wingdings" panose="05000000000000000000" pitchFamily="2" charset="2"/>
              </a:rPr>
              <a:t> T(1) = 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T(n) = c + c + c + … + c + c + c + c = </a:t>
            </a:r>
            <a:r>
              <a:rPr lang="en-US" dirty="0" err="1"/>
              <a:t>cn</a:t>
            </a:r>
            <a:r>
              <a:rPr lang="en-US" dirty="0"/>
              <a:t> = </a:t>
            </a:r>
            <a:r>
              <a:rPr lang="en-US" dirty="0">
                <a:sym typeface="Symbol" panose="05050102010706020507" pitchFamily="18" charset="2"/>
              </a:rPr>
              <a:t>(n)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4C1624F-77DF-4D34-BE64-A72027F722F8}"/>
              </a:ext>
            </a:extLst>
          </p:cNvPr>
          <p:cNvSpPr>
            <a:spLocks/>
          </p:cNvSpPr>
          <p:nvPr/>
        </p:nvSpPr>
        <p:spPr bwMode="auto">
          <a:xfrm rot="16200000">
            <a:off x="2924971" y="2620962"/>
            <a:ext cx="214316" cy="2546350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B8213-5457-4990-A409-98CA09654611}"/>
              </a:ext>
            </a:extLst>
          </p:cNvPr>
          <p:cNvSpPr txBox="1"/>
          <p:nvPr/>
        </p:nvSpPr>
        <p:spPr>
          <a:xfrm>
            <a:off x="2430465" y="3992567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n-2 times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3A4189F-9FE3-45D0-9C17-1633D5B9CAB6}"/>
              </a:ext>
            </a:extLst>
          </p:cNvPr>
          <p:cNvSpPr>
            <a:spLocks/>
          </p:cNvSpPr>
          <p:nvPr/>
        </p:nvSpPr>
        <p:spPr bwMode="auto">
          <a:xfrm rot="16200000">
            <a:off x="3184525" y="3157419"/>
            <a:ext cx="214316" cy="3065462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C1357-FD30-4144-A818-8D87FC791FD6}"/>
              </a:ext>
            </a:extLst>
          </p:cNvPr>
          <p:cNvSpPr txBox="1"/>
          <p:nvPr/>
        </p:nvSpPr>
        <p:spPr>
          <a:xfrm>
            <a:off x="2694783" y="4833735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n-1 times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FE3B6764-4BDE-456A-AD62-9FED8B1D741F}"/>
              </a:ext>
            </a:extLst>
          </p:cNvPr>
          <p:cNvSpPr>
            <a:spLocks/>
          </p:cNvSpPr>
          <p:nvPr/>
        </p:nvSpPr>
        <p:spPr bwMode="auto">
          <a:xfrm rot="16200000">
            <a:off x="3363120" y="4228744"/>
            <a:ext cx="214315" cy="3422650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1BD7F-7763-4E23-AED5-7DA08FDBD716}"/>
              </a:ext>
            </a:extLst>
          </p:cNvPr>
          <p:cNvSpPr txBox="1"/>
          <p:nvPr/>
        </p:nvSpPr>
        <p:spPr>
          <a:xfrm>
            <a:off x="2694783" y="6083653"/>
            <a:ext cx="133290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times</a:t>
            </a:r>
          </a:p>
        </p:txBody>
      </p:sp>
    </p:spTree>
    <p:extLst>
      <p:ext uri="{BB962C8B-B14F-4D97-AF65-F5344CB8AC3E}">
        <p14:creationId xmlns:p14="http://schemas.microsoft.com/office/powerpoint/2010/main" val="414380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1785-5FF7-420D-A5E4-9B7672FD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Method: Solve Recurrence for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D41C-5FFF-4943-9859-0C64F130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T(n) = c + T(n/2)	</a:t>
            </a:r>
            <a:r>
              <a:rPr lang="en-US" dirty="0">
                <a:sym typeface="Wingdings" panose="05000000000000000000" pitchFamily="2" charset="2"/>
              </a:rPr>
              <a:t> T(n/2) = c + T(n/4)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c + (c + T(n/4))	</a:t>
            </a:r>
            <a:r>
              <a:rPr lang="en-US" dirty="0">
                <a:sym typeface="Wingdings" panose="05000000000000000000" pitchFamily="2" charset="2"/>
              </a:rPr>
              <a:t> substituting T(n/2), T(n/4) = c + T(n/8)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c + (c + (c + T(n/8)))	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altLang="en-US" dirty="0"/>
              <a:t>Assume n = 2</a:t>
            </a:r>
            <a:r>
              <a:rPr lang="en-US" altLang="en-US" baseline="30000" dirty="0"/>
              <a:t>k</a:t>
            </a:r>
            <a:r>
              <a:rPr lang="en-US" altLang="en-US" dirty="0"/>
              <a:t>, therefore k = (log</a:t>
            </a:r>
            <a:r>
              <a:rPr lang="en-US" altLang="en-US" baseline="-25000" dirty="0"/>
              <a:t>2</a:t>
            </a:r>
            <a:r>
              <a:rPr lang="en-US" altLang="en-US" dirty="0"/>
              <a:t> n) = (</a:t>
            </a:r>
            <a:r>
              <a:rPr lang="en-US" altLang="en-US" dirty="0" err="1"/>
              <a:t>lgn</a:t>
            </a:r>
            <a:r>
              <a:rPr lang="en-US" altLang="en-US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c + c + c + … + c + c + T(n/2</a:t>
            </a:r>
            <a:r>
              <a:rPr lang="en-US" baseline="30000" dirty="0"/>
              <a:t>k-1</a:t>
            </a:r>
            <a:r>
              <a:rPr lang="en-US" dirty="0"/>
              <a:t>)	</a:t>
            </a:r>
            <a:r>
              <a:rPr lang="en-US" dirty="0">
                <a:sym typeface="Wingdings" panose="05000000000000000000" pitchFamily="2" charset="2"/>
              </a:rPr>
              <a:t> T(</a:t>
            </a:r>
            <a:r>
              <a:rPr lang="en-US" dirty="0"/>
              <a:t>n/2</a:t>
            </a:r>
            <a:r>
              <a:rPr lang="en-US" baseline="30000" dirty="0"/>
              <a:t>k-1</a:t>
            </a:r>
            <a:r>
              <a:rPr lang="en-US" dirty="0">
                <a:sym typeface="Wingdings" panose="05000000000000000000" pitchFamily="2" charset="2"/>
              </a:rPr>
              <a:t>) = c + T(</a:t>
            </a:r>
            <a:r>
              <a:rPr lang="en-US" dirty="0"/>
              <a:t>n/2</a:t>
            </a:r>
            <a:r>
              <a:rPr lang="en-US" baseline="30000" dirty="0"/>
              <a:t>k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T(n) = c + c + c + … + c + c + c +T(n/2</a:t>
            </a:r>
            <a:r>
              <a:rPr lang="en-US" baseline="30000" dirty="0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T(n/2</a:t>
            </a:r>
            <a:r>
              <a:rPr lang="en-US" baseline="30000" dirty="0"/>
              <a:t>k</a:t>
            </a:r>
            <a:r>
              <a:rPr lang="en-US" dirty="0">
                <a:sym typeface="Wingdings" panose="05000000000000000000" pitchFamily="2" charset="2"/>
              </a:rPr>
              <a:t>) = T(n/n) = T(1) = 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T(n) = c + c + c + … + c + c + c + c = ck = </a:t>
            </a:r>
            <a:r>
              <a:rPr lang="en-US" dirty="0">
                <a:sym typeface="Symbol" panose="05050102010706020507" pitchFamily="18" charset="2"/>
              </a:rPr>
              <a:t>(</a:t>
            </a:r>
            <a:r>
              <a:rPr lang="en-US" dirty="0" err="1">
                <a:sym typeface="Symbol" panose="05050102010706020507" pitchFamily="18" charset="2"/>
              </a:rPr>
              <a:t>lgn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4C1624F-77DF-4D34-BE64-A72027F722F8}"/>
              </a:ext>
            </a:extLst>
          </p:cNvPr>
          <p:cNvSpPr>
            <a:spLocks/>
          </p:cNvSpPr>
          <p:nvPr/>
        </p:nvSpPr>
        <p:spPr bwMode="auto">
          <a:xfrm rot="16200000">
            <a:off x="2791621" y="2835277"/>
            <a:ext cx="214316" cy="2546350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B8213-5457-4990-A409-98CA09654611}"/>
              </a:ext>
            </a:extLst>
          </p:cNvPr>
          <p:cNvSpPr txBox="1"/>
          <p:nvPr/>
        </p:nvSpPr>
        <p:spPr>
          <a:xfrm>
            <a:off x="2303960" y="4113012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k-2 times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3A4189F-9FE3-45D0-9C17-1633D5B9CAB6}"/>
              </a:ext>
            </a:extLst>
          </p:cNvPr>
          <p:cNvSpPr>
            <a:spLocks/>
          </p:cNvSpPr>
          <p:nvPr/>
        </p:nvSpPr>
        <p:spPr bwMode="auto">
          <a:xfrm rot="16200000">
            <a:off x="2953543" y="3431070"/>
            <a:ext cx="214317" cy="2870196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C1357-FD30-4144-A818-8D87FC791FD6}"/>
              </a:ext>
            </a:extLst>
          </p:cNvPr>
          <p:cNvSpPr txBox="1"/>
          <p:nvPr/>
        </p:nvSpPr>
        <p:spPr>
          <a:xfrm>
            <a:off x="2561435" y="4931974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k-1 times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FE3B6764-4BDE-456A-AD62-9FED8B1D741F}"/>
              </a:ext>
            </a:extLst>
          </p:cNvPr>
          <p:cNvSpPr>
            <a:spLocks/>
          </p:cNvSpPr>
          <p:nvPr/>
        </p:nvSpPr>
        <p:spPr bwMode="auto">
          <a:xfrm rot="16200000">
            <a:off x="3177383" y="4506118"/>
            <a:ext cx="214315" cy="3146425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1BD7F-7763-4E23-AED5-7DA08FDBD716}"/>
              </a:ext>
            </a:extLst>
          </p:cNvPr>
          <p:cNvSpPr txBox="1"/>
          <p:nvPr/>
        </p:nvSpPr>
        <p:spPr>
          <a:xfrm>
            <a:off x="2618089" y="6152054"/>
            <a:ext cx="133290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 times</a:t>
            </a:r>
          </a:p>
        </p:txBody>
      </p:sp>
    </p:spTree>
    <p:extLst>
      <p:ext uri="{BB962C8B-B14F-4D97-AF65-F5344CB8AC3E}">
        <p14:creationId xmlns:p14="http://schemas.microsoft.com/office/powerpoint/2010/main" val="136932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1785-5FF7-420D-A5E4-9B7672FD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Method: Solve Recurrence</a:t>
            </a:r>
            <a:br>
              <a:rPr lang="en-US" dirty="0"/>
            </a:br>
            <a:r>
              <a:rPr lang="en-US" dirty="0"/>
              <a:t>T(n) = n + 2T(n/2)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D41C-5FFF-4943-9859-0C64F130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T(n) = n + 2T(n/2)	</a:t>
            </a:r>
            <a:r>
              <a:rPr lang="en-US" dirty="0">
                <a:sym typeface="Wingdings" panose="05000000000000000000" pitchFamily="2" charset="2"/>
              </a:rPr>
              <a:t> T(n/2) = n/2 + 2T(n/4)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n + 2(n/2 + 2T(n/4)) = n + n + 4T(n/4) </a:t>
            </a:r>
            <a:r>
              <a:rPr lang="en-US" dirty="0">
                <a:sym typeface="Wingdings" panose="05000000000000000000" pitchFamily="2" charset="2"/>
              </a:rPr>
              <a:t> substituting T(n/2), T(n/4) = n/4 + 2T(n/8)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n + (n + 4(n/4 + 2T(n/8)))	</a:t>
            </a:r>
            <a:r>
              <a:rPr lang="en-US" dirty="0">
                <a:sym typeface="Wingdings" panose="05000000000000000000" pitchFamily="2" charset="2"/>
              </a:rPr>
              <a:t>= n + n + n + 8T(n/8)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altLang="en-US" dirty="0"/>
              <a:t>Assume n =, therefore k = (log</a:t>
            </a:r>
            <a:r>
              <a:rPr lang="en-US" altLang="en-US" baseline="-25000" dirty="0"/>
              <a:t>2</a:t>
            </a:r>
            <a:r>
              <a:rPr lang="en-US" altLang="en-US" dirty="0"/>
              <a:t> n) = (lg n)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 err="1"/>
              <a:t>i</a:t>
            </a:r>
            <a:r>
              <a:rPr lang="en-US" dirty="0"/>
              <a:t>*n + 2</a:t>
            </a:r>
            <a:r>
              <a:rPr lang="en-US" baseline="30000" dirty="0"/>
              <a:t>i</a:t>
            </a:r>
            <a:r>
              <a:rPr lang="en-US" dirty="0"/>
              <a:t>T(n/2</a:t>
            </a:r>
            <a:r>
              <a:rPr lang="en-US" baseline="30000" dirty="0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T(n) = k*n + </a:t>
            </a:r>
            <a:r>
              <a:rPr lang="en-US" altLang="en-US" dirty="0"/>
              <a:t>2</a:t>
            </a:r>
            <a:r>
              <a:rPr lang="en-US" altLang="en-US" baseline="30000" dirty="0"/>
              <a:t>k</a:t>
            </a:r>
            <a:r>
              <a:rPr lang="en-US" dirty="0"/>
              <a:t>T(n/2</a:t>
            </a:r>
            <a:r>
              <a:rPr lang="en-US" baseline="30000" dirty="0"/>
              <a:t>k</a:t>
            </a:r>
            <a:r>
              <a:rPr lang="en-US" dirty="0"/>
              <a:t>) = </a:t>
            </a:r>
            <a:r>
              <a:rPr lang="en-US" dirty="0" err="1"/>
              <a:t>kn</a:t>
            </a:r>
            <a:r>
              <a:rPr lang="en-US" dirty="0"/>
              <a:t> + </a:t>
            </a:r>
            <a:r>
              <a:rPr lang="en-US" altLang="en-US" dirty="0"/>
              <a:t>2</a:t>
            </a:r>
            <a:r>
              <a:rPr lang="en-US" altLang="en-US" baseline="30000" dirty="0"/>
              <a:t>k</a:t>
            </a:r>
            <a:r>
              <a:rPr lang="en-US" dirty="0"/>
              <a:t>T(n/n) = </a:t>
            </a:r>
            <a:r>
              <a:rPr lang="en-US" dirty="0" err="1"/>
              <a:t>kn</a:t>
            </a:r>
            <a:r>
              <a:rPr lang="en-US" dirty="0"/>
              <a:t> + </a:t>
            </a:r>
            <a:r>
              <a:rPr lang="en-US" altLang="en-US" dirty="0"/>
              <a:t>2</a:t>
            </a:r>
            <a:r>
              <a:rPr lang="en-US" altLang="en-US" baseline="30000" dirty="0"/>
              <a:t>k</a:t>
            </a:r>
            <a:r>
              <a:rPr lang="en-US" dirty="0"/>
              <a:t>T(1)</a:t>
            </a:r>
          </a:p>
          <a:p>
            <a:pPr marL="0" indent="0">
              <a:buNone/>
            </a:pPr>
            <a:r>
              <a:rPr lang="en-US" dirty="0"/>
              <a:t>T(n) = = </a:t>
            </a:r>
            <a:r>
              <a:rPr lang="en-US" dirty="0" err="1"/>
              <a:t>nlgn</a:t>
            </a:r>
            <a:r>
              <a:rPr lang="en-US" dirty="0"/>
              <a:t> + </a:t>
            </a:r>
            <a:r>
              <a:rPr lang="en-US" dirty="0" err="1"/>
              <a:t>nT</a:t>
            </a:r>
            <a:r>
              <a:rPr lang="en-US" dirty="0"/>
              <a:t>(1) = </a:t>
            </a:r>
            <a:r>
              <a:rPr lang="en-US" dirty="0">
                <a:sym typeface="Symbol" panose="05050102010706020507" pitchFamily="18" charset="2"/>
              </a:rPr>
              <a:t>(</a:t>
            </a:r>
            <a:r>
              <a:rPr lang="en-US" dirty="0" err="1">
                <a:sym typeface="Symbol" panose="05050102010706020507" pitchFamily="18" charset="2"/>
              </a:rPr>
              <a:t>nlgn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48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AAB3-CB60-4478-9922-1F54C196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185B5-FB73-42AB-BD61-3043CE2D5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Guess a Solution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Use Induction to prove that solution works</a:t>
            </a:r>
          </a:p>
        </p:txBody>
      </p:sp>
    </p:spTree>
    <p:extLst>
      <p:ext uri="{BB962C8B-B14F-4D97-AF65-F5344CB8AC3E}">
        <p14:creationId xmlns:p14="http://schemas.microsoft.com/office/powerpoint/2010/main" val="314273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B2DE-E698-4AF1-9AE3-CDA5F0FF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CFD6E-FD86-4757-8D93-6317217AF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en-US" sz="3600" dirty="0"/>
              <a:t>Guess a solution</a:t>
            </a:r>
          </a:p>
          <a:p>
            <a:pPr lvl="1">
              <a:lnSpc>
                <a:spcPct val="100000"/>
              </a:lnSpc>
            </a:pPr>
            <a:r>
              <a:rPr lang="en-US" altLang="en-US" sz="3200" dirty="0"/>
              <a:t>T(n) = O(g(n))</a:t>
            </a:r>
          </a:p>
          <a:p>
            <a:pPr lvl="1">
              <a:lnSpc>
                <a:spcPct val="100000"/>
              </a:lnSpc>
            </a:pPr>
            <a:r>
              <a:rPr lang="en-US" altLang="en-US" sz="3600" dirty="0"/>
              <a:t>Induction goal: apply the definition of the asymptotic notation</a:t>
            </a:r>
          </a:p>
          <a:p>
            <a:pPr lvl="2">
              <a:lnSpc>
                <a:spcPct val="100000"/>
              </a:lnSpc>
            </a:pPr>
            <a:r>
              <a:rPr lang="en-US" altLang="en-US" sz="3200" dirty="0"/>
              <a:t>T(n) ≤ d g(n), for some d &gt; 0 and n ≥ n0</a:t>
            </a:r>
          </a:p>
          <a:p>
            <a:pPr lvl="1">
              <a:lnSpc>
                <a:spcPct val="100000"/>
              </a:lnSpc>
            </a:pPr>
            <a:r>
              <a:rPr lang="en-US" altLang="en-US" sz="4000" dirty="0"/>
              <a:t>Induction hypothesis: T(k) ≤ d g(k) for all k &lt; n </a:t>
            </a:r>
          </a:p>
          <a:p>
            <a:pPr>
              <a:lnSpc>
                <a:spcPct val="100000"/>
              </a:lnSpc>
            </a:pPr>
            <a:r>
              <a:rPr lang="en-US" altLang="en-US" sz="3600" dirty="0"/>
              <a:t>Prove the induction goal</a:t>
            </a:r>
          </a:p>
          <a:p>
            <a:pPr lvl="1">
              <a:lnSpc>
                <a:spcPct val="100000"/>
              </a:lnSpc>
            </a:pPr>
            <a:r>
              <a:rPr lang="en-US" altLang="en-US" sz="3200" dirty="0"/>
              <a:t>Use the induction hypothesis to find some values of the constants d and n0 for which the induction goal holds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5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79CF-E7AF-4249-98AD-83BA0BD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9895-08E3-4B8F-9121-B82362B4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b="1" dirty="0"/>
              <a:t>T(n) = c + T(n/2)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Guess: T(n) = O(</a:t>
            </a:r>
            <a:r>
              <a:rPr lang="en-US" altLang="en-US" dirty="0" err="1"/>
              <a:t>lgn</a:t>
            </a:r>
            <a:r>
              <a:rPr lang="en-US" altLang="en-US" dirty="0"/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Induction goal: T(n)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/>
              <a:t>d </a:t>
            </a:r>
            <a:r>
              <a:rPr lang="en-US" altLang="en-US" dirty="0" err="1"/>
              <a:t>lgn</a:t>
            </a:r>
            <a:r>
              <a:rPr lang="en-US" altLang="en-US" dirty="0"/>
              <a:t>, for some d and n </a:t>
            </a:r>
            <a:r>
              <a:rPr lang="en-US" altLang="en-US" dirty="0"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T(n/2)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/>
              <a:t>d lg(n/2)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T(n) = T(n/2) + c </a:t>
            </a:r>
            <a:r>
              <a:rPr lang="en-US" altLang="en-US" dirty="0">
                <a:cs typeface="Arial" panose="020B0604020202020204" pitchFamily="34" charset="0"/>
              </a:rPr>
              <a:t>≤ d </a:t>
            </a:r>
            <a:r>
              <a:rPr lang="en-US" altLang="en-US" dirty="0"/>
              <a:t>lg(n/2) + c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        = d </a:t>
            </a:r>
            <a:r>
              <a:rPr lang="en-US" altLang="en-US" dirty="0" err="1"/>
              <a:t>lgn</a:t>
            </a:r>
            <a:r>
              <a:rPr lang="en-US" altLang="en-US" dirty="0"/>
              <a:t> – d + c </a:t>
            </a:r>
            <a:r>
              <a:rPr lang="en-US" altLang="en-US" dirty="0">
                <a:cs typeface="Arial" panose="020B0604020202020204" pitchFamily="34" charset="0"/>
              </a:rPr>
              <a:t>≤ d </a:t>
            </a:r>
            <a:r>
              <a:rPr lang="en-US" altLang="en-US" dirty="0" err="1">
                <a:cs typeface="Arial" panose="020B0604020202020204" pitchFamily="34" charset="0"/>
              </a:rPr>
              <a:t>lgn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cs typeface="Arial" panose="020B0604020202020204" pitchFamily="34" charset="0"/>
              </a:rPr>
              <a:t>					if:  – d + c ≤ 0, d ≥ c</a:t>
            </a:r>
          </a:p>
          <a:p>
            <a:pPr>
              <a:lnSpc>
                <a:spcPct val="130000"/>
              </a:lnSpc>
            </a:pPr>
            <a:r>
              <a:rPr lang="en-US" altLang="en-US" dirty="0">
                <a:solidFill>
                  <a:srgbClr val="003399"/>
                </a:solidFill>
                <a:cs typeface="Arial" panose="020B0604020202020204" pitchFamily="34" charset="0"/>
              </a:rPr>
              <a:t>Base case?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5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79CF-E7AF-4249-98AD-83BA0BD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9895-08E3-4B8F-9121-B82362B4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b="1" dirty="0"/>
              <a:t>T(n) = T(n-1)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 dirty="0"/>
              <a:t>Guess: T(n) = O(n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/>
              <a:t>Induction goal: T(n) </a:t>
            </a:r>
            <a:r>
              <a:rPr lang="en-US" altLang="en-US" sz="2000" dirty="0">
                <a:cs typeface="Arial" panose="020B0604020202020204" pitchFamily="34" charset="0"/>
              </a:rPr>
              <a:t>≤ </a:t>
            </a:r>
            <a:r>
              <a:rPr lang="en-US" altLang="en-US" sz="2000" dirty="0"/>
              <a:t>c 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, for some c and n </a:t>
            </a:r>
            <a:r>
              <a:rPr lang="en-US" altLang="en-US" sz="2000" dirty="0">
                <a:cs typeface="Arial" panose="020B0604020202020204" pitchFamily="34" charset="0"/>
              </a:rPr>
              <a:t>≥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Induction</a:t>
            </a:r>
            <a:r>
              <a:rPr lang="en-US" altLang="en-US" sz="2000" dirty="0"/>
              <a:t> hypothesis: T(n-1) </a:t>
            </a:r>
            <a:r>
              <a:rPr lang="en-US" altLang="en-US" sz="2000" dirty="0">
                <a:cs typeface="Arial" panose="020B0604020202020204" pitchFamily="34" charset="0"/>
              </a:rPr>
              <a:t>≤ </a:t>
            </a:r>
            <a:r>
              <a:rPr lang="en-US" altLang="en-US" sz="2000" dirty="0"/>
              <a:t>c(n-1)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for all k </a:t>
            </a:r>
            <a:r>
              <a:rPr lang="en-US" altLang="en-US" sz="2000" dirty="0">
                <a:cs typeface="Arial" panose="020B0604020202020204" pitchFamily="34" charset="0"/>
              </a:rPr>
              <a:t>&lt;</a:t>
            </a:r>
            <a:r>
              <a:rPr lang="en-US" altLang="en-US" sz="2000" dirty="0"/>
              <a:t>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/>
              <a:t>	T(n) = T(n-1) + n </a:t>
            </a:r>
            <a:r>
              <a:rPr lang="en-US" altLang="en-US" sz="2400" dirty="0">
                <a:cs typeface="Arial" panose="020B0604020202020204" pitchFamily="34" charset="0"/>
              </a:rPr>
              <a:t>≤ c </a:t>
            </a:r>
            <a:r>
              <a:rPr lang="en-US" altLang="en-US" sz="2400" dirty="0"/>
              <a:t>(n-1)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/>
              <a:t>		= cn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 – (2cn – c - n) </a:t>
            </a:r>
            <a:r>
              <a:rPr lang="en-US" altLang="en-US" sz="2400" dirty="0">
                <a:cs typeface="Arial" panose="020B0604020202020204" pitchFamily="34" charset="0"/>
              </a:rPr>
              <a:t>≤ cn</a:t>
            </a:r>
            <a:r>
              <a:rPr lang="en-US" altLang="en-US" sz="2400" baseline="30000" dirty="0">
                <a:cs typeface="Arial" panose="020B0604020202020204" pitchFamily="34" charset="0"/>
              </a:rPr>
              <a:t>2</a:t>
            </a:r>
            <a:r>
              <a:rPr lang="en-US" altLang="en-US" sz="2400" dirty="0"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		if:  2cn – c – n ≥ 0 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 dirty="0">
                <a:cs typeface="Arial" panose="020B0604020202020204" pitchFamily="34" charset="0"/>
              </a:rPr>
              <a:t>≥ n/(2n-1) 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 dirty="0">
                <a:cs typeface="Arial" panose="020B0604020202020204" pitchFamily="34" charset="0"/>
              </a:rPr>
              <a:t>≥ 1/(2 – 1/n)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For n </a:t>
            </a:r>
            <a:r>
              <a:rPr lang="en-US" altLang="en-US" sz="2000" dirty="0">
                <a:cs typeface="Arial" panose="020B0604020202020204" pitchFamily="34" charset="0"/>
              </a:rPr>
              <a:t>≥ 1 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cs typeface="Arial" panose="020B0604020202020204" pitchFamily="34" charset="0"/>
              </a:rPr>
              <a:t> 2 – 1/n ≥ 1 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cs typeface="Arial" panose="020B0604020202020204" pitchFamily="34" charset="0"/>
              </a:rPr>
              <a:t> any c ≥ 1 will work</a:t>
            </a:r>
            <a:endParaRPr lang="en-US" altLang="en-US" sz="2000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5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79CF-E7AF-4249-98AD-83BA0BD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9895-08E3-4B8F-9121-B82362B4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b="1" dirty="0"/>
              <a:t>T(n) = 2T(n/2)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Guess: T(n) = O(</a:t>
            </a:r>
            <a:r>
              <a:rPr lang="en-US" altLang="en-US" dirty="0" err="1"/>
              <a:t>nlgn</a:t>
            </a:r>
            <a:r>
              <a:rPr lang="en-US" altLang="en-US" dirty="0"/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/>
              <a:t>Induction goal: T(n)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 err="1"/>
              <a:t>cn</a:t>
            </a:r>
            <a:r>
              <a:rPr lang="en-US" altLang="en-US" dirty="0"/>
              <a:t> </a:t>
            </a:r>
            <a:r>
              <a:rPr lang="en-US" altLang="en-US" dirty="0" err="1"/>
              <a:t>lgn</a:t>
            </a:r>
            <a:r>
              <a:rPr lang="en-US" altLang="en-US" dirty="0"/>
              <a:t>, for some c and n </a:t>
            </a:r>
            <a:r>
              <a:rPr lang="en-US" altLang="en-US" dirty="0"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cs typeface="Arial" panose="020B0604020202020204" pitchFamily="34" charset="0"/>
              </a:rPr>
              <a:t>0</a:t>
            </a:r>
            <a:endParaRPr lang="en-US" altLang="en-US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T(n/2)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 err="1"/>
              <a:t>cn</a:t>
            </a:r>
            <a:r>
              <a:rPr lang="en-US" altLang="en-US" dirty="0"/>
              <a:t>/2 lg(n/2)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T(n) = 2T(n/2) + n </a:t>
            </a:r>
            <a:r>
              <a:rPr lang="en-US" altLang="en-US" dirty="0">
                <a:cs typeface="Arial" panose="020B0604020202020204" pitchFamily="34" charset="0"/>
              </a:rPr>
              <a:t>≤ 2c (n/2)</a:t>
            </a:r>
            <a:r>
              <a:rPr lang="en-US" altLang="en-US" dirty="0"/>
              <a:t>lg(n/2)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        = </a:t>
            </a:r>
            <a:r>
              <a:rPr lang="en-US" altLang="en-US" dirty="0" err="1"/>
              <a:t>cn</a:t>
            </a:r>
            <a:r>
              <a:rPr lang="en-US" altLang="en-US" dirty="0"/>
              <a:t> </a:t>
            </a:r>
            <a:r>
              <a:rPr lang="en-US" altLang="en-US" dirty="0" err="1"/>
              <a:t>lgn</a:t>
            </a:r>
            <a:r>
              <a:rPr lang="en-US" altLang="en-US" dirty="0"/>
              <a:t> – </a:t>
            </a:r>
            <a:r>
              <a:rPr lang="en-US" altLang="en-US" dirty="0" err="1"/>
              <a:t>cn</a:t>
            </a:r>
            <a:r>
              <a:rPr lang="en-US" altLang="en-US" dirty="0"/>
              <a:t> + n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cs typeface="Arial" panose="020B0604020202020204" pitchFamily="34" charset="0"/>
              </a:rPr>
              <a:t>cn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lgn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cs typeface="Arial" panose="020B0604020202020204" pitchFamily="34" charset="0"/>
              </a:rPr>
              <a:t>					if:  - </a:t>
            </a:r>
            <a:r>
              <a:rPr lang="en-US" altLang="en-US" dirty="0" err="1">
                <a:cs typeface="Arial" panose="020B0604020202020204" pitchFamily="34" charset="0"/>
              </a:rPr>
              <a:t>cn</a:t>
            </a:r>
            <a:r>
              <a:rPr lang="en-US" altLang="en-US" dirty="0">
                <a:cs typeface="Arial" panose="020B0604020202020204" pitchFamily="34" charset="0"/>
              </a:rPr>
              <a:t> + n ≤ 0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 c </a:t>
            </a:r>
            <a:r>
              <a:rPr lang="en-US" altLang="en-US" dirty="0">
                <a:cs typeface="Arial" panose="020B0604020202020204" pitchFamily="34" charset="0"/>
              </a:rPr>
              <a:t>≥ 1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Base case?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2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79CF-E7AF-4249-98AD-83BA0BD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09895-08E3-4B8F-9121-B82362B4CB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/>
                  <a:t>T(n) = 2T(</a:t>
                </a:r>
                <a14:m>
                  <m:oMath xmlns:m="http://schemas.openxmlformats.org/officeDocument/2006/math"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US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3200" dirty="0"/>
                  <a:t>) + </a:t>
                </a:r>
                <a:r>
                  <a:rPr lang="en-US" altLang="en-US" sz="3200" dirty="0" err="1"/>
                  <a:t>lgn</a:t>
                </a:r>
                <a:r>
                  <a:rPr lang="en-US" altLang="en-US" sz="3200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en-US" sz="3200" dirty="0"/>
                  <a:t>Rename: m = </a:t>
                </a:r>
                <a:r>
                  <a:rPr lang="en-US" altLang="en-US" sz="3200" dirty="0" err="1"/>
                  <a:t>lgn</a:t>
                </a:r>
                <a:r>
                  <a:rPr lang="en-US" altLang="en-US" sz="3200" dirty="0"/>
                  <a:t> 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 n = 2</a:t>
                </a:r>
                <a:r>
                  <a:rPr lang="en-US" altLang="en-US" sz="3200" baseline="30000" dirty="0">
                    <a:cs typeface="Arial" panose="020B0604020202020204" pitchFamily="34" charset="0"/>
                    <a:sym typeface="Symbol" panose="05050102010706020507" pitchFamily="18" charset="2"/>
                  </a:rPr>
                  <a:t>m</a:t>
                </a:r>
                <a:endParaRPr lang="en-US" altLang="en-US" sz="3200" dirty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T (2</a:t>
                </a:r>
                <a:r>
                  <a:rPr lang="en-US" altLang="en-US" sz="3200" baseline="30000" dirty="0">
                    <a:cs typeface="Arial" panose="020B0604020202020204" pitchFamily="34" charset="0"/>
                    <a:sym typeface="Symbol" panose="05050102010706020507" pitchFamily="18" charset="2"/>
                  </a:rPr>
                  <a:t>m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 = 2T(2</a:t>
                </a:r>
                <a:r>
                  <a:rPr lang="en-US" altLang="en-US" sz="3200" baseline="30000" dirty="0">
                    <a:cs typeface="Arial" panose="020B0604020202020204" pitchFamily="34" charset="0"/>
                    <a:sym typeface="Symbol" panose="05050102010706020507" pitchFamily="18" charset="2"/>
                  </a:rPr>
                  <a:t>m/2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 + m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Rename: S(m) = T(2</a:t>
                </a:r>
                <a:r>
                  <a:rPr lang="en-US" altLang="en-US" sz="3200" baseline="30000" dirty="0">
                    <a:cs typeface="Arial" panose="020B0604020202020204" pitchFamily="34" charset="0"/>
                    <a:sym typeface="Symbol" panose="05050102010706020507" pitchFamily="18" charset="2"/>
                  </a:rPr>
                  <a:t>m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S(m) = 2S(m/2) + m  S(m) = O(</a:t>
                </a:r>
                <a:r>
                  <a:rPr lang="en-US" altLang="en-US" sz="3200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mlgm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 (demonstrated before)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T(n) = T(2</a:t>
                </a:r>
                <a:r>
                  <a:rPr lang="en-US" altLang="en-US" sz="3200" baseline="30000" dirty="0">
                    <a:cs typeface="Arial" panose="020B0604020202020204" pitchFamily="34" charset="0"/>
                    <a:sym typeface="Symbol" panose="05050102010706020507" pitchFamily="18" charset="2"/>
                  </a:rPr>
                  <a:t>m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 = S(m) = O(</a:t>
                </a:r>
                <a:r>
                  <a:rPr lang="en-US" altLang="en-US" sz="3200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mlgm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)=O(</a:t>
                </a:r>
                <a:r>
                  <a:rPr lang="en-US" altLang="en-US" sz="3200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lgnlglgn</a:t>
                </a:r>
                <a:r>
                  <a:rPr lang="en-US" altLang="en-US" sz="3200" dirty="0">
                    <a:cs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3200" dirty="0">
                    <a:solidFill>
                      <a:srgbClr val="DD0111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Idea: transform the recurrence to one that you have seen before</a:t>
                </a:r>
                <a:endParaRPr lang="en-US" alt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F309895-08E3-4B8F-9121-B82362B4CB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507" t="-840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64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1FC6-AD55-41CD-A662-D08A0790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Recurrence Tree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F0CF-3E22-4B9E-80B1-D5EAC346D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23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T(n) = n + 2T(n/2)</a:t>
            </a:r>
          </a:p>
          <a:p>
            <a:pPr marL="0" indent="0">
              <a:buNone/>
            </a:pPr>
            <a:r>
              <a:rPr lang="en-US" dirty="0" smtClean="0">
                <a:sym typeface="Symbol" panose="05050102010706020507" pitchFamily="18" charset="2"/>
              </a:rPr>
              <a:t>T(n) = cost at each level * depth of the tree</a:t>
            </a:r>
          </a:p>
          <a:p>
            <a:pPr marL="0" indent="0">
              <a:buNone/>
            </a:pPr>
            <a:r>
              <a:rPr lang="en-US" dirty="0" smtClean="0">
                <a:sym typeface="Symbol" panose="05050102010706020507" pitchFamily="18" charset="2"/>
              </a:rPr>
              <a:t>Cost at each level = n, therefore,</a:t>
            </a:r>
            <a:endParaRPr 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T(n)=n*depth of tree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T(n)=(</a:t>
            </a:r>
            <a:r>
              <a:rPr lang="en-US" dirty="0" err="1">
                <a:sym typeface="Symbol" panose="05050102010706020507" pitchFamily="18" charset="2"/>
              </a:rPr>
              <a:t>nlgn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/>
          </a:p>
        </p:txBody>
      </p:sp>
      <p:pic>
        <p:nvPicPr>
          <p:cNvPr id="12" name="Picture 11" descr="A picture containing black, monitor&#10;&#10;Description automatically generated">
            <a:extLst>
              <a:ext uri="{FF2B5EF4-FFF2-40B4-BE49-F238E27FC236}">
                <a16:creationId xmlns:a16="http://schemas.microsoft.com/office/drawing/2014/main" id="{930D6738-3A2E-44A0-87D7-F7A4A207BC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35" y="1357313"/>
            <a:ext cx="7629983" cy="4206725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9230264" y="5658928"/>
            <a:ext cx="2009955" cy="629729"/>
          </a:xfrm>
          <a:prstGeom prst="wedgeRectCallout">
            <a:avLst>
              <a:gd name="adj1" fmla="val 30556"/>
              <a:gd name="adj2" fmla="val -1032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Depth of the tree is k and k = </a:t>
            </a:r>
            <a:r>
              <a:rPr lang="en-US" dirty="0" err="1" smtClean="0"/>
              <a:t>lgn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2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1FC6-AD55-41CD-A662-D08A0790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0F0CF-3E22-4B9E-80B1-D5EAC346D5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 The master method works only for following type of recurrences or for recurrences that can be transformed to following type</a:t>
                </a:r>
              </a:p>
              <a:p>
                <a:pPr fontAlgn="base"/>
                <a:r>
                  <a:rPr lang="en-US" dirty="0"/>
                  <a:t>The recurrence T(n) = </a:t>
                </a:r>
                <a:r>
                  <a:rPr lang="en-US" dirty="0" err="1"/>
                  <a:t>aT</a:t>
                </a:r>
                <a:r>
                  <a:rPr lang="en-US" dirty="0"/>
                  <a:t>(n/b) + f (n) can be solved as follows:</a:t>
                </a:r>
              </a:p>
              <a:p>
                <a:pPr marL="514350" indent="-514350" fontAlgn="base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 err="1"/>
                  <a:t>af</a:t>
                </a:r>
                <a:r>
                  <a:rPr lang="en-US" dirty="0"/>
                  <a:t>(n/b) &lt;= </a:t>
                </a:r>
                <a:r>
                  <a:rPr lang="en-US" dirty="0" err="1"/>
                  <a:t>Kf</a:t>
                </a:r>
                <a:r>
                  <a:rPr lang="en-US" dirty="0"/>
                  <a:t>(n) for some constant K &lt; 1, then T(n) = </a:t>
                </a:r>
                <a:r>
                  <a:rPr lang="en-US" dirty="0">
                    <a:sym typeface="Symbol" panose="05050102010706020507" pitchFamily="18" charset="2"/>
                  </a:rPr>
                  <a:t></a:t>
                </a:r>
                <a:r>
                  <a:rPr lang="en-US" dirty="0"/>
                  <a:t>(f (n)).</a:t>
                </a:r>
              </a:p>
              <a:p>
                <a:pPr marL="514350" indent="-514350" fontAlgn="base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 err="1"/>
                  <a:t>af</a:t>
                </a:r>
                <a:r>
                  <a:rPr lang="en-US" dirty="0"/>
                  <a:t>(n/b) &gt;= </a:t>
                </a:r>
                <a:r>
                  <a:rPr lang="en-US" dirty="0" err="1"/>
                  <a:t>Kf</a:t>
                </a:r>
                <a:r>
                  <a:rPr lang="en-US" dirty="0"/>
                  <a:t>(n) for some constant K &gt; 1, then T(n) = </a:t>
                </a:r>
                <a:r>
                  <a:rPr lang="en-US" dirty="0">
                    <a:sym typeface="Symbol" panose="05050102010706020507" pitchFamily="18" charset="2"/>
                  </a:rPr>
                  <a:t>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dirty="0"/>
                  <a:t>).</a:t>
                </a:r>
              </a:p>
              <a:p>
                <a:pPr marL="514350" indent="-514350" fontAlgn="base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 err="1"/>
                  <a:t>af</a:t>
                </a:r>
                <a:r>
                  <a:rPr lang="en-US" dirty="0"/>
                  <a:t>(n/b) = f (n), then T(n) = </a:t>
                </a:r>
                <a:r>
                  <a:rPr lang="en-US" dirty="0">
                    <a:sym typeface="Symbol" panose="05050102010706020507" pitchFamily="18" charset="2"/>
                  </a:rPr>
                  <a:t></a:t>
                </a:r>
                <a:r>
                  <a:rPr lang="en-US" dirty="0"/>
                  <a:t>(f(n)</a:t>
                </a:r>
                <a:r>
                  <a:rPr lang="en-US" dirty="0" err="1"/>
                  <a:t>log</a:t>
                </a:r>
                <a:r>
                  <a:rPr lang="en-US" baseline="-25000" dirty="0" err="1"/>
                  <a:t>b</a:t>
                </a:r>
                <a:r>
                  <a:rPr lang="en-US" dirty="0"/>
                  <a:t> n).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3E0F0CF-3E22-4B9E-80B1-D5EAC346D5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5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71D8-6EDA-491C-B95B-8371E3D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B227-33B0-4314-AA9A-1DEEE5282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T(n) = n + 2T(n/2)</a:t>
            </a:r>
          </a:p>
          <a:p>
            <a:pPr marL="0" indent="0">
              <a:buNone/>
            </a:pPr>
            <a:r>
              <a:rPr lang="en-US" dirty="0"/>
              <a:t>If we consider T(n) = </a:t>
            </a:r>
            <a:r>
              <a:rPr lang="en-US" dirty="0" err="1"/>
              <a:t>aT</a:t>
            </a:r>
            <a:r>
              <a:rPr lang="en-US" dirty="0"/>
              <a:t>(n/b) + f (n)  then</a:t>
            </a:r>
          </a:p>
          <a:p>
            <a:pPr marL="0" indent="0">
              <a:buNone/>
            </a:pPr>
            <a:r>
              <a:rPr lang="en-US" dirty="0"/>
              <a:t>a=2, b=2 and f(n) = n</a:t>
            </a:r>
          </a:p>
          <a:p>
            <a:pPr marL="0" indent="0">
              <a:buNone/>
            </a:pPr>
            <a:r>
              <a:rPr lang="en-US" dirty="0" err="1"/>
              <a:t>af</a:t>
            </a:r>
            <a:r>
              <a:rPr lang="en-US" dirty="0"/>
              <a:t>(n/b) = 2(n/2) = n</a:t>
            </a:r>
          </a:p>
          <a:p>
            <a:pPr marL="0" indent="0">
              <a:buNone/>
            </a:pPr>
            <a:r>
              <a:rPr lang="en-US" dirty="0"/>
              <a:t>This means </a:t>
            </a:r>
            <a:r>
              <a:rPr lang="en-US" dirty="0" err="1"/>
              <a:t>af</a:t>
            </a:r>
            <a:r>
              <a:rPr lang="en-US" dirty="0"/>
              <a:t>(n/b) = f(n)</a:t>
            </a:r>
          </a:p>
          <a:p>
            <a:pPr marL="0" indent="0">
              <a:buNone/>
            </a:pPr>
            <a:r>
              <a:rPr lang="en-US" dirty="0"/>
              <a:t>In this case third condition is satisfied, therefore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/>
              <a:t>(f(n)</a:t>
            </a:r>
            <a:r>
              <a:rPr lang="en-US" dirty="0" err="1"/>
              <a:t>log</a:t>
            </a:r>
            <a:r>
              <a:rPr lang="en-US" baseline="-25000" dirty="0" err="1"/>
              <a:t>b</a:t>
            </a:r>
            <a:r>
              <a:rPr lang="en-US" dirty="0"/>
              <a:t> a) = </a:t>
            </a:r>
            <a:r>
              <a:rPr lang="en-US" dirty="0">
                <a:sym typeface="Symbol" panose="05050102010706020507" pitchFamily="18" charset="2"/>
              </a:rPr>
              <a:t> (</a:t>
            </a:r>
            <a:r>
              <a:rPr lang="en-US" dirty="0"/>
              <a:t>n log</a:t>
            </a:r>
            <a:r>
              <a:rPr lang="en-US" baseline="-25000" dirty="0"/>
              <a:t>2</a:t>
            </a:r>
            <a:r>
              <a:rPr lang="en-US" dirty="0"/>
              <a:t> n) = </a:t>
            </a:r>
            <a:r>
              <a:rPr lang="en-US" dirty="0">
                <a:sym typeface="Symbol" panose="05050102010706020507" pitchFamily="18" charset="2"/>
              </a:rPr>
              <a:t> (</a:t>
            </a:r>
            <a:r>
              <a:rPr lang="en-US" dirty="0" err="1"/>
              <a:t>nlgn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75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A7B6-ED73-454C-B3C1-D195436B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 for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9D2CD-88B4-4B92-B997-25E4A0C8D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T(n) = c + T(n/2)</a:t>
            </a:r>
          </a:p>
          <a:p>
            <a:pPr marL="0" indent="0">
              <a:buNone/>
            </a:pPr>
            <a:r>
              <a:rPr lang="en-US" dirty="0"/>
              <a:t>If we consider T(n) = </a:t>
            </a:r>
            <a:r>
              <a:rPr lang="en-US" dirty="0" err="1"/>
              <a:t>aT</a:t>
            </a:r>
            <a:r>
              <a:rPr lang="en-US" dirty="0"/>
              <a:t>(n/b) + f (n)  then</a:t>
            </a:r>
          </a:p>
          <a:p>
            <a:pPr marL="0" indent="0">
              <a:buNone/>
            </a:pPr>
            <a:r>
              <a:rPr lang="en-US" dirty="0"/>
              <a:t>a=1, b=2 and f(n) = c</a:t>
            </a:r>
          </a:p>
          <a:p>
            <a:pPr marL="0" indent="0">
              <a:buNone/>
            </a:pPr>
            <a:r>
              <a:rPr lang="en-US" dirty="0" err="1"/>
              <a:t>af</a:t>
            </a:r>
            <a:r>
              <a:rPr lang="en-US" dirty="0"/>
              <a:t>(n/b) = c/2</a:t>
            </a:r>
          </a:p>
          <a:p>
            <a:pPr marL="0" indent="0">
              <a:buNone/>
            </a:pPr>
            <a:r>
              <a:rPr lang="en-US" dirty="0"/>
              <a:t>This means </a:t>
            </a:r>
            <a:r>
              <a:rPr lang="en-US" dirty="0" err="1"/>
              <a:t>af</a:t>
            </a:r>
            <a:r>
              <a:rPr lang="en-US" dirty="0"/>
              <a:t>(n/b) = </a:t>
            </a:r>
            <a:r>
              <a:rPr lang="en-US" dirty="0" err="1"/>
              <a:t>Kf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dirty="0"/>
              <a:t>In this case third condition is satisfied, therefore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/>
              <a:t>(f(n)</a:t>
            </a:r>
            <a:r>
              <a:rPr lang="en-US" dirty="0" err="1"/>
              <a:t>log</a:t>
            </a:r>
            <a:r>
              <a:rPr lang="en-US" baseline="-25000" dirty="0" err="1"/>
              <a:t>b</a:t>
            </a:r>
            <a:r>
              <a:rPr lang="en-US" dirty="0"/>
              <a:t> a) = </a:t>
            </a:r>
            <a:r>
              <a:rPr lang="en-US" dirty="0">
                <a:sym typeface="Symbol" panose="05050102010706020507" pitchFamily="18" charset="2"/>
              </a:rPr>
              <a:t> (c </a:t>
            </a:r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 n) = </a:t>
            </a:r>
            <a:r>
              <a:rPr lang="en-US" dirty="0">
                <a:sym typeface="Symbol" panose="05050102010706020507" pitchFamily="18" charset="2"/>
              </a:rPr>
              <a:t> (</a:t>
            </a:r>
            <a:r>
              <a:rPr lang="en-US" dirty="0" err="1"/>
              <a:t>lgn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5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8B85-E418-48E6-8DB1-2D43F6B1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CAD81-B393-4FED-9FB3-04477B0F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T(n) = n + T(3n/4)</a:t>
            </a:r>
          </a:p>
          <a:p>
            <a:pPr marL="0" indent="0">
              <a:buNone/>
            </a:pPr>
            <a:r>
              <a:rPr lang="en-US" dirty="0"/>
              <a:t>If we consider T(n) = </a:t>
            </a:r>
            <a:r>
              <a:rPr lang="en-US" dirty="0" err="1"/>
              <a:t>aT</a:t>
            </a:r>
            <a:r>
              <a:rPr lang="en-US" dirty="0"/>
              <a:t>(n/b) + f (n)  then</a:t>
            </a:r>
          </a:p>
          <a:p>
            <a:pPr marL="0" indent="0">
              <a:buNone/>
            </a:pPr>
            <a:r>
              <a:rPr lang="en-US" dirty="0"/>
              <a:t>a=1, b=4/3 and f(n) = n</a:t>
            </a:r>
          </a:p>
          <a:p>
            <a:pPr marL="0" indent="0">
              <a:buNone/>
            </a:pPr>
            <a:r>
              <a:rPr lang="en-US" dirty="0" err="1"/>
              <a:t>af</a:t>
            </a:r>
            <a:r>
              <a:rPr lang="en-US" dirty="0"/>
              <a:t>(n/b) = 3n/4</a:t>
            </a:r>
          </a:p>
          <a:p>
            <a:pPr marL="0" indent="0">
              <a:buNone/>
            </a:pPr>
            <a:r>
              <a:rPr lang="en-US" dirty="0"/>
              <a:t>This means </a:t>
            </a:r>
            <a:r>
              <a:rPr lang="en-US" dirty="0" err="1"/>
              <a:t>af</a:t>
            </a:r>
            <a:r>
              <a:rPr lang="en-US" dirty="0"/>
              <a:t>(n/b) &lt; f(n)</a:t>
            </a:r>
          </a:p>
          <a:p>
            <a:pPr marL="0" indent="0">
              <a:buNone/>
            </a:pPr>
            <a:r>
              <a:rPr lang="en-US" dirty="0"/>
              <a:t>In this case first condition is satisfied, therefore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/>
              <a:t>(f(n)) = </a:t>
            </a:r>
            <a:r>
              <a:rPr lang="en-US" dirty="0">
                <a:sym typeface="Symbol" panose="05050102010706020507" pitchFamily="18" charset="2"/>
              </a:rPr>
              <a:t> (</a:t>
            </a:r>
            <a:r>
              <a:rPr lang="en-US" dirty="0"/>
              <a:t>n)</a:t>
            </a:r>
          </a:p>
        </p:txBody>
      </p:sp>
    </p:spTree>
    <p:extLst>
      <p:ext uri="{BB962C8B-B14F-4D97-AF65-F5344CB8AC3E}">
        <p14:creationId xmlns:p14="http://schemas.microsoft.com/office/powerpoint/2010/main" val="222108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8B85-E418-48E6-8DB1-2D43F6B1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Method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CAD81-B393-4FED-9FB3-04477B0F1E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T(n) = n + 3T(n/2)</a:t>
                </a:r>
              </a:p>
              <a:p>
                <a:pPr marL="0" indent="0">
                  <a:buNone/>
                </a:pPr>
                <a:r>
                  <a:rPr lang="en-US" dirty="0"/>
                  <a:t>If we consider T(n) = </a:t>
                </a:r>
                <a:r>
                  <a:rPr lang="en-US" dirty="0" err="1"/>
                  <a:t>aT</a:t>
                </a:r>
                <a:r>
                  <a:rPr lang="en-US" dirty="0"/>
                  <a:t>(n/b) + f (n)  then</a:t>
                </a:r>
              </a:p>
              <a:p>
                <a:pPr marL="0" indent="0">
                  <a:buNone/>
                </a:pPr>
                <a:r>
                  <a:rPr lang="en-US" dirty="0"/>
                  <a:t>a=3, b=2 and f(n) = n</a:t>
                </a:r>
              </a:p>
              <a:p>
                <a:pPr marL="0" indent="0">
                  <a:buNone/>
                </a:pPr>
                <a:r>
                  <a:rPr lang="en-US" dirty="0" err="1"/>
                  <a:t>af</a:t>
                </a:r>
                <a:r>
                  <a:rPr lang="en-US" dirty="0"/>
                  <a:t>(n/b) = 3n/2</a:t>
                </a:r>
              </a:p>
              <a:p>
                <a:pPr marL="0" indent="0">
                  <a:buNone/>
                </a:pPr>
                <a:r>
                  <a:rPr lang="en-US" dirty="0"/>
                  <a:t>This means </a:t>
                </a:r>
                <a:r>
                  <a:rPr lang="en-US" dirty="0" err="1"/>
                  <a:t>af</a:t>
                </a:r>
                <a:r>
                  <a:rPr lang="en-US" dirty="0"/>
                  <a:t>(n/b) &gt; f(n)</a:t>
                </a:r>
              </a:p>
              <a:p>
                <a:pPr marL="0" indent="0">
                  <a:buNone/>
                </a:pPr>
                <a:r>
                  <a:rPr lang="en-US" dirty="0"/>
                  <a:t>In this case first condition is satisfied, therefore</a:t>
                </a:r>
              </a:p>
              <a:p>
                <a:pPr marL="0" indent="0">
                  <a:buNone/>
                </a:pPr>
                <a:r>
                  <a:rPr lang="en-US" dirty="0"/>
                  <a:t>T(n) = </a:t>
                </a:r>
                <a:r>
                  <a:rPr lang="en-US" dirty="0">
                    <a:sym typeface="Symbol" panose="05050102010706020507" pitchFamily="18" charset="2"/>
                  </a:rPr>
                  <a:t>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7ACAD81-B393-4FED-9FB3-04477B0F1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78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Method does not work for Some Recurrences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T(n) = </a:t>
            </a:r>
            <a:r>
              <a:rPr lang="en-US" dirty="0" err="1" smtClean="0"/>
              <a:t>nlgn</a:t>
            </a:r>
            <a:r>
              <a:rPr lang="en-US" dirty="0" smtClean="0"/>
              <a:t> + 2T(n/2)</a:t>
            </a:r>
          </a:p>
          <a:p>
            <a:pPr marL="0" indent="0">
              <a:buNone/>
            </a:pPr>
            <a:r>
              <a:rPr lang="en-US" dirty="0" smtClean="0"/>
              <a:t>If we consider T(n) = </a:t>
            </a:r>
            <a:r>
              <a:rPr lang="en-US" dirty="0" err="1" smtClean="0"/>
              <a:t>aT</a:t>
            </a:r>
            <a:r>
              <a:rPr lang="en-US" dirty="0" smtClean="0"/>
              <a:t>(n/b) + f (n)  then</a:t>
            </a:r>
          </a:p>
          <a:p>
            <a:pPr marL="0" indent="0">
              <a:buNone/>
            </a:pPr>
            <a:r>
              <a:rPr lang="en-US" dirty="0" smtClean="0"/>
              <a:t>A=2, b=2 and f(n) = </a:t>
            </a:r>
            <a:r>
              <a:rPr lang="en-US" dirty="0" err="1" smtClean="0"/>
              <a:t>nlgn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af</a:t>
            </a:r>
            <a:r>
              <a:rPr lang="en-US" dirty="0" smtClean="0"/>
              <a:t>(n/b) = 2(n/2*</a:t>
            </a:r>
            <a:r>
              <a:rPr lang="en-US" dirty="0" err="1" smtClean="0"/>
              <a:t>lgn</a:t>
            </a:r>
            <a:r>
              <a:rPr lang="en-US" dirty="0" smtClean="0"/>
              <a:t>/2) = n(</a:t>
            </a:r>
            <a:r>
              <a:rPr lang="en-US" dirty="0" err="1" smtClean="0"/>
              <a:t>lgn</a:t>
            </a:r>
            <a:r>
              <a:rPr lang="en-US" dirty="0" smtClean="0"/>
              <a:t> – lg2) = </a:t>
            </a:r>
            <a:r>
              <a:rPr lang="en-US" dirty="0" err="1" smtClean="0"/>
              <a:t>nlgn</a:t>
            </a:r>
            <a:r>
              <a:rPr lang="en-US" dirty="0" smtClean="0"/>
              <a:t> – n</a:t>
            </a:r>
          </a:p>
          <a:p>
            <a:pPr marL="0" indent="0">
              <a:buNone/>
            </a:pPr>
            <a:r>
              <a:rPr lang="en-US" dirty="0" smtClean="0"/>
              <a:t>This means </a:t>
            </a:r>
            <a:r>
              <a:rPr lang="en-US" dirty="0" err="1" smtClean="0"/>
              <a:t>af</a:t>
            </a:r>
            <a:r>
              <a:rPr lang="en-US" dirty="0" smtClean="0"/>
              <a:t>(n/b) &lt; </a:t>
            </a:r>
            <a:r>
              <a:rPr lang="en-US" dirty="0" err="1" smtClean="0"/>
              <a:t>Kf</a:t>
            </a:r>
            <a:r>
              <a:rPr lang="en-US" dirty="0" smtClean="0"/>
              <a:t>(n), so you would think of applying T(n) = </a:t>
            </a:r>
            <a:r>
              <a:rPr lang="en-US" dirty="0" smtClean="0">
                <a:sym typeface="Symbol" panose="05050102010706020507" pitchFamily="18" charset="2"/>
              </a:rPr>
              <a:t></a:t>
            </a:r>
            <a:r>
              <a:rPr lang="en-US" dirty="0" smtClean="0"/>
              <a:t>(f(n)) </a:t>
            </a:r>
          </a:p>
          <a:p>
            <a:pPr marL="0" indent="0">
              <a:buNone/>
            </a:pPr>
            <a:r>
              <a:rPr lang="en-US" dirty="0" smtClean="0"/>
              <a:t>But remember highest order term of </a:t>
            </a:r>
            <a:r>
              <a:rPr lang="en-US" dirty="0" err="1" smtClean="0"/>
              <a:t>af</a:t>
            </a:r>
            <a:r>
              <a:rPr lang="en-US" dirty="0" smtClean="0"/>
              <a:t>(n/b) is same as f(n) therefore master theorem does not apply in this case.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3AF3-BBC3-4D90-A57F-4536412D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vs Divide-and-Conquer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64C1D-405E-4C48-93A7-6B9B7302D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algorithms such as factorial(n), power(</a:t>
            </a:r>
            <a:r>
              <a:rPr lang="en-US" dirty="0" err="1"/>
              <a:t>n,m</a:t>
            </a:r>
            <a:r>
              <a:rPr lang="en-US" dirty="0"/>
              <a:t>), </a:t>
            </a:r>
            <a:r>
              <a:rPr lang="en-US" dirty="0" err="1"/>
              <a:t>printBinary</a:t>
            </a:r>
            <a:r>
              <a:rPr lang="en-US" dirty="0"/>
              <a:t>(n); Brute Force algorithm complexity will be same as complexity of divide-and-conquer</a:t>
            </a:r>
          </a:p>
          <a:p>
            <a:r>
              <a:rPr lang="en-US" dirty="0"/>
              <a:t>But many algorithms used for searching, sorting is where true power of divide-and-conquer algorithms is used.</a:t>
            </a:r>
          </a:p>
          <a:p>
            <a:r>
              <a:rPr lang="en-US" dirty="0"/>
              <a:t>For example, you can perform linear search which goes through each element of an array to find the value x which take T(n) =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/>
              <a:t>(n) but if the array is sorted, we can use binary search instead which taken T(n) = </a:t>
            </a:r>
            <a:r>
              <a:rPr lang="en-US" dirty="0">
                <a:sym typeface="Symbol" panose="05050102010706020507" pitchFamily="18" charset="2"/>
              </a:rPr>
              <a:t></a:t>
            </a:r>
            <a:r>
              <a:rPr lang="en-US" dirty="0"/>
              <a:t>(</a:t>
            </a:r>
            <a:r>
              <a:rPr lang="en-US" dirty="0" err="1"/>
              <a:t>lgn</a:t>
            </a:r>
            <a:r>
              <a:rPr lang="en-US" dirty="0"/>
              <a:t>) time </a:t>
            </a:r>
          </a:p>
        </p:txBody>
      </p:sp>
    </p:spTree>
    <p:extLst>
      <p:ext uri="{BB962C8B-B14F-4D97-AF65-F5344CB8AC3E}">
        <p14:creationId xmlns:p14="http://schemas.microsoft.com/office/powerpoint/2010/main" val="199930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fa0f804-7262-4f2a-ae4d-1db2f36eb63a" Revision="1" Stencil="System.MyShapes" StencilVersion="1.0"/>
</Control>
</file>

<file path=customXml/itemProps1.xml><?xml version="1.0" encoding="utf-8"?>
<ds:datastoreItem xmlns:ds="http://schemas.openxmlformats.org/officeDocument/2006/customXml" ds:itemID="{98569AC8-84F4-4F53-B4DE-708EA0DD297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2620</Words>
  <Application>Microsoft Office PowerPoint</Application>
  <PresentationFormat>Widescreen</PresentationFormat>
  <Paragraphs>572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ＭＳ Ｐゴシック</vt:lpstr>
      <vt:lpstr>ＭＳ Ｐゴシック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Introduction To Algorithms</vt:lpstr>
      <vt:lpstr>Algorithm Design Techniques</vt:lpstr>
      <vt:lpstr>Brute-Force Examples</vt:lpstr>
      <vt:lpstr>Divide-and-Conquer (Recursion) Examples</vt:lpstr>
      <vt:lpstr>Why does it work?</vt:lpstr>
      <vt:lpstr>Can recursion go on forever?</vt:lpstr>
      <vt:lpstr>Define Recursion</vt:lpstr>
      <vt:lpstr>What is Terminating Condition or Base Case?</vt:lpstr>
      <vt:lpstr>Recursive Method</vt:lpstr>
      <vt:lpstr>How does it work? Box Trace</vt:lpstr>
      <vt:lpstr>Box Trace</vt:lpstr>
      <vt:lpstr>Exercises 1</vt:lpstr>
      <vt:lpstr>Exercises 2</vt:lpstr>
      <vt:lpstr>Exercise 3</vt:lpstr>
      <vt:lpstr>Binary Number System</vt:lpstr>
      <vt:lpstr>Decimal to Binary Conversion</vt:lpstr>
      <vt:lpstr>Using Recursive Definition</vt:lpstr>
      <vt:lpstr>Recursive Case Analysis</vt:lpstr>
      <vt:lpstr>printBinary solution1 – Only prints the bits</vt:lpstr>
      <vt:lpstr>printBinary solution2 – Prints Reassembled Bits</vt:lpstr>
      <vt:lpstr>Binary Search Algorithm</vt:lpstr>
      <vt:lpstr>Binary Search Algorithm – Example 1A</vt:lpstr>
      <vt:lpstr>Binary Search Algorithm – Example 1B</vt:lpstr>
      <vt:lpstr>Binary Search Algorithm – Example 2</vt:lpstr>
      <vt:lpstr>Recap of Big O, Big  and Big </vt:lpstr>
      <vt:lpstr>Recurrences and Running Time</vt:lpstr>
      <vt:lpstr>Recurrence Examples with Runtimes</vt:lpstr>
      <vt:lpstr>Analysis of Recursive Algorithms: factorial</vt:lpstr>
      <vt:lpstr>Analysis of Recursive Algorithms: power</vt:lpstr>
      <vt:lpstr>Analysis of Recursive Algorithms: BINARY-SEARCH</vt:lpstr>
      <vt:lpstr>Exercise</vt:lpstr>
      <vt:lpstr>Solving Recurrence Equation</vt:lpstr>
      <vt:lpstr>Methods for Solving Recurrences</vt:lpstr>
      <vt:lpstr>Iteration Method</vt:lpstr>
      <vt:lpstr>Iteration Method: Solve Recurrence for Factorial</vt:lpstr>
      <vt:lpstr>Iteration Method: Solve Recurrence for Binary Search</vt:lpstr>
      <vt:lpstr>Iteration Method: Solve Recurrence T(n) = n + 2T(n/2)</vt:lpstr>
      <vt:lpstr>Substitution Method</vt:lpstr>
      <vt:lpstr>Substitution Method</vt:lpstr>
      <vt:lpstr>Example: Binary Search</vt:lpstr>
      <vt:lpstr>Example 2:</vt:lpstr>
      <vt:lpstr>Example 3:</vt:lpstr>
      <vt:lpstr>Changing Variables</vt:lpstr>
      <vt:lpstr>Recurrence Tree Method</vt:lpstr>
      <vt:lpstr>Master Method</vt:lpstr>
      <vt:lpstr>Master Method</vt:lpstr>
      <vt:lpstr>Master Method for Binary Search</vt:lpstr>
      <vt:lpstr>Master Method Examples</vt:lpstr>
      <vt:lpstr>Master Method Examples</vt:lpstr>
      <vt:lpstr>Master Method does not work for Some Recurrences</vt:lpstr>
      <vt:lpstr>Brute Force vs Divide-and-Conquer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IT623 Algorithms &amp; Data Structures</dc:title>
  <dc:creator>Amit Mankodi</dc:creator>
  <cp:lastModifiedBy>Dell</cp:lastModifiedBy>
  <cp:revision>183</cp:revision>
  <dcterms:created xsi:type="dcterms:W3CDTF">2019-05-21T10:07:53Z</dcterms:created>
  <dcterms:modified xsi:type="dcterms:W3CDTF">2026-01-05T05:03:25Z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