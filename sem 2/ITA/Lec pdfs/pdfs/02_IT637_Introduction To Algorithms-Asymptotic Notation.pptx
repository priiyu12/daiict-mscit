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92" r:id="rId6"/>
    <p:sldId id="261" r:id="rId7"/>
    <p:sldId id="262" r:id="rId8"/>
    <p:sldId id="263" r:id="rId9"/>
    <p:sldId id="264" r:id="rId10"/>
    <p:sldId id="265" r:id="rId11"/>
    <p:sldId id="266" r:id="rId12"/>
    <p:sldId id="290" r:id="rId13"/>
    <p:sldId id="444" r:id="rId14"/>
    <p:sldId id="443" r:id="rId15"/>
    <p:sldId id="268" r:id="rId16"/>
    <p:sldId id="269" r:id="rId17"/>
    <p:sldId id="270" r:id="rId18"/>
    <p:sldId id="293" r:id="rId19"/>
    <p:sldId id="294" r:id="rId20"/>
    <p:sldId id="271" r:id="rId21"/>
    <p:sldId id="272" r:id="rId22"/>
    <p:sldId id="273" r:id="rId23"/>
    <p:sldId id="274" r:id="rId24"/>
    <p:sldId id="275" r:id="rId25"/>
    <p:sldId id="295" r:id="rId26"/>
    <p:sldId id="276" r:id="rId27"/>
    <p:sldId id="296" r:id="rId28"/>
    <p:sldId id="277" r:id="rId29"/>
    <p:sldId id="279" r:id="rId30"/>
    <p:sldId id="280" r:id="rId31"/>
    <p:sldId id="281" r:id="rId32"/>
    <p:sldId id="278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442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10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E1806-38DA-447D-A4B6-C420C6106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89ECCC-50C5-4F48-8DED-1C94072E0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F24E3-0AF8-45B7-B279-06AAC0664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D4C68-4A03-4E79-9D14-6BC24C439BF7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937CE-F340-473F-B98A-C1F83AC9A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68E85-362E-42F6-A005-469F0A31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42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ADDD6-C8D3-49D6-818E-6D4E8F55D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129AF-69A3-4D8D-91C8-25B6B521E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8857E-D76C-42AD-97B5-FE0FA456E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D4C68-4A03-4E79-9D14-6BC24C439BF7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CBBDD-27A3-4F6F-A084-83A5CE1E2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601D6-423A-4F07-BCC6-F2F73CD02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000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D5E4F-9EDB-42F1-BFA2-271AFDD9E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0236E-0CBF-46E8-BF54-61C80A689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5A937-D41B-4CAB-BB59-C8E40FC60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D4C68-4A03-4E79-9D14-6BC24C439BF7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C4D22-4DB1-47CD-8A2D-898156D50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539BC-63AF-4AB4-8D0C-53A52CD9E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23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2B815-0BC7-438A-B992-3F6123998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63342-710B-45D0-AC3B-A7BBDE55C4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D0A96C-77A1-441A-867D-F2FE3F4B1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2CAE5-C13C-4813-9746-9C0A658B1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D4C68-4A03-4E79-9D14-6BC24C439BF7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90ECBB-F3BE-495E-8994-8A80A8F18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B23AC-9D16-4319-A791-925D2DB97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88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800C1-479C-4550-B6E6-82F1E87C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71884-FF53-4689-812E-9A1F9EAA8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F599E-8B8F-499E-9BFE-62DAD9CDE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70C640-2C79-42AE-802A-E616FC4426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E6C772-E955-4A0F-9F92-43382ACCB5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D16492-7F9A-4F20-AE69-AE512424F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D4C68-4A03-4E79-9D14-6BC24C439BF7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61B09E-A0C4-447F-9C25-26AD10804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E658D6-ECC7-406B-BFDA-7453C67A9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24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EE4E4-00CA-47D6-B7FA-A707F8455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23D389-F574-467E-B02C-F92FF5CA4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D4C68-4A03-4E79-9D14-6BC24C439BF7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0F0162-FBA6-417F-A6F3-8B544B706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055DE-70C7-4161-8FC4-754705034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834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96E50-3E23-43CA-8EC6-D2313F215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D4C68-4A03-4E79-9D14-6BC24C439BF7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54134A-79EB-4AC1-AC98-00401C0A3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94F56-D6BB-4D1F-9E33-EC7E45285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95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D057A-99D7-46C8-8062-CE9AF94C8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1D1B2-9E59-4644-AE1C-E49E4A85C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0A87A-10B8-4858-B5E4-45D033675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FA4385-A582-43FD-9F4F-87C93D014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D4C68-4A03-4E79-9D14-6BC24C439BF7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4FDC9-56AF-4B04-8AE2-E153BAB50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2F9C3-75EC-454F-ACD7-1693E41E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657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905E7-BC45-4F2C-A511-E3AAAB0BE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0C12BC-D0FB-4181-A2A0-EE68E28879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ED24A8-F299-4C0A-BE3D-109DDC16E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00099-777C-43BA-9D53-ACF52029A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D4C68-4A03-4E79-9D14-6BC24C439BF7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55B84-A97D-4B06-8EF5-B5D5370AD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D0024-C3BE-42F4-9EF3-4A86604FE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7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ECABB-FD66-4ABE-AE07-16B0B1513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F59014-E73A-4644-A233-1A557C868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5C153-1FAE-4E39-8CA5-BF753709F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D4C68-4A03-4E79-9D14-6BC24C439BF7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A0AC2-3A25-40E2-8577-AEF20F1D4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BBAF9-9427-464F-83CD-1BF6E1FE6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16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FFBBB2-313B-41F5-AA26-7F0F8DDA94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E6E7D-46AC-4F54-951F-7CC5B95601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79C3F-8555-4D0B-BD5F-0864F9C95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D4C68-4A03-4E79-9D14-6BC24C439BF7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18780-3DE8-444F-BA8D-5CF43931E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F3D89-609C-4CE3-9E9F-E3C01CB7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036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DCA424-95C8-4175-BC51-B72FC14BC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FA02A-4435-48D1-9ED5-F69E86460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38AA2-A710-4411-A3D3-FF02FBE1DA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5D4C68-4A03-4E79-9D14-6BC24C439BF7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39033-BB70-4E2D-B670-586CCB5F35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34EA8-C3B4-43C3-9B95-200AEE10B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24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png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70310-C4CF-4FD8-AEBE-00CC25A2D7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 to Algorithms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714E8C-9AE5-45FA-9AF6-9980CF3F88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Asymptotic Notation </a:t>
            </a:r>
            <a:r>
              <a:rPr lang="en-US" altLang="en-US" sz="4800" b="1" dirty="0">
                <a:latin typeface="Symbol" panose="05050102010706020507" pitchFamily="18" charset="2"/>
              </a:rPr>
              <a:t>Q</a:t>
            </a:r>
            <a:r>
              <a:rPr lang="en-US" altLang="en-US" sz="4800" b="1" dirty="0"/>
              <a:t>, </a:t>
            </a:r>
            <a:r>
              <a:rPr lang="en-US" altLang="en-US" sz="4800" b="1" i="1" dirty="0"/>
              <a:t>O</a:t>
            </a:r>
            <a:r>
              <a:rPr lang="en-US" altLang="en-US" sz="4800" b="1" dirty="0"/>
              <a:t>, </a:t>
            </a:r>
            <a:r>
              <a:rPr lang="en-US" altLang="en-US" sz="4800" b="1" dirty="0">
                <a:latin typeface="Symbol" panose="05050102010706020507" pitchFamily="18" charset="2"/>
              </a:rPr>
              <a:t>W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240360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F7434-4706-4498-965B-B80CE8AC6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Algorithm for Time and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410A9-60DA-4E87-AF3E-D0C8E6AFA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To analyze an algorithm means:</a:t>
            </a:r>
          </a:p>
          <a:p>
            <a:pPr lvl="1"/>
            <a:r>
              <a:rPr lang="en-US" altLang="en-US" dirty="0"/>
              <a:t>developing a formula for predicting how fast an algorithm is, based on the size of the input (time complexity), and/or</a:t>
            </a:r>
          </a:p>
          <a:p>
            <a:pPr lvl="1"/>
            <a:r>
              <a:rPr lang="en-US" altLang="en-US" dirty="0"/>
              <a:t>developing a formula for predicting how much memory an algorithm requires, based on the size of the input (space complexity)</a:t>
            </a:r>
          </a:p>
          <a:p>
            <a:r>
              <a:rPr lang="en-US" altLang="en-US" dirty="0"/>
              <a:t>Usually </a:t>
            </a:r>
            <a:r>
              <a:rPr lang="en-US" altLang="en-US" b="1" dirty="0"/>
              <a:t>time</a:t>
            </a:r>
            <a:r>
              <a:rPr lang="en-US" altLang="en-US" dirty="0"/>
              <a:t> is our biggest concern</a:t>
            </a:r>
          </a:p>
          <a:p>
            <a:pPr lvl="1"/>
            <a:r>
              <a:rPr lang="en-US" altLang="en-US" dirty="0"/>
              <a:t>Most algorithms require a fixed amount of space </a:t>
            </a:r>
            <a:r>
              <a:rPr lang="en-US" altLang="en-US" b="1" dirty="0"/>
              <a:t>and/or</a:t>
            </a:r>
          </a:p>
          <a:p>
            <a:pPr lvl="1"/>
            <a:r>
              <a:rPr lang="en-US" altLang="en-US" dirty="0"/>
              <a:t>Memory is not as expensive as </a:t>
            </a:r>
            <a:r>
              <a:rPr lang="en-US" altLang="en-US" dirty="0" smtClean="0"/>
              <a:t>time</a:t>
            </a:r>
          </a:p>
          <a:p>
            <a:r>
              <a:rPr lang="en-US" altLang="en-US" b="1" dirty="0" smtClean="0"/>
              <a:t>We can show lower, upper or both bounds for time or space requirements of a given algorithm using Asymptotic Notation</a:t>
            </a:r>
            <a:endParaRPr lang="en-US" alt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904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8226F-B80F-4910-8F55-8899F5B29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Size Matters in Calculating Time or Space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07A19-834F-4664-90FF-6684D6A3F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Time and Space complexity will depend on the Problem Size, </a:t>
            </a:r>
            <a:r>
              <a:rPr lang="en-US" dirty="0">
                <a:solidFill>
                  <a:srgbClr val="FF0000"/>
                </a:solidFill>
              </a:rPr>
              <a:t>why?</a:t>
            </a:r>
            <a:r>
              <a:rPr lang="en-US" dirty="0"/>
              <a:t> </a:t>
            </a:r>
          </a:p>
          <a:p>
            <a:pPr lvl="1"/>
            <a:r>
              <a:rPr lang="en-US" altLang="en-US" dirty="0"/>
              <a:t>If we are searching an array, the “size” of the input array could decide who long it will take to go through the entire array</a:t>
            </a:r>
          </a:p>
          <a:p>
            <a:pPr lvl="1"/>
            <a:r>
              <a:rPr lang="en-US" altLang="en-US" dirty="0"/>
              <a:t>If we are merging two arrays, the “size” could be the sum of the two array sizes</a:t>
            </a:r>
          </a:p>
          <a:p>
            <a:pPr lvl="1"/>
            <a:r>
              <a:rPr lang="en-US" altLang="en-US" dirty="0"/>
              <a:t>If we are computing the n</a:t>
            </a:r>
            <a:r>
              <a:rPr lang="en-US" altLang="en-US" baseline="30000" dirty="0"/>
              <a:t>th</a:t>
            </a:r>
            <a:r>
              <a:rPr lang="en-US" altLang="en-US" dirty="0"/>
              <a:t> Fibonacci number, or the n</a:t>
            </a:r>
            <a:r>
              <a:rPr lang="en-US" altLang="en-US" baseline="30000" dirty="0"/>
              <a:t>th</a:t>
            </a:r>
            <a:r>
              <a:rPr lang="en-US" altLang="en-US" dirty="0"/>
              <a:t> factorial, the “size” is n</a:t>
            </a:r>
          </a:p>
          <a:p>
            <a:r>
              <a:rPr lang="en-US" altLang="en-US" dirty="0"/>
              <a:t>We choose the “size” to be a parameter that determines the actual time (or space) required</a:t>
            </a:r>
          </a:p>
          <a:p>
            <a:pPr lvl="1"/>
            <a:r>
              <a:rPr lang="en-US" altLang="en-US" dirty="0"/>
              <a:t>It is </a:t>
            </a:r>
            <a:r>
              <a:rPr lang="en-US" altLang="en-US" i="1" dirty="0"/>
              <a:t>usually</a:t>
            </a:r>
            <a:r>
              <a:rPr lang="en-US" altLang="en-US" dirty="0"/>
              <a:t> obvious what this parameter is</a:t>
            </a:r>
          </a:p>
          <a:p>
            <a:pPr lvl="1"/>
            <a:r>
              <a:rPr lang="en-US" altLang="en-US" dirty="0"/>
              <a:t>Sometimes we need two or more </a:t>
            </a:r>
            <a:r>
              <a:rPr lang="en-US" altLang="en-US" dirty="0" smtClean="0"/>
              <a:t>parameters </a:t>
            </a:r>
            <a:r>
              <a:rPr lang="en-US" altLang="en-US" dirty="0" smtClean="0">
                <a:solidFill>
                  <a:srgbClr val="FF0000"/>
                </a:solidFill>
              </a:rPr>
              <a:t>(think of an example)</a:t>
            </a:r>
            <a:endParaRPr lang="en-US" altLang="en-US" dirty="0">
              <a:solidFill>
                <a:srgbClr val="FF0000"/>
              </a:solidFill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625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EC978-712A-4E6C-844F-408D1FBB4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A7DD4-6EC7-4E1F-9B1C-AF969EF49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 computing time complexity, one good approach is to count characteristic operations</a:t>
            </a:r>
          </a:p>
          <a:p>
            <a:pPr lvl="1"/>
            <a:r>
              <a:rPr lang="en-US" altLang="en-US" dirty="0"/>
              <a:t>What a “characteristic operation” is depends on the particular problem</a:t>
            </a:r>
          </a:p>
          <a:p>
            <a:pPr lvl="1"/>
            <a:r>
              <a:rPr lang="en-US" altLang="en-US" dirty="0"/>
              <a:t>If searching, it might be comparing two values</a:t>
            </a:r>
          </a:p>
          <a:p>
            <a:pPr lvl="1"/>
            <a:r>
              <a:rPr lang="en-US" altLang="en-US" dirty="0"/>
              <a:t>If sorting an array, it might be:</a:t>
            </a:r>
          </a:p>
          <a:p>
            <a:pPr lvl="2"/>
            <a:r>
              <a:rPr lang="en-US" altLang="en-US" dirty="0"/>
              <a:t> comparing two values</a:t>
            </a:r>
          </a:p>
          <a:p>
            <a:pPr lvl="2"/>
            <a:r>
              <a:rPr lang="en-US" altLang="en-US" dirty="0"/>
              <a:t> swapping the contents of two array locations</a:t>
            </a:r>
          </a:p>
          <a:p>
            <a:pPr lvl="2"/>
            <a:r>
              <a:rPr lang="en-US" altLang="en-US" dirty="0"/>
              <a:t> both of the above</a:t>
            </a:r>
          </a:p>
          <a:p>
            <a:pPr lvl="1"/>
            <a:r>
              <a:rPr lang="en-US" altLang="en-US" dirty="0"/>
              <a:t>Sometimes we just look at </a:t>
            </a:r>
            <a:r>
              <a:rPr lang="en-US" altLang="en-US" dirty="0" smtClean="0"/>
              <a:t>“</a:t>
            </a:r>
            <a:r>
              <a:rPr lang="en-US" altLang="en-US" b="1" dirty="0" smtClean="0"/>
              <a:t>how </a:t>
            </a:r>
            <a:r>
              <a:rPr lang="en-US" altLang="en-US" b="1" dirty="0"/>
              <a:t>many times the innermost loop is </a:t>
            </a:r>
            <a:r>
              <a:rPr lang="en-US" altLang="en-US" b="1" dirty="0" smtClean="0"/>
              <a:t>executed?”</a:t>
            </a: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2462219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BF451-9505-4DF2-8088-1B3150390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times innermost loop will execute?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CEA11-C7DF-47AB-B87B-536DB82EF7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Algorithm </a:t>
            </a:r>
            <a:r>
              <a:rPr lang="en-US" altLang="en-US" dirty="0" err="1">
                <a:latin typeface="Arial" panose="020B0604020202020204" pitchFamily="34" charset="0"/>
              </a:rPr>
              <a:t>Array_Sum</a:t>
            </a:r>
            <a:r>
              <a:rPr lang="en-US" altLang="en-US" dirty="0">
                <a:latin typeface="Arial" panose="020B0604020202020204" pitchFamily="34" charset="0"/>
              </a:rPr>
              <a:t>(A):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	    for </a:t>
            </a:r>
            <a:r>
              <a:rPr lang="en-US" altLang="en-US" dirty="0" err="1">
                <a:latin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</a:rPr>
              <a:t> := 0 to n-1  do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    sum := sum + </a:t>
            </a:r>
            <a:r>
              <a:rPr lang="en-US" altLang="en-US" dirty="0" smtClean="0">
                <a:latin typeface="Arial" panose="020B0604020202020204" pitchFamily="34" charset="0"/>
              </a:rPr>
              <a:t>A[</a:t>
            </a:r>
            <a:r>
              <a:rPr lang="en-US" altLang="en-US" dirty="0" err="1" smtClean="0">
                <a:latin typeface="Arial" panose="020B0604020202020204" pitchFamily="34" charset="0"/>
              </a:rPr>
              <a:t>i</a:t>
            </a:r>
            <a:r>
              <a:rPr lang="en-US" altLang="en-US" dirty="0" smtClean="0">
                <a:latin typeface="Arial" panose="020B0604020202020204" pitchFamily="34" charset="0"/>
              </a:rPr>
              <a:t>]</a:t>
            </a:r>
            <a:endParaRPr lang="en-US" altLang="en-US" dirty="0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return sum;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6CB877-56E1-4759-B2E7-285224F537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Algorithm Array2D_Sum(A):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      for </a:t>
            </a:r>
            <a:r>
              <a:rPr lang="en-US" altLang="en-US" dirty="0" err="1">
                <a:latin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</a:rPr>
              <a:t> := 0 to n-1  do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    for j := 0 to n-1 do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</a:rPr>
              <a:t>	              sum := sum + A[</a:t>
            </a:r>
            <a:r>
              <a:rPr lang="en-US" altLang="en-US" dirty="0" err="1">
                <a:latin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</a:rPr>
              <a:t>][j]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return sum;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1880558" y="2846717"/>
            <a:ext cx="2932982" cy="431321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683260" y="3387305"/>
            <a:ext cx="3234906" cy="431321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869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BC31D-8169-463B-9F37-76EF87E34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Search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41FAF-E32F-4A0E-A837-CA62C3094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en-US" b="1" dirty="0"/>
              <a:t>Input: </a:t>
            </a:r>
            <a:r>
              <a:rPr lang="en-US" altLang="en-US" dirty="0"/>
              <a:t>An array </a:t>
            </a:r>
            <a:r>
              <a:rPr lang="en-US" altLang="en-US" b="1" dirty="0"/>
              <a:t>A</a:t>
            </a:r>
            <a:r>
              <a:rPr lang="en-US" altLang="en-US" dirty="0"/>
              <a:t> storing </a:t>
            </a:r>
            <a:r>
              <a:rPr lang="en-US" altLang="en-US" b="1" dirty="0"/>
              <a:t>n</a:t>
            </a:r>
            <a:r>
              <a:rPr lang="en-US" altLang="en-US" dirty="0"/>
              <a:t> items, target </a:t>
            </a:r>
            <a:r>
              <a:rPr lang="en-US" altLang="en-US" b="1" dirty="0"/>
              <a:t>x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b="1" dirty="0"/>
              <a:t>	Output: true if x is in A, false otherwise</a:t>
            </a:r>
            <a:r>
              <a:rPr lang="en-US" altLang="en-US" dirty="0"/>
              <a:t>	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/>
              <a:t>	Algorithm </a:t>
            </a:r>
            <a:r>
              <a:rPr lang="en-US" altLang="en-US" dirty="0" err="1"/>
              <a:t>Sequential_Search</a:t>
            </a:r>
            <a:r>
              <a:rPr lang="en-US" altLang="en-US" dirty="0"/>
              <a:t>(A, x):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/>
              <a:t>	    for </a:t>
            </a:r>
            <a:r>
              <a:rPr lang="en-US" altLang="en-US" dirty="0" err="1"/>
              <a:t>i</a:t>
            </a:r>
            <a:r>
              <a:rPr lang="en-US" altLang="en-US" dirty="0"/>
              <a:t> := 0 to n-1  do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/>
              <a:t>	        if (A[</a:t>
            </a:r>
            <a:r>
              <a:rPr lang="en-US" altLang="en-US" dirty="0" err="1"/>
              <a:t>i</a:t>
            </a:r>
            <a:r>
              <a:rPr lang="en-US" altLang="en-US" dirty="0"/>
              <a:t>] = x)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/>
              <a:t>                return true;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/>
              <a:t>	        return false;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Identify “Characteristic Operations” in this code?</a:t>
            </a:r>
          </a:p>
          <a:p>
            <a:pPr>
              <a:spcBef>
                <a:spcPct val="20000"/>
              </a:spcBef>
            </a:pPr>
            <a:r>
              <a:rPr lang="en-US" altLang="en-US" dirty="0"/>
              <a:t>How many times will the loop actually execute? 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dirty="0"/>
              <a:t>that depends on </a:t>
            </a:r>
            <a:r>
              <a:rPr lang="en-US" altLang="en-US" dirty="0" smtClean="0"/>
              <a:t>“how </a:t>
            </a:r>
            <a:r>
              <a:rPr lang="en-US" altLang="en-US" dirty="0"/>
              <a:t>many times comparison operations </a:t>
            </a:r>
            <a:r>
              <a:rPr lang="en-US" altLang="en-US" dirty="0" smtClean="0"/>
              <a:t>are require to execute?”</a:t>
            </a:r>
            <a:endParaRPr lang="en-US" alt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421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51B7-97BC-46F7-814F-02BA69276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Exact vs Simplified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5F7AB-5DC5-4212-8A70-216D13647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It is sometimes possible, in assembly language, to compute exact time and space requirements</a:t>
            </a:r>
          </a:p>
          <a:p>
            <a:pPr lvl="1"/>
            <a:r>
              <a:rPr lang="en-US" altLang="en-US" dirty="0"/>
              <a:t>We know exactly how many bytes and how many cycles each machine instruction takes</a:t>
            </a:r>
          </a:p>
          <a:p>
            <a:pPr lvl="1"/>
            <a:r>
              <a:rPr lang="en-US" altLang="en-US" dirty="0"/>
              <a:t>For a problem with a known sequence of steps (factorial, Fibonacci), we can determine how many instructions of each type are required</a:t>
            </a:r>
          </a:p>
          <a:p>
            <a:r>
              <a:rPr lang="en-US" altLang="en-US" dirty="0"/>
              <a:t>However, often the exact sequence of steps cannot be known in advance</a:t>
            </a:r>
          </a:p>
          <a:p>
            <a:pPr lvl="1"/>
            <a:r>
              <a:rPr lang="en-US" altLang="en-US" dirty="0"/>
              <a:t>The steps required to sort an array depend on the actual numbers in the array (which we do not know in advance)</a:t>
            </a:r>
          </a:p>
        </p:txBody>
      </p:sp>
    </p:spTree>
    <p:extLst>
      <p:ext uri="{BB962C8B-B14F-4D97-AF65-F5344CB8AC3E}">
        <p14:creationId xmlns:p14="http://schemas.microsoft.com/office/powerpoint/2010/main" val="3763647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51B7-97BC-46F7-814F-02BA69276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Exact vs Simplified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5F7AB-5DC5-4212-8A70-216D13647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 a higher-level language (such as Java), we do not know how long each operation takes</a:t>
            </a:r>
          </a:p>
          <a:p>
            <a:pPr lvl="1"/>
            <a:r>
              <a:rPr lang="en-US" altLang="en-US" dirty="0"/>
              <a:t>Which is faster, x &lt; 10 or x &lt;= 9 ?</a:t>
            </a:r>
          </a:p>
          <a:p>
            <a:pPr lvl="1"/>
            <a:r>
              <a:rPr lang="en-US" altLang="en-US" dirty="0"/>
              <a:t>We don’t know exactly what the compiler does with this</a:t>
            </a:r>
          </a:p>
          <a:p>
            <a:pPr lvl="1"/>
            <a:r>
              <a:rPr lang="en-US" altLang="en-US" dirty="0"/>
              <a:t>The compiler almost certainly optimizes the test anyway (replacing the slower version with the faster one)</a:t>
            </a:r>
            <a:endParaRPr lang="en-US" altLang="en-US" sz="2800" dirty="0"/>
          </a:p>
          <a:p>
            <a:r>
              <a:rPr lang="en-US" altLang="en-US" dirty="0"/>
              <a:t>In a higher-level language we cannot do an exact analysis</a:t>
            </a:r>
          </a:p>
          <a:p>
            <a:pPr lvl="1"/>
            <a:r>
              <a:rPr lang="en-US" altLang="en-US" dirty="0"/>
              <a:t>Our timing analyses will use major oversimplifications</a:t>
            </a:r>
          </a:p>
          <a:p>
            <a:pPr lvl="1"/>
            <a:r>
              <a:rPr lang="en-US" altLang="en-US" dirty="0"/>
              <a:t>Nevertheless, we can get some very useful results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127923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742D7-B7DD-480F-B6B6-BFC698D3C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Average, Best or Worst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A8206-41DB-4301-8A0A-DFA961384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Usually we would like to find the average time to perform an algorithm</a:t>
            </a:r>
          </a:p>
          <a:p>
            <a:r>
              <a:rPr lang="en-US" altLang="en-US" sz="2400" dirty="0"/>
              <a:t>However,</a:t>
            </a:r>
          </a:p>
          <a:p>
            <a:pPr lvl="1"/>
            <a:r>
              <a:rPr lang="en-US" altLang="en-US" sz="2000" dirty="0"/>
              <a:t>Sometimes the “average” isn’t well defined</a:t>
            </a:r>
          </a:p>
          <a:p>
            <a:pPr lvl="2"/>
            <a:r>
              <a:rPr lang="en-US" altLang="en-US" sz="1800" dirty="0"/>
              <a:t>Example: Sorting an “average” array</a:t>
            </a:r>
          </a:p>
          <a:p>
            <a:pPr lvl="3"/>
            <a:r>
              <a:rPr lang="en-US" altLang="en-US" dirty="0"/>
              <a:t>Time typically depends on how out of order the array is</a:t>
            </a:r>
          </a:p>
          <a:p>
            <a:pPr lvl="3"/>
            <a:r>
              <a:rPr lang="en-US" altLang="en-US" dirty="0"/>
              <a:t>How out of order is the “average” unsorted array? </a:t>
            </a:r>
          </a:p>
          <a:p>
            <a:pPr lvl="1"/>
            <a:r>
              <a:rPr lang="en-US" altLang="en-US" sz="2000" dirty="0"/>
              <a:t>Sometimes finding the average is too difficult</a:t>
            </a:r>
          </a:p>
          <a:p>
            <a:r>
              <a:rPr lang="en-US" altLang="en-US" sz="2400" dirty="0"/>
              <a:t>Often we have to be satisfied with finding the worst (longest) time required</a:t>
            </a:r>
          </a:p>
          <a:p>
            <a:pPr lvl="1"/>
            <a:r>
              <a:rPr lang="en-US" altLang="en-US" sz="2000" dirty="0"/>
              <a:t>Sometimes this is even what we want (say, for time-critical operations)</a:t>
            </a:r>
          </a:p>
          <a:p>
            <a:r>
              <a:rPr lang="en-US" altLang="en-US" sz="2400" dirty="0"/>
              <a:t>The best (fastest) case is seldom of interest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13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130B-150D-47CE-98AD-D938159C5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Search Analysis – Best and Worst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23461-21FA-450D-80E6-F278099081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en-US" b="1" dirty="0"/>
              <a:t>Input: </a:t>
            </a:r>
            <a:r>
              <a:rPr lang="en-US" altLang="en-US" dirty="0"/>
              <a:t>An array </a:t>
            </a:r>
            <a:r>
              <a:rPr lang="en-US" altLang="en-US" b="1" dirty="0"/>
              <a:t>A</a:t>
            </a:r>
            <a:r>
              <a:rPr lang="en-US" altLang="en-US" dirty="0"/>
              <a:t> storing n items, target </a:t>
            </a:r>
            <a:r>
              <a:rPr lang="en-US" altLang="en-US" b="1" dirty="0"/>
              <a:t>x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b="1" dirty="0"/>
              <a:t>Output: true if x is in A, false otherwise</a:t>
            </a:r>
            <a:r>
              <a:rPr lang="en-US" altLang="en-US" dirty="0"/>
              <a:t>	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/>
              <a:t>Algorithm </a:t>
            </a:r>
            <a:r>
              <a:rPr lang="en-US" altLang="en-US" dirty="0" err="1"/>
              <a:t>Sequential_Search</a:t>
            </a:r>
            <a:r>
              <a:rPr lang="en-US" altLang="en-US" dirty="0"/>
              <a:t>(A, x):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/>
              <a:t>	    for </a:t>
            </a:r>
            <a:r>
              <a:rPr lang="en-US" altLang="en-US" dirty="0" err="1"/>
              <a:t>i</a:t>
            </a:r>
            <a:r>
              <a:rPr lang="en-US" altLang="en-US" dirty="0"/>
              <a:t> := 0 to n-1  do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/>
              <a:t>	        if (A[</a:t>
            </a:r>
            <a:r>
              <a:rPr lang="en-US" altLang="en-US" dirty="0" err="1"/>
              <a:t>i</a:t>
            </a:r>
            <a:r>
              <a:rPr lang="en-US" altLang="en-US" dirty="0"/>
              <a:t>] = x)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/>
              <a:t>                return true;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/>
              <a:t>	        return false;</a:t>
            </a:r>
          </a:p>
          <a:p>
            <a:r>
              <a:rPr lang="en-US" dirty="0"/>
              <a:t>Value of x is found at the first index in an array i.e. A[0] </a:t>
            </a:r>
            <a:r>
              <a:rPr lang="en-US" dirty="0">
                <a:sym typeface="Wingdings" panose="05000000000000000000" pitchFamily="2" charset="2"/>
              </a:rPr>
              <a:t> Best Case, required only 1 comparison/iteration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A52973-489C-47D3-8E5C-D5F2D1C8EB9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sym typeface="Wingdings" panose="05000000000000000000" pitchFamily="2" charset="2"/>
              </a:rPr>
              <a:t>Value of x is found at the last index in an array i.e. A[n-1]  Worst Case, require n comparison/iteration</a:t>
            </a:r>
            <a:endParaRPr lang="en-US" altLang="en-US" dirty="0"/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Worse Case Time Complexity: </a:t>
            </a:r>
            <a:r>
              <a:rPr lang="en-US" b="1" dirty="0">
                <a:sym typeface="Wingdings" panose="05000000000000000000" pitchFamily="2" charset="2"/>
              </a:rPr>
              <a:t>k*n + c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N is Problem Size i.e. Array Size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k time taken for loop execution (increment </a:t>
            </a:r>
            <a:r>
              <a:rPr lang="en-US" dirty="0" err="1">
                <a:sym typeface="Wingdings" panose="05000000000000000000" pitchFamily="2" charset="2"/>
              </a:rPr>
              <a:t>i</a:t>
            </a:r>
            <a:r>
              <a:rPr lang="en-US" dirty="0">
                <a:sym typeface="Wingdings" panose="05000000000000000000" pitchFamily="2" charset="2"/>
              </a:rPr>
              <a:t>, check if </a:t>
            </a:r>
            <a:r>
              <a:rPr lang="en-US" dirty="0" err="1">
                <a:sym typeface="Wingdings" panose="05000000000000000000" pitchFamily="2" charset="2"/>
              </a:rPr>
              <a:t>i</a:t>
            </a:r>
            <a:r>
              <a:rPr lang="en-US" dirty="0">
                <a:sym typeface="Wingdings" panose="05000000000000000000" pitchFamily="2" charset="2"/>
              </a:rPr>
              <a:t> &lt; N-1) and comparison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 is time taken for loop </a:t>
            </a:r>
            <a:r>
              <a:rPr lang="en-US" dirty="0" err="1">
                <a:sym typeface="Wingdings" panose="05000000000000000000" pitchFamily="2" charset="2"/>
              </a:rPr>
              <a:t>init</a:t>
            </a:r>
            <a:r>
              <a:rPr lang="en-US" dirty="0">
                <a:sym typeface="Wingdings" panose="05000000000000000000" pitchFamily="2" charset="2"/>
              </a:rPr>
              <a:t> and return</a:t>
            </a:r>
          </a:p>
          <a:p>
            <a:r>
              <a:rPr lang="en-US" dirty="0">
                <a:sym typeface="Wingdings" panose="05000000000000000000" pitchFamily="2" charset="2"/>
              </a:rPr>
              <a:t>Best Case Time Complexity: </a:t>
            </a:r>
            <a:r>
              <a:rPr lang="en-US" b="1" dirty="0">
                <a:sym typeface="Wingdings" panose="05000000000000000000" pitchFamily="2" charset="2"/>
              </a:rPr>
              <a:t>k*1 + c</a:t>
            </a:r>
          </a:p>
          <a:p>
            <a:pPr lvl="1"/>
            <a:r>
              <a:rPr lang="en-US" dirty="0"/>
              <a:t>This is nothing but a special case of worst case equation</a:t>
            </a:r>
          </a:p>
        </p:txBody>
      </p:sp>
    </p:spTree>
    <p:extLst>
      <p:ext uri="{BB962C8B-B14F-4D97-AF65-F5344CB8AC3E}">
        <p14:creationId xmlns:p14="http://schemas.microsoft.com/office/powerpoint/2010/main" val="3625515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00B5F-1677-4CDB-B1CC-1C9D0E4FF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22C11-8835-44DB-8F61-3AF71FAF87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Algorithm </a:t>
            </a:r>
            <a:r>
              <a:rPr lang="en-US" altLang="en-US" dirty="0" err="1">
                <a:latin typeface="Arial" panose="020B0604020202020204" pitchFamily="34" charset="0"/>
              </a:rPr>
              <a:t>Is_Array_Sorted</a:t>
            </a:r>
            <a:r>
              <a:rPr lang="en-US" altLang="en-US" dirty="0">
                <a:latin typeface="Arial" panose="020B0604020202020204" pitchFamily="34" charset="0"/>
              </a:rPr>
              <a:t>(A):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	    for </a:t>
            </a:r>
            <a:r>
              <a:rPr lang="en-US" altLang="en-US" dirty="0" err="1">
                <a:latin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</a:rPr>
              <a:t> := 0 to n-1  do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</a:rPr>
              <a:t>	        if A[</a:t>
            </a:r>
            <a:r>
              <a:rPr lang="en-US" altLang="en-US" dirty="0" err="1">
                <a:latin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</a:rPr>
              <a:t>] &gt; A[i+1]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        return false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return true;</a:t>
            </a:r>
          </a:p>
          <a:p>
            <a:pPr>
              <a:lnSpc>
                <a:spcPct val="80000"/>
              </a:lnSpc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en-US" dirty="0">
                <a:latin typeface="Arial" panose="020B0604020202020204" pitchFamily="34" charset="0"/>
              </a:rPr>
              <a:t>Best Case </a:t>
            </a: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 __________________?</a:t>
            </a:r>
          </a:p>
          <a:p>
            <a:pPr>
              <a:lnSpc>
                <a:spcPct val="80000"/>
              </a:lnSpc>
            </a:pP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Worst Case  __________________?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F7611-CC15-4972-B2FE-C66DA9957DD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Algorithm Swap(x, y):</a:t>
            </a:r>
          </a:p>
          <a:p>
            <a:pPr marL="0" indent="0">
              <a:buNone/>
            </a:pPr>
            <a:r>
              <a:rPr lang="en-US" dirty="0"/>
              <a:t>    temp := x</a:t>
            </a:r>
          </a:p>
          <a:p>
            <a:pPr marL="0" indent="0">
              <a:buNone/>
            </a:pPr>
            <a:r>
              <a:rPr lang="en-US" dirty="0"/>
              <a:t>    x := y</a:t>
            </a:r>
          </a:p>
          <a:p>
            <a:pPr marL="0" indent="0">
              <a:buNone/>
            </a:pPr>
            <a:r>
              <a:rPr lang="en-US" dirty="0"/>
              <a:t>    y := temp</a:t>
            </a:r>
          </a:p>
          <a:p>
            <a:pPr marL="0" indent="0">
              <a:buNone/>
            </a:pPr>
            <a:endParaRPr lang="en-US" dirty="0"/>
          </a:p>
          <a:p>
            <a:pPr>
              <a:lnSpc>
                <a:spcPct val="80000"/>
              </a:lnSpc>
            </a:pPr>
            <a:r>
              <a:rPr lang="en-US" altLang="en-US" dirty="0">
                <a:latin typeface="Arial" panose="020B0604020202020204" pitchFamily="34" charset="0"/>
              </a:rPr>
              <a:t>Best Case </a:t>
            </a: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 __________________?</a:t>
            </a:r>
          </a:p>
          <a:p>
            <a:pPr>
              <a:lnSpc>
                <a:spcPct val="80000"/>
              </a:lnSpc>
            </a:pP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Worst Case  __________________?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35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BF451-9505-4DF2-8088-1B3150390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CEA11-C7DF-47AB-B87B-536DB82EF7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Algorithm Array2D_Sum(A):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	    for </a:t>
            </a:r>
            <a:r>
              <a:rPr lang="en-US" altLang="en-US" dirty="0" err="1">
                <a:latin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</a:rPr>
              <a:t> := 0 to n-1  do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    for j := 0 to n-1 do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</a:rPr>
              <a:t>	              sum := sum + A[</a:t>
            </a:r>
            <a:r>
              <a:rPr lang="en-US" altLang="en-US" dirty="0" err="1">
                <a:latin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</a:rPr>
              <a:t>][j]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return sum;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6CB877-56E1-4759-B2E7-285224F537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Algorithm Array2D_Sum():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for </a:t>
            </a:r>
            <a:r>
              <a:rPr lang="en-US" altLang="en-US" dirty="0" err="1">
                <a:latin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</a:rPr>
              <a:t> := 0 to n-1  do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    for j := 0 to n-1 do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</a:rPr>
              <a:t>	              A[</a:t>
            </a:r>
            <a:r>
              <a:rPr lang="en-US" altLang="en-US" dirty="0" err="1">
                <a:latin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</a:rPr>
              <a:t>][j] := </a:t>
            </a:r>
            <a:r>
              <a:rPr lang="en-US" altLang="en-US" dirty="0" err="1">
                <a:latin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</a:rPr>
              <a:t>*j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for </a:t>
            </a:r>
            <a:r>
              <a:rPr lang="en-US" altLang="en-US" dirty="0" err="1">
                <a:latin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</a:rPr>
              <a:t> := 0 to n-1  do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    for j := 0 to n-1 do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</a:rPr>
              <a:t>	              sum := sum + A[</a:t>
            </a:r>
            <a:r>
              <a:rPr lang="en-US" altLang="en-US" dirty="0" err="1">
                <a:latin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</a:rPr>
              <a:t>][j]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return sum;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68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BF451-9505-4DF2-8088-1B3150390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the time complexity of these Algorithms?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CEA11-C7DF-47AB-B87B-536DB82EF7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Algorithm </a:t>
            </a:r>
            <a:r>
              <a:rPr lang="en-US" altLang="en-US" dirty="0" err="1">
                <a:latin typeface="Arial" panose="020B0604020202020204" pitchFamily="34" charset="0"/>
              </a:rPr>
              <a:t>Array_Sum</a:t>
            </a:r>
            <a:r>
              <a:rPr lang="en-US" altLang="en-US" dirty="0">
                <a:latin typeface="Arial" panose="020B0604020202020204" pitchFamily="34" charset="0"/>
              </a:rPr>
              <a:t>(A):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	    for </a:t>
            </a:r>
            <a:r>
              <a:rPr lang="en-US" altLang="en-US" dirty="0" err="1">
                <a:latin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</a:rPr>
              <a:t> := 0 to n-1  do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    sum := sum + </a:t>
            </a:r>
            <a:r>
              <a:rPr lang="en-US" altLang="en-US" dirty="0" smtClean="0">
                <a:latin typeface="Arial" panose="020B0604020202020204" pitchFamily="34" charset="0"/>
              </a:rPr>
              <a:t>A[</a:t>
            </a:r>
            <a:r>
              <a:rPr lang="en-US" altLang="en-US" dirty="0" err="1" smtClean="0">
                <a:latin typeface="Arial" panose="020B0604020202020204" pitchFamily="34" charset="0"/>
              </a:rPr>
              <a:t>i</a:t>
            </a:r>
            <a:r>
              <a:rPr lang="en-US" altLang="en-US" dirty="0" smtClean="0">
                <a:latin typeface="Arial" panose="020B0604020202020204" pitchFamily="34" charset="0"/>
              </a:rPr>
              <a:t>]</a:t>
            </a:r>
            <a:endParaRPr lang="en-US" altLang="en-US" dirty="0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return sum;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f(n) = k * n + c</a:t>
            </a:r>
          </a:p>
          <a:p>
            <a:pPr marL="0" indent="0">
              <a:buNone/>
            </a:pPr>
            <a:r>
              <a:rPr lang="en-US" dirty="0" smtClean="0"/>
              <a:t>n – problem size</a:t>
            </a:r>
          </a:p>
          <a:p>
            <a:pPr marL="0" indent="0">
              <a:buNone/>
            </a:pPr>
            <a:r>
              <a:rPr lang="en-US" dirty="0" smtClean="0"/>
              <a:t>k – time taken for incrementing </a:t>
            </a:r>
            <a:r>
              <a:rPr lang="en-US" dirty="0" err="1" smtClean="0"/>
              <a:t>i</a:t>
            </a:r>
            <a:r>
              <a:rPr lang="en-US" dirty="0" smtClean="0"/>
              <a:t>, check </a:t>
            </a:r>
            <a:r>
              <a:rPr lang="en-US" dirty="0" err="1" smtClean="0"/>
              <a:t>i</a:t>
            </a:r>
            <a:r>
              <a:rPr lang="en-US" dirty="0" smtClean="0"/>
              <a:t>&lt;=n-1 and sum=</a:t>
            </a:r>
            <a:r>
              <a:rPr lang="en-US" dirty="0" err="1" smtClean="0"/>
              <a:t>sum+A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</a:t>
            </a:r>
          </a:p>
          <a:p>
            <a:pPr marL="0" indent="0">
              <a:buNone/>
            </a:pPr>
            <a:r>
              <a:rPr lang="en-US" dirty="0" smtClean="0"/>
              <a:t>c – time take for initialization and return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6CB877-56E1-4759-B2E7-285224F537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Algorithm Array2D_Sum(A):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      for </a:t>
            </a:r>
            <a:r>
              <a:rPr lang="en-US" altLang="en-US" dirty="0" err="1">
                <a:latin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</a:rPr>
              <a:t> := 0 to n-1  do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    for j := 0 to n-1 do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</a:rPr>
              <a:t>	              sum := sum + A[</a:t>
            </a:r>
            <a:r>
              <a:rPr lang="en-US" altLang="en-US" dirty="0" err="1">
                <a:latin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</a:rPr>
              <a:t>][j]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return sum</a:t>
            </a:r>
            <a:r>
              <a:rPr lang="en-US" altLang="en-US" dirty="0" smtClean="0">
                <a:latin typeface="Arial" panose="020B0604020202020204" pitchFamily="34" charset="0"/>
              </a:rPr>
              <a:t>;</a:t>
            </a:r>
          </a:p>
          <a:p>
            <a:pPr>
              <a:lnSpc>
                <a:spcPct val="80000"/>
              </a:lnSpc>
              <a:buNone/>
            </a:pPr>
            <a:endParaRPr lang="en-US" altLang="en-US" dirty="0" smtClean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 smtClean="0"/>
              <a:t>f(n) = k*n*</a:t>
            </a:r>
            <a:r>
              <a:rPr lang="en-US" dirty="0" err="1" smtClean="0"/>
              <a:t>n+c</a:t>
            </a:r>
            <a:r>
              <a:rPr lang="en-US" dirty="0" smtClean="0"/>
              <a:t> = k*n</a:t>
            </a:r>
            <a:r>
              <a:rPr lang="en-US" baseline="30000" dirty="0" smtClean="0"/>
              <a:t>2</a:t>
            </a:r>
            <a:r>
              <a:rPr lang="en-US" dirty="0" smtClean="0"/>
              <a:t>+c</a:t>
            </a:r>
          </a:p>
          <a:p>
            <a:pPr marL="0" indent="0">
              <a:buNone/>
            </a:pPr>
            <a:r>
              <a:rPr lang="en-US" dirty="0" smtClean="0"/>
              <a:t>n – problem size</a:t>
            </a:r>
          </a:p>
          <a:p>
            <a:pPr marL="0" indent="0">
              <a:buNone/>
            </a:pPr>
            <a:r>
              <a:rPr lang="en-US" dirty="0" smtClean="0"/>
              <a:t>k – time taken for incrementing </a:t>
            </a:r>
            <a:r>
              <a:rPr lang="en-US" dirty="0" err="1" smtClean="0"/>
              <a:t>i</a:t>
            </a:r>
            <a:r>
              <a:rPr lang="en-US" dirty="0" smtClean="0"/>
              <a:t>, check </a:t>
            </a:r>
            <a:r>
              <a:rPr lang="en-US" dirty="0" err="1" smtClean="0"/>
              <a:t>i</a:t>
            </a:r>
            <a:r>
              <a:rPr lang="en-US" dirty="0" smtClean="0"/>
              <a:t>&lt;=n-1 and sum=</a:t>
            </a:r>
            <a:r>
              <a:rPr lang="en-US" dirty="0" err="1" smtClean="0"/>
              <a:t>sum+A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][j]</a:t>
            </a:r>
          </a:p>
          <a:p>
            <a:pPr marL="0" indent="0">
              <a:buNone/>
            </a:pPr>
            <a:r>
              <a:rPr lang="en-US" dirty="0" smtClean="0"/>
              <a:t>c – time take for initialization and return</a:t>
            </a:r>
          </a:p>
          <a:p>
            <a:pPr>
              <a:lnSpc>
                <a:spcPct val="80000"/>
              </a:lnSpc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869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8F20531-EEDF-4912-8F84-3D23D5A4E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Analysis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4A496D-3147-4653-9469-940299134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 Algorithm Analysis (i.e. Runtime) as function of input n i.e. f(n) e.g. For Sequential Search f(n) = k*n + c</a:t>
            </a:r>
          </a:p>
          <a:p>
            <a:r>
              <a:rPr lang="en-US" altLang="en-US" dirty="0"/>
              <a:t>what we care about: orders of growth</a:t>
            </a:r>
          </a:p>
          <a:p>
            <a:pPr lvl="1"/>
            <a:r>
              <a:rPr lang="en-US" altLang="en-US" dirty="0"/>
              <a:t>Ex: 0</a:t>
            </a:r>
            <a:r>
              <a:rPr lang="en-US" altLang="en-US" i="1" dirty="0"/>
              <a:t>.</a:t>
            </a:r>
            <a:r>
              <a:rPr lang="en-US" altLang="en-US" dirty="0"/>
              <a:t>5</a:t>
            </a:r>
            <a:r>
              <a:rPr lang="en-US" altLang="en-US" i="1" dirty="0"/>
              <a:t>n</a:t>
            </a:r>
            <a:r>
              <a:rPr lang="en-US" altLang="en-US" baseline="30000" dirty="0"/>
              <a:t>2</a:t>
            </a:r>
            <a:r>
              <a:rPr lang="en-US" altLang="en-US" dirty="0"/>
              <a:t> and 700</a:t>
            </a:r>
            <a:r>
              <a:rPr lang="en-US" altLang="en-US" i="1" dirty="0"/>
              <a:t>n</a:t>
            </a:r>
            <a:r>
              <a:rPr lang="en-US" altLang="en-US" baseline="30000" dirty="0"/>
              <a:t>2</a:t>
            </a:r>
            <a:r>
              <a:rPr lang="en-US" altLang="en-US" dirty="0"/>
              <a:t> are no different!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</a:rPr>
              <a:t>when input size doubles, the running time quadruples</a:t>
            </a:r>
          </a:p>
          <a:p>
            <a:r>
              <a:rPr lang="en-US" altLang="en-US" dirty="0"/>
              <a:t>constant factors do NOT matter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970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B9756-F12A-4CED-ADEF-DB55312F9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Factors are Ignored, 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40405-7659-4446-98E9-9BD08933B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Algo1: f1(n) = 5n</a:t>
            </a:r>
            <a:r>
              <a:rPr lang="en-US" baseline="30000" dirty="0"/>
              <a:t>2</a:t>
            </a:r>
          </a:p>
          <a:p>
            <a:r>
              <a:rPr lang="en-US" dirty="0"/>
              <a:t>Algo2: f2(n) = n</a:t>
            </a:r>
            <a:r>
              <a:rPr lang="en-US" baseline="30000" dirty="0"/>
              <a:t>2</a:t>
            </a:r>
          </a:p>
          <a:p>
            <a:r>
              <a:rPr lang="en-US" dirty="0"/>
              <a:t>f1(n)/f2(n) = 5n</a:t>
            </a:r>
            <a:r>
              <a:rPr lang="en-US" baseline="30000" dirty="0"/>
              <a:t>2</a:t>
            </a:r>
            <a:r>
              <a:rPr lang="en-US" dirty="0"/>
              <a:t>/ n</a:t>
            </a:r>
            <a:r>
              <a:rPr lang="en-US" baseline="30000" dirty="0"/>
              <a:t>2</a:t>
            </a:r>
            <a:r>
              <a:rPr lang="en-US" dirty="0"/>
              <a:t> = 5</a:t>
            </a:r>
          </a:p>
          <a:p>
            <a:r>
              <a:rPr lang="en-US" dirty="0"/>
              <a:t>If we double the data size i.e. n = 2n</a:t>
            </a:r>
          </a:p>
          <a:p>
            <a:r>
              <a:rPr lang="en-US" dirty="0"/>
              <a:t>f1(2n)/f2(2n) = 5(2n</a:t>
            </a:r>
            <a:r>
              <a:rPr lang="en-US" baseline="30000" dirty="0"/>
              <a:t>2</a:t>
            </a:r>
            <a:r>
              <a:rPr lang="en-US" dirty="0"/>
              <a:t>)/ (2n</a:t>
            </a:r>
            <a:r>
              <a:rPr lang="en-US" baseline="30000" dirty="0"/>
              <a:t>2</a:t>
            </a:r>
            <a:r>
              <a:rPr lang="en-US" dirty="0"/>
              <a:t>) = 10n</a:t>
            </a:r>
            <a:r>
              <a:rPr lang="en-US" baseline="30000" dirty="0"/>
              <a:t>2</a:t>
            </a:r>
            <a:r>
              <a:rPr lang="en-US" dirty="0"/>
              <a:t>/ 2n</a:t>
            </a:r>
            <a:r>
              <a:rPr lang="en-US" baseline="30000" dirty="0"/>
              <a:t>2</a:t>
            </a:r>
            <a:r>
              <a:rPr lang="en-US" dirty="0"/>
              <a:t> = 5</a:t>
            </a:r>
          </a:p>
          <a:p>
            <a:endParaRPr lang="en-US" dirty="0"/>
          </a:p>
          <a:p>
            <a:r>
              <a:rPr lang="en-US" dirty="0" err="1"/>
              <a:t>Algo</a:t>
            </a:r>
            <a:r>
              <a:rPr lang="en-US" dirty="0"/>
              <a:t>: f(n) = kn</a:t>
            </a:r>
            <a:r>
              <a:rPr lang="en-US" baseline="30000" dirty="0"/>
              <a:t>2</a:t>
            </a:r>
            <a:r>
              <a:rPr lang="en-US" dirty="0"/>
              <a:t>+c</a:t>
            </a:r>
            <a:endParaRPr lang="en-US" baseline="30000" dirty="0"/>
          </a:p>
          <a:p>
            <a:r>
              <a:rPr lang="en-US" dirty="0"/>
              <a:t>As 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∞, c becomes less and less dominating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Therefore, </a:t>
            </a:r>
            <a:r>
              <a:rPr lang="en-US" b="1" dirty="0"/>
              <a:t>n</a:t>
            </a:r>
            <a:r>
              <a:rPr lang="en-US" b="1" baseline="30000" dirty="0"/>
              <a:t>2</a:t>
            </a:r>
            <a:r>
              <a:rPr lang="en-US" b="1" dirty="0"/>
              <a:t> is the dominating factor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810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E9E0C-0AB9-4B3F-9EB1-45A4FB76E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Only Highest Order Term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D231C-8091-49B2-A7A1-58375EFDE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We don't need to study algorithms when we want to sort two elements, because different algorithms make no difference</a:t>
            </a:r>
          </a:p>
          <a:p>
            <a:r>
              <a:rPr lang="en-US" altLang="en-US" dirty="0"/>
              <a:t>we care about algorithm performance when the input size </a:t>
            </a:r>
            <a:r>
              <a:rPr lang="en-US" altLang="en-US" i="1" dirty="0"/>
              <a:t>n </a:t>
            </a:r>
            <a:r>
              <a:rPr lang="en-US" altLang="en-US" dirty="0"/>
              <a:t>is very large</a:t>
            </a:r>
          </a:p>
          <a:p>
            <a:pPr lvl="1"/>
            <a:r>
              <a:rPr lang="en-US" altLang="en-US" dirty="0"/>
              <a:t>Ex: n</a:t>
            </a:r>
            <a:r>
              <a:rPr lang="en-US" altLang="en-US" baseline="30000" dirty="0"/>
              <a:t>2</a:t>
            </a:r>
            <a:r>
              <a:rPr lang="en-US" altLang="en-US" dirty="0"/>
              <a:t> and n</a:t>
            </a:r>
            <a:r>
              <a:rPr lang="en-US" altLang="en-US" baseline="30000" dirty="0"/>
              <a:t>2</a:t>
            </a:r>
            <a:r>
              <a:rPr lang="en-US" altLang="en-US" dirty="0"/>
              <a:t> + n + 2 are no different, because when n is really large, n + 2 is negligible compared to n</a:t>
            </a:r>
            <a:r>
              <a:rPr lang="en-US" altLang="en-US" baseline="30000" dirty="0"/>
              <a:t>2</a:t>
            </a:r>
          </a:p>
          <a:p>
            <a:r>
              <a:rPr lang="en-US" altLang="en-US" dirty="0"/>
              <a:t>only the highest-order term matters</a:t>
            </a:r>
          </a:p>
        </p:txBody>
      </p:sp>
    </p:spTree>
    <p:extLst>
      <p:ext uri="{BB962C8B-B14F-4D97-AF65-F5344CB8AC3E}">
        <p14:creationId xmlns:p14="http://schemas.microsoft.com/office/powerpoint/2010/main" val="3875531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E9E0C-0AB9-4B3F-9EB1-45A4FB76E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Only Highest Order Term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D231C-8091-49B2-A7A1-58375EFDE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f1(n) = n</a:t>
            </a:r>
            <a:r>
              <a:rPr lang="en-US" baseline="30000" dirty="0"/>
              <a:t>2</a:t>
            </a:r>
            <a:r>
              <a:rPr lang="en-US" dirty="0"/>
              <a:t>, f2(n) = n</a:t>
            </a:r>
            <a:r>
              <a:rPr lang="en-US" baseline="30000" dirty="0"/>
              <a:t>2</a:t>
            </a:r>
            <a:r>
              <a:rPr lang="en-US" dirty="0"/>
              <a:t>+n+10</a:t>
            </a:r>
          </a:p>
          <a:p>
            <a:pPr lvl="1"/>
            <a:r>
              <a:rPr lang="en-US" dirty="0"/>
              <a:t>With n=10</a:t>
            </a:r>
          </a:p>
          <a:p>
            <a:pPr lvl="1"/>
            <a:r>
              <a:rPr lang="en-US" dirty="0" smtClean="0"/>
              <a:t>f1(10</a:t>
            </a:r>
            <a:r>
              <a:rPr lang="en-US" dirty="0"/>
              <a:t>) = (100) and </a:t>
            </a:r>
          </a:p>
          <a:p>
            <a:pPr lvl="1"/>
            <a:r>
              <a:rPr lang="en-US" dirty="0"/>
              <a:t>f2(10) = (100 + 10 + 10) = 120</a:t>
            </a:r>
          </a:p>
          <a:p>
            <a:pPr lvl="1"/>
            <a:r>
              <a:rPr lang="en-US" dirty="0"/>
              <a:t>Difference of 16.67%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With n = 50000</a:t>
            </a:r>
          </a:p>
          <a:p>
            <a:pPr lvl="1"/>
            <a:r>
              <a:rPr lang="en-US" dirty="0"/>
              <a:t>f1(50000) = (2,500,000,000) and </a:t>
            </a:r>
          </a:p>
          <a:p>
            <a:pPr lvl="1"/>
            <a:r>
              <a:rPr lang="en-US" dirty="0"/>
              <a:t>f2(50000) = (2,500,000,000 + 50000 + 10) = 2,500,050,010 </a:t>
            </a:r>
            <a:r>
              <a:rPr lang="en-US" dirty="0" smtClean="0">
                <a:sym typeface="Symbol"/>
              </a:rPr>
              <a:t></a:t>
            </a:r>
            <a:r>
              <a:rPr lang="en-US" dirty="0" smtClean="0"/>
              <a:t> </a:t>
            </a:r>
            <a:r>
              <a:rPr lang="en-US" dirty="0"/>
              <a:t>2,500,000,000</a:t>
            </a:r>
          </a:p>
          <a:p>
            <a:pPr lvl="1"/>
            <a:r>
              <a:rPr lang="en-US" dirty="0"/>
              <a:t>Difference of 0.002%</a:t>
            </a:r>
          </a:p>
        </p:txBody>
      </p:sp>
    </p:spTree>
    <p:extLst>
      <p:ext uri="{BB962C8B-B14F-4D97-AF65-F5344CB8AC3E}">
        <p14:creationId xmlns:p14="http://schemas.microsoft.com/office/powerpoint/2010/main" val="3216760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BF451-9505-4DF2-8088-1B3150390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time complexity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CEA11-C7DF-47AB-B87B-536DB82EF7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Algorithm </a:t>
            </a:r>
            <a:r>
              <a:rPr lang="en-US" altLang="en-US" dirty="0" err="1" smtClean="0">
                <a:latin typeface="Arial" panose="020B0604020202020204" pitchFamily="34" charset="0"/>
              </a:rPr>
              <a:t>IncreasingLoop</a:t>
            </a:r>
            <a:r>
              <a:rPr lang="en-US" altLang="en-US" dirty="0" smtClean="0">
                <a:latin typeface="Arial" panose="020B0604020202020204" pitchFamily="34" charset="0"/>
              </a:rPr>
              <a:t>(A</a:t>
            </a:r>
            <a:r>
              <a:rPr lang="en-US" altLang="en-US" dirty="0">
                <a:latin typeface="Arial" panose="020B0604020202020204" pitchFamily="34" charset="0"/>
              </a:rPr>
              <a:t>):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	    for </a:t>
            </a:r>
            <a:r>
              <a:rPr lang="en-US" altLang="en-US" dirty="0" err="1">
                <a:latin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</a:rPr>
              <a:t> := 1 to n step 2*</a:t>
            </a:r>
            <a:r>
              <a:rPr lang="en-US" altLang="en-US" dirty="0" err="1">
                <a:latin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</a:rPr>
              <a:t> do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     // do something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6CB877-56E1-4759-B2E7-285224F537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Algorithm </a:t>
            </a:r>
            <a:r>
              <a:rPr lang="en-US" altLang="en-US" dirty="0" err="1" smtClean="0">
                <a:latin typeface="Arial" panose="020B0604020202020204" pitchFamily="34" charset="0"/>
              </a:rPr>
              <a:t>DecresingLoop</a:t>
            </a:r>
            <a:r>
              <a:rPr lang="en-US" altLang="en-US" dirty="0" smtClean="0">
                <a:latin typeface="Arial" panose="020B0604020202020204" pitchFamily="34" charset="0"/>
              </a:rPr>
              <a:t>(A</a:t>
            </a:r>
            <a:r>
              <a:rPr lang="en-US" altLang="en-US" dirty="0">
                <a:latin typeface="Arial" panose="020B0604020202020204" pitchFamily="34" charset="0"/>
              </a:rPr>
              <a:t>):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	    for </a:t>
            </a:r>
            <a:r>
              <a:rPr lang="en-US" altLang="en-US" dirty="0" err="1">
                <a:latin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</a:rPr>
              <a:t> := n to 1 step –</a:t>
            </a:r>
            <a:r>
              <a:rPr lang="en-US" altLang="en-US" dirty="0" err="1">
                <a:latin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</a:rPr>
              <a:t>/2 do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     // do something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928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B618C-7CF1-4D21-BF4C-5A505D00C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time complexity?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679C1-0955-46F9-9C03-04E4356DBD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Algorithm Algo1():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	    for </a:t>
            </a:r>
            <a:r>
              <a:rPr lang="en-US" altLang="en-US" dirty="0" err="1">
                <a:latin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</a:rPr>
              <a:t> := 0 to n-1  do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</a:rPr>
              <a:t>	 	// do something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</a:rPr>
              <a:t>      for j := 0 to m-1 do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  // do something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7B20F9-E94C-4964-8252-FF8E5583A1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Algorithm Algo2():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	    for </a:t>
            </a:r>
            <a:r>
              <a:rPr lang="en-US" altLang="en-US" sz="2400" dirty="0" err="1">
                <a:latin typeface="Arial" panose="020B0604020202020204" pitchFamily="34" charset="0"/>
              </a:rPr>
              <a:t>i</a:t>
            </a:r>
            <a:r>
              <a:rPr lang="en-US" altLang="en-US" sz="2400" dirty="0">
                <a:latin typeface="Arial" panose="020B0604020202020204" pitchFamily="34" charset="0"/>
              </a:rPr>
              <a:t> := 0 to n-1  do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           for j </a:t>
            </a:r>
            <a:r>
              <a:rPr lang="en-US" altLang="en-US" sz="2400">
                <a:latin typeface="Arial" panose="020B0604020202020204" pitchFamily="34" charset="0"/>
              </a:rPr>
              <a:t>:= 1 to n </a:t>
            </a:r>
            <a:r>
              <a:rPr lang="en-US" altLang="en-US" sz="2400" dirty="0">
                <a:latin typeface="Arial" panose="020B0604020202020204" pitchFamily="34" charset="0"/>
              </a:rPr>
              <a:t>step j*2 do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	              sum := sum + A[</a:t>
            </a:r>
            <a:r>
              <a:rPr lang="en-US" altLang="en-US" sz="2400" dirty="0" err="1">
                <a:latin typeface="Arial" panose="020B0604020202020204" pitchFamily="34" charset="0"/>
              </a:rPr>
              <a:t>i</a:t>
            </a:r>
            <a:r>
              <a:rPr lang="en-US" altLang="en-US" sz="2400" dirty="0">
                <a:latin typeface="Arial" panose="020B0604020202020204" pitchFamily="34" charset="0"/>
              </a:rPr>
              <a:t>][j]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       return sum;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57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3C2B3-44C4-4795-B9D3-2E10BFE2C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O notation – Simplifying f(n)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A2F54-6E01-418C-9905-362B7DD77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Throwing out the constants is one of </a:t>
            </a:r>
            <a:r>
              <a:rPr lang="en-US" altLang="en-US" i="1" dirty="0"/>
              <a:t>two</a:t>
            </a:r>
            <a:r>
              <a:rPr lang="en-US" altLang="en-US" dirty="0"/>
              <a:t> things we do in analysis of algorithms</a:t>
            </a:r>
          </a:p>
          <a:p>
            <a:pPr lvl="1"/>
            <a:r>
              <a:rPr lang="en-US" altLang="en-US" dirty="0"/>
              <a:t>By throwing out constants, we simplify</a:t>
            </a:r>
            <a:r>
              <a:rPr lang="en-US" altLang="en-US" dirty="0">
                <a:latin typeface="Verdana" panose="020B0604030504040204" pitchFamily="34" charset="0"/>
              </a:rPr>
              <a:t> 12n</a:t>
            </a:r>
            <a:r>
              <a:rPr lang="en-US" altLang="en-US" baseline="30000" dirty="0">
                <a:latin typeface="Verdana" panose="020B0604030504040204" pitchFamily="34" charset="0"/>
              </a:rPr>
              <a:t>2</a:t>
            </a:r>
            <a:r>
              <a:rPr lang="en-US" altLang="en-US" dirty="0">
                <a:latin typeface="Verdana" panose="020B0604030504040204" pitchFamily="34" charset="0"/>
              </a:rPr>
              <a:t> + 35 </a:t>
            </a:r>
            <a:r>
              <a:rPr lang="en-US" altLang="en-US" dirty="0"/>
              <a:t>to just </a:t>
            </a:r>
            <a:r>
              <a:rPr lang="en-US" altLang="en-US" dirty="0">
                <a:latin typeface="Verdana" panose="020B0604030504040204" pitchFamily="34" charset="0"/>
              </a:rPr>
              <a:t>n</a:t>
            </a:r>
            <a:r>
              <a:rPr lang="en-US" altLang="en-US" baseline="30000" dirty="0">
                <a:latin typeface="Verdana" panose="020B0604030504040204" pitchFamily="34" charset="0"/>
              </a:rPr>
              <a:t>2</a:t>
            </a:r>
            <a:endParaRPr lang="en-US" altLang="en-US" dirty="0"/>
          </a:p>
          <a:p>
            <a:r>
              <a:rPr lang="en-US" altLang="en-US" dirty="0"/>
              <a:t>Our timing formula is a polynomial, and may have terms of various orders (constant, linear, quadratic, cubic, etc.)</a:t>
            </a:r>
          </a:p>
          <a:p>
            <a:pPr lvl="1"/>
            <a:r>
              <a:rPr lang="en-US" altLang="en-US" dirty="0"/>
              <a:t>We usually discard all but the </a:t>
            </a:r>
            <a:r>
              <a:rPr lang="en-US" altLang="en-US" i="1" dirty="0"/>
              <a:t>highest-order</a:t>
            </a:r>
            <a:r>
              <a:rPr lang="en-US" altLang="en-US" dirty="0"/>
              <a:t> term</a:t>
            </a:r>
          </a:p>
          <a:p>
            <a:pPr lvl="2"/>
            <a:r>
              <a:rPr lang="en-US" altLang="en-US" dirty="0"/>
              <a:t>We simplify</a:t>
            </a:r>
            <a:r>
              <a:rPr lang="en-US" altLang="en-US" dirty="0">
                <a:latin typeface="Verdana" panose="020B0604030504040204" pitchFamily="34" charset="0"/>
              </a:rPr>
              <a:t> n</a:t>
            </a:r>
            <a:r>
              <a:rPr lang="en-US" altLang="en-US" baseline="30000" dirty="0">
                <a:latin typeface="Verdana" panose="020B0604030504040204" pitchFamily="34" charset="0"/>
              </a:rPr>
              <a:t>2</a:t>
            </a:r>
            <a:r>
              <a:rPr lang="en-US" altLang="en-US" dirty="0">
                <a:latin typeface="Verdana" panose="020B0604030504040204" pitchFamily="34" charset="0"/>
              </a:rPr>
              <a:t> + 3n + 5 </a:t>
            </a:r>
            <a:r>
              <a:rPr lang="en-US" altLang="en-US" dirty="0"/>
              <a:t>to just </a:t>
            </a:r>
            <a:r>
              <a:rPr lang="en-US" altLang="en-US" dirty="0">
                <a:latin typeface="Verdana" panose="020B0604030504040204" pitchFamily="34" charset="0"/>
              </a:rPr>
              <a:t>n</a:t>
            </a:r>
            <a:r>
              <a:rPr lang="en-US" altLang="en-US" baseline="30000" dirty="0">
                <a:latin typeface="Verdana" panose="020B0604030504040204" pitchFamily="34" charset="0"/>
              </a:rPr>
              <a:t>2</a:t>
            </a:r>
          </a:p>
          <a:p>
            <a:r>
              <a:rPr lang="en-US" altLang="en-US" dirty="0">
                <a:latin typeface="Verdana" panose="020B0604030504040204" pitchFamily="34" charset="0"/>
              </a:rPr>
              <a:t>We call this a Big O notation</a:t>
            </a:r>
          </a:p>
          <a:p>
            <a:endParaRPr lang="en-US" altLang="en-US" dirty="0">
              <a:latin typeface="Verdana" panose="020B060403050404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098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27ED6-75E3-41FD-A999-0A6B23AA0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1AF272AC-4B24-471C-9879-3C1A00743BF4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253291" y="1825625"/>
          <a:ext cx="7685418" cy="435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" name="Paint Shop Pro Image" r:id="rId3" imgW="7736585" imgH="4380488" progId="">
                  <p:embed/>
                </p:oleObj>
              </mc:Choice>
              <mc:Fallback>
                <p:oleObj name="Paint Shop Pro Image" r:id="rId3" imgW="7736585" imgH="4380488" progId="">
                  <p:embed/>
                  <p:pic>
                    <p:nvPicPr>
                      <p:cNvPr id="0" name="Picture 4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3291" y="1825625"/>
                        <a:ext cx="7685418" cy="435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877358F-69EC-4F0C-B4EF-92A5DE94E6AC}"/>
              </a:ext>
            </a:extLst>
          </p:cNvPr>
          <p:cNvSpPr/>
          <p:nvPr/>
        </p:nvSpPr>
        <p:spPr>
          <a:xfrm>
            <a:off x="6096000" y="3239184"/>
            <a:ext cx="3933825" cy="1669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en-US" dirty="0">
                <a:solidFill>
                  <a:schemeClr val="accent2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dirty="0"/>
              <a:t>f(n) </a:t>
            </a:r>
            <a:r>
              <a:rPr lang="en-US" altLang="en-US" b="1" dirty="0">
                <a:sym typeface="Symbol" panose="05050102010706020507" pitchFamily="18" charset="2"/>
              </a:rPr>
              <a:t>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/>
              <a:t>O(g(n))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en-US" dirty="0"/>
              <a:t>    Usually written as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en-US" dirty="0"/>
              <a:t>     f(n) = O(g(n))</a:t>
            </a:r>
            <a:r>
              <a:rPr lang="en-US" altLang="en-US" dirty="0">
                <a:sym typeface="Symbol" panose="05050102010706020507" pitchFamily="18" charset="2"/>
              </a:rPr>
              <a:t> or 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en-US" dirty="0">
                <a:sym typeface="Symbol" panose="05050102010706020507" pitchFamily="18" charset="2"/>
              </a:rPr>
              <a:t>     f(n) is O(g(n))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8542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F4226-6540-4976-85AE-88AA648D4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 Justify Asymptotic Notation?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64295-B79E-495F-A166-443C67166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1943100" algn="l"/>
                <a:tab pos="3605213" algn="l"/>
                <a:tab pos="4967288" algn="l"/>
                <a:tab pos="5938838" algn="l"/>
              </a:tabLst>
            </a:pPr>
            <a:r>
              <a:rPr lang="en-US" altLang="en-US" dirty="0"/>
              <a:t>Consider f(n) = n</a:t>
            </a:r>
            <a:r>
              <a:rPr lang="en-US" altLang="en-US" baseline="30000" dirty="0"/>
              <a:t>2</a:t>
            </a:r>
            <a:r>
              <a:rPr lang="en-US" altLang="en-US" dirty="0"/>
              <a:t> + </a:t>
            </a:r>
            <a:r>
              <a:rPr lang="en-US" altLang="en-US" dirty="0">
                <a:highlight>
                  <a:srgbClr val="FFFF00"/>
                </a:highlight>
              </a:rPr>
              <a:t>3n + 5 </a:t>
            </a:r>
            <a:r>
              <a:rPr lang="en-US" altLang="en-US" dirty="0"/>
              <a:t>as n varies:</a:t>
            </a:r>
          </a:p>
          <a:p>
            <a:pPr lvl="1">
              <a:buClr>
                <a:srgbClr val="FFFF99"/>
              </a:buClr>
              <a:buNone/>
              <a:tabLst>
                <a:tab pos="1943100" algn="l"/>
                <a:tab pos="3605213" algn="l"/>
                <a:tab pos="4967288" algn="l"/>
                <a:tab pos="5938838" algn="l"/>
              </a:tabLst>
            </a:pPr>
            <a:r>
              <a:rPr lang="en-US" altLang="en-US" dirty="0"/>
              <a:t>n = 0	n</a:t>
            </a:r>
            <a:r>
              <a:rPr lang="en-US" altLang="en-US" baseline="30000" dirty="0"/>
              <a:t>2</a:t>
            </a:r>
            <a:r>
              <a:rPr lang="en-US" altLang="en-US" dirty="0"/>
              <a:t> = 0	3n = 0		f(n) = </a:t>
            </a:r>
            <a:r>
              <a:rPr lang="en-US" altLang="en-US" dirty="0">
                <a:highlight>
                  <a:srgbClr val="FFFF00"/>
                </a:highlight>
              </a:rPr>
              <a:t>5</a:t>
            </a:r>
          </a:p>
          <a:p>
            <a:pPr lvl="1">
              <a:buClr>
                <a:srgbClr val="FFFF99"/>
              </a:buClr>
              <a:buNone/>
              <a:tabLst>
                <a:tab pos="1943100" algn="l"/>
                <a:tab pos="3605213" algn="l"/>
                <a:tab pos="4967288" algn="l"/>
                <a:tab pos="5938838" algn="l"/>
              </a:tabLst>
            </a:pPr>
            <a:r>
              <a:rPr lang="en-US" altLang="en-US" dirty="0"/>
              <a:t>n = 10	n</a:t>
            </a:r>
            <a:r>
              <a:rPr lang="en-US" altLang="en-US" baseline="30000" dirty="0"/>
              <a:t>2</a:t>
            </a:r>
            <a:r>
              <a:rPr lang="en-US" altLang="en-US" dirty="0"/>
              <a:t> = 100	3n = 30		f(n) = 1</a:t>
            </a:r>
            <a:r>
              <a:rPr lang="en-US" altLang="en-US" dirty="0">
                <a:highlight>
                  <a:srgbClr val="FFFF00"/>
                </a:highlight>
              </a:rPr>
              <a:t>35</a:t>
            </a:r>
          </a:p>
          <a:p>
            <a:pPr lvl="1">
              <a:buClr>
                <a:srgbClr val="FFFF99"/>
              </a:buClr>
              <a:buNone/>
              <a:tabLst>
                <a:tab pos="1943100" algn="l"/>
                <a:tab pos="3605213" algn="l"/>
                <a:tab pos="4967288" algn="l"/>
                <a:tab pos="5938838" algn="l"/>
              </a:tabLst>
            </a:pPr>
            <a:r>
              <a:rPr lang="en-US" altLang="en-US" dirty="0"/>
              <a:t>n = 100	n</a:t>
            </a:r>
            <a:r>
              <a:rPr lang="en-US" altLang="en-US" baseline="30000" dirty="0"/>
              <a:t>2</a:t>
            </a:r>
            <a:r>
              <a:rPr lang="en-US" altLang="en-US" dirty="0"/>
              <a:t> = 10000	3n = 300		f(n) = 10,</a:t>
            </a:r>
            <a:r>
              <a:rPr lang="en-US" altLang="en-US" dirty="0">
                <a:highlight>
                  <a:srgbClr val="FFFF00"/>
                </a:highlight>
              </a:rPr>
              <a:t>305</a:t>
            </a:r>
          </a:p>
          <a:p>
            <a:pPr lvl="1">
              <a:buClr>
                <a:srgbClr val="FFFF99"/>
              </a:buClr>
              <a:buNone/>
              <a:tabLst>
                <a:tab pos="1943100" algn="l"/>
                <a:tab pos="3605213" algn="l"/>
                <a:tab pos="4967288" algn="l"/>
                <a:tab pos="5938838" algn="l"/>
              </a:tabLst>
            </a:pPr>
            <a:r>
              <a:rPr lang="en-US" altLang="en-US" dirty="0"/>
              <a:t>n = 1000	n</a:t>
            </a:r>
            <a:r>
              <a:rPr lang="en-US" altLang="en-US" baseline="30000" dirty="0"/>
              <a:t>2</a:t>
            </a:r>
            <a:r>
              <a:rPr lang="en-US" altLang="en-US" dirty="0"/>
              <a:t> = 1000000	3n = 3000		f(n) = 1,00</a:t>
            </a:r>
            <a:r>
              <a:rPr lang="en-US" altLang="en-US" dirty="0">
                <a:highlight>
                  <a:srgbClr val="FFFF00"/>
                </a:highlight>
              </a:rPr>
              <a:t>3,005</a:t>
            </a:r>
          </a:p>
          <a:p>
            <a:pPr lvl="1">
              <a:buClr>
                <a:srgbClr val="FFFF99"/>
              </a:buClr>
              <a:buNone/>
              <a:tabLst>
                <a:tab pos="1943100" algn="l"/>
                <a:tab pos="3605213" algn="l"/>
                <a:tab pos="4967288" algn="l"/>
                <a:tab pos="5938838" algn="l"/>
              </a:tabLst>
            </a:pPr>
            <a:r>
              <a:rPr lang="en-US" altLang="en-US" dirty="0"/>
              <a:t>n = 10,000	n</a:t>
            </a:r>
            <a:r>
              <a:rPr lang="en-US" altLang="en-US" baseline="30000" dirty="0"/>
              <a:t>2</a:t>
            </a:r>
            <a:r>
              <a:rPr lang="en-US" altLang="en-US" dirty="0"/>
              <a:t> = 10</a:t>
            </a:r>
            <a:r>
              <a:rPr lang="en-US" altLang="en-US" baseline="30000" dirty="0"/>
              <a:t>8</a:t>
            </a:r>
            <a:r>
              <a:rPr lang="en-US" altLang="en-US" dirty="0"/>
              <a:t>	3n = 3*10</a:t>
            </a:r>
            <a:r>
              <a:rPr lang="en-US" altLang="en-US" baseline="30000" dirty="0"/>
              <a:t>4</a:t>
            </a:r>
            <a:r>
              <a:rPr lang="en-US" altLang="en-US" dirty="0"/>
              <a:t>		f(n) = 100,0</a:t>
            </a:r>
            <a:r>
              <a:rPr lang="en-US" altLang="en-US" dirty="0">
                <a:highlight>
                  <a:srgbClr val="FFFF00"/>
                </a:highlight>
              </a:rPr>
              <a:t>30,005</a:t>
            </a:r>
          </a:p>
          <a:p>
            <a:pPr lvl="1">
              <a:buClr>
                <a:srgbClr val="FFFF99"/>
              </a:buClr>
              <a:buNone/>
              <a:tabLst>
                <a:tab pos="1943100" algn="l"/>
                <a:tab pos="3605213" algn="l"/>
                <a:tab pos="4967288" algn="l"/>
                <a:tab pos="5938838" algn="l"/>
              </a:tabLst>
            </a:pPr>
            <a:r>
              <a:rPr lang="en-US" altLang="en-US" dirty="0"/>
              <a:t>n = 100,000	n</a:t>
            </a:r>
            <a:r>
              <a:rPr lang="en-US" altLang="en-US" baseline="30000" dirty="0"/>
              <a:t>2</a:t>
            </a:r>
            <a:r>
              <a:rPr lang="en-US" altLang="en-US" dirty="0"/>
              <a:t> = 10</a:t>
            </a:r>
            <a:r>
              <a:rPr lang="en-US" altLang="en-US" baseline="30000" dirty="0"/>
              <a:t>10</a:t>
            </a:r>
            <a:r>
              <a:rPr lang="en-US" altLang="en-US" dirty="0"/>
              <a:t>	3n = 3*10</a:t>
            </a:r>
            <a:r>
              <a:rPr lang="en-US" altLang="en-US" baseline="30000" dirty="0"/>
              <a:t>5</a:t>
            </a:r>
            <a:r>
              <a:rPr lang="en-US" altLang="en-US" dirty="0"/>
              <a:t> 	</a:t>
            </a:r>
            <a:r>
              <a:rPr lang="en-US" altLang="en-US" dirty="0" smtClean="0"/>
              <a:t>	f(n</a:t>
            </a:r>
            <a:r>
              <a:rPr lang="en-US" altLang="en-US" dirty="0"/>
              <a:t>) = 10,000,</a:t>
            </a:r>
            <a:r>
              <a:rPr lang="en-US" altLang="en-US" dirty="0">
                <a:highlight>
                  <a:srgbClr val="FFFF00"/>
                </a:highlight>
              </a:rPr>
              <a:t>300,005</a:t>
            </a:r>
          </a:p>
          <a:p>
            <a:pPr lvl="1">
              <a:buClr>
                <a:srgbClr val="FFFF99"/>
              </a:buClr>
              <a:buNone/>
              <a:tabLst>
                <a:tab pos="1943100" algn="l"/>
                <a:tab pos="3605213" algn="l"/>
                <a:tab pos="4967288" algn="l"/>
                <a:tab pos="5938838" algn="l"/>
              </a:tabLst>
            </a:pPr>
            <a:endParaRPr lang="en-US" altLang="en-US" sz="2000" dirty="0">
              <a:latin typeface="Trebuchet MS" panose="020B0603020202020204" pitchFamily="34" charset="0"/>
            </a:endParaRPr>
          </a:p>
          <a:p>
            <a:r>
              <a:rPr lang="en-US" dirty="0" smtClean="0"/>
              <a:t>Here, </a:t>
            </a:r>
            <a:r>
              <a:rPr lang="en-US" altLang="en-US" dirty="0" smtClean="0"/>
              <a:t>f(n) = n</a:t>
            </a:r>
            <a:r>
              <a:rPr lang="en-US" altLang="en-US" baseline="30000" dirty="0" smtClean="0"/>
              <a:t>2</a:t>
            </a:r>
            <a:r>
              <a:rPr lang="en-US" altLang="en-US" dirty="0" smtClean="0"/>
              <a:t> + 3n + 5 and g(n) = n</a:t>
            </a:r>
            <a:r>
              <a:rPr lang="en-US" altLang="en-US" baseline="30000" dirty="0" smtClean="0"/>
              <a:t>2</a:t>
            </a:r>
            <a:r>
              <a:rPr lang="en-US" dirty="0" smtClean="0"/>
              <a:t>(higher order term), what will be the values of c and n0 for f(n) = O(g(n)) = cg(n) to be true?</a:t>
            </a: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69584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C9784-A75D-4AE5-A3BE-FF7A1D6CF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Verdana" panose="020B0604030504040204" pitchFamily="34" charset="0"/>
              </a:rPr>
              <a:t>f(n) = x</a:t>
            </a:r>
            <a:r>
              <a:rPr lang="en-US" altLang="en-US" baseline="30000" dirty="0">
                <a:latin typeface="Verdana" panose="020B0604030504040204" pitchFamily="34" charset="0"/>
              </a:rPr>
              <a:t>2</a:t>
            </a:r>
            <a:r>
              <a:rPr lang="en-US" altLang="en-US" dirty="0">
                <a:latin typeface="Verdana" panose="020B0604030504040204" pitchFamily="34" charset="0"/>
              </a:rPr>
              <a:t> + 3x + 5</a:t>
            </a:r>
            <a:r>
              <a:rPr lang="en-US" altLang="en-US" dirty="0"/>
              <a:t>, for </a:t>
            </a:r>
            <a:r>
              <a:rPr lang="en-US" altLang="en-US" dirty="0">
                <a:latin typeface="Verdana" panose="020B0604030504040204" pitchFamily="34" charset="0"/>
              </a:rPr>
              <a:t>x=1..10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Brute Force method:</a:t>
            </a:r>
          </a:p>
          <a:p>
            <a:r>
              <a:rPr lang="en-US" dirty="0" smtClean="0"/>
              <a:t>c=2, n=0 </a:t>
            </a:r>
            <a:r>
              <a:rPr lang="en-US" dirty="0" smtClean="0">
                <a:sym typeface="Wingdings" pitchFamily="2" charset="2"/>
              </a:rPr>
              <a:t> f(n)=5, cg(n)=0</a:t>
            </a:r>
          </a:p>
          <a:p>
            <a:r>
              <a:rPr lang="en-US" dirty="0" smtClean="0"/>
              <a:t>C=2, n=1 </a:t>
            </a:r>
            <a:r>
              <a:rPr lang="en-US" dirty="0" smtClean="0">
                <a:sym typeface="Wingdings" pitchFamily="2" charset="2"/>
              </a:rPr>
              <a:t> f(n)=9, cg(n)=2</a:t>
            </a:r>
          </a:p>
          <a:p>
            <a:r>
              <a:rPr lang="en-US" dirty="0" smtClean="0"/>
              <a:t>C=2, n=2 </a:t>
            </a:r>
            <a:r>
              <a:rPr lang="en-US" dirty="0" smtClean="0">
                <a:sym typeface="Wingdings" pitchFamily="2" charset="2"/>
              </a:rPr>
              <a:t> f(n)=15, cg(n)=8</a:t>
            </a:r>
          </a:p>
          <a:p>
            <a:r>
              <a:rPr lang="en-US" dirty="0" smtClean="0"/>
              <a:t>c=2, n=3 </a:t>
            </a:r>
            <a:r>
              <a:rPr lang="en-US" dirty="0" smtClean="0">
                <a:sym typeface="Wingdings" pitchFamily="2" charset="2"/>
              </a:rPr>
              <a:t> f(n)=23, cg(n)=18</a:t>
            </a:r>
          </a:p>
          <a:p>
            <a:r>
              <a:rPr lang="en-US" dirty="0" smtClean="0"/>
              <a:t>C=2, n=4 </a:t>
            </a:r>
            <a:r>
              <a:rPr lang="en-US" dirty="0" smtClean="0">
                <a:sym typeface="Wingdings" pitchFamily="2" charset="2"/>
              </a:rPr>
              <a:t> f(n)=33, cg(n)=32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C=2, n=5 </a:t>
            </a: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 f(n)=45, cg(n)=50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C=2, n=6 </a:t>
            </a: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 f(n)=59, cg(n)=72 . . 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3009" name="Picture 1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94550" y="1918589"/>
            <a:ext cx="5311497" cy="3930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6374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F01A1-1C61-492D-841E-3AF8A9AD1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Common time complexities</a:t>
            </a:r>
            <a:endParaRPr lang="en-US" dirty="0"/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EC7C6A3D-BA2E-4CBE-9B61-F1BDC0E73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8425" y="1843087"/>
            <a:ext cx="1828800" cy="436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BETTER</a:t>
            </a:r>
            <a:endParaRPr lang="en-US" altLang="en-US" sz="2800" dirty="0">
              <a:solidFill>
                <a:schemeClr val="accent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endParaRPr lang="en-US" altLang="en-US" sz="2800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endParaRPr lang="en-US" altLang="en-US" sz="2800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endParaRPr lang="en-US" altLang="en-US" sz="2800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endParaRPr lang="en-US" altLang="en-US" sz="2800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endParaRPr lang="en-US" altLang="en-US" sz="2800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WORSE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6F9043FA-B59A-46B8-9A12-AD4EA117B8D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4713" y="2371725"/>
            <a:ext cx="0" cy="320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331125" y="2053087"/>
            <a:ext cx="4853829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3200" dirty="0" smtClean="0"/>
              <a:t>O(1)		constant time</a:t>
            </a:r>
          </a:p>
          <a:p>
            <a:r>
              <a:rPr lang="en-US" altLang="en-US" sz="3200" dirty="0" smtClean="0"/>
              <a:t>O(log n)	log time</a:t>
            </a:r>
          </a:p>
          <a:p>
            <a:r>
              <a:rPr lang="en-US" altLang="en-US" sz="3200" dirty="0" smtClean="0"/>
              <a:t>O(n)		linear time</a:t>
            </a:r>
          </a:p>
          <a:p>
            <a:r>
              <a:rPr lang="en-US" altLang="en-US" sz="3200" dirty="0" smtClean="0"/>
              <a:t>O(n log n)	log linear time</a:t>
            </a:r>
          </a:p>
          <a:p>
            <a:r>
              <a:rPr lang="en-US" altLang="en-US" sz="3200" dirty="0" smtClean="0"/>
              <a:t>O(n</a:t>
            </a:r>
            <a:r>
              <a:rPr lang="en-US" altLang="en-US" sz="3200" baseline="30000" dirty="0" smtClean="0"/>
              <a:t>2</a:t>
            </a:r>
            <a:r>
              <a:rPr lang="en-US" altLang="en-US" sz="3200" dirty="0" smtClean="0"/>
              <a:t>)		quadratic time</a:t>
            </a:r>
          </a:p>
          <a:p>
            <a:r>
              <a:rPr lang="en-US" altLang="en-US" sz="3200" dirty="0" smtClean="0"/>
              <a:t>O(n</a:t>
            </a:r>
            <a:r>
              <a:rPr lang="en-US" altLang="en-US" sz="3200" baseline="30000" dirty="0" smtClean="0"/>
              <a:t>3</a:t>
            </a:r>
            <a:r>
              <a:rPr lang="en-US" altLang="en-US" sz="3200" dirty="0" smtClean="0"/>
              <a:t>)		cubic time</a:t>
            </a:r>
          </a:p>
          <a:p>
            <a:r>
              <a:rPr lang="en-US" altLang="en-US" sz="3200" dirty="0" smtClean="0"/>
              <a:t>O(</a:t>
            </a:r>
            <a:r>
              <a:rPr lang="en-US" altLang="en-US" sz="3200" dirty="0" err="1" smtClean="0"/>
              <a:t>n</a:t>
            </a:r>
            <a:r>
              <a:rPr lang="en-US" altLang="en-US" sz="3200" baseline="30000" dirty="0" err="1" smtClean="0"/>
              <a:t>k</a:t>
            </a:r>
            <a:r>
              <a:rPr lang="en-US" altLang="en-US" sz="3200" dirty="0" smtClean="0"/>
              <a:t>)		polynomial time</a:t>
            </a:r>
          </a:p>
          <a:p>
            <a:r>
              <a:rPr lang="en-US" altLang="en-US" sz="3200" dirty="0" smtClean="0"/>
              <a:t>O(2</a:t>
            </a:r>
            <a:r>
              <a:rPr lang="en-US" altLang="en-US" sz="3200" baseline="30000" dirty="0" smtClean="0"/>
              <a:t>n</a:t>
            </a:r>
            <a:r>
              <a:rPr lang="en-US" altLang="en-US" sz="3200" dirty="0" smtClean="0"/>
              <a:t>)		exponential time</a:t>
            </a:r>
          </a:p>
        </p:txBody>
      </p:sp>
    </p:spTree>
    <p:extLst>
      <p:ext uri="{BB962C8B-B14F-4D97-AF65-F5344CB8AC3E}">
        <p14:creationId xmlns:p14="http://schemas.microsoft.com/office/powerpoint/2010/main" val="3881895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E904A-9E1B-4418-A4BA-FA690590A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Time </a:t>
            </a:r>
            <a:br>
              <a:rPr lang="en-US" dirty="0"/>
            </a:br>
            <a:r>
              <a:rPr lang="en-US" dirty="0"/>
              <a:t>Complexities</a:t>
            </a:r>
          </a:p>
        </p:txBody>
      </p:sp>
      <p:pic>
        <p:nvPicPr>
          <p:cNvPr id="4" name="Content Placeholder 3" descr="asymptotic_fig1">
            <a:extLst>
              <a:ext uri="{FF2B5EF4-FFF2-40B4-BE49-F238E27FC236}">
                <a16:creationId xmlns:a16="http://schemas.microsoft.com/office/drawing/2014/main" id="{1AA95B0A-370C-4016-87C0-65C1B1C2120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1766" y="92075"/>
            <a:ext cx="5611909" cy="6601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0139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C5BE2-C38F-4258-89C9-B2211A8B5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O Visual - </a:t>
            </a:r>
            <a:r>
              <a:rPr lang="en-US" altLang="en-US" dirty="0">
                <a:solidFill>
                  <a:schemeClr val="accent2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dirty="0">
                <a:solidFill>
                  <a:srgbClr val="DD0111"/>
                </a:solidFill>
                <a:latin typeface="Comic Sans MS" panose="030F0702030302020204" pitchFamily="66" charset="0"/>
              </a:rPr>
              <a:t>O(g(n))</a:t>
            </a:r>
            <a:r>
              <a:rPr lang="en-US" altLang="en-US" dirty="0">
                <a:solidFill>
                  <a:srgbClr val="DD0111"/>
                </a:solidFill>
              </a:rPr>
              <a:t> is the set of functions with </a:t>
            </a:r>
            <a:r>
              <a:rPr lang="en-US" altLang="en-US" dirty="0" smtClean="0">
                <a:solidFill>
                  <a:srgbClr val="DD0111"/>
                </a:solidFill>
              </a:rPr>
              <a:t>larger </a:t>
            </a:r>
            <a:r>
              <a:rPr lang="en-US" altLang="en-US" dirty="0">
                <a:solidFill>
                  <a:srgbClr val="DD0111"/>
                </a:solidFill>
              </a:rPr>
              <a:t>or same order of growth as </a:t>
            </a:r>
            <a:r>
              <a:rPr lang="en-US" altLang="en-US" dirty="0">
                <a:solidFill>
                  <a:srgbClr val="DD0111"/>
                </a:solidFill>
                <a:latin typeface="Comic Sans MS" panose="030F0702030302020204" pitchFamily="66" charset="0"/>
              </a:rPr>
              <a:t>f</a:t>
            </a:r>
            <a:r>
              <a:rPr lang="en-US" altLang="en-US" dirty="0" smtClean="0">
                <a:solidFill>
                  <a:srgbClr val="DD0111"/>
                </a:solidFill>
                <a:latin typeface="Comic Sans MS" panose="030F0702030302020204" pitchFamily="66" charset="0"/>
              </a:rPr>
              <a:t>(n</a:t>
            </a:r>
            <a:r>
              <a:rPr lang="en-US" altLang="en-US" dirty="0">
                <a:solidFill>
                  <a:srgbClr val="DD0111"/>
                </a:solidFill>
                <a:latin typeface="Comic Sans MS" panose="030F0702030302020204" pitchFamily="66" charset="0"/>
              </a:rPr>
              <a:t>)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63614A1-6634-4CA4-AA23-2F0C57E7FBA5}"/>
              </a:ext>
            </a:extLst>
          </p:cNvPr>
          <p:cNvSpPr/>
          <p:nvPr/>
        </p:nvSpPr>
        <p:spPr>
          <a:xfrm>
            <a:off x="1227707" y="1850571"/>
            <a:ext cx="2867488" cy="23081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O(N)</a:t>
            </a:r>
          </a:p>
          <a:p>
            <a:pPr algn="ctr"/>
            <a:r>
              <a:rPr lang="en-US" dirty="0"/>
              <a:t>3N+100</a:t>
            </a:r>
          </a:p>
          <a:p>
            <a:pPr algn="ctr"/>
            <a:r>
              <a:rPr lang="en-US" dirty="0"/>
              <a:t>100N</a:t>
            </a:r>
          </a:p>
          <a:p>
            <a:pPr algn="ctr"/>
            <a:r>
              <a:rPr lang="en-US" dirty="0"/>
              <a:t>0.5N-20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62270ED-C150-49B3-A237-28FBB6668832}"/>
              </a:ext>
            </a:extLst>
          </p:cNvPr>
          <p:cNvSpPr/>
          <p:nvPr/>
        </p:nvSpPr>
        <p:spPr>
          <a:xfrm>
            <a:off x="4857009" y="1594814"/>
            <a:ext cx="2867488" cy="23081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O(</a:t>
            </a:r>
            <a:r>
              <a:rPr lang="en-US" dirty="0" err="1"/>
              <a:t>NlogN</a:t>
            </a:r>
            <a:r>
              <a:rPr lang="en-US" dirty="0"/>
              <a:t>)</a:t>
            </a:r>
          </a:p>
          <a:p>
            <a:pPr algn="ctr"/>
            <a:r>
              <a:rPr lang="en-US" dirty="0"/>
              <a:t>20NlogN+3N+100</a:t>
            </a:r>
          </a:p>
          <a:p>
            <a:pPr algn="ctr"/>
            <a:r>
              <a:rPr lang="en-US" dirty="0"/>
              <a:t>NlogN+100N</a:t>
            </a:r>
          </a:p>
          <a:p>
            <a:pPr algn="ctr"/>
            <a:r>
              <a:rPr lang="en-US" dirty="0"/>
              <a:t>100NlogN-0.5N-20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D065095-161E-4C0D-87AB-B639F188AD61}"/>
              </a:ext>
            </a:extLst>
          </p:cNvPr>
          <p:cNvSpPr/>
          <p:nvPr/>
        </p:nvSpPr>
        <p:spPr>
          <a:xfrm>
            <a:off x="6663063" y="3932397"/>
            <a:ext cx="2867488" cy="23081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O(N</a:t>
            </a:r>
            <a:r>
              <a:rPr lang="en-US" baseline="30000" dirty="0"/>
              <a:t>3</a:t>
            </a:r>
            <a:r>
              <a:rPr lang="en-US" dirty="0"/>
              <a:t>)</a:t>
            </a:r>
          </a:p>
          <a:p>
            <a:pPr algn="ctr"/>
            <a:r>
              <a:rPr lang="en-US" dirty="0"/>
              <a:t>5N</a:t>
            </a:r>
            <a:r>
              <a:rPr lang="en-US" baseline="30000" dirty="0"/>
              <a:t>3 </a:t>
            </a:r>
            <a:r>
              <a:rPr lang="en-US" dirty="0"/>
              <a:t>+3N+100</a:t>
            </a:r>
          </a:p>
          <a:p>
            <a:pPr algn="ctr"/>
            <a:r>
              <a:rPr lang="en-US" dirty="0"/>
              <a:t>23N</a:t>
            </a:r>
            <a:r>
              <a:rPr lang="en-US" baseline="30000" dirty="0"/>
              <a:t>3 </a:t>
            </a:r>
            <a:r>
              <a:rPr lang="en-US" dirty="0"/>
              <a:t> + 5N</a:t>
            </a:r>
            <a:r>
              <a:rPr lang="en-US" baseline="30000" dirty="0"/>
              <a:t>2 </a:t>
            </a:r>
            <a:r>
              <a:rPr lang="en-US" dirty="0"/>
              <a:t>+100N</a:t>
            </a:r>
          </a:p>
          <a:p>
            <a:pPr algn="ctr"/>
            <a:r>
              <a:rPr lang="en-US" dirty="0"/>
              <a:t>N</a:t>
            </a:r>
            <a:r>
              <a:rPr lang="en-US" baseline="30000" dirty="0"/>
              <a:t>3 </a:t>
            </a:r>
            <a:r>
              <a:rPr lang="en-US" dirty="0"/>
              <a:t> + 100NlogN-20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46EFB7D-419D-4B01-8464-2F22FAAAFED7}"/>
              </a:ext>
            </a:extLst>
          </p:cNvPr>
          <p:cNvSpPr/>
          <p:nvPr/>
        </p:nvSpPr>
        <p:spPr>
          <a:xfrm>
            <a:off x="2974943" y="4109089"/>
            <a:ext cx="2867488" cy="23081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O(1)</a:t>
            </a:r>
          </a:p>
          <a:p>
            <a:pPr algn="ctr"/>
            <a:r>
              <a:rPr lang="en-US" dirty="0"/>
              <a:t>100</a:t>
            </a:r>
          </a:p>
          <a:p>
            <a:pPr algn="ctr"/>
            <a:r>
              <a:rPr lang="en-US" dirty="0"/>
              <a:t>5</a:t>
            </a:r>
          </a:p>
          <a:p>
            <a:pPr algn="ctr"/>
            <a:r>
              <a:rPr lang="en-US" dirty="0"/>
              <a:t>0.5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4AF3310-2670-4C6B-80B8-0AD2386F25BA}"/>
              </a:ext>
            </a:extLst>
          </p:cNvPr>
          <p:cNvSpPr/>
          <p:nvPr/>
        </p:nvSpPr>
        <p:spPr>
          <a:xfrm>
            <a:off x="8262524" y="1690688"/>
            <a:ext cx="2867488" cy="23081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O(N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pPr algn="ctr"/>
            <a:r>
              <a:rPr lang="en-US" dirty="0"/>
              <a:t>5N</a:t>
            </a:r>
            <a:r>
              <a:rPr lang="en-US" baseline="30000" dirty="0"/>
              <a:t>2 </a:t>
            </a:r>
            <a:r>
              <a:rPr lang="en-US" dirty="0"/>
              <a:t>+3N+100</a:t>
            </a:r>
          </a:p>
          <a:p>
            <a:pPr algn="ctr"/>
            <a:r>
              <a:rPr lang="en-US" dirty="0"/>
              <a:t>15N</a:t>
            </a:r>
            <a:r>
              <a:rPr lang="en-US" baseline="30000" dirty="0"/>
              <a:t>2 </a:t>
            </a:r>
            <a:r>
              <a:rPr lang="en-US" dirty="0"/>
              <a:t>+100</a:t>
            </a:r>
          </a:p>
          <a:p>
            <a:pPr algn="ctr"/>
            <a:r>
              <a:rPr lang="en-US" baseline="30000" dirty="0"/>
              <a:t> </a:t>
            </a:r>
            <a:r>
              <a:rPr lang="en-US" dirty="0"/>
              <a:t>N</a:t>
            </a:r>
            <a:r>
              <a:rPr lang="en-US" baseline="30000" dirty="0"/>
              <a:t>2</a:t>
            </a:r>
            <a:r>
              <a:rPr lang="en-US" dirty="0"/>
              <a:t> + 100NlogN-20</a:t>
            </a:r>
          </a:p>
        </p:txBody>
      </p:sp>
    </p:spTree>
    <p:extLst>
      <p:ext uri="{BB962C8B-B14F-4D97-AF65-F5344CB8AC3E}">
        <p14:creationId xmlns:p14="http://schemas.microsoft.com/office/powerpoint/2010/main" val="42531577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44AE9-AED9-441C-8FBA-83E58B998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Algorithm Examples for Time Complexity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38E881-3CAE-4A08-9F3D-0B01B64207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2850016"/>
              </p:ext>
            </p:extLst>
          </p:nvPr>
        </p:nvGraphicFramePr>
        <p:xfrm>
          <a:off x="2596673" y="1823020"/>
          <a:ext cx="6998654" cy="4356548"/>
        </p:xfrm>
        <a:graphic>
          <a:graphicData uri="http://schemas.openxmlformats.org/drawingml/2006/table">
            <a:tbl>
              <a:tblPr/>
              <a:tblGrid>
                <a:gridCol w="2440556">
                  <a:extLst>
                    <a:ext uri="{9D8B030D-6E8A-4147-A177-3AD203B41FA5}">
                      <a16:colId xmlns:a16="http://schemas.microsoft.com/office/drawing/2014/main" val="249200143"/>
                    </a:ext>
                  </a:extLst>
                </a:gridCol>
                <a:gridCol w="2117542">
                  <a:extLst>
                    <a:ext uri="{9D8B030D-6E8A-4147-A177-3AD203B41FA5}">
                      <a16:colId xmlns:a16="http://schemas.microsoft.com/office/drawing/2014/main" val="652972385"/>
                    </a:ext>
                  </a:extLst>
                </a:gridCol>
                <a:gridCol w="2440556">
                  <a:extLst>
                    <a:ext uri="{9D8B030D-6E8A-4147-A177-3AD203B41FA5}">
                      <a16:colId xmlns:a16="http://schemas.microsoft.com/office/drawing/2014/main" val="575718382"/>
                    </a:ext>
                  </a:extLst>
                </a:gridCol>
              </a:tblGrid>
              <a:tr h="273860">
                <a:tc>
                  <a:txBody>
                    <a:bodyPr/>
                    <a:lstStyle/>
                    <a:p>
                      <a:pPr fontAlgn="b"/>
                      <a:r>
                        <a:rPr lang="en-US" sz="1200" b="1">
                          <a:effectLst/>
                        </a:rPr>
                        <a:t>Big O Notation</a:t>
                      </a:r>
                    </a:p>
                  </a:txBody>
                  <a:tcPr marL="121716" marR="91287" marT="30429" marB="40572" anchor="b">
                    <a:lnL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8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8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200" b="1">
                          <a:effectLst/>
                        </a:rPr>
                        <a:t>Name</a:t>
                      </a:r>
                    </a:p>
                  </a:txBody>
                  <a:tcPr marL="91287" marR="91287" marT="30429" marB="40572" anchor="b">
                    <a:lnL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8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8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200" b="1">
                          <a:effectLst/>
                        </a:rPr>
                        <a:t>Example(s)</a:t>
                      </a:r>
                    </a:p>
                  </a:txBody>
                  <a:tcPr marL="91287" marR="121716" marT="30429" marB="40572" anchor="b">
                    <a:lnL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84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8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8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530953"/>
                  </a:ext>
                </a:extLst>
              </a:tr>
              <a:tr h="486863">
                <a:tc>
                  <a:txBody>
                    <a:bodyPr/>
                    <a:lstStyle/>
                    <a:p>
                      <a:pPr fontAlgn="ctr"/>
                      <a:r>
                        <a:rPr lang="en-US" sz="1200" i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O(1)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21716" marR="91287" marT="60858" marB="60858" anchor="ctr">
                    <a:lnL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8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8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Constant</a:t>
                      </a:r>
                    </a:p>
                  </a:txBody>
                  <a:tcPr marL="91287" marR="91287" marT="60858" marB="60858" anchor="ctr">
                    <a:lnL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8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8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# </a:t>
                      </a: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Odd or Even number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</a:t>
                      </a:r>
                      <a:b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# Swapping two numbers</a:t>
                      </a:r>
                    </a:p>
                  </a:txBody>
                  <a:tcPr marL="91287" marR="121716" marT="60858" marB="60858" anchor="ctr">
                    <a:lnL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84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8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78C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499174"/>
                  </a:ext>
                </a:extLst>
              </a:tr>
              <a:tr h="486863">
                <a:tc>
                  <a:txBody>
                    <a:bodyPr/>
                    <a:lstStyle/>
                    <a:p>
                      <a:pPr fontAlgn="ctr"/>
                      <a:r>
                        <a:rPr lang="en-US" sz="1200" i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O(log n)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21716" marR="91287" marT="60858" marB="60858" anchor="ctr">
                    <a:lnL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8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Logarithmic</a:t>
                      </a:r>
                    </a:p>
                  </a:txBody>
                  <a:tcPr marL="91287" marR="91287" marT="60858" marB="60858" anchor="ctr">
                    <a:lnL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8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8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# </a:t>
                      </a: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Finding element on sorted array with </a:t>
                      </a: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binary search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287" marR="121716" marT="60858" marB="60858" anchor="ctr">
                    <a:lnL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84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78C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8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642490"/>
                  </a:ext>
                </a:extLst>
              </a:tr>
              <a:tr h="852010">
                <a:tc>
                  <a:txBody>
                    <a:bodyPr/>
                    <a:lstStyle/>
                    <a:p>
                      <a:pPr fontAlgn="ctr"/>
                      <a:r>
                        <a:rPr lang="en-US" sz="1200" i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O(n)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21716" marR="91287" marT="60858" marB="60858" anchor="ctr">
                    <a:lnL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8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Linear</a:t>
                      </a:r>
                    </a:p>
                  </a:txBody>
                  <a:tcPr marL="91287" marR="91287" marT="60858" marB="60858" anchor="ctr">
                    <a:lnL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8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8C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# </a:t>
                      </a: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Find max element in unsorted array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</a:t>
                      </a:r>
                      <a:b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# </a:t>
                      </a: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Duplicate elements in array with Hash Map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287" marR="121716" marT="60858" marB="60858" anchor="ctr">
                    <a:lnL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84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8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8C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98214"/>
                  </a:ext>
                </a:extLst>
              </a:tr>
              <a:tr h="486863">
                <a:tc>
                  <a:txBody>
                    <a:bodyPr/>
                    <a:lstStyle/>
                    <a:p>
                      <a:pPr fontAlgn="ctr"/>
                      <a:r>
                        <a:rPr lang="en-US" sz="1200" i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O(n log n)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21716" marR="91287" marT="60858" marB="60858" anchor="ctr">
                    <a:lnL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8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8C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Linearithmic</a:t>
                      </a:r>
                    </a:p>
                  </a:txBody>
                  <a:tcPr marL="91287" marR="91287" marT="60858" marB="60858" anchor="ctr">
                    <a:lnL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8C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8C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# </a:t>
                      </a: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Sorting elements in array with </a:t>
                      </a: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merge sort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287" marR="121716" marT="60858" marB="60858" anchor="ctr">
                    <a:lnL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84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8C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8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05244"/>
                  </a:ext>
                </a:extLst>
              </a:tr>
              <a:tr h="669437">
                <a:tc>
                  <a:txBody>
                    <a:bodyPr/>
                    <a:lstStyle/>
                    <a:p>
                      <a:pPr fontAlgn="ctr"/>
                      <a:r>
                        <a:rPr lang="en-US" sz="1200" i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O(n</a:t>
                      </a:r>
                      <a:r>
                        <a:rPr lang="en-US" sz="1200" i="1" baseline="30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r>
                        <a:rPr lang="en-US" sz="1200" i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21716" marR="91287" marT="60858" marB="60858" anchor="ctr">
                    <a:lnL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8C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8C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Quadratic</a:t>
                      </a:r>
                    </a:p>
                  </a:txBody>
                  <a:tcPr marL="91287" marR="91287" marT="60858" marB="60858" anchor="ctr">
                    <a:lnL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8C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8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# </a:t>
                      </a: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Duplicate elements in array **(naïve)**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</a:t>
                      </a:r>
                      <a:b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# </a:t>
                      </a: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Sorting array with </a:t>
                      </a: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bubble sort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287" marR="121716" marT="60858" marB="60858" anchor="ctr">
                    <a:lnL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84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8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58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14678"/>
                  </a:ext>
                </a:extLst>
              </a:tr>
              <a:tr h="304289">
                <a:tc>
                  <a:txBody>
                    <a:bodyPr/>
                    <a:lstStyle/>
                    <a:p>
                      <a:pPr fontAlgn="ctr"/>
                      <a:r>
                        <a:rPr lang="en-US" sz="1200" i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O(n</a:t>
                      </a:r>
                      <a:r>
                        <a:rPr lang="en-US" sz="1200" i="1" baseline="30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  <a:r>
                        <a:rPr lang="en-US" sz="1200" i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21716" marR="91287" marT="60858" marB="60858" anchor="ctr">
                    <a:lnL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8C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8C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Cubic</a:t>
                      </a:r>
                    </a:p>
                  </a:txBody>
                  <a:tcPr marL="91287" marR="91287" marT="60858" marB="60858" anchor="ctr">
                    <a:lnL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8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8C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# </a:t>
                      </a: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 variables equation solver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287" marR="121716" marT="60858" marB="60858" anchor="ctr">
                    <a:lnL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84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58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8C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438019"/>
                  </a:ext>
                </a:extLst>
              </a:tr>
              <a:tr h="304289">
                <a:tc>
                  <a:txBody>
                    <a:bodyPr/>
                    <a:lstStyle/>
                    <a:p>
                      <a:pPr fontAlgn="ctr"/>
                      <a:r>
                        <a:rPr lang="en-US" sz="1200" i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O(2</a:t>
                      </a:r>
                      <a:r>
                        <a:rPr lang="en-US" sz="1200" i="1" baseline="30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</a:t>
                      </a:r>
                      <a:r>
                        <a:rPr lang="en-US" sz="1200" i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21716" marR="91287" marT="60858" marB="60858" anchor="ctr">
                    <a:lnL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8C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8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Exponential</a:t>
                      </a:r>
                    </a:p>
                  </a:txBody>
                  <a:tcPr marL="91287" marR="91287" marT="60858" marB="60858" anchor="ctr">
                    <a:lnL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8C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8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# </a:t>
                      </a: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Find all subsets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287" marR="121716" marT="60858" marB="60858" anchor="ctr">
                    <a:lnL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84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8C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646194"/>
                  </a:ext>
                </a:extLst>
              </a:tr>
              <a:tr h="486863">
                <a:tc>
                  <a:txBody>
                    <a:bodyPr/>
                    <a:lstStyle/>
                    <a:p>
                      <a:pPr fontAlgn="ctr"/>
                      <a:r>
                        <a:rPr lang="en-US" sz="1200" i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O(n!)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21716" marR="91287" marT="60858" marB="60858" anchor="ctr">
                    <a:lnL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8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8C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Factorial</a:t>
                      </a:r>
                    </a:p>
                  </a:txBody>
                  <a:tcPr marL="91287" marR="91287" marT="60858" marB="60858" anchor="ctr">
                    <a:lnL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8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58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# </a:t>
                      </a: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Find all permutations of a given set/string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287" marR="121716" marT="60858" marB="60858" anchor="ctr">
                    <a:lnL w="3810" cap="flat" cmpd="sng" algn="ctr">
                      <a:solidFill>
                        <a:srgbClr val="A84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84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8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868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00801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DA00A-4965-4D35-95CC-8CE8C2C3C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4E92B-8B82-4B7C-8174-105E4B980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en-US" dirty="0"/>
              <a:t>2n</a:t>
            </a:r>
            <a:r>
              <a:rPr lang="en-US" altLang="en-US" baseline="30000" dirty="0"/>
              <a:t>2</a:t>
            </a:r>
            <a:r>
              <a:rPr lang="en-US" altLang="en-US" dirty="0"/>
              <a:t> = O(n</a:t>
            </a:r>
            <a:r>
              <a:rPr lang="en-US" altLang="en-US" baseline="30000" dirty="0"/>
              <a:t>3</a:t>
            </a:r>
            <a:r>
              <a:rPr lang="en-US" altLang="en-US" dirty="0"/>
              <a:t>): 2n</a:t>
            </a:r>
            <a:r>
              <a:rPr lang="en-US" altLang="en-US" baseline="30000" dirty="0"/>
              <a:t>2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≤</a:t>
            </a:r>
            <a:r>
              <a:rPr lang="en-US" altLang="en-US" dirty="0"/>
              <a:t> cn</a:t>
            </a:r>
            <a:r>
              <a:rPr lang="en-US" altLang="en-US" baseline="30000" dirty="0"/>
              <a:t>3 </a:t>
            </a:r>
            <a:r>
              <a:rPr lang="en-US" altLang="en-US" dirty="0">
                <a:sym typeface="Symbol" panose="05050102010706020507" pitchFamily="18" charset="2"/>
              </a:rPr>
              <a:t> 2 ≤ </a:t>
            </a:r>
            <a:r>
              <a:rPr lang="en-US" altLang="en-US" dirty="0" err="1">
                <a:sym typeface="Symbol" panose="05050102010706020507" pitchFamily="18" charset="2"/>
              </a:rPr>
              <a:t>cn</a:t>
            </a:r>
            <a:r>
              <a:rPr lang="en-US" altLang="en-US" dirty="0">
                <a:sym typeface="Symbol" panose="05050102010706020507" pitchFamily="18" charset="2"/>
              </a:rPr>
              <a:t>  </a:t>
            </a:r>
            <a:r>
              <a:rPr lang="en-US" altLang="en-US" dirty="0"/>
              <a:t>c = 1 and n</a:t>
            </a:r>
            <a:r>
              <a:rPr lang="en-US" altLang="en-US" baseline="-25000" dirty="0"/>
              <a:t>0</a:t>
            </a:r>
            <a:r>
              <a:rPr lang="en-US" altLang="en-US" dirty="0"/>
              <a:t>= 2</a:t>
            </a:r>
          </a:p>
          <a:p>
            <a:endParaRPr lang="en-US" altLang="en-US" dirty="0"/>
          </a:p>
          <a:p>
            <a:r>
              <a:rPr lang="en-US" altLang="en-US" dirty="0"/>
              <a:t> n</a:t>
            </a:r>
            <a:r>
              <a:rPr lang="en-US" altLang="en-US" baseline="30000" dirty="0"/>
              <a:t>2</a:t>
            </a:r>
            <a:r>
              <a:rPr lang="en-US" altLang="en-US" dirty="0"/>
              <a:t> = O(n</a:t>
            </a:r>
            <a:r>
              <a:rPr lang="en-US" altLang="en-US" baseline="30000" dirty="0"/>
              <a:t>2</a:t>
            </a:r>
            <a:r>
              <a:rPr lang="en-US" altLang="en-US" dirty="0"/>
              <a:t>): n</a:t>
            </a:r>
            <a:r>
              <a:rPr lang="en-US" altLang="en-US" baseline="30000" dirty="0"/>
              <a:t>2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≤</a:t>
            </a:r>
            <a:r>
              <a:rPr lang="en-US" altLang="en-US" dirty="0"/>
              <a:t> cn</a:t>
            </a:r>
            <a:r>
              <a:rPr lang="en-US" altLang="en-US" baseline="30000" dirty="0"/>
              <a:t>2 </a:t>
            </a:r>
            <a:r>
              <a:rPr lang="en-US" altLang="en-US" dirty="0">
                <a:sym typeface="Symbol" panose="05050102010706020507" pitchFamily="18" charset="2"/>
              </a:rPr>
              <a:t> c ≥  1   </a:t>
            </a:r>
            <a:r>
              <a:rPr lang="en-US" altLang="en-US" dirty="0"/>
              <a:t>c = 1 and n</a:t>
            </a:r>
            <a:r>
              <a:rPr lang="en-US" altLang="en-US" baseline="-25000" dirty="0"/>
              <a:t>0</a:t>
            </a:r>
            <a:r>
              <a:rPr lang="en-US" altLang="en-US" dirty="0"/>
              <a:t>= 1</a:t>
            </a:r>
          </a:p>
          <a:p>
            <a:endParaRPr lang="en-US" altLang="en-US" dirty="0"/>
          </a:p>
          <a:p>
            <a:r>
              <a:rPr lang="en-US" altLang="en-US" dirty="0"/>
              <a:t>1000n</a:t>
            </a:r>
            <a:r>
              <a:rPr lang="en-US" altLang="en-US" baseline="30000" dirty="0"/>
              <a:t>2 </a:t>
            </a:r>
            <a:r>
              <a:rPr lang="en-US" altLang="en-US" dirty="0"/>
              <a:t>+ 1000n = O(n</a:t>
            </a:r>
            <a:r>
              <a:rPr lang="en-US" altLang="en-US" baseline="30000" dirty="0"/>
              <a:t>2</a:t>
            </a:r>
            <a:r>
              <a:rPr lang="en-US" altLang="en-US" dirty="0"/>
              <a:t>): 1000n</a:t>
            </a:r>
            <a:r>
              <a:rPr lang="en-US" altLang="en-US" baseline="30000" dirty="0"/>
              <a:t>2 </a:t>
            </a:r>
            <a:r>
              <a:rPr lang="en-US" altLang="en-US" dirty="0"/>
              <a:t>+ </a:t>
            </a:r>
            <a:r>
              <a:rPr lang="en-US" altLang="en-US" dirty="0" smtClean="0"/>
              <a:t>1000n  </a:t>
            </a:r>
            <a:r>
              <a:rPr lang="en-US" altLang="en-US" dirty="0">
                <a:sym typeface="Symbol" panose="05050102010706020507" pitchFamily="18" charset="2"/>
              </a:rPr>
              <a:t>≤</a:t>
            </a:r>
            <a:r>
              <a:rPr lang="en-US" altLang="en-US" dirty="0"/>
              <a:t> </a:t>
            </a:r>
            <a:r>
              <a:rPr lang="en-US" altLang="en-US" dirty="0" smtClean="0"/>
              <a:t>1000n</a:t>
            </a:r>
            <a:r>
              <a:rPr lang="en-US" altLang="en-US" baseline="30000" dirty="0" smtClean="0"/>
              <a:t>2 </a:t>
            </a:r>
            <a:r>
              <a:rPr lang="en-US" altLang="en-US" dirty="0"/>
              <a:t>+ </a:t>
            </a:r>
            <a:r>
              <a:rPr lang="en-US" altLang="en-US" dirty="0" smtClean="0"/>
              <a:t>1000n</a:t>
            </a:r>
            <a:r>
              <a:rPr lang="en-US" altLang="en-US" baseline="30000" dirty="0" smtClean="0"/>
              <a:t>2</a:t>
            </a:r>
            <a:r>
              <a:rPr lang="en-US" altLang="en-US" dirty="0" smtClean="0"/>
              <a:t> </a:t>
            </a:r>
            <a:r>
              <a:rPr lang="en-US" altLang="en-US" dirty="0" smtClean="0">
                <a:sym typeface="Symbol" panose="05050102010706020507" pitchFamily="18" charset="2"/>
              </a:rPr>
              <a:t> </a:t>
            </a:r>
            <a:r>
              <a:rPr lang="en-US" altLang="en-US" dirty="0" smtClean="0"/>
              <a:t>1000n</a:t>
            </a:r>
            <a:r>
              <a:rPr lang="en-US" altLang="en-US" baseline="30000" dirty="0" smtClean="0"/>
              <a:t>2 </a:t>
            </a:r>
            <a:r>
              <a:rPr lang="en-US" altLang="en-US" dirty="0" smtClean="0"/>
              <a:t>+ 1000n </a:t>
            </a:r>
            <a:r>
              <a:rPr lang="en-US" altLang="en-US" dirty="0" smtClean="0">
                <a:sym typeface="Symbol" panose="05050102010706020507" pitchFamily="18" charset="2"/>
              </a:rPr>
              <a:t>≤ </a:t>
            </a:r>
            <a:r>
              <a:rPr lang="en-US" altLang="en-US" dirty="0" smtClean="0"/>
              <a:t>2000n</a:t>
            </a:r>
            <a:r>
              <a:rPr lang="en-US" altLang="en-US" baseline="30000" dirty="0" smtClean="0"/>
              <a:t>2  </a:t>
            </a:r>
            <a:r>
              <a:rPr lang="en-US" altLang="en-US" dirty="0">
                <a:sym typeface="Symbol" panose="05050102010706020507" pitchFamily="18" charset="2"/>
              </a:rPr>
              <a:t> </a:t>
            </a:r>
            <a:r>
              <a:rPr lang="en-US" altLang="en-US" dirty="0" smtClean="0">
                <a:sym typeface="Symbol" panose="05050102010706020507" pitchFamily="18" charset="2"/>
              </a:rPr>
              <a:t>c=2000 </a:t>
            </a:r>
            <a:r>
              <a:rPr lang="en-US" altLang="en-US" dirty="0">
                <a:sym typeface="Symbol" panose="05050102010706020507" pitchFamily="18" charset="2"/>
              </a:rPr>
              <a:t>and n</a:t>
            </a:r>
            <a:r>
              <a:rPr lang="en-US" altLang="en-US" baseline="-25000" dirty="0">
                <a:sym typeface="Symbol" panose="05050102010706020507" pitchFamily="18" charset="2"/>
              </a:rPr>
              <a:t>0</a:t>
            </a:r>
            <a:r>
              <a:rPr lang="en-US" altLang="en-US" dirty="0">
                <a:sym typeface="Symbol" panose="05050102010706020507" pitchFamily="18" charset="2"/>
              </a:rPr>
              <a:t> = </a:t>
            </a:r>
            <a:r>
              <a:rPr lang="en-US" altLang="en-US" dirty="0" smtClean="0">
                <a:sym typeface="Symbol" panose="05050102010706020507" pitchFamily="18" charset="2"/>
              </a:rPr>
              <a:t>1</a:t>
            </a:r>
            <a:endParaRPr lang="en-US" altLang="en-US" dirty="0">
              <a:sym typeface="Symbol" panose="05050102010706020507" pitchFamily="18" charset="2"/>
            </a:endParaRPr>
          </a:p>
          <a:p>
            <a:endParaRPr lang="en-US" altLang="en-US" dirty="0" smtClean="0"/>
          </a:p>
          <a:p>
            <a:r>
              <a:rPr lang="en-US" altLang="en-US" dirty="0" smtClean="0"/>
              <a:t>1000n</a:t>
            </a:r>
            <a:r>
              <a:rPr lang="en-US" altLang="en-US" baseline="30000" dirty="0" smtClean="0"/>
              <a:t>2 </a:t>
            </a:r>
            <a:r>
              <a:rPr lang="en-US" altLang="en-US" dirty="0" smtClean="0"/>
              <a:t>– 1000n = O(n</a:t>
            </a:r>
            <a:r>
              <a:rPr lang="en-US" altLang="en-US" baseline="30000" dirty="0" smtClean="0"/>
              <a:t>2</a:t>
            </a:r>
            <a:r>
              <a:rPr lang="en-US" altLang="en-US" dirty="0" smtClean="0"/>
              <a:t>): 1000n</a:t>
            </a:r>
            <a:r>
              <a:rPr lang="en-US" altLang="en-US" baseline="30000" dirty="0" smtClean="0"/>
              <a:t>2 </a:t>
            </a:r>
            <a:r>
              <a:rPr lang="en-US" altLang="en-US" dirty="0" smtClean="0"/>
              <a:t>– 1000n  </a:t>
            </a:r>
            <a:r>
              <a:rPr lang="en-US" altLang="en-US" dirty="0" smtClean="0">
                <a:sym typeface="Symbol" panose="05050102010706020507" pitchFamily="18" charset="2"/>
              </a:rPr>
              <a:t>≤</a:t>
            </a:r>
            <a:r>
              <a:rPr lang="en-US" altLang="en-US" dirty="0" smtClean="0"/>
              <a:t> </a:t>
            </a:r>
            <a:r>
              <a:rPr lang="en-US" altLang="en-US" dirty="0" smtClean="0">
                <a:solidFill>
                  <a:srgbClr val="FF0000"/>
                </a:solidFill>
              </a:rPr>
              <a:t>1000n</a:t>
            </a:r>
            <a:r>
              <a:rPr lang="en-US" altLang="en-US" baseline="30000" dirty="0" smtClean="0">
                <a:solidFill>
                  <a:srgbClr val="FF0000"/>
                </a:solidFill>
              </a:rPr>
              <a:t>2 </a:t>
            </a:r>
            <a:r>
              <a:rPr lang="en-US" altLang="en-US" dirty="0" smtClean="0">
                <a:solidFill>
                  <a:srgbClr val="FF0000"/>
                </a:solidFill>
              </a:rPr>
              <a:t>– 1000n</a:t>
            </a:r>
            <a:r>
              <a:rPr lang="en-US" altLang="en-US" baseline="30000" dirty="0" smtClean="0">
                <a:solidFill>
                  <a:srgbClr val="FF0000"/>
                </a:solidFill>
              </a:rPr>
              <a:t>2</a:t>
            </a:r>
            <a:r>
              <a:rPr lang="en-US" altLang="en-US" dirty="0" smtClean="0">
                <a:solidFill>
                  <a:srgbClr val="FF0000"/>
                </a:solidFill>
              </a:rPr>
              <a:t> ? We cannot solve this therefore, the solution will have to be changed </a:t>
            </a:r>
            <a:r>
              <a:rPr lang="en-US" altLang="en-US" dirty="0" smtClean="0"/>
              <a:t>1000n</a:t>
            </a:r>
            <a:r>
              <a:rPr lang="en-US" altLang="en-US" baseline="30000" dirty="0" smtClean="0"/>
              <a:t>2 </a:t>
            </a:r>
            <a:r>
              <a:rPr lang="en-US" altLang="en-US" dirty="0" smtClean="0"/>
              <a:t>– 1000n = O(n</a:t>
            </a:r>
            <a:r>
              <a:rPr lang="en-US" altLang="en-US" baseline="30000" dirty="0" smtClean="0"/>
              <a:t>2</a:t>
            </a:r>
            <a:r>
              <a:rPr lang="en-US" altLang="en-US" dirty="0" smtClean="0"/>
              <a:t>): </a:t>
            </a:r>
            <a:r>
              <a:rPr lang="en-US" altLang="en-US" dirty="0" smtClean="0">
                <a:sym typeface="Symbol" panose="05050102010706020507" pitchFamily="18" charset="2"/>
              </a:rPr>
              <a:t> </a:t>
            </a:r>
            <a:r>
              <a:rPr lang="en-US" altLang="en-US" dirty="0" smtClean="0"/>
              <a:t>1000n</a:t>
            </a:r>
            <a:r>
              <a:rPr lang="en-US" altLang="en-US" baseline="30000" dirty="0" smtClean="0"/>
              <a:t>2 </a:t>
            </a:r>
            <a:r>
              <a:rPr lang="en-US" altLang="en-US" dirty="0" smtClean="0"/>
              <a:t>– 1000n  </a:t>
            </a:r>
            <a:r>
              <a:rPr lang="en-US" altLang="en-US" dirty="0" smtClean="0">
                <a:sym typeface="Symbol" panose="05050102010706020507" pitchFamily="18" charset="2"/>
              </a:rPr>
              <a:t>≤</a:t>
            </a:r>
            <a:r>
              <a:rPr lang="en-US" altLang="en-US" dirty="0" smtClean="0"/>
              <a:t> 1000n</a:t>
            </a:r>
            <a:r>
              <a:rPr lang="en-US" altLang="en-US" baseline="30000" dirty="0" smtClean="0"/>
              <a:t>2 </a:t>
            </a:r>
            <a:r>
              <a:rPr lang="en-US" altLang="en-US" dirty="0" smtClean="0">
                <a:sym typeface="Symbol" panose="05050102010706020507" pitchFamily="18" charset="2"/>
              </a:rPr>
              <a:t> c=1000 and n</a:t>
            </a:r>
            <a:r>
              <a:rPr lang="en-US" altLang="en-US" baseline="-25000" dirty="0" smtClean="0">
                <a:sym typeface="Symbol" panose="05050102010706020507" pitchFamily="18" charset="2"/>
              </a:rPr>
              <a:t>0</a:t>
            </a:r>
            <a:r>
              <a:rPr lang="en-US" altLang="en-US" dirty="0" smtClean="0">
                <a:sym typeface="Symbol" panose="05050102010706020507" pitchFamily="18" charset="2"/>
              </a:rPr>
              <a:t> = 1</a:t>
            </a:r>
          </a:p>
          <a:p>
            <a:endParaRPr lang="en-US" altLang="en-US" dirty="0"/>
          </a:p>
          <a:p>
            <a:r>
              <a:rPr lang="en-US" altLang="en-US" dirty="0"/>
              <a:t>n = O(n</a:t>
            </a:r>
            <a:r>
              <a:rPr lang="en-US" altLang="en-US" baseline="30000" dirty="0"/>
              <a:t>2</a:t>
            </a:r>
            <a:r>
              <a:rPr lang="en-US" altLang="en-US" dirty="0"/>
              <a:t>): n </a:t>
            </a:r>
            <a:r>
              <a:rPr lang="en-US" altLang="en-US" dirty="0">
                <a:sym typeface="Symbol" panose="05050102010706020507" pitchFamily="18" charset="2"/>
              </a:rPr>
              <a:t>≤</a:t>
            </a:r>
            <a:r>
              <a:rPr lang="en-US" altLang="en-US" dirty="0"/>
              <a:t> cn</a:t>
            </a:r>
            <a:r>
              <a:rPr lang="en-US" altLang="en-US" baseline="30000" dirty="0"/>
              <a:t>2 </a:t>
            </a:r>
            <a:r>
              <a:rPr lang="en-US" altLang="en-US" dirty="0">
                <a:sym typeface="Symbol" panose="05050102010706020507" pitchFamily="18" charset="2"/>
              </a:rPr>
              <a:t> </a:t>
            </a:r>
            <a:r>
              <a:rPr lang="en-US" altLang="en-US" dirty="0" err="1">
                <a:sym typeface="Symbol" panose="05050102010706020507" pitchFamily="18" charset="2"/>
              </a:rPr>
              <a:t>cn</a:t>
            </a:r>
            <a:r>
              <a:rPr lang="en-US" altLang="en-US" dirty="0">
                <a:sym typeface="Symbol" panose="05050102010706020507" pitchFamily="18" charset="2"/>
              </a:rPr>
              <a:t> ≥ 1  </a:t>
            </a:r>
            <a:r>
              <a:rPr lang="en-US" altLang="en-US" dirty="0"/>
              <a:t>c = 1 and n</a:t>
            </a:r>
            <a:r>
              <a:rPr lang="en-US" altLang="en-US" baseline="-25000" dirty="0"/>
              <a:t>0</a:t>
            </a:r>
            <a:r>
              <a:rPr lang="en-US" altLang="en-US" dirty="0"/>
              <a:t>= 1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000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46AE4-FAF7-4913-9543-1A4D5F310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1B47A-2962-4F56-B219-C22550BE6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34" charset="-127"/>
              </a:rPr>
              <a:t>Show that 30</a:t>
            </a:r>
            <a:r>
              <a:rPr lang="en-US" altLang="ko-KR" i="1" dirty="0">
                <a:ea typeface="굴림" panose="020B0600000101010101" pitchFamily="34" charset="-127"/>
              </a:rPr>
              <a:t>n </a:t>
            </a:r>
            <a:r>
              <a:rPr lang="en-US" altLang="ko-KR" dirty="0">
                <a:ea typeface="굴림" panose="020B0600000101010101" pitchFamily="34" charset="-127"/>
              </a:rPr>
              <a:t>+ 8 is O(</a:t>
            </a:r>
            <a:r>
              <a:rPr lang="en-US" altLang="ko-KR" i="1" dirty="0">
                <a:ea typeface="굴림" panose="020B0600000101010101" pitchFamily="34" charset="-127"/>
              </a:rPr>
              <a:t>n</a:t>
            </a:r>
            <a:r>
              <a:rPr lang="en-US" altLang="ko-KR" dirty="0">
                <a:ea typeface="굴림" panose="020B0600000101010101" pitchFamily="34" charset="-127"/>
              </a:rPr>
              <a:t>).</a:t>
            </a:r>
          </a:p>
          <a:p>
            <a:pPr lvl="1"/>
            <a:r>
              <a:rPr lang="en-US" altLang="ko-KR" dirty="0">
                <a:ea typeface="굴림" panose="020B0600000101010101" pitchFamily="34" charset="-127"/>
              </a:rPr>
              <a:t>Show </a:t>
            </a:r>
            <a:r>
              <a:rPr lang="en-US" altLang="ko-KR" b="1" dirty="0">
                <a:ea typeface="굴림" panose="020B0600000101010101" pitchFamily="34" charset="-127"/>
                <a:sym typeface="Symbol" panose="05050102010706020507" pitchFamily="18" charset="2"/>
              </a:rPr>
              <a:t></a:t>
            </a:r>
            <a:r>
              <a:rPr lang="en-US" altLang="ko-KR" i="1" dirty="0">
                <a:ea typeface="굴림" panose="020B0600000101010101" pitchFamily="34" charset="-127"/>
                <a:sym typeface="Symbol" panose="05050102010706020507" pitchFamily="18" charset="2"/>
              </a:rPr>
              <a:t>c</a:t>
            </a:r>
            <a:r>
              <a:rPr lang="en-US" altLang="ko-KR" dirty="0">
                <a:ea typeface="굴림" panose="020B0600000101010101" pitchFamily="34" charset="-127"/>
                <a:sym typeface="Symbol" panose="05050102010706020507" pitchFamily="18" charset="2"/>
              </a:rPr>
              <a:t>,</a:t>
            </a:r>
            <a:r>
              <a:rPr lang="en-US" altLang="ko-KR" i="1" dirty="0">
                <a:ea typeface="굴림" panose="020B0600000101010101" pitchFamily="34" charset="-127"/>
                <a:sym typeface="Symbol" panose="05050102010706020507" pitchFamily="18" charset="2"/>
              </a:rPr>
              <a:t>n</a:t>
            </a:r>
            <a:r>
              <a:rPr lang="en-US" altLang="ko-KR" i="1" baseline="-25000" dirty="0">
                <a:ea typeface="굴림" panose="020B0600000101010101" pitchFamily="34" charset="-127"/>
                <a:sym typeface="Symbol" panose="05050102010706020507" pitchFamily="18" charset="2"/>
              </a:rPr>
              <a:t>0</a:t>
            </a:r>
            <a:r>
              <a:rPr lang="en-US" altLang="ko-KR" dirty="0">
                <a:ea typeface="굴림" panose="020B0600000101010101" pitchFamily="34" charset="-127"/>
                <a:sym typeface="Symbol" panose="05050102010706020507" pitchFamily="18" charset="2"/>
              </a:rPr>
              <a:t>: 30</a:t>
            </a:r>
            <a:r>
              <a:rPr lang="en-US" altLang="ko-KR" i="1" dirty="0">
                <a:ea typeface="굴림" panose="020B0600000101010101" pitchFamily="34" charset="-127"/>
                <a:sym typeface="Symbol" panose="05050102010706020507" pitchFamily="18" charset="2"/>
              </a:rPr>
              <a:t>n </a:t>
            </a:r>
            <a:r>
              <a:rPr lang="en-US" altLang="ko-KR" dirty="0">
                <a:ea typeface="굴림" panose="020B0600000101010101" pitchFamily="34" charset="-127"/>
                <a:sym typeface="Symbol" panose="05050102010706020507" pitchFamily="18" charset="2"/>
              </a:rPr>
              <a:t>+ 8  </a:t>
            </a:r>
            <a:r>
              <a:rPr lang="en-US" altLang="ko-KR" i="1" dirty="0" err="1">
                <a:ea typeface="굴림" panose="020B0600000101010101" pitchFamily="34" charset="-127"/>
                <a:sym typeface="Symbol" panose="05050102010706020507" pitchFamily="18" charset="2"/>
              </a:rPr>
              <a:t>cn</a:t>
            </a:r>
            <a:r>
              <a:rPr lang="en-US" altLang="ko-KR" i="1" dirty="0">
                <a:ea typeface="굴림" panose="020B0600000101010101" pitchFamily="34" charset="-127"/>
                <a:sym typeface="Symbol" panose="05050102010706020507" pitchFamily="18" charset="2"/>
              </a:rPr>
              <a:t>, </a:t>
            </a:r>
            <a:r>
              <a:rPr lang="en-US" altLang="ko-KR" dirty="0">
                <a:ea typeface="굴림" panose="020B0600000101010101" pitchFamily="34" charset="-127"/>
                <a:sym typeface="Symbol" panose="05050102010706020507" pitchFamily="18" charset="2"/>
              </a:rPr>
              <a:t></a:t>
            </a:r>
            <a:r>
              <a:rPr lang="en-US" altLang="ko-KR" i="1" dirty="0">
                <a:ea typeface="굴림" panose="020B0600000101010101" pitchFamily="34" charset="-127"/>
                <a:sym typeface="Symbol" panose="05050102010706020507" pitchFamily="18" charset="2"/>
              </a:rPr>
              <a:t>n </a:t>
            </a:r>
            <a:r>
              <a:rPr lang="en-US" altLang="ko-KR" dirty="0">
                <a:ea typeface="굴림" panose="020B0600000101010101" pitchFamily="34" charset="-127"/>
                <a:sym typeface="Symbol" panose="05050102010706020507" pitchFamily="18" charset="2"/>
              </a:rPr>
              <a:t>≥ n</a:t>
            </a:r>
            <a:r>
              <a:rPr lang="en-US" altLang="ko-KR" baseline="-25000" dirty="0">
                <a:ea typeface="굴림" panose="020B0600000101010101" pitchFamily="34" charset="-127"/>
                <a:sym typeface="Symbol" panose="05050102010706020507" pitchFamily="18" charset="2"/>
              </a:rPr>
              <a:t>0</a:t>
            </a:r>
            <a:r>
              <a:rPr lang="en-US" altLang="ko-KR" i="1" dirty="0">
                <a:ea typeface="굴림" panose="020B0600000101010101" pitchFamily="34" charset="-127"/>
                <a:sym typeface="Symbol" panose="05050102010706020507" pitchFamily="18" charset="2"/>
              </a:rPr>
              <a:t> </a:t>
            </a:r>
            <a:r>
              <a:rPr lang="en-US" altLang="ko-KR" dirty="0">
                <a:ea typeface="굴림" panose="020B0600000101010101" pitchFamily="34" charset="-127"/>
                <a:sym typeface="Symbol" panose="05050102010706020507" pitchFamily="18" charset="2"/>
              </a:rPr>
              <a:t>.</a:t>
            </a:r>
          </a:p>
          <a:p>
            <a:pPr lvl="2"/>
            <a:r>
              <a:rPr lang="en-US" altLang="ko-KR" dirty="0">
                <a:ea typeface="굴림" panose="020B0600000101010101" pitchFamily="34" charset="-127"/>
                <a:sym typeface="Symbol" panose="05050102010706020507" pitchFamily="18" charset="2"/>
              </a:rPr>
              <a:t>Let </a:t>
            </a:r>
            <a:r>
              <a:rPr lang="en-US" altLang="ko-KR" i="1" dirty="0">
                <a:ea typeface="굴림" panose="020B0600000101010101" pitchFamily="34" charset="-127"/>
                <a:sym typeface="Symbol" panose="05050102010706020507" pitchFamily="18" charset="2"/>
              </a:rPr>
              <a:t>c=</a:t>
            </a:r>
            <a:r>
              <a:rPr lang="en-US" altLang="ko-KR" dirty="0">
                <a:ea typeface="굴림" panose="020B0600000101010101" pitchFamily="34" charset="-127"/>
                <a:sym typeface="Symbol" panose="05050102010706020507" pitchFamily="18" charset="2"/>
              </a:rPr>
              <a:t>31, </a:t>
            </a:r>
            <a:r>
              <a:rPr lang="en-US" altLang="ko-KR" i="1" dirty="0">
                <a:ea typeface="굴림" panose="020B0600000101010101" pitchFamily="34" charset="-127"/>
                <a:sym typeface="Symbol" panose="05050102010706020507" pitchFamily="18" charset="2"/>
              </a:rPr>
              <a:t>n</a:t>
            </a:r>
            <a:r>
              <a:rPr lang="en-US" altLang="ko-KR" i="1" baseline="-25000" dirty="0">
                <a:ea typeface="굴림" panose="020B0600000101010101" pitchFamily="34" charset="-127"/>
                <a:sym typeface="Symbol" panose="05050102010706020507" pitchFamily="18" charset="2"/>
              </a:rPr>
              <a:t>0 </a:t>
            </a:r>
            <a:r>
              <a:rPr lang="en-US" altLang="ko-KR" dirty="0">
                <a:ea typeface="굴림" panose="020B0600000101010101" pitchFamily="34" charset="-127"/>
                <a:sym typeface="Symbol" panose="05050102010706020507" pitchFamily="18" charset="2"/>
              </a:rPr>
              <a:t>= 8. Then</a:t>
            </a:r>
            <a:br>
              <a:rPr lang="en-US" altLang="ko-KR" dirty="0">
                <a:ea typeface="굴림" panose="020B0600000101010101" pitchFamily="34" charset="-127"/>
                <a:sym typeface="Symbol" panose="05050102010706020507" pitchFamily="18" charset="2"/>
              </a:rPr>
            </a:br>
            <a:r>
              <a:rPr lang="en-US" altLang="ko-KR" i="1" dirty="0" err="1">
                <a:ea typeface="굴림" panose="020B0600000101010101" pitchFamily="34" charset="-127"/>
                <a:sym typeface="Symbol" panose="05050102010706020507" pitchFamily="18" charset="2"/>
              </a:rPr>
              <a:t>cn</a:t>
            </a:r>
            <a:r>
              <a:rPr lang="en-US" altLang="ko-KR" dirty="0">
                <a:ea typeface="굴림" panose="020B0600000101010101" pitchFamily="34" charset="-127"/>
                <a:sym typeface="Symbol" panose="05050102010706020507" pitchFamily="18" charset="2"/>
              </a:rPr>
              <a:t> = 31</a:t>
            </a:r>
            <a:r>
              <a:rPr lang="en-US" altLang="ko-KR" i="1" dirty="0">
                <a:ea typeface="굴림" panose="020B0600000101010101" pitchFamily="34" charset="-127"/>
                <a:sym typeface="Symbol" panose="05050102010706020507" pitchFamily="18" charset="2"/>
              </a:rPr>
              <a:t>n</a:t>
            </a:r>
            <a:r>
              <a:rPr lang="en-US" altLang="ko-KR" dirty="0">
                <a:ea typeface="굴림" panose="020B0600000101010101" pitchFamily="34" charset="-127"/>
                <a:sym typeface="Symbol" panose="05050102010706020507" pitchFamily="18" charset="2"/>
              </a:rPr>
              <a:t> = 30</a:t>
            </a:r>
            <a:r>
              <a:rPr lang="en-US" altLang="ko-KR" i="1" dirty="0">
                <a:ea typeface="굴림" panose="020B0600000101010101" pitchFamily="34" charset="-127"/>
                <a:sym typeface="Symbol" panose="05050102010706020507" pitchFamily="18" charset="2"/>
              </a:rPr>
              <a:t>n</a:t>
            </a:r>
            <a:r>
              <a:rPr lang="en-US" altLang="ko-KR" dirty="0">
                <a:ea typeface="굴림" panose="020B0600000101010101" pitchFamily="34" charset="-127"/>
                <a:sym typeface="Symbol" panose="05050102010706020507" pitchFamily="18" charset="2"/>
              </a:rPr>
              <a:t> + </a:t>
            </a:r>
            <a:r>
              <a:rPr lang="en-US" altLang="ko-KR" i="1" dirty="0">
                <a:ea typeface="굴림" panose="020B0600000101010101" pitchFamily="34" charset="-127"/>
                <a:sym typeface="Symbol" panose="05050102010706020507" pitchFamily="18" charset="2"/>
              </a:rPr>
              <a:t>n</a:t>
            </a:r>
            <a:r>
              <a:rPr lang="en-US" altLang="ko-KR" dirty="0">
                <a:ea typeface="굴림" panose="020B0600000101010101" pitchFamily="34" charset="-127"/>
                <a:sym typeface="Symbol" panose="05050102010706020507" pitchFamily="18" charset="2"/>
              </a:rPr>
              <a:t> ≥ 30</a:t>
            </a:r>
            <a:r>
              <a:rPr lang="en-US" altLang="ko-KR" i="1" dirty="0">
                <a:ea typeface="굴림" panose="020B0600000101010101" pitchFamily="34" charset="-127"/>
                <a:sym typeface="Symbol" panose="05050102010706020507" pitchFamily="18" charset="2"/>
              </a:rPr>
              <a:t>n </a:t>
            </a:r>
            <a:r>
              <a:rPr lang="en-US" altLang="ko-KR" dirty="0">
                <a:ea typeface="굴림" panose="020B0600000101010101" pitchFamily="34" charset="-127"/>
                <a:sym typeface="Symbol" panose="05050102010706020507" pitchFamily="18" charset="2"/>
              </a:rPr>
              <a:t>+ 8, so 30</a:t>
            </a:r>
            <a:r>
              <a:rPr lang="en-US" altLang="ko-KR" i="1" dirty="0">
                <a:ea typeface="굴림" panose="020B0600000101010101" pitchFamily="34" charset="-127"/>
                <a:sym typeface="Symbol" panose="05050102010706020507" pitchFamily="18" charset="2"/>
              </a:rPr>
              <a:t>n </a:t>
            </a:r>
            <a:r>
              <a:rPr lang="en-US" altLang="ko-KR" dirty="0">
                <a:ea typeface="굴림" panose="020B0600000101010101" pitchFamily="34" charset="-127"/>
                <a:sym typeface="Symbol" panose="05050102010706020507" pitchFamily="18" charset="2"/>
              </a:rPr>
              <a:t>+ 8 ≤ </a:t>
            </a:r>
            <a:r>
              <a:rPr lang="en-US" altLang="ko-KR" i="1" dirty="0" err="1">
                <a:ea typeface="굴림" panose="020B0600000101010101" pitchFamily="34" charset="-127"/>
                <a:sym typeface="Symbol" panose="05050102010706020507" pitchFamily="18" charset="2"/>
              </a:rPr>
              <a:t>cn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4936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C4957B-9477-4C11-9DC5-C8F19C489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34" charset="-127"/>
              </a:rPr>
              <a:t>Big-O example, graphically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B5A528-61F1-4E83-AC2E-39CC1FAB25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34" charset="-127"/>
              </a:rPr>
              <a:t>Note 30</a:t>
            </a:r>
            <a:r>
              <a:rPr lang="en-US" altLang="ko-KR" i="1" dirty="0">
                <a:ea typeface="굴림" panose="020B0600000101010101" pitchFamily="34" charset="-127"/>
              </a:rPr>
              <a:t>n </a:t>
            </a:r>
            <a:r>
              <a:rPr lang="en-US" altLang="ko-KR" dirty="0">
                <a:ea typeface="굴림" panose="020B0600000101010101" pitchFamily="34" charset="-127"/>
              </a:rPr>
              <a:t>+ 8 isn’t less than </a:t>
            </a:r>
            <a:r>
              <a:rPr lang="en-US" altLang="ko-KR" i="1" dirty="0">
                <a:ea typeface="굴림" panose="020B0600000101010101" pitchFamily="34" charset="-127"/>
              </a:rPr>
              <a:t>n</a:t>
            </a:r>
            <a:r>
              <a:rPr lang="en-US" altLang="ko-KR" dirty="0">
                <a:ea typeface="굴림" panose="020B0600000101010101" pitchFamily="34" charset="-127"/>
              </a:rPr>
              <a:t/>
            </a:r>
            <a:br>
              <a:rPr lang="en-US" altLang="ko-KR" dirty="0">
                <a:ea typeface="굴림" panose="020B0600000101010101" pitchFamily="34" charset="-127"/>
              </a:rPr>
            </a:br>
            <a:r>
              <a:rPr lang="en-US" altLang="ko-KR" i="1" dirty="0">
                <a:ea typeface="굴림" panose="020B0600000101010101" pitchFamily="34" charset="-127"/>
              </a:rPr>
              <a:t>anywhere </a:t>
            </a:r>
            <a:r>
              <a:rPr lang="en-US" altLang="ko-KR" dirty="0">
                <a:ea typeface="굴림" panose="020B0600000101010101" pitchFamily="34" charset="-127"/>
              </a:rPr>
              <a:t>(</a:t>
            </a:r>
            <a:r>
              <a:rPr lang="en-US" altLang="ko-KR" i="1" dirty="0">
                <a:ea typeface="굴림" panose="020B0600000101010101" pitchFamily="34" charset="-127"/>
              </a:rPr>
              <a:t>n</a:t>
            </a:r>
            <a:r>
              <a:rPr lang="en-US" altLang="ko-KR" dirty="0">
                <a:ea typeface="굴림" panose="020B0600000101010101" pitchFamily="34" charset="-127"/>
              </a:rPr>
              <a:t>&gt;0).</a:t>
            </a:r>
          </a:p>
          <a:p>
            <a:r>
              <a:rPr lang="en-US" altLang="ko-KR" dirty="0">
                <a:ea typeface="굴림" panose="020B0600000101010101" pitchFamily="34" charset="-127"/>
              </a:rPr>
              <a:t>It isn’t even less than 31</a:t>
            </a:r>
            <a:r>
              <a:rPr lang="en-US" altLang="ko-KR" i="1" dirty="0">
                <a:ea typeface="굴림" panose="020B0600000101010101" pitchFamily="34" charset="-127"/>
              </a:rPr>
              <a:t>n</a:t>
            </a:r>
            <a:r>
              <a:rPr lang="en-US" altLang="ko-KR" dirty="0">
                <a:ea typeface="굴림" panose="020B0600000101010101" pitchFamily="34" charset="-127"/>
              </a:rPr>
              <a:t/>
            </a:r>
            <a:br>
              <a:rPr lang="en-US" altLang="ko-KR" dirty="0">
                <a:ea typeface="굴림" panose="020B0600000101010101" pitchFamily="34" charset="-127"/>
              </a:rPr>
            </a:br>
            <a:r>
              <a:rPr lang="en-US" altLang="ko-KR" i="1" dirty="0">
                <a:ea typeface="굴림" panose="020B0600000101010101" pitchFamily="34" charset="-127"/>
              </a:rPr>
              <a:t>everywhere</a:t>
            </a:r>
            <a:r>
              <a:rPr lang="en-US" altLang="ko-KR" dirty="0">
                <a:ea typeface="굴림" panose="020B0600000101010101" pitchFamily="34" charset="-127"/>
              </a:rPr>
              <a:t>.</a:t>
            </a:r>
          </a:p>
          <a:p>
            <a:r>
              <a:rPr lang="en-US" altLang="ko-KR" dirty="0">
                <a:ea typeface="굴림" panose="020B0600000101010101" pitchFamily="34" charset="-127"/>
              </a:rPr>
              <a:t>But it </a:t>
            </a:r>
            <a:r>
              <a:rPr lang="en-US" altLang="ko-KR" i="1" dirty="0">
                <a:ea typeface="굴림" panose="020B0600000101010101" pitchFamily="34" charset="-127"/>
              </a:rPr>
              <a:t>is</a:t>
            </a:r>
            <a:r>
              <a:rPr lang="en-US" altLang="ko-KR" dirty="0">
                <a:ea typeface="굴림" panose="020B0600000101010101" pitchFamily="34" charset="-127"/>
              </a:rPr>
              <a:t> less than 31</a:t>
            </a:r>
            <a:r>
              <a:rPr lang="en-US" altLang="ko-KR" i="1" dirty="0">
                <a:ea typeface="굴림" panose="020B0600000101010101" pitchFamily="34" charset="-127"/>
              </a:rPr>
              <a:t>n </a:t>
            </a:r>
            <a:r>
              <a:rPr lang="en-US" altLang="ko-KR" u="sng" dirty="0">
                <a:ea typeface="굴림" panose="020B0600000101010101" pitchFamily="34" charset="-127"/>
              </a:rPr>
              <a:t>everywhere to the right of </a:t>
            </a:r>
            <a:r>
              <a:rPr lang="en-US" altLang="ko-KR" i="1" u="sng" dirty="0">
                <a:ea typeface="굴림" panose="020B0600000101010101" pitchFamily="34" charset="-127"/>
              </a:rPr>
              <a:t>n</a:t>
            </a:r>
            <a:r>
              <a:rPr lang="en-US" altLang="ko-KR" u="sng" dirty="0">
                <a:ea typeface="굴림" panose="020B0600000101010101" pitchFamily="34" charset="-127"/>
              </a:rPr>
              <a:t>=8</a:t>
            </a:r>
            <a:r>
              <a:rPr lang="en-US" altLang="ko-KR" dirty="0">
                <a:ea typeface="굴림" panose="020B0600000101010101" pitchFamily="34" charset="-127"/>
              </a:rPr>
              <a:t>. </a:t>
            </a:r>
          </a:p>
          <a:p>
            <a:endParaRPr lang="en-US" dirty="0"/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4A7029B8-79CA-46D8-9CC3-72F5843D6959}"/>
              </a:ext>
            </a:extLst>
          </p:cNvPr>
          <p:cNvGrpSpPr>
            <a:grpSpLocks/>
          </p:cNvGrpSpPr>
          <p:nvPr/>
        </p:nvGrpSpPr>
        <p:grpSpPr bwMode="auto">
          <a:xfrm>
            <a:off x="7508875" y="2286000"/>
            <a:ext cx="2168525" cy="3200400"/>
            <a:chOff x="3146" y="1440"/>
            <a:chExt cx="1366" cy="2016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BDABD7DD-0CA4-4647-869C-995438095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440"/>
              <a:ext cx="1296" cy="2016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" name="Line 5">
              <a:extLst>
                <a:ext uri="{FF2B5EF4-FFF2-40B4-BE49-F238E27FC236}">
                  <a16:creationId xmlns:a16="http://schemas.microsoft.com/office/drawing/2014/main" id="{D6FFADFD-0678-4E31-A0BF-34D58089B3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6" y="1440"/>
              <a:ext cx="0" cy="201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Text Box 6">
              <a:extLst>
                <a:ext uri="{FF2B5EF4-FFF2-40B4-BE49-F238E27FC236}">
                  <a16:creationId xmlns:a16="http://schemas.microsoft.com/office/drawing/2014/main" id="{30983FD5-BAC2-4078-9B04-61026EF987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6" y="3119"/>
              <a:ext cx="11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ko-KR" sz="2400" i="1">
                  <a:solidFill>
                    <a:srgbClr val="FF0000"/>
                  </a:solidFill>
                  <a:ea typeface="굴림" panose="020B0600000101010101" pitchFamily="34" charset="-127"/>
                </a:rPr>
                <a:t>n ≥ n</a:t>
              </a:r>
              <a:r>
                <a:rPr lang="en-US" altLang="ko-KR" sz="2400" i="1" baseline="-25000">
                  <a:solidFill>
                    <a:srgbClr val="FF0000"/>
                  </a:solidFill>
                  <a:ea typeface="굴림" panose="020B0600000101010101" pitchFamily="34" charset="-127"/>
                </a:rPr>
                <a:t>0</a:t>
              </a:r>
              <a:r>
                <a:rPr lang="en-US" altLang="ko-KR" sz="2400">
                  <a:solidFill>
                    <a:srgbClr val="FF0000"/>
                  </a:solidFill>
                  <a:ea typeface="굴림" panose="020B0600000101010101" pitchFamily="34" charset="-127"/>
                </a:rPr>
                <a:t>=8 </a:t>
              </a:r>
              <a:r>
                <a:rPr lang="en-US" altLang="ko-KR" sz="2400">
                  <a:solidFill>
                    <a:srgbClr val="FF0000"/>
                  </a:solidFill>
                  <a:ea typeface="굴림" panose="020B0600000101010101" pitchFamily="34" charset="-127"/>
                  <a:sym typeface="Symbol" panose="05050102010706020507" pitchFamily="18" charset="2"/>
                </a:rPr>
                <a:t></a:t>
              </a:r>
              <a:endParaRPr lang="en-US" altLang="ko-KR" sz="2400">
                <a:ea typeface="굴림" panose="020B0600000101010101" pitchFamily="34" charset="-127"/>
              </a:endParaRPr>
            </a:p>
          </p:txBody>
        </p:sp>
      </p:grpSp>
      <p:sp>
        <p:nvSpPr>
          <p:cNvPr id="11" name="Line 8">
            <a:extLst>
              <a:ext uri="{FF2B5EF4-FFF2-40B4-BE49-F238E27FC236}">
                <a16:creationId xmlns:a16="http://schemas.microsoft.com/office/drawing/2014/main" id="{8A7A0408-EA19-47FE-9566-624F25D910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1800" y="2286000"/>
            <a:ext cx="0" cy="320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9">
            <a:extLst>
              <a:ext uri="{FF2B5EF4-FFF2-40B4-BE49-F238E27FC236}">
                <a16:creationId xmlns:a16="http://schemas.microsoft.com/office/drawing/2014/main" id="{C8CE5981-F027-47DC-956F-E7ACBF4911A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5486400"/>
            <a:ext cx="2971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Line 10">
            <a:extLst>
              <a:ext uri="{FF2B5EF4-FFF2-40B4-BE49-F238E27FC236}">
                <a16:creationId xmlns:a16="http://schemas.microsoft.com/office/drawing/2014/main" id="{20131B35-4F3F-4B8A-ABCB-34915DAC58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1800" y="2286000"/>
            <a:ext cx="2209800" cy="2895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8B5A0FD4-38FF-4092-8EFC-A0827D572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54864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ko-KR" sz="2400">
                <a:ea typeface="굴림" panose="020B0600000101010101" pitchFamily="34" charset="-127"/>
              </a:rPr>
              <a:t>Increasing </a:t>
            </a:r>
            <a:r>
              <a:rPr lang="en-US" altLang="ko-KR" sz="2400" i="1">
                <a:ea typeface="굴림" panose="020B0600000101010101" pitchFamily="34" charset="-127"/>
              </a:rPr>
              <a:t>n </a:t>
            </a:r>
            <a:r>
              <a:rPr lang="en-US" altLang="ko-KR" sz="2400">
                <a:ea typeface="굴림" panose="020B0600000101010101" pitchFamily="34" charset="-127"/>
                <a:sym typeface="Symbol" panose="05050102010706020507" pitchFamily="18" charset="2"/>
              </a:rPr>
              <a:t></a:t>
            </a:r>
            <a:endParaRPr lang="en-US" altLang="ko-KR" sz="2400">
              <a:ea typeface="굴림" panose="020B0600000101010101" pitchFamily="34" charset="-127"/>
            </a:endParaRP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2410D2E0-B320-4BE0-862D-3A5697709E0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199062" y="3792538"/>
            <a:ext cx="2708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ko-KR" sz="2400" dirty="0">
                <a:ea typeface="굴림" panose="020B0600000101010101" pitchFamily="34" charset="-127"/>
              </a:rPr>
              <a:t>Value of function </a:t>
            </a:r>
            <a:r>
              <a:rPr lang="en-US" altLang="ko-KR" sz="2400" dirty="0">
                <a:ea typeface="굴림" panose="020B0600000101010101" pitchFamily="34" charset="-127"/>
                <a:sym typeface="Symbol" panose="05050102010706020507" pitchFamily="18" charset="2"/>
              </a:rPr>
              <a:t></a:t>
            </a:r>
            <a:endParaRPr lang="en-US" altLang="ko-KR" sz="2400" dirty="0">
              <a:ea typeface="굴림" panose="020B0600000101010101" pitchFamily="34" charset="-127"/>
            </a:endParaRPr>
          </a:p>
        </p:txBody>
      </p:sp>
      <p:sp>
        <p:nvSpPr>
          <p:cNvPr id="16" name="Line 13">
            <a:extLst>
              <a:ext uri="{FF2B5EF4-FFF2-40B4-BE49-F238E27FC236}">
                <a16:creationId xmlns:a16="http://schemas.microsoft.com/office/drawing/2014/main" id="{C6F058A6-3817-4836-B917-E8C2FD4961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1800" y="3962400"/>
            <a:ext cx="2819400" cy="152400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D5124F6A-106E-489F-B79E-6BB772F21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4038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ko-KR" sz="2400" i="1">
                <a:solidFill>
                  <a:srgbClr val="006600"/>
                </a:solidFill>
                <a:ea typeface="굴림" panose="020B0600000101010101" pitchFamily="34" charset="-127"/>
              </a:rPr>
              <a:t>n</a:t>
            </a:r>
            <a:endParaRPr lang="en-US" altLang="ko-KR" sz="2400">
              <a:ea typeface="굴림" panose="020B0600000101010101" pitchFamily="34" charset="-127"/>
            </a:endParaRPr>
          </a:p>
        </p:txBody>
      </p:sp>
      <p:sp>
        <p:nvSpPr>
          <p:cNvPr id="18" name="Text Box 15">
            <a:extLst>
              <a:ext uri="{FF2B5EF4-FFF2-40B4-BE49-F238E27FC236}">
                <a16:creationId xmlns:a16="http://schemas.microsoft.com/office/drawing/2014/main" id="{DE3D7C43-B20A-4DC3-BA65-C04F81B50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2590800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ko-KR" sz="2400">
                <a:ea typeface="굴림" panose="020B0600000101010101" pitchFamily="34" charset="-127"/>
              </a:rPr>
              <a:t>30</a:t>
            </a:r>
            <a:r>
              <a:rPr lang="en-US" altLang="ko-KR" sz="2400" i="1">
                <a:ea typeface="굴림" panose="020B0600000101010101" pitchFamily="34" charset="-127"/>
              </a:rPr>
              <a:t>n</a:t>
            </a:r>
            <a:r>
              <a:rPr lang="en-US" altLang="ko-KR" sz="2400">
                <a:ea typeface="굴림" panose="020B0600000101010101" pitchFamily="34" charset="-127"/>
              </a:rPr>
              <a:t>+8</a:t>
            </a:r>
          </a:p>
        </p:txBody>
      </p:sp>
      <p:grpSp>
        <p:nvGrpSpPr>
          <p:cNvPr id="19" name="Group 16">
            <a:extLst>
              <a:ext uri="{FF2B5EF4-FFF2-40B4-BE49-F238E27FC236}">
                <a16:creationId xmlns:a16="http://schemas.microsoft.com/office/drawing/2014/main" id="{2E696D83-6A81-43D6-9E13-40E722DED8D6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2209800"/>
            <a:ext cx="1905000" cy="3276600"/>
            <a:chOff x="2688" y="1392"/>
            <a:chExt cx="1200" cy="2064"/>
          </a:xfrm>
        </p:grpSpPr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1966CC18-046B-488F-B171-61870629EF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8" y="1440"/>
              <a:ext cx="1200" cy="201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Text Box 18">
              <a:extLst>
                <a:ext uri="{FF2B5EF4-FFF2-40B4-BE49-F238E27FC236}">
                  <a16:creationId xmlns:a16="http://schemas.microsoft.com/office/drawing/2014/main" id="{011D96F8-B616-43F1-ABC7-951F39CFE0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392"/>
              <a:ext cx="624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ko-KR" sz="2400" i="1">
                  <a:solidFill>
                    <a:schemeClr val="accent2"/>
                  </a:solidFill>
                  <a:ea typeface="굴림" panose="020B0600000101010101" pitchFamily="34" charset="-127"/>
                </a:rPr>
                <a:t>cn </a:t>
              </a:r>
              <a:r>
                <a:rPr lang="en-US" altLang="ko-KR" sz="2400">
                  <a:solidFill>
                    <a:schemeClr val="accent2"/>
                  </a:solidFill>
                  <a:ea typeface="굴림" panose="020B0600000101010101" pitchFamily="34" charset="-127"/>
                </a:rPr>
                <a:t>=</a:t>
              </a:r>
              <a:br>
                <a:rPr lang="en-US" altLang="ko-KR" sz="2400">
                  <a:solidFill>
                    <a:schemeClr val="accent2"/>
                  </a:solidFill>
                  <a:ea typeface="굴림" panose="020B0600000101010101" pitchFamily="34" charset="-127"/>
                </a:rPr>
              </a:br>
              <a:r>
                <a:rPr lang="en-US" altLang="ko-KR" sz="2400">
                  <a:solidFill>
                    <a:schemeClr val="accent2"/>
                  </a:solidFill>
                  <a:ea typeface="굴림" panose="020B0600000101010101" pitchFamily="34" charset="-127"/>
                </a:rPr>
                <a:t>31</a:t>
              </a:r>
              <a:r>
                <a:rPr lang="en-US" altLang="ko-KR" sz="2400" i="1">
                  <a:solidFill>
                    <a:schemeClr val="accent2"/>
                  </a:solidFill>
                  <a:ea typeface="굴림" panose="020B0600000101010101" pitchFamily="34" charset="-127"/>
                </a:rPr>
                <a:t>n</a:t>
              </a:r>
              <a:endParaRPr lang="en-US" altLang="ko-KR" sz="2400">
                <a:ea typeface="굴림" panose="020B0600000101010101" pitchFamily="34" charset="-127"/>
              </a:endParaRPr>
            </a:p>
          </p:txBody>
        </p:sp>
      </p:grpSp>
      <p:sp>
        <p:nvSpPr>
          <p:cNvPr id="22" name="Text Box 19">
            <a:extLst>
              <a:ext uri="{FF2B5EF4-FFF2-40B4-BE49-F238E27FC236}">
                <a16:creationId xmlns:a16="http://schemas.microsoft.com/office/drawing/2014/main" id="{BDF4D684-02D4-430A-A73E-2D2C657FF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3600" y="3532188"/>
            <a:ext cx="1447800" cy="1241425"/>
          </a:xfrm>
          <a:prstGeom prst="rect">
            <a:avLst/>
          </a:prstGeom>
          <a:solidFill>
            <a:schemeClr val="bg1"/>
          </a:solidFill>
          <a:ln w="508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ko-KR" sz="3600">
                <a:ea typeface="굴림" panose="020B0600000101010101" pitchFamily="34" charset="-127"/>
              </a:rPr>
              <a:t>30</a:t>
            </a:r>
            <a:r>
              <a:rPr lang="en-US" altLang="ko-KR" sz="3600" i="1">
                <a:ea typeface="굴림" panose="020B0600000101010101" pitchFamily="34" charset="-127"/>
              </a:rPr>
              <a:t>n</a:t>
            </a:r>
            <a:r>
              <a:rPr lang="en-US" altLang="ko-KR" sz="3600">
                <a:ea typeface="굴림" panose="020B0600000101010101" pitchFamily="34" charset="-127"/>
              </a:rPr>
              <a:t>+8</a:t>
            </a:r>
            <a:br>
              <a:rPr lang="en-US" altLang="ko-KR" sz="3600">
                <a:ea typeface="굴림" panose="020B0600000101010101" pitchFamily="34" charset="-127"/>
              </a:rPr>
            </a:br>
            <a:r>
              <a:rPr lang="en-US" altLang="ko-KR" sz="3600">
                <a:ea typeface="굴림" panose="020B0600000101010101" pitchFamily="34" charset="-127"/>
                <a:sym typeface="Symbol" panose="05050102010706020507" pitchFamily="18" charset="2"/>
              </a:rPr>
              <a:t>O(</a:t>
            </a:r>
            <a:r>
              <a:rPr lang="en-US" altLang="ko-KR" sz="3600" i="1">
                <a:solidFill>
                  <a:srgbClr val="006600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n</a:t>
            </a:r>
            <a:r>
              <a:rPr lang="en-US" altLang="ko-KR" sz="3600">
                <a:ea typeface="굴림" panose="020B0600000101010101" pitchFamily="34" charset="-127"/>
                <a:sym typeface="Symbol" panose="05050102010706020507" pitchFamily="18" charset="2"/>
              </a:rPr>
              <a:t>)</a:t>
            </a:r>
            <a:endParaRPr lang="en-US" altLang="ko-KR" sz="2400"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0459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7EACAD2-6572-4216-B6EF-C9FFD5574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Uniqueness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FDFE16-8851-419C-972A-5566E20DD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>
                <a:cs typeface="Arial" panose="020B0604020202020204" pitchFamily="34" charset="0"/>
              </a:rPr>
              <a:t>There is no unique set of values for </a:t>
            </a:r>
            <a:r>
              <a:rPr lang="en-US" altLang="en-US" sz="2400" dirty="0">
                <a:latin typeface="Comic Sans MS" panose="030F0702030302020204" pitchFamily="66" charset="0"/>
                <a:cs typeface="Arial" panose="020B0604020202020204" pitchFamily="34" charset="0"/>
              </a:rPr>
              <a:t>n</a:t>
            </a:r>
            <a:r>
              <a:rPr lang="en-US" altLang="en-US" sz="2400" baseline="-25000" dirty="0">
                <a:latin typeface="Comic Sans MS" panose="030F0702030302020204" pitchFamily="66" charset="0"/>
                <a:cs typeface="Arial" panose="020B0604020202020204" pitchFamily="34" charset="0"/>
              </a:rPr>
              <a:t>0</a:t>
            </a:r>
            <a:r>
              <a:rPr lang="en-US" altLang="en-US" sz="2400" dirty="0">
                <a:cs typeface="Arial" panose="020B0604020202020204" pitchFamily="34" charset="0"/>
              </a:rPr>
              <a:t> and </a:t>
            </a:r>
            <a:r>
              <a:rPr lang="en-US" altLang="en-US" sz="2400" dirty="0">
                <a:latin typeface="Comic Sans MS" panose="030F0702030302020204" pitchFamily="66" charset="0"/>
                <a:cs typeface="Arial" panose="020B0604020202020204" pitchFamily="34" charset="0"/>
              </a:rPr>
              <a:t>c </a:t>
            </a:r>
            <a:r>
              <a:rPr lang="en-US" altLang="en-US" sz="2400" dirty="0">
                <a:cs typeface="Arial" panose="020B0604020202020204" pitchFamily="34" charset="0"/>
              </a:rPr>
              <a:t>in proving the asymptotic bounds</a:t>
            </a:r>
            <a:endParaRPr lang="en-US" altLang="en-US" sz="2400" dirty="0"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/>
              <a:t>Prove that  </a:t>
            </a:r>
            <a:r>
              <a:rPr lang="en-US" altLang="en-US" sz="2400" dirty="0">
                <a:latin typeface="Comic Sans MS" panose="030F0702030302020204" pitchFamily="66" charset="0"/>
              </a:rPr>
              <a:t>100n + 5 = O(n</a:t>
            </a:r>
            <a:r>
              <a:rPr lang="en-US" altLang="en-US" sz="2400" baseline="30000" dirty="0">
                <a:latin typeface="Comic Sans MS" panose="030F0702030302020204" pitchFamily="66" charset="0"/>
              </a:rPr>
              <a:t>2</a:t>
            </a:r>
            <a:r>
              <a:rPr lang="en-US" altLang="en-US" sz="2400" dirty="0">
                <a:latin typeface="Comic Sans MS" panose="030F0702030302020204" pitchFamily="66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Comic Sans MS" panose="030F0702030302020204" pitchFamily="66" charset="0"/>
              </a:rPr>
              <a:t>100n + 5 </a:t>
            </a:r>
            <a:r>
              <a:rPr lang="en-US" altLang="en-US" sz="2000" dirty="0">
                <a:latin typeface="Comic Sans MS" panose="030F0702030302020204" pitchFamily="66" charset="0"/>
                <a:cs typeface="Arial" panose="020B0604020202020204" pitchFamily="34" charset="0"/>
              </a:rPr>
              <a:t>≤ </a:t>
            </a:r>
            <a:r>
              <a:rPr lang="en-US" altLang="en-US" sz="2000" dirty="0" smtClean="0">
                <a:latin typeface="Comic Sans MS" panose="030F0702030302020204" pitchFamily="66" charset="0"/>
                <a:cs typeface="Arial" panose="020B0604020202020204" pitchFamily="34" charset="0"/>
              </a:rPr>
              <a:t>100n</a:t>
            </a:r>
            <a:r>
              <a:rPr lang="en-US" altLang="en-US" sz="2000" baseline="30000" dirty="0" smtClean="0">
                <a:latin typeface="Comic Sans MS" panose="030F0702030302020204" pitchFamily="66" charset="0"/>
                <a:cs typeface="Arial" panose="020B0604020202020204" pitchFamily="34" charset="0"/>
              </a:rPr>
              <a:t>2</a:t>
            </a:r>
            <a:r>
              <a:rPr lang="en-US" altLang="en-US" sz="2000" dirty="0" smtClean="0"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Comic Sans MS" panose="030F0702030302020204" pitchFamily="66" charset="0"/>
                <a:cs typeface="Arial" panose="020B0604020202020204" pitchFamily="34" charset="0"/>
              </a:rPr>
              <a:t>+ </a:t>
            </a:r>
            <a:r>
              <a:rPr lang="en-US" altLang="en-US" sz="2000" dirty="0" smtClean="0">
                <a:latin typeface="Comic Sans MS" panose="030F0702030302020204" pitchFamily="66" charset="0"/>
                <a:cs typeface="Arial" panose="020B0604020202020204" pitchFamily="34" charset="0"/>
              </a:rPr>
              <a:t>5 </a:t>
            </a:r>
            <a:r>
              <a:rPr lang="en-US" altLang="en-US" sz="2000" dirty="0">
                <a:latin typeface="Comic Sans MS" panose="030F0702030302020204" pitchFamily="66" charset="0"/>
                <a:cs typeface="Arial" panose="020B0604020202020204" pitchFamily="34" charset="0"/>
              </a:rPr>
              <a:t>= </a:t>
            </a:r>
            <a:r>
              <a:rPr lang="en-US" altLang="en-US" sz="2000" dirty="0" smtClean="0">
                <a:latin typeface="Comic Sans MS" panose="030F0702030302020204" pitchFamily="66" charset="0"/>
                <a:cs typeface="Arial" panose="020B0604020202020204" pitchFamily="34" charset="0"/>
              </a:rPr>
              <a:t>100n </a:t>
            </a:r>
            <a:r>
              <a:rPr lang="en-US" altLang="en-US" sz="2000" dirty="0">
                <a:latin typeface="Comic Sans MS" panose="030F0702030302020204" pitchFamily="66" charset="0"/>
                <a:cs typeface="Arial" panose="020B0604020202020204" pitchFamily="34" charset="0"/>
              </a:rPr>
              <a:t>≤ </a:t>
            </a:r>
            <a:r>
              <a:rPr lang="en-US" altLang="en-US" sz="2000" dirty="0" smtClean="0">
                <a:latin typeface="Comic Sans MS" panose="030F0702030302020204" pitchFamily="66" charset="0"/>
                <a:cs typeface="Arial" panose="020B0604020202020204" pitchFamily="34" charset="0"/>
              </a:rPr>
              <a:t>100n</a:t>
            </a:r>
            <a:r>
              <a:rPr lang="en-US" altLang="en-US" sz="2000" baseline="30000" dirty="0" smtClean="0">
                <a:latin typeface="Comic Sans MS" panose="030F0702030302020204" pitchFamily="66" charset="0"/>
                <a:cs typeface="Arial" panose="020B0604020202020204" pitchFamily="34" charset="0"/>
              </a:rPr>
              <a:t>2</a:t>
            </a:r>
            <a:endParaRPr lang="en-US" altLang="en-US" sz="2000" dirty="0"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2000" dirty="0">
                <a:cs typeface="Arial" panose="020B0604020202020204" pitchFamily="34" charset="0"/>
              </a:rPr>
              <a:t>				for all </a:t>
            </a:r>
            <a:r>
              <a:rPr lang="en-US" altLang="en-US" sz="2000" dirty="0">
                <a:latin typeface="Comic Sans MS" panose="030F0702030302020204" pitchFamily="66" charset="0"/>
                <a:cs typeface="Arial" panose="020B0604020202020204" pitchFamily="34" charset="0"/>
              </a:rPr>
              <a:t>n ≥ </a:t>
            </a:r>
            <a:r>
              <a:rPr lang="en-US" altLang="en-US" sz="2000" dirty="0" smtClean="0">
                <a:latin typeface="Comic Sans MS" panose="030F0702030302020204" pitchFamily="66" charset="0"/>
                <a:cs typeface="Arial" panose="020B0604020202020204" pitchFamily="34" charset="0"/>
              </a:rPr>
              <a:t>1</a:t>
            </a:r>
            <a:endParaRPr lang="en-US" altLang="en-US" sz="2000" dirty="0"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2000" dirty="0">
                <a:cs typeface="Arial" panose="020B0604020202020204" pitchFamily="34" charset="0"/>
              </a:rPr>
              <a:t>		</a:t>
            </a:r>
            <a:r>
              <a:rPr lang="en-US" altLang="en-US" sz="2000" dirty="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n</a:t>
            </a:r>
            <a:r>
              <a:rPr lang="en-US" altLang="en-US" sz="2000" baseline="-25000" dirty="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0</a:t>
            </a:r>
            <a:r>
              <a:rPr lang="en-US" altLang="en-US" sz="2000" dirty="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= </a:t>
            </a:r>
            <a:r>
              <a:rPr lang="en-US" altLang="en-US" sz="2000" dirty="0" smtClean="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1 </a:t>
            </a:r>
            <a:r>
              <a:rPr lang="en-US" altLang="en-US" sz="2000" dirty="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and c = </a:t>
            </a:r>
            <a:r>
              <a:rPr lang="en-US" altLang="en-US" sz="2000" dirty="0" smtClean="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100</a:t>
            </a:r>
            <a:r>
              <a:rPr lang="en-US" altLang="en-US" sz="2000" dirty="0" smtClean="0">
                <a:solidFill>
                  <a:srgbClr val="DD0111"/>
                </a:solidFill>
                <a:cs typeface="Arial" panose="020B0604020202020204" pitchFamily="34" charset="0"/>
              </a:rPr>
              <a:t> </a:t>
            </a:r>
            <a:r>
              <a:rPr lang="en-US" altLang="en-US" sz="2000" dirty="0">
                <a:cs typeface="Arial" panose="020B0604020202020204" pitchFamily="34" charset="0"/>
              </a:rPr>
              <a:t>is a solution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Comic Sans MS" panose="030F0702030302020204" pitchFamily="66" charset="0"/>
                <a:cs typeface="Arial" panose="020B0604020202020204" pitchFamily="34" charset="0"/>
              </a:rPr>
              <a:t>100n + 5 ≤ 100n + 5n = 105n ≤ 105n</a:t>
            </a:r>
            <a:r>
              <a:rPr lang="en-US" altLang="en-US" sz="2000" baseline="30000" dirty="0">
                <a:latin typeface="Comic Sans MS" panose="030F0702030302020204" pitchFamily="66" charset="0"/>
                <a:cs typeface="Arial" panose="020B0604020202020204" pitchFamily="34" charset="0"/>
              </a:rPr>
              <a:t>2</a:t>
            </a:r>
            <a:r>
              <a:rPr lang="en-US" altLang="en-US" sz="2000" baseline="30000" dirty="0">
                <a:cs typeface="Arial" panose="020B0604020202020204" pitchFamily="34" charset="0"/>
              </a:rPr>
              <a:t/>
            </a:r>
            <a:br>
              <a:rPr lang="en-US" altLang="en-US" sz="2000" baseline="30000" dirty="0">
                <a:cs typeface="Arial" panose="020B0604020202020204" pitchFamily="34" charset="0"/>
              </a:rPr>
            </a:br>
            <a:r>
              <a:rPr lang="en-US" altLang="en-US" sz="2000" baseline="30000" dirty="0">
                <a:cs typeface="Arial" panose="020B0604020202020204" pitchFamily="34" charset="0"/>
              </a:rPr>
              <a:t>			</a:t>
            </a:r>
            <a:r>
              <a:rPr lang="en-US" altLang="en-US" sz="2000" dirty="0">
                <a:cs typeface="Arial" panose="020B0604020202020204" pitchFamily="34" charset="0"/>
              </a:rPr>
              <a:t>for all </a:t>
            </a:r>
            <a:r>
              <a:rPr lang="en-US" altLang="en-US" sz="2000" dirty="0">
                <a:latin typeface="Comic Sans MS" panose="030F0702030302020204" pitchFamily="66" charset="0"/>
                <a:cs typeface="Arial" panose="020B0604020202020204" pitchFamily="34" charset="0"/>
              </a:rPr>
              <a:t>n ≥ 1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2000" dirty="0">
                <a:cs typeface="Arial" panose="020B0604020202020204" pitchFamily="34" charset="0"/>
              </a:rPr>
              <a:t>		 </a:t>
            </a:r>
            <a:r>
              <a:rPr lang="en-US" altLang="en-US" sz="2000" dirty="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n</a:t>
            </a:r>
            <a:r>
              <a:rPr lang="en-US" altLang="en-US" sz="2000" baseline="-25000" dirty="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0</a:t>
            </a:r>
            <a:r>
              <a:rPr lang="en-US" altLang="en-US" sz="2000" dirty="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= 1 and c = 105</a:t>
            </a:r>
            <a:r>
              <a:rPr lang="en-US" altLang="en-US" sz="2000" dirty="0">
                <a:solidFill>
                  <a:srgbClr val="DD0111"/>
                </a:solidFill>
                <a:cs typeface="Arial" panose="020B0604020202020204" pitchFamily="34" charset="0"/>
              </a:rPr>
              <a:t> </a:t>
            </a:r>
            <a:r>
              <a:rPr lang="en-US" altLang="en-US" sz="2000" dirty="0">
                <a:cs typeface="Arial" panose="020B0604020202020204" pitchFamily="34" charset="0"/>
              </a:rPr>
              <a:t>is also a solution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1800" dirty="0">
                <a:cs typeface="Arial" panose="020B0604020202020204" pitchFamily="34" charset="0"/>
              </a:rPr>
              <a:t>Must find</a:t>
            </a:r>
            <a:r>
              <a:rPr lang="en-US" altLang="en-US" sz="1800" dirty="0">
                <a:solidFill>
                  <a:srgbClr val="DD0111"/>
                </a:solidFill>
                <a:cs typeface="Arial" panose="020B0604020202020204" pitchFamily="34" charset="0"/>
              </a:rPr>
              <a:t> </a:t>
            </a:r>
            <a:r>
              <a:rPr lang="en-US" altLang="en-US" sz="1800" b="1" dirty="0">
                <a:solidFill>
                  <a:srgbClr val="DD0111"/>
                </a:solidFill>
                <a:cs typeface="Arial" panose="020B0604020202020204" pitchFamily="34" charset="0"/>
              </a:rPr>
              <a:t>SOME</a:t>
            </a:r>
            <a:r>
              <a:rPr lang="en-US" altLang="en-US" sz="1800" dirty="0">
                <a:solidFill>
                  <a:srgbClr val="DD0111"/>
                </a:solidFill>
                <a:cs typeface="Arial" panose="020B0604020202020204" pitchFamily="34" charset="0"/>
              </a:rPr>
              <a:t> </a:t>
            </a:r>
            <a:r>
              <a:rPr lang="en-US" altLang="en-US" sz="1800" dirty="0">
                <a:cs typeface="Arial" panose="020B0604020202020204" pitchFamily="34" charset="0"/>
              </a:rPr>
              <a:t>constants c and n</a:t>
            </a:r>
            <a:r>
              <a:rPr lang="en-US" altLang="en-US" sz="1800" baseline="-25000" dirty="0">
                <a:cs typeface="Arial" panose="020B0604020202020204" pitchFamily="34" charset="0"/>
              </a:rPr>
              <a:t>0</a:t>
            </a:r>
            <a:r>
              <a:rPr lang="en-US" altLang="en-US" sz="1800" dirty="0">
                <a:cs typeface="Arial" panose="020B0604020202020204" pitchFamily="34" charset="0"/>
              </a:rPr>
              <a:t> that satisfy the asymptotic notation relation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8461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5A9B4-1C01-434C-910B-D402B1190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DA41C-D211-455D-924F-C6C0FA08C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en-US" dirty="0"/>
              <a:t>n</a:t>
            </a:r>
            <a:r>
              <a:rPr lang="en-US" altLang="en-US" baseline="30000" dirty="0"/>
              <a:t>2</a:t>
            </a:r>
            <a:r>
              <a:rPr lang="en-US" altLang="en-US" dirty="0"/>
              <a:t> + 3n + 5 = O(n</a:t>
            </a:r>
            <a:r>
              <a:rPr lang="en-US" altLang="en-US" baseline="30000" dirty="0"/>
              <a:t>2</a:t>
            </a:r>
            <a:r>
              <a:rPr lang="en-US" altLang="en-US" dirty="0"/>
              <a:t>): Find c and n</a:t>
            </a:r>
            <a:r>
              <a:rPr lang="en-US" altLang="en-US" baseline="-25000" dirty="0"/>
              <a:t>0</a:t>
            </a:r>
          </a:p>
          <a:p>
            <a:pPr marL="0" indent="0">
              <a:buNone/>
            </a:pPr>
            <a:r>
              <a:rPr lang="en-US" altLang="en-US" dirty="0"/>
              <a:t> </a:t>
            </a:r>
            <a:r>
              <a:rPr lang="en-US" altLang="en-US" dirty="0">
                <a:highlight>
                  <a:srgbClr val="000000"/>
                </a:highlight>
              </a:rPr>
              <a:t>n</a:t>
            </a:r>
            <a:r>
              <a:rPr lang="en-US" altLang="en-US" baseline="30000" dirty="0">
                <a:highlight>
                  <a:srgbClr val="000000"/>
                </a:highlight>
              </a:rPr>
              <a:t>2</a:t>
            </a:r>
            <a:r>
              <a:rPr lang="en-US" altLang="en-US" dirty="0">
                <a:highlight>
                  <a:srgbClr val="000000"/>
                </a:highlight>
              </a:rPr>
              <a:t> + 3n + 5 &lt;= n</a:t>
            </a:r>
            <a:r>
              <a:rPr lang="en-US" altLang="en-US" baseline="30000" dirty="0">
                <a:highlight>
                  <a:srgbClr val="000000"/>
                </a:highlight>
              </a:rPr>
              <a:t>2</a:t>
            </a:r>
            <a:r>
              <a:rPr lang="en-US" altLang="en-US" dirty="0">
                <a:highlight>
                  <a:srgbClr val="000000"/>
                </a:highlight>
              </a:rPr>
              <a:t> + 3n</a:t>
            </a:r>
            <a:r>
              <a:rPr lang="en-US" altLang="en-US" baseline="30000" dirty="0">
                <a:highlight>
                  <a:srgbClr val="000000"/>
                </a:highlight>
              </a:rPr>
              <a:t>2</a:t>
            </a:r>
            <a:r>
              <a:rPr lang="en-US" altLang="en-US" dirty="0">
                <a:highlight>
                  <a:srgbClr val="000000"/>
                </a:highlight>
              </a:rPr>
              <a:t> + 5 </a:t>
            </a:r>
            <a:r>
              <a:rPr lang="en-US" altLang="en-US" dirty="0">
                <a:highlight>
                  <a:srgbClr val="000000"/>
                </a:highlight>
                <a:sym typeface="Symbol" panose="05050102010706020507" pitchFamily="18" charset="2"/>
              </a:rPr>
              <a:t></a:t>
            </a:r>
            <a:r>
              <a:rPr lang="en-US" altLang="en-US" dirty="0">
                <a:highlight>
                  <a:srgbClr val="000000"/>
                </a:highlight>
                <a:sym typeface="Wingdings" panose="05000000000000000000" pitchFamily="2" charset="2"/>
              </a:rPr>
              <a:t> </a:t>
            </a:r>
            <a:r>
              <a:rPr lang="en-US" altLang="en-US" dirty="0" smtClean="0">
                <a:highlight>
                  <a:srgbClr val="000000"/>
                </a:highlight>
              </a:rPr>
              <a:t>n</a:t>
            </a:r>
            <a:r>
              <a:rPr lang="en-US" altLang="en-US" baseline="30000" dirty="0" smtClean="0">
                <a:highlight>
                  <a:srgbClr val="000000"/>
                </a:highlight>
              </a:rPr>
              <a:t>2</a:t>
            </a:r>
            <a:r>
              <a:rPr lang="en-US" altLang="en-US" dirty="0" smtClean="0">
                <a:highlight>
                  <a:srgbClr val="000000"/>
                </a:highlight>
              </a:rPr>
              <a:t> + 3n + 5 &lt;= </a:t>
            </a:r>
            <a:r>
              <a:rPr lang="en-US" altLang="en-US" dirty="0" smtClean="0">
                <a:highlight>
                  <a:srgbClr val="000000"/>
                </a:highlight>
                <a:sym typeface="Wingdings" panose="05000000000000000000" pitchFamily="2" charset="2"/>
              </a:rPr>
              <a:t>4</a:t>
            </a:r>
            <a:r>
              <a:rPr lang="en-US" altLang="en-US" dirty="0" smtClean="0">
                <a:highlight>
                  <a:srgbClr val="000000"/>
                </a:highlight>
              </a:rPr>
              <a:t>n</a:t>
            </a:r>
            <a:r>
              <a:rPr lang="en-US" altLang="en-US" baseline="30000" dirty="0" smtClean="0">
                <a:highlight>
                  <a:srgbClr val="000000"/>
                </a:highlight>
              </a:rPr>
              <a:t>2</a:t>
            </a:r>
            <a:r>
              <a:rPr lang="en-US" altLang="en-US" dirty="0" smtClean="0">
                <a:highlight>
                  <a:srgbClr val="000000"/>
                </a:highlight>
              </a:rPr>
              <a:t> </a:t>
            </a:r>
            <a:r>
              <a:rPr lang="en-US" altLang="en-US" dirty="0">
                <a:highlight>
                  <a:srgbClr val="000000"/>
                </a:highlight>
              </a:rPr>
              <a:t>+ 5 </a:t>
            </a:r>
            <a:r>
              <a:rPr lang="en-US" altLang="en-US" dirty="0">
                <a:highlight>
                  <a:srgbClr val="000000"/>
                </a:highlight>
                <a:sym typeface="Symbol" panose="05050102010706020507" pitchFamily="18" charset="2"/>
              </a:rPr>
              <a:t></a:t>
            </a:r>
            <a:r>
              <a:rPr lang="en-US" altLang="en-US" dirty="0">
                <a:highlight>
                  <a:srgbClr val="000000"/>
                </a:highlight>
                <a:sym typeface="Wingdings" panose="05000000000000000000" pitchFamily="2" charset="2"/>
              </a:rPr>
              <a:t> c=4 and n</a:t>
            </a:r>
            <a:r>
              <a:rPr lang="en-US" altLang="en-US" baseline="-25000" dirty="0">
                <a:highlight>
                  <a:srgbClr val="000000"/>
                </a:highlight>
                <a:sym typeface="Wingdings" panose="05000000000000000000" pitchFamily="2" charset="2"/>
              </a:rPr>
              <a:t>0</a:t>
            </a:r>
            <a:r>
              <a:rPr lang="en-US" altLang="en-US" dirty="0">
                <a:highlight>
                  <a:srgbClr val="000000"/>
                </a:highlight>
                <a:sym typeface="Wingdings" panose="05000000000000000000" pitchFamily="2" charset="2"/>
              </a:rPr>
              <a:t>=1</a:t>
            </a:r>
            <a:endParaRPr lang="en-US" altLang="en-US" dirty="0">
              <a:highlight>
                <a:srgbClr val="000000"/>
              </a:highlight>
            </a:endParaRPr>
          </a:p>
          <a:p>
            <a:endParaRPr lang="en-US" altLang="en-US" dirty="0">
              <a:highlight>
                <a:srgbClr val="FFFF00"/>
              </a:highlight>
            </a:endParaRPr>
          </a:p>
          <a:p>
            <a:r>
              <a:rPr lang="en-US" altLang="en-US" dirty="0"/>
              <a:t>Which of the below Big O notation is correct</a:t>
            </a:r>
            <a:r>
              <a:rPr lang="en-US" altLang="en-US" dirty="0" smtClean="0"/>
              <a:t>. If correct then try to find c and n0 values.</a:t>
            </a:r>
            <a:endParaRPr lang="en-US" altLang="en-US" dirty="0"/>
          </a:p>
          <a:p>
            <a:pPr marL="514350" indent="-514350">
              <a:buFont typeface="+mj-lt"/>
              <a:buAutoNum type="arabicPeriod"/>
            </a:pPr>
            <a:r>
              <a:rPr lang="en-US" altLang="en-US" dirty="0"/>
              <a:t>n</a:t>
            </a:r>
            <a:r>
              <a:rPr lang="en-US" altLang="en-US" baseline="30000" dirty="0"/>
              <a:t>4</a:t>
            </a:r>
            <a:r>
              <a:rPr lang="en-US" altLang="en-US" dirty="0"/>
              <a:t> + 100n</a:t>
            </a:r>
            <a:r>
              <a:rPr lang="en-US" altLang="en-US" baseline="30000" dirty="0"/>
              <a:t>2</a:t>
            </a:r>
            <a:r>
              <a:rPr lang="en-US" altLang="en-US" dirty="0"/>
              <a:t> + 10n + 50 =</a:t>
            </a:r>
            <a:r>
              <a:rPr lang="en-US" altLang="en-US" dirty="0">
                <a:ea typeface="MS Mincho" panose="02020609040205080304" pitchFamily="49" charset="-128"/>
              </a:rPr>
              <a:t> O(n</a:t>
            </a:r>
            <a:r>
              <a:rPr lang="en-US" altLang="en-US" baseline="30000" dirty="0">
                <a:ea typeface="MS Mincho" panose="02020609040205080304" pitchFamily="49" charset="-128"/>
              </a:rPr>
              <a:t>3</a:t>
            </a:r>
            <a:r>
              <a:rPr lang="en-US" altLang="en-US" dirty="0">
                <a:ea typeface="MS Mincho" panose="02020609040205080304" pitchFamily="49" charset="-128"/>
              </a:rPr>
              <a:t>)</a:t>
            </a:r>
            <a:r>
              <a:rPr lang="en-US" altLang="en-US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dirty="0">
                <a:ea typeface="MS Mincho" panose="02020609040205080304" pitchFamily="49" charset="-128"/>
              </a:rPr>
              <a:t>10n</a:t>
            </a:r>
            <a:r>
              <a:rPr lang="en-US" altLang="en-US" baseline="30000" dirty="0">
                <a:ea typeface="MS Mincho" panose="02020609040205080304" pitchFamily="49" charset="-128"/>
              </a:rPr>
              <a:t>3</a:t>
            </a:r>
            <a:r>
              <a:rPr lang="en-US" altLang="en-US" dirty="0">
                <a:ea typeface="MS Mincho" panose="02020609040205080304" pitchFamily="49" charset="-128"/>
              </a:rPr>
              <a:t> + 2n</a:t>
            </a:r>
            <a:r>
              <a:rPr lang="en-US" altLang="en-US" baseline="30000" dirty="0">
                <a:ea typeface="MS Mincho" panose="02020609040205080304" pitchFamily="49" charset="-128"/>
              </a:rPr>
              <a:t>2</a:t>
            </a:r>
            <a:r>
              <a:rPr lang="en-US" altLang="en-US" dirty="0">
                <a:ea typeface="MS Mincho" panose="02020609040205080304" pitchFamily="49" charset="-128"/>
              </a:rPr>
              <a:t> = O(n</a:t>
            </a:r>
            <a:r>
              <a:rPr lang="en-US" altLang="en-US" baseline="30000" dirty="0">
                <a:ea typeface="MS Mincho" panose="02020609040205080304" pitchFamily="49" charset="-128"/>
              </a:rPr>
              <a:t>3</a:t>
            </a:r>
            <a:r>
              <a:rPr lang="en-US" altLang="en-US" dirty="0">
                <a:ea typeface="MS Mincho" panose="02020609040205080304" pitchFamily="49" charset="-128"/>
              </a:rPr>
              <a:t>)   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dirty="0">
                <a:ea typeface="MS Mincho" panose="02020609040205080304" pitchFamily="49" charset="-128"/>
              </a:rPr>
              <a:t>n</a:t>
            </a:r>
            <a:r>
              <a:rPr lang="en-US" altLang="en-US" baseline="30000" dirty="0">
                <a:ea typeface="MS Mincho" panose="02020609040205080304" pitchFamily="49" charset="-128"/>
              </a:rPr>
              <a:t>3</a:t>
            </a:r>
            <a:r>
              <a:rPr lang="en-US" altLang="en-US" dirty="0">
                <a:ea typeface="MS Mincho" panose="02020609040205080304" pitchFamily="49" charset="-128"/>
              </a:rPr>
              <a:t> - n</a:t>
            </a:r>
            <a:r>
              <a:rPr lang="en-US" altLang="en-US" baseline="30000" dirty="0">
                <a:ea typeface="MS Mincho" panose="02020609040205080304" pitchFamily="49" charset="-128"/>
              </a:rPr>
              <a:t>2</a:t>
            </a:r>
            <a:r>
              <a:rPr lang="en-US" altLang="en-US" dirty="0">
                <a:ea typeface="MS Mincho" panose="02020609040205080304" pitchFamily="49" charset="-128"/>
              </a:rPr>
              <a:t> = O(n</a:t>
            </a:r>
            <a:r>
              <a:rPr lang="en-US" altLang="en-US" baseline="30000" dirty="0">
                <a:ea typeface="MS Mincho" panose="02020609040205080304" pitchFamily="49" charset="-128"/>
              </a:rPr>
              <a:t>4</a:t>
            </a:r>
            <a:r>
              <a:rPr lang="en-US" altLang="en-US" dirty="0">
                <a:ea typeface="MS Mincho" panose="02020609040205080304" pitchFamily="49" charset="-128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dirty="0" err="1">
                <a:ea typeface="MS Mincho" panose="02020609040205080304" pitchFamily="49" charset="-128"/>
              </a:rPr>
              <a:t>nlogn</a:t>
            </a:r>
            <a:r>
              <a:rPr lang="en-US" altLang="en-US" dirty="0">
                <a:ea typeface="MS Mincho" panose="02020609040205080304" pitchFamily="49" charset="-128"/>
              </a:rPr>
              <a:t>+ n</a:t>
            </a:r>
            <a:r>
              <a:rPr lang="en-US" altLang="en-US" baseline="30000" dirty="0">
                <a:ea typeface="MS Mincho" panose="02020609040205080304" pitchFamily="49" charset="-128"/>
              </a:rPr>
              <a:t>2</a:t>
            </a:r>
            <a:r>
              <a:rPr lang="en-US" altLang="en-US" dirty="0">
                <a:ea typeface="MS Mincho" panose="02020609040205080304" pitchFamily="49" charset="-128"/>
              </a:rPr>
              <a:t> = O(</a:t>
            </a:r>
            <a:r>
              <a:rPr lang="en-US" altLang="en-US" dirty="0" err="1">
                <a:ea typeface="MS Mincho" panose="02020609040205080304" pitchFamily="49" charset="-128"/>
              </a:rPr>
              <a:t>nlogn</a:t>
            </a:r>
            <a:r>
              <a:rPr lang="en-US" altLang="en-US" dirty="0">
                <a:ea typeface="MS Mincho" panose="02020609040205080304" pitchFamily="49" charset="-128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dirty="0">
                <a:ea typeface="MS Mincho" panose="02020609040205080304" pitchFamily="49" charset="-128"/>
              </a:rPr>
              <a:t>10 = O(n)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dirty="0">
                <a:ea typeface="MS Mincho" panose="02020609040205080304" pitchFamily="49" charset="-128"/>
              </a:rPr>
              <a:t>1273 = O(1)</a:t>
            </a:r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2544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CCEB5-AE12-42A6-AFB6-83BAB3F81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</a:t>
            </a:r>
            <a:r>
              <a:rPr lang="en-US" dirty="0">
                <a:sym typeface="Symbol" panose="05050102010706020507" pitchFamily="18" charset="2"/>
              </a:rPr>
              <a:t> (Omega)</a:t>
            </a:r>
            <a:endParaRPr lang="en-US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98B13F81-DF4D-4442-BE13-9FF4771B4DAB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464842" y="1825625"/>
          <a:ext cx="7262316" cy="435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" name="Paint Shop Pro Image" r:id="rId3" imgW="7619512" imgH="4565854" progId="">
                  <p:embed/>
                </p:oleObj>
              </mc:Choice>
              <mc:Fallback>
                <p:oleObj name="Paint Shop Pro Image" r:id="rId3" imgW="7619512" imgH="4565854" progId="">
                  <p:embed/>
                  <p:pic>
                    <p:nvPicPr>
                      <p:cNvPr id="0" name="Picture 3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4842" y="1825625"/>
                        <a:ext cx="7262316" cy="435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6369E91-3BAC-4439-B415-0AEAD3BBE00A}"/>
              </a:ext>
            </a:extLst>
          </p:cNvPr>
          <p:cNvSpPr/>
          <p:nvPr/>
        </p:nvSpPr>
        <p:spPr>
          <a:xfrm>
            <a:off x="6096000" y="4783715"/>
            <a:ext cx="37878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n-US" altLang="en-US" dirty="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</a:t>
            </a:r>
            <a:r>
              <a:rPr lang="en-US" altLang="en-US" dirty="0">
                <a:solidFill>
                  <a:srgbClr val="DD0111"/>
                </a:solidFill>
                <a:latin typeface="Comic Sans MS" panose="030F0702030302020204" pitchFamily="66" charset="0"/>
              </a:rPr>
              <a:t>(g(n))</a:t>
            </a:r>
            <a:r>
              <a:rPr lang="en-US" altLang="en-US" dirty="0">
                <a:solidFill>
                  <a:srgbClr val="DD0111"/>
                </a:solidFill>
              </a:rPr>
              <a:t> is the set of functions with larger or same order of growth as </a:t>
            </a:r>
            <a:r>
              <a:rPr lang="en-US" altLang="en-US" dirty="0">
                <a:solidFill>
                  <a:srgbClr val="DD0111"/>
                </a:solidFill>
                <a:latin typeface="Comic Sans MS" panose="030F0702030302020204" pitchFamily="66" charset="0"/>
              </a:rPr>
              <a:t>g(n)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0340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BFC27-002D-4264-B5B9-D87635CE8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57F83-B2B1-4B7B-BD48-ABBB2EB700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50000"/>
              </a:lnSpc>
              <a:defRPr/>
            </a:pPr>
            <a:r>
              <a:rPr lang="en-US" dirty="0"/>
              <a:t>5n</a:t>
            </a:r>
            <a:r>
              <a:rPr lang="en-US" baseline="30000" dirty="0"/>
              <a:t>2</a:t>
            </a:r>
            <a:r>
              <a:rPr lang="en-US" dirty="0"/>
              <a:t> = </a:t>
            </a:r>
            <a:r>
              <a:rPr lang="en-US" dirty="0">
                <a:sym typeface="Symbol" pitchFamily="18" charset="2"/>
              </a:rPr>
              <a:t></a:t>
            </a:r>
            <a:r>
              <a:rPr lang="en-US" dirty="0"/>
              <a:t>(n)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en-US" dirty="0">
                <a:sym typeface="Symbol" panose="05050102010706020507" pitchFamily="18" charset="2"/>
              </a:rPr>
              <a:t> c, n</a:t>
            </a:r>
            <a:r>
              <a:rPr lang="en-US" altLang="en-US" baseline="-25000" dirty="0">
                <a:sym typeface="Symbol" panose="05050102010706020507" pitchFamily="18" charset="2"/>
              </a:rPr>
              <a:t>0</a:t>
            </a:r>
            <a:r>
              <a:rPr lang="en-US" altLang="en-US" dirty="0">
                <a:sym typeface="Symbol" panose="05050102010706020507" pitchFamily="18" charset="2"/>
              </a:rPr>
              <a:t> such that: 0  </a:t>
            </a:r>
            <a:r>
              <a:rPr lang="en-US" altLang="en-US" dirty="0" err="1">
                <a:sym typeface="Symbol" panose="05050102010706020507" pitchFamily="18" charset="2"/>
              </a:rPr>
              <a:t>cn</a:t>
            </a:r>
            <a:r>
              <a:rPr lang="en-US" altLang="en-US" dirty="0">
                <a:sym typeface="Symbol" panose="05050102010706020507" pitchFamily="18" charset="2"/>
              </a:rPr>
              <a:t>  5n</a:t>
            </a:r>
            <a:r>
              <a:rPr lang="en-US" altLang="en-US" baseline="30000" dirty="0">
                <a:sym typeface="Symbol" panose="05050102010706020507" pitchFamily="18" charset="2"/>
              </a:rPr>
              <a:t>2  </a:t>
            </a:r>
            <a:r>
              <a:rPr lang="en-US" altLang="en-US" dirty="0">
                <a:sym typeface="Symbol" panose="05050102010706020507" pitchFamily="18" charset="2"/>
              </a:rPr>
              <a:t> </a:t>
            </a:r>
            <a:r>
              <a:rPr lang="en-US" altLang="en-US" dirty="0" err="1">
                <a:sym typeface="Symbol" panose="05050102010706020507" pitchFamily="18" charset="2"/>
              </a:rPr>
              <a:t>cn</a:t>
            </a:r>
            <a:r>
              <a:rPr lang="en-US" altLang="en-US" dirty="0">
                <a:sym typeface="Symbol" panose="05050102010706020507" pitchFamily="18" charset="2"/>
              </a:rPr>
              <a:t>  5n</a:t>
            </a:r>
            <a:r>
              <a:rPr lang="en-US" altLang="en-US" baseline="30000" dirty="0">
                <a:sym typeface="Symbol" panose="05050102010706020507" pitchFamily="18" charset="2"/>
              </a:rPr>
              <a:t>2 </a:t>
            </a:r>
            <a:r>
              <a:rPr lang="en-US" altLang="en-US" dirty="0">
                <a:sym typeface="Symbol" panose="05050102010706020507" pitchFamily="18" charset="2"/>
              </a:rPr>
              <a:t> c = 1 and n</a:t>
            </a:r>
            <a:r>
              <a:rPr lang="en-US" altLang="en-US" baseline="-25000" dirty="0">
                <a:sym typeface="Symbol" panose="05050102010706020507" pitchFamily="18" charset="2"/>
              </a:rPr>
              <a:t>0</a:t>
            </a:r>
            <a:r>
              <a:rPr lang="en-US" altLang="en-US" dirty="0">
                <a:sym typeface="Symbol" panose="05050102010706020507" pitchFamily="18" charset="2"/>
              </a:rPr>
              <a:t> = 1</a:t>
            </a:r>
            <a:r>
              <a:rPr lang="en-US" altLang="en-US" baseline="30000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150000"/>
              </a:lnSpc>
              <a:defRPr/>
            </a:pPr>
            <a:r>
              <a:rPr lang="en-US" dirty="0"/>
              <a:t>100n + 5 </a:t>
            </a:r>
            <a:r>
              <a:rPr lang="en-US" dirty="0">
                <a:cs typeface="Arial" charset="0"/>
              </a:rPr>
              <a:t>≠</a:t>
            </a:r>
            <a:r>
              <a:rPr lang="en-US" dirty="0"/>
              <a:t> </a:t>
            </a:r>
            <a:r>
              <a:rPr lang="en-US" dirty="0">
                <a:sym typeface="Symbol" pitchFamily="18" charset="2"/>
              </a:rPr>
              <a:t>(n</a:t>
            </a:r>
            <a:r>
              <a:rPr lang="en-US" baseline="30000" dirty="0">
                <a:sym typeface="Symbol" pitchFamily="18" charset="2"/>
              </a:rPr>
              <a:t>2</a:t>
            </a:r>
            <a:r>
              <a:rPr lang="en-US" dirty="0">
                <a:sym typeface="Symbol" pitchFamily="18" charset="2"/>
              </a:rPr>
              <a:t>)</a:t>
            </a:r>
          </a:p>
          <a:p>
            <a:pPr>
              <a:lnSpc>
                <a:spcPct val="150000"/>
              </a:lnSpc>
              <a:buFont typeface="Symbol" panose="05050102010706020507" pitchFamily="18" charset="2"/>
              <a:buChar char="$"/>
              <a:defRPr/>
            </a:pPr>
            <a:r>
              <a:rPr lang="en-US" altLang="en-US" dirty="0">
                <a:sym typeface="Symbol" panose="05050102010706020507" pitchFamily="18" charset="2"/>
              </a:rPr>
              <a:t>c, n</a:t>
            </a:r>
            <a:r>
              <a:rPr lang="en-US" altLang="en-US" baseline="-25000" dirty="0">
                <a:sym typeface="Symbol" panose="05050102010706020507" pitchFamily="18" charset="2"/>
              </a:rPr>
              <a:t>0</a:t>
            </a:r>
            <a:r>
              <a:rPr lang="en-US" altLang="en-US" dirty="0">
                <a:sym typeface="Symbol" panose="05050102010706020507" pitchFamily="18" charset="2"/>
              </a:rPr>
              <a:t> such that: 0  cn</a:t>
            </a:r>
            <a:r>
              <a:rPr lang="en-US" altLang="en-US" baseline="30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 100n + 5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en-US" dirty="0">
                <a:sym typeface="Symbol" panose="05050102010706020507" pitchFamily="18" charset="2"/>
              </a:rPr>
              <a:t>100n + 5  100n + 5n ( n  1) = 105n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en-US" dirty="0">
                <a:sym typeface="Symbol" panose="05050102010706020507" pitchFamily="18" charset="2"/>
              </a:rPr>
              <a:t>cn</a:t>
            </a:r>
            <a:r>
              <a:rPr lang="en-US" altLang="en-US" baseline="30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 105n  n(</a:t>
            </a:r>
            <a:r>
              <a:rPr lang="en-US" altLang="en-US" dirty="0" err="1">
                <a:sym typeface="Symbol" panose="05050102010706020507" pitchFamily="18" charset="2"/>
              </a:rPr>
              <a:t>cn</a:t>
            </a:r>
            <a:r>
              <a:rPr lang="en-US" altLang="en-US" dirty="0">
                <a:sym typeface="Symbol" panose="05050102010706020507" pitchFamily="18" charset="2"/>
              </a:rPr>
              <a:t> – 105)  0</a:t>
            </a:r>
            <a:r>
              <a:rPr lang="en-US" altLang="en-US" baseline="30000" dirty="0">
                <a:sym typeface="Symbol" panose="05050102010706020507" pitchFamily="18" charset="2"/>
              </a:rPr>
              <a:t> 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en-US" dirty="0"/>
              <a:t>Since n is positive </a:t>
            </a:r>
            <a:r>
              <a:rPr lang="en-US" altLang="en-US" dirty="0">
                <a:sym typeface="Symbol" panose="05050102010706020507" pitchFamily="18" charset="2"/>
              </a:rPr>
              <a:t> </a:t>
            </a:r>
            <a:r>
              <a:rPr lang="en-US" altLang="en-US" dirty="0" err="1">
                <a:sym typeface="Symbol" panose="05050102010706020507" pitchFamily="18" charset="2"/>
              </a:rPr>
              <a:t>cn</a:t>
            </a:r>
            <a:r>
              <a:rPr lang="en-US" altLang="en-US" dirty="0">
                <a:sym typeface="Symbol" panose="05050102010706020507" pitchFamily="18" charset="2"/>
              </a:rPr>
              <a:t> – 105  0  n  105/c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en-US" dirty="0">
                <a:sym typeface="Symbol" panose="05050102010706020507" pitchFamily="18" charset="2"/>
              </a:rPr>
              <a:t> contradiction: n cannot be smaller than a constant</a:t>
            </a:r>
            <a:endParaRPr lang="en-US" altLang="en-US" baseline="30000" dirty="0">
              <a:sym typeface="Symbol" panose="05050102010706020507" pitchFamily="18" charset="2"/>
            </a:endParaRP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ECB128-E21D-4D3E-8A5D-E769B9E0C7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4500" dirty="0"/>
              <a:t>n = </a:t>
            </a:r>
            <a:r>
              <a:rPr lang="en-US" sz="4500" dirty="0">
                <a:sym typeface="Symbol" pitchFamily="18" charset="2"/>
              </a:rPr>
              <a:t></a:t>
            </a:r>
            <a:r>
              <a:rPr lang="en-US" sz="4500" dirty="0"/>
              <a:t>(2n)</a:t>
            </a:r>
          </a:p>
          <a:p>
            <a:r>
              <a:rPr lang="en-US" sz="4500" dirty="0"/>
              <a:t>n</a:t>
            </a:r>
            <a:r>
              <a:rPr lang="en-US" sz="4500" baseline="30000" dirty="0"/>
              <a:t>3</a:t>
            </a:r>
            <a:r>
              <a:rPr lang="en-US" sz="4500" dirty="0"/>
              <a:t> = </a:t>
            </a:r>
            <a:r>
              <a:rPr lang="en-US" sz="4500" dirty="0">
                <a:sym typeface="Symbol" pitchFamily="18" charset="2"/>
              </a:rPr>
              <a:t></a:t>
            </a:r>
            <a:r>
              <a:rPr lang="en-US" sz="4500" dirty="0"/>
              <a:t>(n</a:t>
            </a:r>
            <a:r>
              <a:rPr lang="en-US" sz="4500" baseline="30000" dirty="0"/>
              <a:t>2</a:t>
            </a:r>
            <a:r>
              <a:rPr lang="en-US" sz="4500" dirty="0"/>
              <a:t>)</a:t>
            </a:r>
            <a:endParaRPr lang="en-US" sz="4500" dirty="0">
              <a:sym typeface="Symbol" pitchFamily="18" charset="2"/>
            </a:endParaRPr>
          </a:p>
          <a:p>
            <a:r>
              <a:rPr lang="en-US" sz="4500" dirty="0">
                <a:sym typeface="Symbol" pitchFamily="18" charset="2"/>
              </a:rPr>
              <a:t>n </a:t>
            </a:r>
            <a:r>
              <a:rPr lang="en-US" sz="4500" dirty="0"/>
              <a:t>= </a:t>
            </a:r>
            <a:r>
              <a:rPr lang="en-US" sz="4500" dirty="0">
                <a:sym typeface="Symbol" pitchFamily="18" charset="2"/>
              </a:rPr>
              <a:t>(</a:t>
            </a:r>
            <a:r>
              <a:rPr lang="en-US" sz="4500" dirty="0" err="1">
                <a:sym typeface="Symbol" pitchFamily="18" charset="2"/>
              </a:rPr>
              <a:t>logn</a:t>
            </a:r>
            <a:r>
              <a:rPr lang="en-US" sz="4500" dirty="0">
                <a:sym typeface="Symbol" pitchFamily="18" charset="2"/>
              </a:rPr>
              <a:t>)</a:t>
            </a:r>
            <a:endParaRPr lang="en-US" sz="45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3777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044514-5486-4CBA-82C6-F81CD4744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</a:t>
            </a:r>
            <a:r>
              <a:rPr lang="en-US" dirty="0">
                <a:sym typeface="Symbol" panose="05050102010706020507" pitchFamily="18" charset="2"/>
              </a:rPr>
              <a:t> (theta)</a:t>
            </a:r>
            <a:endParaRPr lang="en-US" dirty="0"/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1D381871-30F3-4335-B0D0-01F57BF05A57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3256756" y="2064544"/>
          <a:ext cx="5678488" cy="387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2" name="Paint Shop Pro Image" r:id="rId3" imgW="5678049" imgH="3873171" progId="">
                  <p:embed/>
                </p:oleObj>
              </mc:Choice>
              <mc:Fallback>
                <p:oleObj name="Paint Shop Pro Image" r:id="rId3" imgW="5678049" imgH="3873171" progId="">
                  <p:embed/>
                  <p:pic>
                    <p:nvPicPr>
                      <p:cNvPr id="0" name="Picture 6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6756" y="2064544"/>
                        <a:ext cx="5678488" cy="387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A15CFC51-E825-4D2F-B0C1-AAD6657D9A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8606064"/>
              </p:ext>
            </p:extLst>
          </p:nvPr>
        </p:nvGraphicFramePr>
        <p:xfrm>
          <a:off x="2071687" y="1448198"/>
          <a:ext cx="8048625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3" name="Paint Shop Pro Image" r:id="rId5" imgW="8048780" imgH="858537" progId="">
                  <p:embed/>
                </p:oleObj>
              </mc:Choice>
              <mc:Fallback>
                <p:oleObj name="Paint Shop Pro Image" r:id="rId5" imgW="8048780" imgH="858537" progId="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7" y="1448198"/>
                        <a:ext cx="8048625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>
            <a:extLst>
              <a:ext uri="{FF2B5EF4-FFF2-40B4-BE49-F238E27FC236}">
                <a16:creationId xmlns:a16="http://schemas.microsoft.com/office/drawing/2014/main" id="{62590D44-65CC-41FA-BB85-3CEF3E434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5650" y="4151313"/>
            <a:ext cx="4089400" cy="1039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en-US" sz="2000" dirty="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   </a:t>
            </a:r>
            <a:r>
              <a:rPr lang="en-US" altLang="en-US" sz="2000" dirty="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</a:t>
            </a:r>
            <a:r>
              <a:rPr lang="en-US" altLang="en-US" sz="2000" dirty="0">
                <a:solidFill>
                  <a:srgbClr val="DD0111"/>
                </a:solidFill>
                <a:latin typeface="Comic Sans MS" panose="030F0702030302020204" pitchFamily="66" charset="0"/>
              </a:rPr>
              <a:t>(g(n))</a:t>
            </a:r>
            <a:r>
              <a:rPr lang="en-US" altLang="en-US" sz="2000" dirty="0">
                <a:solidFill>
                  <a:srgbClr val="DD0111"/>
                </a:solidFill>
              </a:rPr>
              <a:t> is the set of functions with the same order of growth as </a:t>
            </a:r>
            <a:r>
              <a:rPr lang="en-US" altLang="en-US" sz="2000" dirty="0">
                <a:solidFill>
                  <a:srgbClr val="DD0111"/>
                </a:solidFill>
                <a:latin typeface="Comic Sans MS" panose="030F0702030302020204" pitchFamily="66" charset="0"/>
              </a:rPr>
              <a:t>g(n)</a:t>
            </a:r>
            <a:endParaRPr lang="en-US" altLang="en-US" sz="2400" dirty="0">
              <a:solidFill>
                <a:srgbClr val="DD0111"/>
              </a:solidFill>
              <a:latin typeface="Comic Sans MS" panose="030F0702030302020204" pitchFamily="66" charset="0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endParaRPr lang="en-US" altLang="en-US" sz="2400" dirty="0">
              <a:solidFill>
                <a:srgbClr val="DD0111"/>
              </a:solidFill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148872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2DC5F-889A-4F73-9D06-281D60E5E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45A71-46B0-4BDA-9F97-A265B04AA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>
              <a:lnSpc>
                <a:spcPct val="180000"/>
              </a:lnSpc>
            </a:pPr>
            <a:r>
              <a:rPr lang="en-US" altLang="en-US" sz="3600" dirty="0"/>
              <a:t>n</a:t>
            </a:r>
            <a:r>
              <a:rPr lang="en-US" altLang="en-US" sz="3600" baseline="30000" dirty="0"/>
              <a:t>2</a:t>
            </a:r>
            <a:r>
              <a:rPr lang="en-US" altLang="en-US" sz="3600" dirty="0"/>
              <a:t>/2 –n/2 = </a:t>
            </a:r>
            <a:r>
              <a:rPr lang="en-US" altLang="en-US" sz="3600" dirty="0">
                <a:sym typeface="Symbol" panose="05050102010706020507" pitchFamily="18" charset="2"/>
              </a:rPr>
              <a:t></a:t>
            </a:r>
            <a:r>
              <a:rPr lang="en-US" altLang="en-US" sz="3600" dirty="0"/>
              <a:t>(n</a:t>
            </a:r>
            <a:r>
              <a:rPr lang="en-US" altLang="en-US" sz="3600" baseline="30000" dirty="0"/>
              <a:t>2</a:t>
            </a:r>
            <a:r>
              <a:rPr lang="en-US" altLang="en-US" sz="3600" dirty="0"/>
              <a:t>)</a:t>
            </a:r>
          </a:p>
          <a:p>
            <a:pPr lvl="2">
              <a:lnSpc>
                <a:spcPct val="180000"/>
              </a:lnSpc>
            </a:pPr>
            <a:r>
              <a:rPr lang="en-US" altLang="en-US" sz="3100" dirty="0"/>
              <a:t>½ n</a:t>
            </a:r>
            <a:r>
              <a:rPr lang="en-US" altLang="en-US" sz="3100" baseline="30000" dirty="0"/>
              <a:t>2</a:t>
            </a:r>
            <a:r>
              <a:rPr lang="en-US" altLang="en-US" sz="3100" dirty="0"/>
              <a:t> - ½ n </a:t>
            </a:r>
            <a:r>
              <a:rPr lang="en-US" altLang="en-US" sz="3100" dirty="0">
                <a:sym typeface="Symbol" panose="05050102010706020507" pitchFamily="18" charset="2"/>
              </a:rPr>
              <a:t>≤ </a:t>
            </a:r>
            <a:r>
              <a:rPr lang="en-US" altLang="en-US" sz="3100" dirty="0"/>
              <a:t>½ n</a:t>
            </a:r>
            <a:r>
              <a:rPr lang="en-US" altLang="en-US" sz="3100" baseline="30000" dirty="0"/>
              <a:t>2</a:t>
            </a:r>
            <a:r>
              <a:rPr lang="en-US" altLang="en-US" sz="3100" dirty="0"/>
              <a:t>   </a:t>
            </a:r>
            <a:r>
              <a:rPr lang="en-US" altLang="en-US" sz="3100" dirty="0">
                <a:sym typeface="Symbol" panose="05050102010706020507" pitchFamily="18" charset="2"/>
              </a:rPr>
              <a:t>n ≥ 0      </a:t>
            </a:r>
            <a:r>
              <a:rPr lang="en-US" altLang="en-US" sz="3100" dirty="0"/>
              <a:t>c</a:t>
            </a:r>
            <a:r>
              <a:rPr lang="en-US" altLang="en-US" sz="3100" baseline="-25000" dirty="0"/>
              <a:t>2</a:t>
            </a:r>
            <a:r>
              <a:rPr lang="en-US" altLang="en-US" sz="3100" dirty="0"/>
              <a:t>= ½</a:t>
            </a:r>
          </a:p>
          <a:p>
            <a:pPr lvl="2">
              <a:lnSpc>
                <a:spcPct val="180000"/>
              </a:lnSpc>
            </a:pPr>
            <a:r>
              <a:rPr lang="en-US" altLang="en-US" sz="3100" dirty="0"/>
              <a:t>½ n</a:t>
            </a:r>
            <a:r>
              <a:rPr lang="en-US" altLang="en-US" sz="3100" baseline="30000" dirty="0"/>
              <a:t>2</a:t>
            </a:r>
            <a:r>
              <a:rPr lang="en-US" altLang="en-US" sz="3100" dirty="0"/>
              <a:t> - ½ n </a:t>
            </a:r>
            <a:r>
              <a:rPr lang="en-US" altLang="en-US" sz="3100" dirty="0">
                <a:sym typeface="Symbol" panose="05050102010706020507" pitchFamily="18" charset="2"/>
              </a:rPr>
              <a:t>≥ </a:t>
            </a:r>
            <a:r>
              <a:rPr lang="en-US" altLang="en-US" sz="3100" dirty="0"/>
              <a:t>½ n</a:t>
            </a:r>
            <a:r>
              <a:rPr lang="en-US" altLang="en-US" sz="3100" baseline="30000" dirty="0"/>
              <a:t>2</a:t>
            </a:r>
            <a:r>
              <a:rPr lang="en-US" altLang="en-US" sz="3100" dirty="0"/>
              <a:t> - ½ n * ½ n ( </a:t>
            </a:r>
            <a:r>
              <a:rPr lang="en-US" altLang="en-US" sz="3100" dirty="0">
                <a:sym typeface="Symbol" panose="05050102010706020507" pitchFamily="18" charset="2"/>
              </a:rPr>
              <a:t>n ≥ 2 </a:t>
            </a:r>
            <a:r>
              <a:rPr lang="en-US" altLang="en-US" sz="3100" dirty="0"/>
              <a:t>) = ¼ n</a:t>
            </a:r>
            <a:r>
              <a:rPr lang="en-US" altLang="en-US" sz="3100" baseline="30000" dirty="0"/>
              <a:t>2</a:t>
            </a:r>
            <a:r>
              <a:rPr lang="en-US" altLang="en-US" sz="3100" dirty="0"/>
              <a:t> 	</a:t>
            </a:r>
            <a:r>
              <a:rPr lang="en-US" altLang="en-US" sz="3100" dirty="0">
                <a:sym typeface="Symbol" panose="05050102010706020507" pitchFamily="18" charset="2"/>
              </a:rPr>
              <a:t>   </a:t>
            </a:r>
            <a:r>
              <a:rPr lang="en-US" altLang="en-US" sz="3100" dirty="0"/>
              <a:t>c</a:t>
            </a:r>
            <a:r>
              <a:rPr lang="en-US" altLang="en-US" sz="3100" baseline="-25000" dirty="0"/>
              <a:t>1</a:t>
            </a:r>
            <a:r>
              <a:rPr lang="en-US" altLang="en-US" sz="3100" dirty="0"/>
              <a:t>= ¼ </a:t>
            </a:r>
            <a:endParaRPr lang="en-US" altLang="en-US" sz="3100" dirty="0">
              <a:sym typeface="Symbol" panose="05050102010706020507" pitchFamily="18" charset="2"/>
            </a:endParaRPr>
          </a:p>
          <a:p>
            <a:pPr lvl="1">
              <a:lnSpc>
                <a:spcPct val="180000"/>
              </a:lnSpc>
            </a:pPr>
            <a:r>
              <a:rPr lang="en-US" altLang="en-US" sz="3600" dirty="0">
                <a:sym typeface="Symbol" panose="05050102010706020507" pitchFamily="18" charset="2"/>
              </a:rPr>
              <a:t>n ≠ (n</a:t>
            </a:r>
            <a:r>
              <a:rPr lang="en-US" altLang="en-US" sz="3600" baseline="30000" dirty="0">
                <a:sym typeface="Symbol" panose="05050102010706020507" pitchFamily="18" charset="2"/>
              </a:rPr>
              <a:t>2</a:t>
            </a:r>
            <a:r>
              <a:rPr lang="en-US" altLang="en-US" sz="3600" dirty="0">
                <a:sym typeface="Symbol" panose="05050102010706020507" pitchFamily="18" charset="2"/>
              </a:rPr>
              <a:t>): </a:t>
            </a:r>
            <a:r>
              <a:rPr lang="en-US" altLang="en-US" sz="3600" dirty="0"/>
              <a:t>c</a:t>
            </a:r>
            <a:r>
              <a:rPr lang="en-US" altLang="en-US" sz="3600" baseline="-25000" dirty="0"/>
              <a:t>1</a:t>
            </a:r>
            <a:r>
              <a:rPr lang="en-US" altLang="en-US" sz="3600" dirty="0"/>
              <a:t> n</a:t>
            </a:r>
            <a:r>
              <a:rPr lang="en-US" altLang="en-US" sz="3600" baseline="30000" dirty="0"/>
              <a:t>2</a:t>
            </a:r>
            <a:r>
              <a:rPr lang="en-US" altLang="en-US" sz="3600" dirty="0"/>
              <a:t> </a:t>
            </a:r>
            <a:r>
              <a:rPr lang="en-US" altLang="en-US" sz="3600" dirty="0">
                <a:sym typeface="Symbol" panose="05050102010706020507" pitchFamily="18" charset="2"/>
              </a:rPr>
              <a:t>≤ n ≤ c</a:t>
            </a:r>
            <a:r>
              <a:rPr lang="en-US" altLang="en-US" sz="3600" baseline="-25000" dirty="0">
                <a:sym typeface="Symbol" panose="05050102010706020507" pitchFamily="18" charset="2"/>
              </a:rPr>
              <a:t>2</a:t>
            </a:r>
            <a:r>
              <a:rPr lang="en-US" altLang="en-US" sz="3600" dirty="0">
                <a:sym typeface="Symbol" panose="05050102010706020507" pitchFamily="18" charset="2"/>
              </a:rPr>
              <a:t> n</a:t>
            </a:r>
            <a:r>
              <a:rPr lang="en-US" altLang="en-US" sz="3600" baseline="30000" dirty="0">
                <a:sym typeface="Symbol" panose="05050102010706020507" pitchFamily="18" charset="2"/>
              </a:rPr>
              <a:t>2</a:t>
            </a:r>
            <a:r>
              <a:rPr lang="en-US" altLang="en-US" sz="3100" baseline="30000" dirty="0">
                <a:sym typeface="Symbol" panose="05050102010706020507" pitchFamily="18" charset="2"/>
              </a:rPr>
              <a:t> </a:t>
            </a:r>
          </a:p>
          <a:p>
            <a:pPr lvl="1">
              <a:lnSpc>
                <a:spcPct val="180000"/>
              </a:lnSpc>
              <a:buFontTx/>
              <a:buNone/>
            </a:pPr>
            <a:r>
              <a:rPr lang="en-US" altLang="en-US" sz="3100" dirty="0">
                <a:sym typeface="Symbol" panose="05050102010706020507" pitchFamily="18" charset="2"/>
              </a:rPr>
              <a:t>	 only holds for: n ≤ 1/</a:t>
            </a:r>
            <a:r>
              <a:rPr lang="en-US" altLang="en-US" sz="3600" dirty="0"/>
              <a:t>c</a:t>
            </a:r>
            <a:r>
              <a:rPr lang="en-US" altLang="en-US" sz="3600" baseline="-25000" dirty="0"/>
              <a:t>1</a:t>
            </a:r>
            <a:endParaRPr lang="en-US" altLang="en-US" sz="3600" dirty="0">
              <a:sym typeface="Symbol" panose="05050102010706020507" pitchFamily="18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9184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FE7AD-DB11-471E-9987-25FF0813B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4B1BF-456C-4576-AF66-FABB7F776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80000"/>
              </a:lnSpc>
            </a:pPr>
            <a:r>
              <a:rPr lang="en-US" altLang="en-US" sz="2800" dirty="0">
                <a:sym typeface="Symbol" panose="05050102010706020507" pitchFamily="18" charset="2"/>
              </a:rPr>
              <a:t>6n</a:t>
            </a:r>
            <a:r>
              <a:rPr lang="en-US" altLang="en-US" sz="2800" baseline="30000" dirty="0">
                <a:sym typeface="Symbol" panose="05050102010706020507" pitchFamily="18" charset="2"/>
              </a:rPr>
              <a:t>3</a:t>
            </a:r>
            <a:r>
              <a:rPr lang="en-US" altLang="en-US" sz="2800" dirty="0">
                <a:sym typeface="Symbol" panose="05050102010706020507" pitchFamily="18" charset="2"/>
              </a:rPr>
              <a:t> ≠  (n</a:t>
            </a:r>
            <a:r>
              <a:rPr lang="en-US" altLang="en-US" sz="2800" baseline="30000" dirty="0"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ym typeface="Symbol" panose="05050102010706020507" pitchFamily="18" charset="2"/>
              </a:rPr>
              <a:t>): </a:t>
            </a:r>
            <a:r>
              <a:rPr lang="en-US" altLang="en-US" sz="2800" dirty="0"/>
              <a:t>c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n</a:t>
            </a:r>
            <a:r>
              <a:rPr lang="en-US" altLang="en-US" sz="2800" baseline="30000" dirty="0"/>
              <a:t>2</a:t>
            </a:r>
            <a:r>
              <a:rPr lang="en-US" altLang="en-US" sz="2800" dirty="0"/>
              <a:t> </a:t>
            </a:r>
            <a:r>
              <a:rPr lang="en-US" altLang="en-US" sz="2800" dirty="0">
                <a:sym typeface="Symbol" panose="05050102010706020507" pitchFamily="18" charset="2"/>
              </a:rPr>
              <a:t>≤ 6n</a:t>
            </a:r>
            <a:r>
              <a:rPr lang="en-US" altLang="en-US" sz="2800" baseline="30000" dirty="0">
                <a:sym typeface="Symbol" panose="05050102010706020507" pitchFamily="18" charset="2"/>
              </a:rPr>
              <a:t>3</a:t>
            </a:r>
            <a:r>
              <a:rPr lang="en-US" altLang="en-US" sz="2800" dirty="0">
                <a:sym typeface="Symbol" panose="05050102010706020507" pitchFamily="18" charset="2"/>
              </a:rPr>
              <a:t> ≤ c</a:t>
            </a:r>
            <a:r>
              <a:rPr lang="en-US" altLang="en-US" sz="2800" baseline="-25000" dirty="0"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ym typeface="Symbol" panose="05050102010706020507" pitchFamily="18" charset="2"/>
              </a:rPr>
              <a:t> n</a:t>
            </a:r>
            <a:r>
              <a:rPr lang="en-US" altLang="en-US" sz="2800" baseline="30000" dirty="0">
                <a:sym typeface="Symbol" panose="05050102010706020507" pitchFamily="18" charset="2"/>
              </a:rPr>
              <a:t>2 </a:t>
            </a:r>
          </a:p>
          <a:p>
            <a:pPr lvl="1">
              <a:lnSpc>
                <a:spcPct val="180000"/>
              </a:lnSpc>
              <a:buFontTx/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	 only holds for: n ≤ </a:t>
            </a:r>
            <a:r>
              <a:rPr lang="en-US" altLang="en-US" sz="2800" dirty="0"/>
              <a:t>c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/6</a:t>
            </a:r>
          </a:p>
          <a:p>
            <a:pPr lvl="1">
              <a:lnSpc>
                <a:spcPct val="180000"/>
              </a:lnSpc>
              <a:buFontTx/>
              <a:buNone/>
            </a:pPr>
            <a:endParaRPr lang="en-US" altLang="en-US" sz="2800" dirty="0">
              <a:sym typeface="Symbol" panose="05050102010706020507" pitchFamily="18" charset="2"/>
            </a:endParaRPr>
          </a:p>
          <a:p>
            <a:pPr lvl="1">
              <a:lnSpc>
                <a:spcPct val="180000"/>
              </a:lnSpc>
            </a:pPr>
            <a:r>
              <a:rPr lang="en-US" altLang="en-US" sz="2800" dirty="0">
                <a:sym typeface="Symbol" panose="05050102010706020507" pitchFamily="18" charset="2"/>
              </a:rPr>
              <a:t>n ≠ (</a:t>
            </a:r>
            <a:r>
              <a:rPr lang="en-US" altLang="en-US" sz="2800" dirty="0" err="1">
                <a:sym typeface="Symbol" panose="05050102010706020507" pitchFamily="18" charset="2"/>
              </a:rPr>
              <a:t>logn</a:t>
            </a:r>
            <a:r>
              <a:rPr lang="en-US" altLang="en-US" sz="2800" dirty="0">
                <a:sym typeface="Symbol" panose="05050102010706020507" pitchFamily="18" charset="2"/>
              </a:rPr>
              <a:t>): </a:t>
            </a:r>
            <a:r>
              <a:rPr lang="en-US" altLang="en-US" sz="2800" dirty="0"/>
              <a:t>c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logn</a:t>
            </a:r>
            <a:r>
              <a:rPr lang="en-US" altLang="en-US" sz="2800" dirty="0"/>
              <a:t>  </a:t>
            </a:r>
            <a:r>
              <a:rPr lang="en-US" altLang="en-US" sz="2800" dirty="0">
                <a:sym typeface="Symbol" panose="05050102010706020507" pitchFamily="18" charset="2"/>
              </a:rPr>
              <a:t>≤ n  ≤ c</a:t>
            </a:r>
            <a:r>
              <a:rPr lang="en-US" altLang="en-US" sz="2800" baseline="-25000" dirty="0"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logn</a:t>
            </a:r>
            <a:endParaRPr lang="en-US" altLang="en-US" sz="2800" dirty="0">
              <a:sym typeface="Symbol" panose="05050102010706020507" pitchFamily="18" charset="2"/>
            </a:endParaRPr>
          </a:p>
          <a:p>
            <a:pPr lvl="1">
              <a:lnSpc>
                <a:spcPct val="180000"/>
              </a:lnSpc>
              <a:buFontTx/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			  c</a:t>
            </a:r>
            <a:r>
              <a:rPr lang="en-US" altLang="en-US" sz="2800" baseline="-25000" dirty="0"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ym typeface="Symbol" panose="05050102010706020507" pitchFamily="18" charset="2"/>
              </a:rPr>
              <a:t> ≥  n/</a:t>
            </a:r>
            <a:r>
              <a:rPr lang="en-US" altLang="en-US" sz="2800" dirty="0" err="1">
                <a:sym typeface="Symbol" panose="05050102010706020507" pitchFamily="18" charset="2"/>
              </a:rPr>
              <a:t>logn</a:t>
            </a:r>
            <a:r>
              <a:rPr lang="en-US" altLang="en-US" sz="2800" dirty="0">
                <a:sym typeface="Symbol" panose="05050102010706020507" pitchFamily="18" charset="2"/>
              </a:rPr>
              <a:t>,   n ≥ n</a:t>
            </a:r>
            <a:r>
              <a:rPr lang="en-US" altLang="en-US" sz="2800" baseline="-25000" dirty="0">
                <a:sym typeface="Symbol" panose="05050102010706020507" pitchFamily="18" charset="2"/>
              </a:rPr>
              <a:t>0</a:t>
            </a:r>
            <a:r>
              <a:rPr lang="en-US" altLang="en-US" sz="2800" dirty="0">
                <a:sym typeface="Symbol" panose="05050102010706020507" pitchFamily="18" charset="2"/>
              </a:rPr>
              <a:t> – impossible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9316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30D00-7F10-4650-9186-C925B7F13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Sets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19B87E4-277D-4A81-AB73-4B48C16B257E}"/>
              </a:ext>
            </a:extLst>
          </p:cNvPr>
          <p:cNvSpPr/>
          <p:nvPr/>
        </p:nvSpPr>
        <p:spPr>
          <a:xfrm>
            <a:off x="3371850" y="2744318"/>
            <a:ext cx="4029075" cy="2513953"/>
          </a:xfrm>
          <a:prstGeom prst="ellipse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O(n)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A280135-1FF3-4356-A472-AA9F7B930548}"/>
              </a:ext>
            </a:extLst>
          </p:cNvPr>
          <p:cNvSpPr/>
          <p:nvPr/>
        </p:nvSpPr>
        <p:spPr>
          <a:xfrm>
            <a:off x="6096000" y="2744317"/>
            <a:ext cx="3709296" cy="2513954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>
                <a:sym typeface="Symbol" panose="05050102010706020507" pitchFamily="18" charset="2"/>
              </a:rPr>
              <a:t></a:t>
            </a:r>
            <a:r>
              <a:rPr lang="en-US" sz="3200" dirty="0"/>
              <a:t>(n)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16EB5A-1AA6-4299-B640-3C0D7E4A37BD}"/>
              </a:ext>
            </a:extLst>
          </p:cNvPr>
          <p:cNvSpPr txBox="1"/>
          <p:nvPr/>
        </p:nvSpPr>
        <p:spPr>
          <a:xfrm>
            <a:off x="6365427" y="3708906"/>
            <a:ext cx="959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sym typeface="Symbol" panose="05050102010706020507" pitchFamily="18" charset="2"/>
              </a:rPr>
              <a:t>(n)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70268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EFC1CB-F9A1-497E-B484-CA7CEB96B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For each of the following pairs of functions, either f(n) is O(g(n)), f(n) is Ω(g(n)), or f(n) = Θ(g(n)). Determine which relationship is correct.</a:t>
            </a:r>
            <a:br>
              <a:rPr lang="en-US" alt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F3FB8E-BF70-4C80-8283-3FE5A55E85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078249" cy="435133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en-US" sz="2400" dirty="0"/>
              <a:t>f(n) = log n</a:t>
            </a:r>
            <a:r>
              <a:rPr lang="en-US" altLang="en-US" sz="2400" baseline="30000" dirty="0"/>
              <a:t>2</a:t>
            </a:r>
            <a:r>
              <a:rPr lang="en-US" altLang="en-US" sz="2400" dirty="0"/>
              <a:t>; g(n) = log n + 5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f(n) = n; g(n) = log n</a:t>
            </a:r>
            <a:r>
              <a:rPr lang="en-US" altLang="en-US" sz="2400" baseline="30000" dirty="0"/>
              <a:t>2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f(n) = log </a:t>
            </a:r>
            <a:r>
              <a:rPr lang="en-US" altLang="en-US" sz="2400" dirty="0" err="1"/>
              <a:t>log</a:t>
            </a:r>
            <a:r>
              <a:rPr lang="en-US" altLang="en-US" sz="2400" dirty="0"/>
              <a:t> n; g(n) = log n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f(n) = n; g(n) = log</a:t>
            </a:r>
            <a:r>
              <a:rPr lang="en-US" altLang="en-US" sz="2400" baseline="30000" dirty="0"/>
              <a:t>2</a:t>
            </a:r>
            <a:r>
              <a:rPr lang="en-US" altLang="en-US" sz="2400" dirty="0"/>
              <a:t> n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f(n) = n log n + n; g(n) = log n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f(n) = 10; g(n) = log 10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f(n) = 2</a:t>
            </a:r>
            <a:r>
              <a:rPr lang="en-US" altLang="en-US" sz="2400" baseline="30000" dirty="0"/>
              <a:t>n</a:t>
            </a:r>
            <a:r>
              <a:rPr lang="en-US" altLang="en-US" sz="2400" dirty="0"/>
              <a:t>; g(n) = 10n</a:t>
            </a:r>
            <a:r>
              <a:rPr lang="en-US" altLang="en-US" sz="2400" baseline="30000" dirty="0"/>
              <a:t>2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f(n) = 2</a:t>
            </a:r>
            <a:r>
              <a:rPr lang="en-US" altLang="en-US" sz="2400" baseline="30000" dirty="0"/>
              <a:t>n</a:t>
            </a:r>
            <a:r>
              <a:rPr lang="en-US" altLang="en-US" sz="2400" dirty="0"/>
              <a:t>; g(n) = 3</a:t>
            </a:r>
            <a:r>
              <a:rPr lang="en-US" altLang="en-US" sz="2400" baseline="30000" dirty="0"/>
              <a:t>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13CF24-9D61-43B0-A72D-E2A5AE5E3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69492" y="1825625"/>
            <a:ext cx="2821488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en-US" sz="2400" dirty="0"/>
              <a:t>-&gt; f(n) = </a:t>
            </a:r>
            <a:r>
              <a:rPr lang="en-US" altLang="en-US" sz="2400" dirty="0">
                <a:sym typeface="Symbol" panose="05050102010706020507" pitchFamily="18" charset="2"/>
              </a:rPr>
              <a:t> (g(n))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2400" dirty="0"/>
              <a:t>-&gt; f(n) = </a:t>
            </a:r>
            <a:r>
              <a:rPr lang="en-US" altLang="en-US" sz="2400" dirty="0">
                <a:sym typeface="Symbol" panose="05050102010706020507" pitchFamily="18" charset="2"/>
              </a:rPr>
              <a:t>(g(n))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2400" dirty="0"/>
              <a:t>-&gt; f(n) = </a:t>
            </a:r>
            <a:r>
              <a:rPr lang="en-US" altLang="en-US" sz="2400" dirty="0">
                <a:sym typeface="Symbol" panose="05050102010706020507" pitchFamily="18" charset="2"/>
              </a:rPr>
              <a:t>O(g(n))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2400" dirty="0"/>
              <a:t>-&gt; f(n) = </a:t>
            </a:r>
            <a:r>
              <a:rPr lang="en-US" altLang="en-US" sz="2400" dirty="0">
                <a:sym typeface="Symbol" panose="05050102010706020507" pitchFamily="18" charset="2"/>
              </a:rPr>
              <a:t>(g(n))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2400" dirty="0"/>
              <a:t>-&gt; f(n) = </a:t>
            </a:r>
            <a:r>
              <a:rPr lang="en-US" altLang="en-US" sz="2400" dirty="0">
                <a:sym typeface="Symbol" panose="05050102010706020507" pitchFamily="18" charset="2"/>
              </a:rPr>
              <a:t>(g(n))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2400" dirty="0"/>
              <a:t>-&gt; f(n) = </a:t>
            </a:r>
            <a:r>
              <a:rPr lang="en-US" altLang="en-US" sz="2400" dirty="0">
                <a:sym typeface="Symbol" panose="05050102010706020507" pitchFamily="18" charset="2"/>
              </a:rPr>
              <a:t>(g(n))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2400" dirty="0"/>
              <a:t>-&gt; f(n) = </a:t>
            </a:r>
            <a:r>
              <a:rPr lang="en-US" altLang="en-US" sz="2400" dirty="0">
                <a:sym typeface="Symbol" panose="05050102010706020507" pitchFamily="18" charset="2"/>
              </a:rPr>
              <a:t>(g(n))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2400" dirty="0"/>
              <a:t>-&gt; f(n) = </a:t>
            </a:r>
            <a:r>
              <a:rPr lang="en-US" altLang="en-US" sz="2400" dirty="0">
                <a:sym typeface="Symbol" panose="05050102010706020507" pitchFamily="18" charset="2"/>
              </a:rPr>
              <a:t>O(g(n))</a:t>
            </a:r>
          </a:p>
        </p:txBody>
      </p:sp>
    </p:spTree>
    <p:extLst>
      <p:ext uri="{BB962C8B-B14F-4D97-AF65-F5344CB8AC3E}">
        <p14:creationId xmlns:p14="http://schemas.microsoft.com/office/powerpoint/2010/main" val="9306990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1B28C1F-30C2-431A-BC88-ED9123810D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/>
          <a:lstStyle/>
          <a:p>
            <a:r>
              <a:rPr lang="en-US" altLang="en-US"/>
              <a:t>Properties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FC06536D-0A54-47F2-9735-B3859E05CA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143001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altLang="en-US" sz="2400" i="1" dirty="0">
                <a:solidFill>
                  <a:srgbClr val="DD0111"/>
                </a:solidFill>
                <a:latin typeface="Monotype Corsiva" panose="03010101010201010101" pitchFamily="66" charset="0"/>
                <a:sym typeface="Symbol" panose="05050102010706020507" pitchFamily="18" charset="2"/>
              </a:rPr>
              <a:t>Theorem</a:t>
            </a:r>
            <a:r>
              <a:rPr lang="en-US" altLang="en-US" sz="2400" i="1" dirty="0" smtClean="0">
                <a:solidFill>
                  <a:srgbClr val="DD0111"/>
                </a:solidFill>
                <a:latin typeface="Monotype Corsiva" panose="03010101010201010101" pitchFamily="66" charset="0"/>
                <a:sym typeface="Symbol" panose="05050102010706020507" pitchFamily="18" charset="2"/>
              </a:rPr>
              <a:t>:</a:t>
            </a:r>
            <a:endParaRPr lang="en-US" altLang="en-US" sz="2400" i="1" dirty="0">
              <a:latin typeface="Monotype Corsiva" panose="03010101010201010101" pitchFamily="66" charset="0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 smtClean="0">
                <a:latin typeface="Comic Sans MS" panose="030F0702030302020204" pitchFamily="66" charset="0"/>
                <a:sym typeface="Symbol" panose="05050102010706020507" pitchFamily="18" charset="2"/>
              </a:rPr>
              <a:t>f(n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) = (g(n))  f = O(g(n)) and f = (g(n))</a:t>
            </a:r>
            <a:endParaRPr lang="en-US" altLang="en-US" sz="2000" dirty="0"/>
          </a:p>
          <a:p>
            <a:r>
              <a:rPr lang="en-US" altLang="en-US" sz="2400" dirty="0"/>
              <a:t>Transitivity</a:t>
            </a:r>
            <a:r>
              <a:rPr lang="en-US" altLang="en-US" sz="2400" b="1" dirty="0"/>
              <a:t>:</a:t>
            </a:r>
          </a:p>
          <a:p>
            <a:pPr lvl="1"/>
            <a:r>
              <a:rPr lang="en-US" altLang="en-US" sz="2000" dirty="0">
                <a:latin typeface="Comic Sans MS" panose="030F0702030302020204" pitchFamily="66" charset="0"/>
              </a:rPr>
              <a:t>f(n) = </a:t>
            </a:r>
            <a:r>
              <a:rPr lang="en-US" altLang="en-US" dirty="0">
                <a:latin typeface="Comic Sans MS" panose="030F0702030302020204" pitchFamily="66" charset="0"/>
                <a:sym typeface="Symbol" panose="05050102010706020507" pitchFamily="18" charset="2"/>
              </a:rPr>
              <a:t></a:t>
            </a:r>
            <a:r>
              <a:rPr lang="en-US" altLang="en-US" sz="2000" dirty="0">
                <a:latin typeface="Comic Sans MS" panose="030F0702030302020204" pitchFamily="66" charset="0"/>
              </a:rPr>
              <a:t>(g(n))</a:t>
            </a:r>
            <a:r>
              <a:rPr lang="en-US" altLang="en-US" sz="2000" dirty="0">
                <a:latin typeface="Monotype Corsiva" panose="03010101010201010101" pitchFamily="66" charset="0"/>
              </a:rPr>
              <a:t> </a:t>
            </a:r>
            <a:r>
              <a:rPr lang="en-US" altLang="en-US" sz="2000" dirty="0"/>
              <a:t>and</a:t>
            </a:r>
            <a:r>
              <a:rPr lang="en-US" altLang="en-US" sz="2000" dirty="0">
                <a:latin typeface="Monotype Corsiva" panose="03010101010201010101" pitchFamily="66" charset="0"/>
              </a:rPr>
              <a:t> </a:t>
            </a:r>
            <a:r>
              <a:rPr lang="en-US" altLang="en-US" sz="2000" dirty="0">
                <a:latin typeface="Comic Sans MS" panose="030F0702030302020204" pitchFamily="66" charset="0"/>
              </a:rPr>
              <a:t>g(n) = </a:t>
            </a:r>
            <a:r>
              <a:rPr lang="en-US" altLang="en-US" dirty="0">
                <a:latin typeface="Comic Sans MS" panose="030F0702030302020204" pitchFamily="66" charset="0"/>
                <a:sym typeface="Symbol" panose="05050102010706020507" pitchFamily="18" charset="2"/>
              </a:rPr>
              <a:t></a:t>
            </a:r>
            <a:r>
              <a:rPr lang="en-US" altLang="en-US" sz="2000" dirty="0">
                <a:latin typeface="Comic Sans MS" panose="030F0702030302020204" pitchFamily="66" charset="0"/>
              </a:rPr>
              <a:t>(h(n))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</a:t>
            </a:r>
            <a:r>
              <a:rPr lang="en-US" altLang="en-US" sz="2000" dirty="0">
                <a:latin typeface="Comic Sans MS" panose="030F0702030302020204" pitchFamily="66" charset="0"/>
              </a:rPr>
              <a:t> f(n) = </a:t>
            </a:r>
            <a:r>
              <a:rPr lang="en-US" altLang="en-US" dirty="0">
                <a:latin typeface="Comic Sans MS" panose="030F0702030302020204" pitchFamily="66" charset="0"/>
                <a:sym typeface="Symbol" panose="05050102010706020507" pitchFamily="18" charset="2"/>
              </a:rPr>
              <a:t></a:t>
            </a:r>
            <a:r>
              <a:rPr lang="en-US" altLang="en-US" sz="2000" dirty="0">
                <a:latin typeface="Comic Sans MS" panose="030F0702030302020204" pitchFamily="66" charset="0"/>
              </a:rPr>
              <a:t>(h(n))</a:t>
            </a:r>
          </a:p>
          <a:p>
            <a:pPr lvl="1"/>
            <a:r>
              <a:rPr lang="en-US" altLang="en-US" sz="2000" dirty="0"/>
              <a:t>Same for </a:t>
            </a:r>
            <a:r>
              <a:rPr lang="en-US" altLang="en-US" sz="2000" dirty="0">
                <a:latin typeface="Comic Sans MS" panose="030F0702030302020204" pitchFamily="66" charset="0"/>
              </a:rPr>
              <a:t>O</a:t>
            </a:r>
            <a:r>
              <a:rPr lang="en-US" altLang="en-US" sz="2000" dirty="0"/>
              <a:t> and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</a:t>
            </a:r>
            <a:endParaRPr lang="en-US" altLang="en-US" sz="2000" dirty="0"/>
          </a:p>
          <a:p>
            <a:r>
              <a:rPr lang="en-US" altLang="en-US" sz="2400" dirty="0"/>
              <a:t>Reflexivity:</a:t>
            </a:r>
          </a:p>
          <a:p>
            <a:pPr lvl="1"/>
            <a:r>
              <a:rPr lang="en-US" altLang="en-US" sz="2000" dirty="0">
                <a:latin typeface="Comic Sans MS" panose="030F0702030302020204" pitchFamily="66" charset="0"/>
              </a:rPr>
              <a:t>f(n) = </a:t>
            </a:r>
            <a:r>
              <a:rPr lang="en-US" altLang="en-US" dirty="0">
                <a:latin typeface="Comic Sans MS" panose="030F0702030302020204" pitchFamily="66" charset="0"/>
                <a:sym typeface="Symbol" panose="05050102010706020507" pitchFamily="18" charset="2"/>
              </a:rPr>
              <a:t></a:t>
            </a:r>
            <a:r>
              <a:rPr lang="en-US" altLang="en-US" sz="2000" dirty="0">
                <a:latin typeface="Comic Sans MS" panose="030F0702030302020204" pitchFamily="66" charset="0"/>
              </a:rPr>
              <a:t>(f(n))</a:t>
            </a:r>
          </a:p>
          <a:p>
            <a:pPr lvl="1"/>
            <a:r>
              <a:rPr lang="en-US" altLang="en-US" sz="2000" dirty="0"/>
              <a:t>Same for </a:t>
            </a:r>
            <a:r>
              <a:rPr lang="en-US" altLang="en-US" sz="2000" dirty="0">
                <a:latin typeface="Comic Sans MS" panose="030F0702030302020204" pitchFamily="66" charset="0"/>
              </a:rPr>
              <a:t>O</a:t>
            </a:r>
            <a:r>
              <a:rPr lang="en-US" altLang="en-US" sz="2000" dirty="0"/>
              <a:t> and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</a:t>
            </a:r>
            <a:endParaRPr lang="en-US" altLang="en-US" sz="2000" dirty="0"/>
          </a:p>
          <a:p>
            <a:r>
              <a:rPr lang="en-US" altLang="en-US" sz="2400" dirty="0"/>
              <a:t>Symmetry:</a:t>
            </a:r>
          </a:p>
          <a:p>
            <a:pPr lvl="1"/>
            <a:r>
              <a:rPr lang="en-US" altLang="en-US" sz="2000" dirty="0">
                <a:latin typeface="Comic Sans MS" panose="030F0702030302020204" pitchFamily="66" charset="0"/>
              </a:rPr>
              <a:t>f(n) = </a:t>
            </a:r>
            <a:r>
              <a:rPr lang="en-US" altLang="en-US" dirty="0">
                <a:latin typeface="Comic Sans MS" panose="030F0702030302020204" pitchFamily="66" charset="0"/>
                <a:sym typeface="Symbol" panose="05050102010706020507" pitchFamily="18" charset="2"/>
              </a:rPr>
              <a:t></a:t>
            </a:r>
            <a:r>
              <a:rPr lang="en-US" altLang="en-US" sz="2000" dirty="0">
                <a:latin typeface="Comic Sans MS" panose="030F0702030302020204" pitchFamily="66" charset="0"/>
              </a:rPr>
              <a:t>(g(n)) </a:t>
            </a:r>
            <a:r>
              <a:rPr lang="en-US" altLang="en-US" sz="2000" dirty="0"/>
              <a:t>if and only if </a:t>
            </a:r>
            <a:r>
              <a:rPr lang="en-US" altLang="en-US" sz="2000" dirty="0">
                <a:latin typeface="Comic Sans MS" panose="030F0702030302020204" pitchFamily="66" charset="0"/>
              </a:rPr>
              <a:t>g(n) = </a:t>
            </a:r>
            <a:r>
              <a:rPr lang="en-US" altLang="en-US" dirty="0">
                <a:latin typeface="Comic Sans MS" panose="030F0702030302020204" pitchFamily="66" charset="0"/>
                <a:sym typeface="Symbol" panose="05050102010706020507" pitchFamily="18" charset="2"/>
              </a:rPr>
              <a:t></a:t>
            </a:r>
            <a:r>
              <a:rPr lang="en-US" altLang="en-US" sz="2000" dirty="0">
                <a:latin typeface="Comic Sans MS" panose="030F0702030302020204" pitchFamily="66" charset="0"/>
              </a:rPr>
              <a:t>(f(n))</a:t>
            </a:r>
          </a:p>
          <a:p>
            <a:r>
              <a:rPr lang="en-US" altLang="en-US" sz="2400" dirty="0"/>
              <a:t>Transpose symmetry:</a:t>
            </a:r>
          </a:p>
          <a:p>
            <a:pPr lvl="1"/>
            <a:r>
              <a:rPr lang="en-US" altLang="en-US" sz="2000" dirty="0">
                <a:latin typeface="Comic Sans MS" panose="030F0702030302020204" pitchFamily="66" charset="0"/>
              </a:rPr>
              <a:t>f(n) = O(g(n)) </a:t>
            </a:r>
            <a:r>
              <a:rPr lang="en-US" altLang="en-US" sz="2000" dirty="0"/>
              <a:t>if and only if </a:t>
            </a:r>
            <a:r>
              <a:rPr lang="en-US" altLang="en-US" sz="2000" dirty="0">
                <a:latin typeface="Comic Sans MS" panose="030F0702030302020204" pitchFamily="66" charset="0"/>
              </a:rPr>
              <a:t>g(n) =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</a:t>
            </a:r>
            <a:r>
              <a:rPr lang="en-US" altLang="en-US" sz="2000" dirty="0">
                <a:latin typeface="Comic Sans MS" panose="030F0702030302020204" pitchFamily="66" charset="0"/>
              </a:rPr>
              <a:t>(f(n))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</TotalTime>
  <Words>2404</Words>
  <Application>Microsoft Office PowerPoint</Application>
  <PresentationFormat>Widescreen</PresentationFormat>
  <Paragraphs>401</Paragraphs>
  <Slides>40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4" baseType="lpstr">
      <vt:lpstr>Arial</vt:lpstr>
      <vt:lpstr>Calibri</vt:lpstr>
      <vt:lpstr>Calibri Light</vt:lpstr>
      <vt:lpstr>Comic Sans MS</vt:lpstr>
      <vt:lpstr>굴림</vt:lpstr>
      <vt:lpstr>Monotype Corsiva</vt:lpstr>
      <vt:lpstr>MS Mincho</vt:lpstr>
      <vt:lpstr>Symbol</vt:lpstr>
      <vt:lpstr>Times New Roman</vt:lpstr>
      <vt:lpstr>Trebuchet MS</vt:lpstr>
      <vt:lpstr>Verdana</vt:lpstr>
      <vt:lpstr>Wingdings</vt:lpstr>
      <vt:lpstr>Office Theme</vt:lpstr>
      <vt:lpstr>Paint Shop Pro Image</vt:lpstr>
      <vt:lpstr>Introduction to Algorithms</vt:lpstr>
      <vt:lpstr>Analysis of Algorithm for Time and Space</vt:lpstr>
      <vt:lpstr>Problem Size Matters in Calculating Time or Space Complexity</vt:lpstr>
      <vt:lpstr>Characteristic Operation</vt:lpstr>
      <vt:lpstr>How many times innermost loop will execute?</vt:lpstr>
      <vt:lpstr>Sequential Search Analysis</vt:lpstr>
      <vt:lpstr>Exact vs Simplified Analysis</vt:lpstr>
      <vt:lpstr>Exact vs Simplified Analysis</vt:lpstr>
      <vt:lpstr>Average, Best or Worst Case</vt:lpstr>
      <vt:lpstr>Sequential Search Analysis – Best and Worst Cases</vt:lpstr>
      <vt:lpstr>More Examples</vt:lpstr>
      <vt:lpstr>More Examples</vt:lpstr>
      <vt:lpstr>What is the time complexity of these Algorithms?</vt:lpstr>
      <vt:lpstr>Algorithm Analysis</vt:lpstr>
      <vt:lpstr>Constant Factors are Ignored, Why?</vt:lpstr>
      <vt:lpstr>Only Highest Order Term Matters</vt:lpstr>
      <vt:lpstr>Only Highest Order Term Matters</vt:lpstr>
      <vt:lpstr>What is the time complexity ?</vt:lpstr>
      <vt:lpstr>What is the time complexity?</vt:lpstr>
      <vt:lpstr>Big O notation – Simplifying f(n)</vt:lpstr>
      <vt:lpstr>Asymptotic Notation</vt:lpstr>
      <vt:lpstr>Can we Justify Asymptotic Notation?</vt:lpstr>
      <vt:lpstr>f(n) = x2 + 3x + 5, for x=1..10</vt:lpstr>
      <vt:lpstr>Common time complexities</vt:lpstr>
      <vt:lpstr>Common Time  Complexities</vt:lpstr>
      <vt:lpstr>Big O Visual -  O(g(n)) is the set of functions with larger or same order of growth as f(n)</vt:lpstr>
      <vt:lpstr>Algorithm Examples for Time Complexity</vt:lpstr>
      <vt:lpstr>Examples:</vt:lpstr>
      <vt:lpstr>More Examples</vt:lpstr>
      <vt:lpstr>Big-O example, graphically</vt:lpstr>
      <vt:lpstr>No Uniqueness</vt:lpstr>
      <vt:lpstr>Exercise</vt:lpstr>
      <vt:lpstr>Big  (Omega)</vt:lpstr>
      <vt:lpstr>Examples</vt:lpstr>
      <vt:lpstr>Big  (theta)</vt:lpstr>
      <vt:lpstr>Examples</vt:lpstr>
      <vt:lpstr>More Examples</vt:lpstr>
      <vt:lpstr>Asymptotic Notation Sets</vt:lpstr>
      <vt:lpstr>For each of the following pairs of functions, either f(n) is O(g(n)), f(n) is Ω(g(n)), or f(n) = Θ(g(n)). Determine which relationship is correct. </vt:lpstr>
      <vt:lpstr>Properties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IT623 Algorithms &amp; Data Structures</dc:title>
  <dc:creator>Amit Mankodi</dc:creator>
  <cp:lastModifiedBy>Dell</cp:lastModifiedBy>
  <cp:revision>121</cp:revision>
  <dcterms:created xsi:type="dcterms:W3CDTF">2019-05-21T10:07:53Z</dcterms:created>
  <dcterms:modified xsi:type="dcterms:W3CDTF">2025-12-31T10:01:15Z</dcterms:modified>
</cp:coreProperties>
</file>