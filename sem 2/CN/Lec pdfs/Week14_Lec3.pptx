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84"/>
  </p:normalViewPr>
  <p:slideViewPr>
    <p:cSldViewPr snapToGrid="0" snapToObjects="1">
      <p:cViewPr varScale="1">
        <p:scale>
          <a:sx n="93" d="100"/>
          <a:sy n="93" d="100"/>
        </p:scale>
        <p:origin x="21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43BA0-31B2-9647-B4AE-FAAAB59E71D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C82DE-5DDA-204C-88D8-CE2E590AF47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Week14_Lec2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018" y="1919197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There are 2 switches in the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Testking</a:t>
            </a:r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 LAN, with no routers. Ports 1, 2 &amp; 3 are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assigned to VLAN 1 in switch 1 and 2 and ports 4, 5 &amp; 6 are assigned to VLAN 2 in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both switches. These two switches are connected together via a trunked link. Which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of the conditions below would verify trunk and VLAN operation? (Select all valid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answers)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br>
              <a:rPr lang="en-US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</a:b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A. Host 1 on VLAN 1 can ping Host 2 on VLAN 1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B. Host 1 on VLAN 1 can ping Host 4 on VLAN 2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C. Host 1 on VLAN 1 can not ping Host 2 on VLAN 1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D. Host 4 on VLAN 2 can not ping Host 1 on VLAN 1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E. Host 4 on VLAN 2 can ping Host 2 on VLAN 2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0994" y="3812022"/>
            <a:ext cx="1830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Answer: A, D,E</a:t>
            </a:r>
            <a:endParaRPr lang="en-US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5352" y="440019"/>
            <a:ext cx="772803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You are working as a network technician at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TestKing</a:t>
            </a:r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 University, when you get a call from the Engineering Faculty. They're complaining that they're receiving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obsolete information from the Business Faculty's network traffic broadcasts.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What can you do to contain the Business Faculty's broadcast while still keeping it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connected to the internet and the enterprise services of the University? (Select all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valid answer choices)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A. Use half and full-duplex Ethernet on the Engineering Department LAN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B. Establish a VTP domain to minimize the obsolete traffic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C. Change the switch IP address of the switch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D. Create separate VLANs and subnets for the two departments and route between the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two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E. Provide greater bandwidth to the Engineering Department LAN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F. Place the business department on a separate subnet and route between networks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59580" y="732627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Answer: D, F</a:t>
            </a:r>
            <a:endParaRPr lang="en-US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63382" y="1463486"/>
            <a:ext cx="405113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In order to prevent the broadcast and link level multicast traffic separated between the</a:t>
            </a:r>
            <a:endParaRPr lang="en-US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departments, they need to be isolated at layer two. This can be accomplished in two ways.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The first is to create separate VLANs and place each department into a different one. The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second method would be to separate the two departments into two completely different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networks, and route between them.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17316" y="206689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After connecting a PC to an available port on a switch, you find that the PC can not</a:t>
            </a:r>
            <a:endParaRPr lang="en-US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access any of the resources on the LAN. No other PC's connected to the switch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appear to be having any issues. What is the most likely cause for this problem?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A. The router lacks a routing table entry for the new host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B. The host switch port is assigned to the incorrect VLAN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C. The host MAC address is incorrectly configured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9418" y="5200456"/>
            <a:ext cx="13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Answer: A</a:t>
            </a:r>
            <a:endParaRPr lang="en-US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81105" y="2944054"/>
            <a:ext cx="40588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Virtual LANs break up broadcast domains in a layer-two switched internetwork. 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If a host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is in a different VLAN then the network services it needs to use, the packets must go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through a router. If routing does not take place, the PC will be unable to communicate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with any other devices not in the same VLAN. Answer B is the best answer for this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50" y="308819"/>
            <a:ext cx="5803900" cy="3022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54750" y="415678"/>
            <a:ext cx="529678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 technician is investigating a problem with the network shown above. These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symptoms have been observed: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1.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All of the user hosts can access the Internet.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2.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None of the user hosts can access the server in VLAN9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3.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All of the hosts can ping each other.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br>
              <a:rPr lang="en-US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</a:b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br>
              <a:rPr lang="en-US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</a:b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What could cause the symptoms?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A. Interface S0/0 on the router is down.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B. Interface Fa0/1 on the router is down.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C. Interface Fa0/5 on Testking3 is down.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D. Interface Fa0/4 on Testking3 is down.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E. Testking2 is turned off.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F.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Trunking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 is not enabled on the link between Testking1 and Testking3.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26796" y="3672597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Answer: D</a:t>
            </a:r>
            <a:endParaRPr lang="en-US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3825" y="4383107"/>
            <a:ext cx="44578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Since all user hosts have access to internet, link to router has to be up. Therefore, router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interface (Fa0/1 - believe it is labeled incorrectly on diagram as Fa1/0) must be up. Since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all hosts can ping each other, but none can get to VLAN 9 which is through single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interface Fa0/4, this interface must be down.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1099" y="365125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 elementary school has a computer in every classroom. One entire wing of the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school connects to a centrally located hub. The teachers have reported a slowdown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in the past few weeks to the network administrator. The network administrator has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analyzed the network and documented a steep increase in utilization as the teachers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use a new network-based classroom management application. Which solution will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improve the performance the most?</a:t>
            </a:r>
            <a:endParaRPr lang="en-US" dirty="0" smtClean="0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A. Install a router and install another hub in the affected wing.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B. Reboot the router that connects to the hub.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C. Replace the hub with a switch.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D. Ensure all devices in the affected wing have a default gateway.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E. Install a repeater in the affected wing.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95256" y="1913109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000000"/>
                </a:solidFill>
                <a:effectLst/>
                <a:latin typeface="Arial" panose="020B0604020202090204" pitchFamily="34" charset="0"/>
              </a:rPr>
              <a:t>Answer: C</a:t>
            </a:r>
            <a:endParaRPr lang="en-US">
              <a:solidFill>
                <a:srgbClr val="000000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26288" y="2338415"/>
            <a:ext cx="5389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By default, switches break up collision domains. In a hub environment, when one particular device sends a packet on a network segment, forcing every other device on that segment to pay attention to it. At the same time, a different device tries to transmit, which leads to a collision, after which both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devices must retransmit, one at a time. Not good-very inefficient! 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In contrast, each and every port on a switch represents its own collision domain. In contrast, a hub can't break  collision domains or broadcast domains. Similarly hub provides low bandwidth where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switch provides more bandwidth to all ports. </a:t>
            </a:r>
            <a:endParaRPr lang="en-US" dirty="0" smtClean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" panose="02020503050405090304" charset="0"/>
              </a:rPr>
              <a:t>Suppose there are 10 ports with 100 mbps bandwidth then the hub provides only 10 mbps to each port but switch provides 100mbps to all ports aggregated.</a:t>
            </a:r>
            <a:endParaRPr lang="en-US" dirty="0">
              <a:solidFill>
                <a:srgbClr val="000000"/>
              </a:solidFill>
              <a:effectLst/>
              <a:latin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433" y="192600"/>
            <a:ext cx="6159879" cy="34418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1723" y="3833781"/>
            <a:ext cx="981533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Consider the network in Figure 1. All links are Ethernet cables. B1 to B3 are bridges. R1 to R5 are routers.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H1 and H2 are hosts. There is no other network than shown on the figure.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The figure shows the IP and MAC addresses. The MAC addresses are written symbolically as M1 to M22.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All interfaces are configured with network mask 255.255.255.0. All routers run a distance vector routing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protocol.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Since B2 is a bridge, routers R2 and R3 are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" charset="0"/>
              </a:rPr>
              <a:t>neighbours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 for the distance vector routing protocol (and similarly,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R2 and R4 are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" charset="0"/>
              </a:rPr>
              <a:t>neighbours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, R3 and R4 are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" charset="0"/>
              </a:rPr>
              <a:t>neighbours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, and R1 and R3 are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" charset="0"/>
              </a:rPr>
              <a:t>neighbours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The link costs are the same in both directions. They are configured as follows.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R1-R3: 10. R1-R2: 1 R2-R3: 1 R2-R4: 1 R3-R4: 1 R3-R5: 10 R4-R5: 1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Thus assume that the costs given above are the costs of the specific networks. For directly connected</a:t>
            </a:r>
            <a:endParaRPr lang="en-US" sz="1600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networks this then means that e.g. the cost from R5 to 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Courier" charset="0"/>
              </a:rPr>
              <a:t>22.22.3/24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" charset="0"/>
              </a:rPr>
              <a:t>is 1, the cost from R1 to 22.22.1/24 is 10.</a:t>
            </a:r>
            <a:endParaRPr lang="en-US" sz="2000" dirty="0" smtClean="0">
              <a:solidFill>
                <a:srgbClr val="000000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5969" y="568543"/>
            <a:ext cx="85266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1. Give a possible value of the routing table entry at each router for destination network = </a:t>
            </a:r>
            <a:r>
              <a:rPr lang="en-US" dirty="0" smtClean="0">
                <a:solidFill>
                  <a:srgbClr val="000000"/>
                </a:solidFill>
                <a:effectLst/>
                <a:latin typeface="Courier" charset="0"/>
              </a:rPr>
              <a:t>22.22.3/24</a:t>
            </a:r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, assuming the routing protocol has converged. Give the values in the table below (do not give the value of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" charset="0"/>
              </a:rPr>
              <a:t>the“interface</a:t>
            </a:r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” field).</a:t>
            </a:r>
            <a:endParaRPr lang="en-US" dirty="0">
              <a:solidFill>
                <a:srgbClr val="000000"/>
              </a:solidFill>
              <a:effectLst/>
              <a:latin typeface="Times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081" y="1832715"/>
            <a:ext cx="7861300" cy="353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340" y="193380"/>
            <a:ext cx="45903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The link between R2 and B2 fails. Explain what happens in all routers, in particular respective to</a:t>
            </a:r>
            <a:endParaRPr lang="en-US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the destination network </a:t>
            </a:r>
            <a:r>
              <a:rPr lang="en-US" dirty="0" smtClean="0">
                <a:solidFill>
                  <a:srgbClr val="000000"/>
                </a:solidFill>
                <a:effectLst/>
                <a:latin typeface="Courier" charset="0"/>
              </a:rPr>
              <a:t>22.22.3/24</a:t>
            </a:r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, by giving a possible sequence of events (max 15 lines).   Give the new value of the routing table entry at each router for destination network = </a:t>
            </a:r>
            <a:r>
              <a:rPr lang="en-US" dirty="0" smtClean="0">
                <a:solidFill>
                  <a:srgbClr val="000000"/>
                </a:solidFill>
                <a:effectLst/>
                <a:latin typeface="Courier" charset="0"/>
              </a:rPr>
              <a:t>22.22.3/24</a:t>
            </a:r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,</a:t>
            </a:r>
            <a:endParaRPr lang="en-US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after the routing protocol has converged again. Give the values in the table below (do not give the</a:t>
            </a:r>
            <a:endParaRPr lang="en-US" dirty="0" smtClean="0">
              <a:solidFill>
                <a:srgbClr val="000000"/>
              </a:solidFill>
              <a:effectLst/>
              <a:latin typeface="Times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value of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" charset="0"/>
              </a:rPr>
              <a:t>the“interface</a:t>
            </a:r>
            <a:r>
              <a:rPr lang="en-US" dirty="0" smtClean="0">
                <a:solidFill>
                  <a:srgbClr val="000000"/>
                </a:solidFill>
                <a:effectLst/>
                <a:latin typeface="Times" charset="0"/>
              </a:rPr>
              <a:t>” field).</a:t>
            </a:r>
            <a:endParaRPr lang="en-US" dirty="0">
              <a:solidFill>
                <a:srgbClr val="000000"/>
              </a:solidFill>
              <a:effectLst/>
              <a:latin typeface="Time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803" y="193380"/>
            <a:ext cx="6108700" cy="3340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46522" y="3831127"/>
            <a:ext cx="92443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smtClean="0">
                <a:solidFill>
                  <a:srgbClr val="FB0007"/>
                </a:solidFill>
                <a:effectLst/>
                <a:latin typeface="Times" charset="0"/>
              </a:rPr>
              <a:t>R2, R3, R4 detect failure after timeout</a:t>
            </a:r>
            <a:endParaRPr lang="en-US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they set the cost of routes to networks, whose next hop is one of the neighbors who timed out, to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infinity. R2 for example had R4 as next hop to reach network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Courier" charset="0"/>
              </a:rPr>
              <a:t>22.22.3/24</a:t>
            </a:r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with a cost of 2, it will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change this to infinity. R3 and R4 will not change anything with respect to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Courier" charset="0"/>
              </a:rPr>
              <a:t>22.22.3/24</a:t>
            </a:r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as their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routes were not affected by the failure. R3 and R4 will however set e.g. costs to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Courier" charset="0"/>
              </a:rPr>
              <a:t>22.22.192/24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to infinity as the next hop was R2.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R2 sends its updated routing information to R1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R1 adopts the entry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Courier" charset="0"/>
              </a:rPr>
              <a:t>22.22.3/24</a:t>
            </a:r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, cost infinity, because it had R2 as next hop of this route.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some time R1 will get an update from R3, saying that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Courier" charset="0"/>
              </a:rPr>
              <a:t>22.22.3/24 </a:t>
            </a:r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is reachable from R3 at a</a:t>
            </a:r>
            <a:endParaRPr lang="en-US" dirty="0" smtClean="0">
              <a:solidFill>
                <a:srgbClr val="FB0007"/>
              </a:solidFill>
              <a:effectLst/>
              <a:latin typeface="Times" charset="0"/>
            </a:endParaRPr>
          </a:p>
          <a:p>
            <a:r>
              <a:rPr lang="en-US" i="1" dirty="0" smtClean="0">
                <a:solidFill>
                  <a:srgbClr val="FB0007"/>
                </a:solidFill>
                <a:effectLst/>
                <a:latin typeface="Times" charset="0"/>
              </a:rPr>
              <a:t>cost of 2. This plus the cost of the link R1-R3 equals 12 which is smaller than the current cost</a:t>
            </a:r>
            <a:endParaRPr lang="en-US" dirty="0">
              <a:solidFill>
                <a:srgbClr val="FB0007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7256</Words>
  <Application>WPS Presentation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Times</vt:lpstr>
      <vt:lpstr>Courier</vt:lpstr>
      <vt:lpstr>Calibri Light</vt:lpstr>
      <vt:lpstr>Helvetica Neue</vt:lpstr>
      <vt:lpstr>Calibri</vt:lpstr>
      <vt:lpstr>Microsoft YaHei</vt:lpstr>
      <vt:lpstr>汉仪旗黑</vt:lpstr>
      <vt:lpstr>Arial Unicode MS</vt:lpstr>
      <vt:lpstr>苹方-简</vt:lpstr>
      <vt:lpstr>宋体-简</vt:lpstr>
      <vt:lpstr>Office Theme</vt:lpstr>
      <vt:lpstr>IT694 Computer Networks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2025 12100</cp:lastModifiedBy>
  <cp:revision>3</cp:revision>
  <dcterms:created xsi:type="dcterms:W3CDTF">2026-05-04T03:08:33Z</dcterms:created>
  <dcterms:modified xsi:type="dcterms:W3CDTF">2026-05-04T03:08:33Z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225E9D9D54416D63590BF869B031280C_42</vt:lpwstr>
  </property>
</Properties>
</file>