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  <p:embeddedFont>
      <p:font typeface="Gill Sans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8cAv8pPTaMd3RcJJ/p+dj0E6+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8A56B2-EC10-4498-A249-39590B8E276E}">
  <a:tblStyle styleId="{5C8A56B2-EC10-4498-A249-39590B8E27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bold.fntdata"/><Relationship Id="rId30" Type="http://schemas.openxmlformats.org/officeDocument/2006/relationships/font" Target="fonts/Gill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7" name="Google Shape;13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d4efc207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3d4efc207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g3d4efc207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d4efbdb7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3d4efbdb7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g3d4efbdb7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Computer Networks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Week10_Lec3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96" name="Google Shape;96;p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50989" y="1541236"/>
            <a:ext cx="5708805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98" name="Google Shape;98;p2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x,y</a:t>
              </a: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D(v):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p(v):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108" name="Google Shape;108;p3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" name="Google Shape;110;p3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1" name="Google Shape;111;p3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12" name="Google Shape;112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=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      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sz="24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D(w)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D(v) =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D(v),  D(w) + c</a:t>
            </a:r>
            <a:r>
              <a:rPr b="1" baseline="-25000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w,v 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28" name="Google Shape;128;p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" name="Google Shape;129;p4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30" name="Google Shape;130;p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" name="Google Shape;133;p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" name="Google Shape;135;p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" name="Google Shape;138;p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" name="Google Shape;140;p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" name="Google Shape;145;p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" name="Google Shape;150;p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p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" name="Google Shape;155;p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" name="Google Shape;160;p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" name="Google Shape;171;p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72" name="Google Shape;172;p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75" name="Google Shape;175;p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80" name="Google Shape;180;p4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81" name="Google Shape;181;p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7" name="Google Shape;187;p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89" name="Google Shape;189;p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4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201" name="Google Shape;201;p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02" name="Google Shape;202;p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207" name="Google Shape;207;p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208" name="Google Shape;208;p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2" name="Google Shape;212;p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4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Initialization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(step 0):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For all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="0" baseline="-2500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231" name="Google Shape;231;p5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5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234" name="Google Shape;234;p5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35" name="Google Shape;235;p5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236" name="Google Shape;236;p5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5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5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240" name="Google Shape;240;p5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241" name="Google Shape;241;p5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5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5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5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5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p5"/>
          <p:cNvSpPr txBox="1"/>
          <p:nvPr/>
        </p:nvSpPr>
        <p:spPr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grpSp>
        <p:nvGrpSpPr>
          <p:cNvPr id="248" name="Google Shape;248;p5"/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249" name="Google Shape;249;p5"/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0" name="Google Shape;250;p5"/>
            <p:cNvCxnSpPr>
              <a:stCxn id="249" idx="2"/>
              <a:endCxn id="251" idx="6"/>
            </p:cNvCxnSpPr>
            <p:nvPr/>
          </p:nvCxnSpPr>
          <p:spPr>
            <a:xfrm flipH="1">
              <a:off x="3421603" y="1478590"/>
              <a:ext cx="3423600" cy="100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1" name="Google Shape;251;p5"/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5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5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255" name="Google Shape;255;p5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259" name="Google Shape;259;p5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60" name="Google Shape;260;p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" name="Google Shape;264;p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5" name="Google Shape;265;p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0" name="Google Shape;270;p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3" name="Google Shape;273;p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" name="Google Shape;275;p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" name="Google Shape;278;p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5" name="Google Shape;285;p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" name="Google Shape;288;p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9" name="Google Shape;289;p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" name="Google Shape;290;p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" name="Google Shape;301;p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305" name="Google Shape;305;p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" name="Google Shape;307;p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308" name="Google Shape;308;p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310" name="Google Shape;310;p5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311" name="Google Shape;311;p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5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314" name="Google Shape;314;p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317" name="Google Shape;317;p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319" name="Google Shape;319;p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9" name="Google Shape;329;p5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6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336" name="Google Shape;336;p6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6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39" name="Google Shape;339;p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41" name="Google Shape;341;p6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342" name="Google Shape;342;p6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343" name="Google Shape;343;p6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344" name="Google Shape;344;p6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345" name="Google Shape;345;p6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346" name="Google Shape;346;p6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6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348" name="Google Shape;348;p6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349" name="Google Shape;349;p6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350" name="Google Shape;350;p6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354" name="Google Shape;354;p6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355" name="Google Shape;355;p6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356" name="Google Shape;356;p6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6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6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6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6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1" name="Google Shape;361;p6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    </a:t>
            </a:r>
            <a:endParaRPr/>
          </a:p>
        </p:txBody>
      </p:sp>
      <p:sp>
        <p:nvSpPr>
          <p:cNvPr id="362" name="Google Shape;362;p6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363" name="Google Shape;363;p6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4" name="Google Shape;364;p6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365" name="Google Shape;365;p6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366" name="Google Shape;366;p6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367" name="Google Shape;367;p6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368" name="Google Shape;368;p6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369" name="Google Shape;369;p6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370" name="Google Shape;370;p6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371" name="Google Shape;371;p6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4" name="Google Shape;374;p6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6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" name="Google Shape;376;p6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6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6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1" name="Google Shape;381;p6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4" name="Google Shape;384;p6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6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p6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9" name="Google Shape;389;p6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6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1" name="Google Shape;391;p6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4" name="Google Shape;394;p6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6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6" name="Google Shape;396;p6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9" name="Google Shape;399;p6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6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" name="Google Shape;401;p6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" name="Google Shape;412;p6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13" name="Google Shape;413;p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" name="Google Shape;415;p6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16" name="Google Shape;416;p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8" name="Google Shape;418;p6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19" name="Google Shape;419;p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421" name="Google Shape;421;p6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422" name="Google Shape;422;p6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6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25" name="Google Shape;425;p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7" name="Google Shape;427;p6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28" name="Google Shape;428;p6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430" name="Google Shape;430;p6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6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6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6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6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6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6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6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6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6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0" name="Google Shape;440;p6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1" name="Google Shape;441;p6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442" name="Google Shape;442;p6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43" name="Google Shape;443;p6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6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445" name="Google Shape;445;p6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446" name="Google Shape;446;p6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447" name="Google Shape;447;p6"/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448" name="Google Shape;448;p6"/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6"/>
            <p:cNvSpPr txBox="1"/>
            <p:nvPr/>
          </p:nvSpPr>
          <p:spPr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D(v) = min ( D(v),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min(2, 1+2) = 2 </a:t>
              </a:r>
              <a:endParaRPr/>
            </a:p>
          </p:txBody>
        </p:sp>
        <p:sp>
          <p:nvSpPr>
            <p:cNvPr id="450" name="Google Shape;450;p6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(5, 1+3) = 4 </a:t>
              </a:r>
              <a:endParaRPr/>
            </a:p>
          </p:txBody>
        </p:sp>
        <p:sp>
          <p:nvSpPr>
            <p:cNvPr id="451" name="Google Shape;451;p6"/>
            <p:cNvSpPr txBox="1"/>
            <p:nvPr/>
          </p:nvSpPr>
          <p:spPr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D(y) = min ( D(y), D(x)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x,y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min(inf,1+1) = 2  </a:t>
              </a:r>
              <a:endParaRPr/>
            </a:p>
          </p:txBody>
        </p:sp>
      </p:grpSp>
      <p:grpSp>
        <p:nvGrpSpPr>
          <p:cNvPr id="452" name="Google Shape;452;p6"/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453" name="Google Shape;45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454" name="Google Shape;454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461" name="Google Shape;461;p7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62" name="Google Shape;462;p7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463" name="Google Shape;463;p7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464" name="Google Shape;464;p7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465" name="Google Shape;465;p7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466" name="Google Shape;466;p7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467" name="Google Shape;467;p7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7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),p(w)</a:t>
            </a:r>
            <a:endParaRPr/>
          </a:p>
        </p:txBody>
      </p:sp>
      <p:sp>
        <p:nvSpPr>
          <p:cNvPr id="469" name="Google Shape;469;p7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470" name="Google Shape;470;p7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471" name="Google Shape;471;p7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472" name="Google Shape;472;p7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7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475" name="Google Shape;475;p7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476" name="Google Shape;476;p7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477" name="Google Shape;477;p7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8" name="Google Shape;478;p7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7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0" name="Google Shape;480;p7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7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2" name="Google Shape;482;p7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5" name="Google Shape;485;p7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487" name="Google Shape;487;p7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488" name="Google Shape;488;p7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89" name="Google Shape;489;p7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490" name="Google Shape;490;p7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491" name="Google Shape;491;p7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492" name="Google Shape;492;p7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" name="Google Shape;495;p7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7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7" name="Google Shape;497;p7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0" name="Google Shape;500;p7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7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2" name="Google Shape;502;p7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5" name="Google Shape;505;p7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7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7" name="Google Shape;507;p7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7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7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2" name="Google Shape;512;p7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5" name="Google Shape;515;p7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7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7" name="Google Shape;517;p7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" name="Google Shape;520;p7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7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2" name="Google Shape;522;p7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" name="Google Shape;533;p7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534" name="Google Shape;534;p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7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6" name="Google Shape;536;p7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537" name="Google Shape;537;p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9" name="Google Shape;539;p7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540" name="Google Shape;540;p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7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542" name="Google Shape;542;p7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543" name="Google Shape;543;p7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7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5" name="Google Shape;545;p7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546" name="Google Shape;546;p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7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8" name="Google Shape;548;p7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549" name="Google Shape;549;p7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7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551" name="Google Shape;551;p7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7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7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7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7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7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7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7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1" name="Google Shape;561;p7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2" name="Google Shape;562;p7"/>
          <p:cNvSpPr txBox="1"/>
          <p:nvPr/>
        </p:nvSpPr>
        <p:spPr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ic Sans M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∞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"/>
          <p:cNvSpPr txBox="1"/>
          <p:nvPr/>
        </p:nvSpPr>
        <p:spPr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2,x</a:t>
            </a:r>
            <a:endParaRPr/>
          </a:p>
        </p:txBody>
      </p:sp>
      <p:sp>
        <p:nvSpPr>
          <p:cNvPr id="564" name="Google Shape;564;p7"/>
          <p:cNvSpPr txBox="1"/>
          <p:nvPr/>
        </p:nvSpPr>
        <p:spPr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</p:txBody>
      </p:sp>
      <p:sp>
        <p:nvSpPr>
          <p:cNvPr id="565" name="Google Shape;565;p7"/>
          <p:cNvSpPr txBox="1"/>
          <p:nvPr/>
        </p:nvSpPr>
        <p:spPr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2,u</a:t>
            </a:r>
            <a:endParaRPr/>
          </a:p>
        </p:txBody>
      </p:sp>
      <p:grpSp>
        <p:nvGrpSpPr>
          <p:cNvPr id="566" name="Google Shape;566;p7"/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567" name="Google Shape;567;p7"/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8" name="Google Shape;568;p7"/>
            <p:cNvCxnSpPr>
              <a:stCxn id="567" idx="2"/>
              <a:endCxn id="569" idx="6"/>
            </p:cNvCxnSpPr>
            <p:nvPr/>
          </p:nvCxnSpPr>
          <p:spPr>
            <a:xfrm flipH="1">
              <a:off x="-789221" y="356054"/>
              <a:ext cx="4813500" cy="12561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69" name="Google Shape;569;p7"/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570;p7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71" name="Google Shape;571;p7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cxnSp>
        <p:nvCxnSpPr>
          <p:cNvPr id="572" name="Google Shape;572;p7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8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579" name="Google Shape;579;p8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8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1" name="Google Shape;581;p8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582" name="Google Shape;582;p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583" name="Google Shape;583;p8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84" name="Google Shape;584;p8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585" name="Google Shape;585;p8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586" name="Google Shape;586;p8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587" name="Google Shape;587;p8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588" name="Google Shape;588;p8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589" name="Google Shape;589;p8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8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591" name="Google Shape;591;p8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592" name="Google Shape;592;p8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593" name="Google Shape;593;p8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8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596" name="Google Shape;596;p8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597" name="Google Shape;597;p8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598" name="Google Shape;598;p8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8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0" name="Google Shape;600;p8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8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2" name="Google Shape;602;p8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3" name="Google Shape;603;p8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604" name="Google Shape;604;p8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605" name="Google Shape;605;p8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06" name="Google Shape;606;p8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607" name="Google Shape;607;p8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608" name="Google Shape;608;p8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609" name="Google Shape;609;p8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10" name="Google Shape;610;p8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611" name="Google Shape;611;p8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612" name="Google Shape;612;p8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613" name="Google Shape;613;p8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6" name="Google Shape;616;p8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8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8" name="Google Shape;618;p8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1" name="Google Shape;621;p8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8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3" name="Google Shape;623;p8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6" name="Google Shape;626;p8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8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8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1" name="Google Shape;631;p8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8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3" name="Google Shape;633;p8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6" name="Google Shape;636;p8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8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8" name="Google Shape;638;p8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" name="Google Shape;641;p8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8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3" name="Google Shape;643;p8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4" name="Google Shape;654;p8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55" name="Google Shape;655;p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7" name="Google Shape;657;p8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58" name="Google Shape;658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0" name="Google Shape;660;p8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61" name="Google Shape;661;p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663" name="Google Shape;663;p8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664" name="Google Shape;664;p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8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8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67" name="Google Shape;667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8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9" name="Google Shape;669;p8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70" name="Google Shape;670;p8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8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672" name="Google Shape;672;p8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8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8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8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8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8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8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8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8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2" name="Google Shape;682;p8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83" name="Google Shape;683;p8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684" name="Google Shape;684;p8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8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686" name="Google Shape;686;p8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687" name="Google Shape;687;p8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688" name="Google Shape;688;p8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9" name="Google Shape;689;p8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690" name="Google Shape;690;p8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691" name="Google Shape;691;p8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692" name="Google Shape;692;p8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693" name="Google Shape;693;p8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694" name="Google Shape;694;p8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695" name="Google Shape;695;p8"/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696" name="Google Shape;696;p8"/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8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8"/>
            <p:cNvSpPr txBox="1"/>
            <p:nvPr/>
          </p:nvSpPr>
          <p:spPr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D(y) + </a:t>
              </a:r>
              <a:r>
                <a:rPr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aseline="-25000"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2+1) = 3 </a:t>
              </a:r>
              <a:endParaRPr/>
            </a:p>
          </p:txBody>
        </p:sp>
        <p:sp>
          <p:nvSpPr>
            <p:cNvPr id="699" name="Google Shape;699;p8"/>
            <p:cNvSpPr txBox="1"/>
            <p:nvPr/>
          </p:nvSpPr>
          <p:spPr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D(y)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y,z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min(inf,2+2) = 4  </a:t>
              </a:r>
              <a:endParaRPr/>
            </a:p>
          </p:txBody>
        </p:sp>
      </p:grpSp>
      <p:grpSp>
        <p:nvGrpSpPr>
          <p:cNvPr id="700" name="Google Shape;700;p8"/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descr="A picture containing object, drawing, room, lamp&#10;&#10;Description automatically generated" id="701" name="Google Shape;70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object, drawing, room, lamp&#10;&#10;Description automatically generated" id="702" name="Google Shape;70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03" name="Google Shape;703;p8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710" name="Google Shape;710;p9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11" name="Google Shape;711;p9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712" name="Google Shape;712;p9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713" name="Google Shape;713;p9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714" name="Google Shape;714;p9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715" name="Google Shape;715;p9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716" name="Google Shape;716;p9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9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718" name="Google Shape;718;p9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719" name="Google Shape;719;p9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720" name="Google Shape;720;p9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9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9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723" name="Google Shape;723;p9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724" name="Google Shape;724;p9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725" name="Google Shape;725;p9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6" name="Google Shape;726;p9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7" name="Google Shape;727;p9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8" name="Google Shape;728;p9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9" name="Google Shape;729;p9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0" name="Google Shape;730;p9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731" name="Google Shape;731;p9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732" name="Google Shape;732;p9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3" name="Google Shape;733;p9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734" name="Google Shape;734;p9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735" name="Google Shape;735;p9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736" name="Google Shape;736;p9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737" name="Google Shape;737;p9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738" name="Google Shape;738;p9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739" name="Google Shape;739;p9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740" name="Google Shape;740;p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3" name="Google Shape;743;p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5" name="Google Shape;745;p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" name="Google Shape;748;p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0" name="Google Shape;750;p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3" name="Google Shape;753;p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5" name="Google Shape;755;p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8" name="Google Shape;758;p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0" name="Google Shape;760;p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3" name="Google Shape;763;p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5" name="Google Shape;765;p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" name="Google Shape;768;p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9" name="Google Shape;769;p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0" name="Google Shape;770;p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1" name="Google Shape;781;p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782" name="Google Shape;782;p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4" name="Google Shape;784;p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785" name="Google Shape;785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7" name="Google Shape;787;p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788" name="Google Shape;788;p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790" name="Google Shape;790;p9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791" name="Google Shape;791;p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3" name="Google Shape;793;p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794" name="Google Shape;794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797" name="Google Shape;797;p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799" name="Google Shape;799;p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9" name="Google Shape;809;p9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810" name="Google Shape;810;p9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811" name="Google Shape;811;p9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9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813" name="Google Shape;813;p9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814" name="Google Shape;814;p9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815" name="Google Shape;815;p9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6" name="Google Shape;816;p9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817" name="Google Shape;817;p9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818" name="Google Shape;818;p9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819" name="Google Shape;819;p9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820" name="Google Shape;820;p9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821" name="Google Shape;821;p9"/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822" name="Google Shape;822;p9"/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23" name="Google Shape;823;p9"/>
            <p:cNvCxnSpPr>
              <a:stCxn id="822" idx="2"/>
              <a:endCxn id="824" idx="6"/>
            </p:cNvCxnSpPr>
            <p:nvPr/>
          </p:nvCxnSpPr>
          <p:spPr>
            <a:xfrm flipH="1">
              <a:off x="3411303" y="1503276"/>
              <a:ext cx="924900" cy="15783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24" name="Google Shape;824;p9"/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5" name="Google Shape;825;p9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6" name="Google Shape;826;p9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827" name="Google Shape;827;p9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8" name="Google Shape;828;p9"/>
          <p:cNvCxnSpPr/>
          <p:nvPr/>
        </p:nvCxnSpPr>
        <p:spPr>
          <a:xfrm flipH="1" rot="10800000">
            <a:off x="1137745" y="5040040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10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835" name="Google Shape;835;p10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0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7" name="Google Shape;837;p10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838" name="Google Shape;838;p10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839" name="Google Shape;839;p10"/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840" name="Google Shape;840;p10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0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0"/>
            <p:cNvSpPr txBox="1"/>
            <p:nvPr/>
          </p:nvSpPr>
          <p:spPr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D(w) = min ( D(w), D(v)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v,w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(3, 2+3) = 3 </a:t>
              </a:r>
              <a:endParaRPr/>
            </a:p>
          </p:txBody>
        </p:sp>
      </p:grpSp>
      <p:sp>
        <p:nvSpPr>
          <p:cNvPr id="843" name="Google Shape;843;p10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844" name="Google Shape;844;p10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45" name="Google Shape;845;p10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846" name="Google Shape;846;p10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847" name="Google Shape;847;p10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848" name="Google Shape;848;p10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849" name="Google Shape;849;p10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850" name="Google Shape;850;p10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" name="Google Shape;851;p10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852" name="Google Shape;852;p10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853" name="Google Shape;853;p10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854" name="Google Shape;854;p10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0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857" name="Google Shape;857;p10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858" name="Google Shape;858;p10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859" name="Google Shape;859;p10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10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1" name="Google Shape;861;p10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10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3" name="Google Shape;863;p10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4" name="Google Shape;864;p10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865" name="Google Shape;865;p10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866" name="Google Shape;866;p10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7" name="Google Shape;867;p10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868" name="Google Shape;868;p10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869" name="Google Shape;869;p10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870" name="Google Shape;870;p10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871" name="Google Shape;871;p10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72" name="Google Shape;872;p10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873" name="Google Shape;873;p10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874" name="Google Shape;874;p10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0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7" name="Google Shape;877;p10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10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9" name="Google Shape;879;p10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2" name="Google Shape;882;p10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10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4" name="Google Shape;884;p10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0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7" name="Google Shape;887;p10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10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9" name="Google Shape;889;p10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0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0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2" name="Google Shape;892;p10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10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4" name="Google Shape;894;p10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7" name="Google Shape;897;p10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10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" name="Google Shape;899;p10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0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0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2" name="Google Shape;902;p10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10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4" name="Google Shape;904;p10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0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0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916" name="Google Shape;916;p1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0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8" name="Google Shape;918;p10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919" name="Google Shape;919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1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1" name="Google Shape;921;p10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922" name="Google Shape;922;p10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10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924" name="Google Shape;924;p10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925" name="Google Shape;925;p10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10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7" name="Google Shape;927;p10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928" name="Google Shape;928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10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0" name="Google Shape;930;p10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931" name="Google Shape;931;p10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10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933" name="Google Shape;933;p10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0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0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0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0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0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0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0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0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3" name="Google Shape;943;p10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944" name="Google Shape;944;p10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945" name="Google Shape;945;p10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0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947" name="Google Shape;947;p10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948" name="Google Shape;948;p10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949" name="Google Shape;949;p10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0" name="Google Shape;950;p10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951" name="Google Shape;951;p10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952" name="Google Shape;952;p10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953" name="Google Shape;953;p10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954" name="Google Shape;954;p10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955" name="Google Shape;955;p10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6" name="Google Shape;956;p10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957" name="Google Shape;957;p10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958" name="Google Shape;958;p10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959" name="Google Shape;959;p10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960" name="Google Shape;960;p10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961" name="Google Shape;961;p10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1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968" name="Google Shape;968;p11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69" name="Google Shape;969;p11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970" name="Google Shape;970;p11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971" name="Google Shape;971;p11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972" name="Google Shape;972;p11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973" name="Google Shape;973;p11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974" name="Google Shape;974;p11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11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),p(w)</a:t>
            </a:r>
            <a:endParaRPr/>
          </a:p>
        </p:txBody>
      </p:sp>
      <p:grpSp>
        <p:nvGrpSpPr>
          <p:cNvPr id="976" name="Google Shape;976;p11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977" name="Google Shape;977;p11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978" name="Google Shape;978;p11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1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1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981" name="Google Shape;981;p11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982" name="Google Shape;982;p11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983" name="Google Shape;983;p11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4" name="Google Shape;984;p11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5" name="Google Shape;985;p11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6" name="Google Shape;986;p11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7" name="Google Shape;987;p11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8" name="Google Shape;988;p11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989" name="Google Shape;989;p11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990" name="Google Shape;990;p11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91" name="Google Shape;991;p11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992" name="Google Shape;992;p11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993" name="Google Shape;993;p11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994" name="Google Shape;994;p11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995" name="Google Shape;995;p11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96" name="Google Shape;996;p11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997" name="Google Shape;997;p11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998" name="Google Shape;998;p11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11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11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3" name="Google Shape;1003;p11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6" name="Google Shape;1006;p11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11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8" name="Google Shape;1008;p11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1" name="Google Shape;1011;p11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11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3" name="Google Shape;1013;p11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6" name="Google Shape;1016;p11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11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8" name="Google Shape;1018;p11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1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1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1" name="Google Shape;1021;p11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2" name="Google Shape;1022;p11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3" name="Google Shape;1023;p11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1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1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6" name="Google Shape;1026;p11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11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8" name="Google Shape;1028;p11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1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1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1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" name="Google Shape;1039;p11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040" name="Google Shape;1040;p1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11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2" name="Google Shape;1042;p11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043" name="Google Shape;1043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1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5" name="Google Shape;1045;p11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046" name="Google Shape;1046;p1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1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048" name="Google Shape;1048;p11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049" name="Google Shape;1049;p1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11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1" name="Google Shape;1051;p11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052" name="Google Shape;1052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1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4" name="Google Shape;1054;p11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055" name="Google Shape;1055;p1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11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057" name="Google Shape;1057;p11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1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1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1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1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1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1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1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1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1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7" name="Google Shape;1067;p11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68" name="Google Shape;1068;p11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069" name="Google Shape;1069;p11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1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071" name="Google Shape;1071;p11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072" name="Google Shape;1072;p11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073" name="Google Shape;1073;p11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4" name="Google Shape;1074;p11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075" name="Google Shape;1075;p11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076" name="Google Shape;1076;p11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077" name="Google Shape;1077;p11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078" name="Google Shape;1078;p11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079" name="Google Shape;1079;p11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0" name="Google Shape;1080;p11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081" name="Google Shape;1081;p11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82" name="Google Shape;1082;p11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083" name="Google Shape;1083;p11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084" name="Google Shape;1084;p11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085" name="Google Shape;1085;p11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086" name="Google Shape;1086;p11"/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1087" name="Google Shape;1087;p11"/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8" name="Google Shape;1088;p11"/>
            <p:cNvCxnSpPr>
              <a:stCxn id="1087" idx="2"/>
              <a:endCxn id="1089" idx="6"/>
            </p:cNvCxnSpPr>
            <p:nvPr/>
          </p:nvCxnSpPr>
          <p:spPr>
            <a:xfrm flipH="1">
              <a:off x="1861552" y="-284477"/>
              <a:ext cx="2273400" cy="1896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89" name="Google Shape;1089;p11"/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0" name="Google Shape;1090;p11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91" name="Google Shape;1091;p11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cxnSp>
        <p:nvCxnSpPr>
          <p:cNvPr id="1092" name="Google Shape;1092;p11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12"/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099" name="Google Shape;1099;p12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2"/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1" name="Google Shape;1101;p12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102" name="Google Shape;1102;p12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grpSp>
        <p:nvGrpSpPr>
          <p:cNvPr id="1103" name="Google Shape;1103;p12"/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1104" name="Google Shape;1104;p12"/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12"/>
            <p:cNvSpPr txBox="1"/>
            <p:nvPr/>
          </p:nvSpPr>
          <p:spPr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12"/>
            <p:cNvSpPr txBox="1"/>
            <p:nvPr/>
          </p:nvSpPr>
          <p:spPr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D(z) = min ( D(z), D(w) + c</a:t>
              </a:r>
              <a:r>
                <a:rPr b="0" baseline="-2500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w,z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= min (4, 3+5) = 4 </a:t>
              </a:r>
              <a:endParaRPr/>
            </a:p>
          </p:txBody>
        </p:sp>
      </p:grpSp>
      <p:sp>
        <p:nvSpPr>
          <p:cNvPr id="1107" name="Google Shape;1107;p12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108" name="Google Shape;1108;p12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109" name="Google Shape;1109;p12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110" name="Google Shape;1110;p12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111" name="Google Shape;1111;p12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112" name="Google Shape;1112;p12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113" name="Google Shape;1113;p12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114" name="Google Shape;1114;p12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12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116" name="Google Shape;1116;p12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117" name="Google Shape;1117;p12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118" name="Google Shape;1118;p12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2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2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121" name="Google Shape;1121;p12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122" name="Google Shape;1122;p12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123" name="Google Shape;1123;p12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4" name="Google Shape;1124;p12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5" name="Google Shape;1125;p12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6" name="Google Shape;1126;p12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7" name="Google Shape;1127;p12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8" name="Google Shape;1128;p12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129" name="Google Shape;1129;p12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130" name="Google Shape;1130;p12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31" name="Google Shape;1131;p12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132" name="Google Shape;1132;p12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133" name="Google Shape;1133;p12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134" name="Google Shape;1134;p12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35" name="Google Shape;1135;p12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36" name="Google Shape;1136;p12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137" name="Google Shape;1137;p12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138" name="Google Shape;1138;p12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2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2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1" name="Google Shape;1141;p12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12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3" name="Google Shape;1143;p12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2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2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6" name="Google Shape;1146;p12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12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" name="Google Shape;1148;p12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2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2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1" name="Google Shape;1151;p12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12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" name="Google Shape;1153;p12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2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2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6" name="Google Shape;1156;p12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7" name="Google Shape;1157;p12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8" name="Google Shape;1158;p12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2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2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1" name="Google Shape;1161;p12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12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12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2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2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6" name="Google Shape;1166;p12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12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8" name="Google Shape;1168;p12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2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2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2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2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2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2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2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2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9" name="Google Shape;1179;p12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180" name="Google Shape;1180;p1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12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2" name="Google Shape;1182;p12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183" name="Google Shape;1183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1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5" name="Google Shape;1185;p12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186" name="Google Shape;1186;p12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2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188" name="Google Shape;1188;p12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189" name="Google Shape;1189;p12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2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1" name="Google Shape;1191;p12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192" name="Google Shape;1192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12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4" name="Google Shape;1194;p12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195" name="Google Shape;1195;p12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12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197" name="Google Shape;1197;p12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2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2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2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2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2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2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2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2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2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07" name="Google Shape;1207;p12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08" name="Google Shape;1208;p12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209" name="Google Shape;1209;p12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2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211" name="Google Shape;1211;p12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212" name="Google Shape;1212;p12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213" name="Google Shape;1213;p12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4" name="Google Shape;1214;p12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215" name="Google Shape;1215;p12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216" name="Google Shape;1216;p12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217" name="Google Shape;1217;p12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218" name="Google Shape;1218;p12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219" name="Google Shape;1219;p12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0" name="Google Shape;1220;p12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221" name="Google Shape;1221;p12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22" name="Google Shape;1222;p12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223" name="Google Shape;1223;p12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224" name="Google Shape;1224;p12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225" name="Google Shape;1225;p12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6" name="Google Shape;1226;p12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7" name="Google Shape;1227;p12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228" name="Google Shape;1228;p12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cxnSp>
        <p:nvCxnSpPr>
          <p:cNvPr id="1229" name="Google Shape;1229;p12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3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236" name="Google Shape;1236;p13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37" name="Google Shape;1237;p13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238" name="Google Shape;1238;p13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239" name="Google Shape;1239;p13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240" name="Google Shape;1240;p13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241" name="Google Shape;1241;p13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242" name="Google Shape;1242;p13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3" name="Google Shape;1243;p13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244" name="Google Shape;1244;p13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245" name="Google Shape;1245;p13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246" name="Google Shape;1246;p13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3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3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249" name="Google Shape;1249;p13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250" name="Google Shape;1250;p13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251" name="Google Shape;1251;p13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2" name="Google Shape;1252;p13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3" name="Google Shape;1253;p13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4" name="Google Shape;1254;p13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5" name="Google Shape;1255;p13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6" name="Google Shape;1256;p13"/>
          <p:cNvSpPr txBox="1"/>
          <p:nvPr/>
        </p:nvSpPr>
        <p:spPr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257" name="Google Shape;1257;p13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258" name="Google Shape;1258;p13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9" name="Google Shape;1259;p13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260" name="Google Shape;1260;p13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261" name="Google Shape;1261;p13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262" name="Google Shape;1262;p13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263" name="Google Shape;1263;p13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264" name="Google Shape;1264;p13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265" name="Google Shape;1265;p13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66" name="Google Shape;1266;p13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3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3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13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3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13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3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3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4" name="Google Shape;1274;p13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3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13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3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3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9" name="Google Shape;1279;p13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0" name="Google Shape;1280;p13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1" name="Google Shape;1281;p13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3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3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4" name="Google Shape;1284;p13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3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6" name="Google Shape;1286;p13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3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3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9" name="Google Shape;1289;p13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0" name="Google Shape;1290;p13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1" name="Google Shape;1291;p13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3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3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4" name="Google Shape;1294;p13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5" name="Google Shape;1295;p13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6" name="Google Shape;1296;p13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3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3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3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3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3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3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3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3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3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3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7" name="Google Shape;1307;p13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308" name="Google Shape;1308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3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0" name="Google Shape;1310;p13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311" name="Google Shape;1311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3" name="Google Shape;1313;p13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314" name="Google Shape;1314;p1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3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316" name="Google Shape;1316;p13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317" name="Google Shape;1317;p13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13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9" name="Google Shape;1319;p13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20" name="Google Shape;1320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13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2" name="Google Shape;1322;p13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23" name="Google Shape;1323;p13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13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325" name="Google Shape;1325;p13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3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3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3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3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3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3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3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3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3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35" name="Google Shape;1335;p13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36" name="Google Shape;1336;p13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337" name="Google Shape;1337;p13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3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339" name="Google Shape;1339;p13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340" name="Google Shape;1340;p13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341" name="Google Shape;1341;p13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2" name="Google Shape;1342;p13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343" name="Google Shape;1343;p13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344" name="Google Shape;1344;p13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345" name="Google Shape;1345;p13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346" name="Google Shape;1346;p13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347" name="Google Shape;1347;p13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8" name="Google Shape;1348;p13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349" name="Google Shape;1349;p13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50" name="Google Shape;1350;p13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351" name="Google Shape;1351;p13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352" name="Google Shape;1352;p13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353" name="Google Shape;1353;p13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4" name="Google Shape;1354;p13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5" name="Google Shape;1355;p13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356" name="Google Shape;1356;p13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grpSp>
        <p:nvGrpSpPr>
          <p:cNvPr id="1357" name="Google Shape;1357;p13"/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1358" name="Google Shape;1358;p13"/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9" name="Google Shape;1359;p13"/>
            <p:cNvCxnSpPr>
              <a:stCxn id="1358" idx="2"/>
              <a:endCxn id="1360" idx="6"/>
            </p:cNvCxnSpPr>
            <p:nvPr/>
          </p:nvCxnSpPr>
          <p:spPr>
            <a:xfrm flipH="1">
              <a:off x="-2027681" y="-296792"/>
              <a:ext cx="6119700" cy="21984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60" name="Google Shape;1360;p13"/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1" name="Google Shape;1361;p13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2" name="Google Shape;1362;p13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cxnSp>
        <p:nvCxnSpPr>
          <p:cNvPr id="1363" name="Google Shape;1363;p13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4" name="Google Shape;1364;p13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71" name="Google Shape;1371;p1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72" name="Google Shape;1372;p1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73" name="Google Shape;1373;p1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74" name="Google Shape;1374;p1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75" name="Google Shape;1375;p1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76" name="Google Shape;1376;p1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77" name="Google Shape;1377;p1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14"/>
          <p:cNvSpPr txBox="1"/>
          <p:nvPr/>
        </p:nvSpPr>
        <p:spPr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grpSp>
        <p:nvGrpSpPr>
          <p:cNvPr id="1379" name="Google Shape;1379;p1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380" name="Google Shape;1380;p1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381" name="Google Shape;1381;p1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384" name="Google Shape;1384;p1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385" name="Google Shape;1385;p1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386" name="Google Shape;1386;p1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7" name="Google Shape;1387;p1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8" name="Google Shape;1388;p1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9" name="Google Shape;1389;p1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0" name="Google Shape;1390;p1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1" name="Google Shape;1391;p14"/>
          <p:cNvSpPr txBox="1"/>
          <p:nvPr/>
        </p:nvSpPr>
        <p:spPr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sp>
        <p:nvSpPr>
          <p:cNvPr id="1392" name="Google Shape;1392;p14"/>
          <p:cNvSpPr txBox="1"/>
          <p:nvPr/>
        </p:nvSpPr>
        <p:spPr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find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</p:txBody>
      </p:sp>
      <p:sp>
        <p:nvSpPr>
          <p:cNvPr id="1393" name="Google Shape;1393;p14"/>
          <p:cNvSpPr/>
          <p:nvPr/>
        </p:nvSpPr>
        <p:spPr>
          <a:xfrm>
            <a:off x="6843529" y="2025568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4" name="Google Shape;1394;p1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395" name="Google Shape;1395;p14"/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396" name="Google Shape;1396;p14"/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397" name="Google Shape;1397;p14"/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98" name="Google Shape;1398;p14"/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399" name="Google Shape;1399;p14"/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400" name="Google Shape;1400;p14"/>
          <p:cNvGrpSpPr/>
          <p:nvPr/>
        </p:nvGrpSpPr>
        <p:grpSpPr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401" name="Google Shape;1401;p1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4" name="Google Shape;1404;p1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1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6" name="Google Shape;1406;p1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9" name="Google Shape;1409;p1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0" name="Google Shape;1410;p1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1" name="Google Shape;1411;p1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4" name="Google Shape;1414;p1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5" name="Google Shape;1415;p1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6" name="Google Shape;1416;p1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9" name="Google Shape;1419;p1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0" name="Google Shape;1420;p1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1" name="Google Shape;1421;p1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4" name="Google Shape;1424;p1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5" name="Google Shape;1425;p1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6" name="Google Shape;1426;p1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9" name="Google Shape;1429;p1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1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1" name="Google Shape;1431;p1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2" name="Google Shape;1442;p1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43" name="Google Shape;1443;p1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5" name="Google Shape;1445;p1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46" name="Google Shape;1446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8" name="Google Shape;1448;p1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49" name="Google Shape;1449;p1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51" name="Google Shape;1451;p14"/>
            <p:cNvGrpSpPr/>
            <p:nvPr/>
          </p:nvGrpSpPr>
          <p:grpSpPr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452" name="Google Shape;1452;p1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4"/>
              <p:cNvSpPr txBox="1"/>
              <p:nvPr/>
            </p:nvSpPr>
            <p:spPr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4" name="Google Shape;1454;p1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55" name="Google Shape;1455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7" name="Google Shape;1457;p1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58" name="Google Shape;1458;p1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60" name="Google Shape;1460;p1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70" name="Google Shape;1470;p14"/>
          <p:cNvCxnSpPr/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71" name="Google Shape;1471;p1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72" name="Google Shape;1472;p1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74" name="Google Shape;1474;p1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75" name="Google Shape;1475;p1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76" name="Google Shape;1476;p14"/>
          <p:cNvSpPr/>
          <p:nvPr/>
        </p:nvSpPr>
        <p:spPr>
          <a:xfrm>
            <a:off x="8195837" y="2316864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7" name="Google Shape;1477;p1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grpSp>
        <p:nvGrpSpPr>
          <p:cNvPr id="1478" name="Google Shape;1478;p1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79" name="Google Shape;1479;p1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0" name="Google Shape;1480;p1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81" name="Google Shape;1481;p1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82" name="Google Shape;1482;p14"/>
          <p:cNvSpPr/>
          <p:nvPr/>
        </p:nvSpPr>
        <p:spPr>
          <a:xfrm>
            <a:off x="4252576" y="260815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3" name="Google Shape;1483;p1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cxnSp>
        <p:nvCxnSpPr>
          <p:cNvPr id="1484" name="Google Shape;1484;p14"/>
          <p:cNvCxnSpPr/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85" name="Google Shape;1485;p1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486" name="Google Shape;1486;p1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7" name="Google Shape;1487;p1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cxnSp>
        <p:nvCxnSpPr>
          <p:cNvPr id="1488" name="Google Shape;1488;p14"/>
          <p:cNvCxnSpPr/>
          <p:nvPr/>
        </p:nvCxnSpPr>
        <p:spPr>
          <a:xfrm flipH="1" rot="10800000">
            <a:off x="1170996" y="5023414"/>
            <a:ext cx="502342" cy="281976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89" name="Google Shape;1489;p14"/>
          <p:cNvSpPr/>
          <p:nvPr/>
        </p:nvSpPr>
        <p:spPr>
          <a:xfrm>
            <a:off x="5545236" y="2930322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90" name="Google Shape;1490;p14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491" name="Google Shape;1491;p14"/>
          <p:cNvSpPr txBox="1"/>
          <p:nvPr/>
        </p:nvSpPr>
        <p:spPr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1492" name="Google Shape;1492;p14"/>
          <p:cNvSpPr/>
          <p:nvPr/>
        </p:nvSpPr>
        <p:spPr>
          <a:xfrm>
            <a:off x="9438034" y="3267919"/>
            <a:ext cx="602852" cy="30197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93" name="Google Shape;1493;p14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1494" name="Google Shape;1494;p14"/>
          <p:cNvSpPr txBox="1"/>
          <p:nvPr/>
        </p:nvSpPr>
        <p:spPr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b="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b="0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200"/>
              <a:buFont typeface="Calibri"/>
              <a:buNone/>
            </a:pP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i="0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cxnSp>
        <p:nvCxnSpPr>
          <p:cNvPr id="1495" name="Google Shape;1495;p14"/>
          <p:cNvCxnSpPr/>
          <p:nvPr/>
        </p:nvCxnSpPr>
        <p:spPr>
          <a:xfrm rot="10800000">
            <a:off x="2879488" y="50053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6" name="Google Shape;1496;p14"/>
          <p:cNvCxnSpPr/>
          <p:nvPr/>
        </p:nvCxnSpPr>
        <p:spPr>
          <a:xfrm flipH="1" rot="10800000">
            <a:off x="3059661" y="5610320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03" name="Google Shape;1503;p1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4" name="Google Shape;1504;p15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1505" name="Google Shape;1505;p1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8" name="Google Shape;1508;p1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9" name="Google Shape;1509;p1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0" name="Google Shape;1510;p1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3" name="Google Shape;1513;p1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1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5" name="Google Shape;1515;p1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8" name="Google Shape;1518;p1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9" name="Google Shape;1519;p1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0" name="Google Shape;1520;p1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3" name="Google Shape;1523;p1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4" name="Google Shape;1524;p1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5" name="Google Shape;1525;p1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8" name="Google Shape;1528;p1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1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0" name="Google Shape;1530;p1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3" name="Google Shape;1533;p1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4" name="Google Shape;1534;p1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5" name="Google Shape;1535;p1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6" name="Google Shape;1546;p1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47" name="Google Shape;1547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1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9" name="Google Shape;1549;p1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550" name="Google Shape;1550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2" name="Google Shape;1552;p1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553" name="Google Shape;1553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1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555" name="Google Shape;1555;p15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556" name="Google Shape;1556;p1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1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8" name="Google Shape;1558;p1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559" name="Google Shape;1559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1" name="Google Shape;1561;p1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562" name="Google Shape;1562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1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564" name="Google Shape;1564;p1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4" name="Google Shape;1574;p1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1575" name="Google Shape;1575;p15"/>
          <p:cNvCxnSpPr>
            <a:endCxn id="1516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6" name="Google Shape;1576;p15"/>
          <p:cNvCxnSpPr>
            <a:endCxn id="1527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7" name="Google Shape;1577;p15"/>
          <p:cNvCxnSpPr>
            <a:stCxn id="1511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8" name="Google Shape;1578;p15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79" name="Google Shape;1579;p15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580" name="Google Shape;1580;p15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1581" name="Google Shape;1581;p15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5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3" name="Google Shape;1583;p15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4" name="Google Shape;1584;p15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5" name="Google Shape;1585;p15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5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5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8" name="Google Shape;1588;p15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15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0" name="Google Shape;1590;p15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5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5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3" name="Google Shape;1593;p15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4" name="Google Shape;1594;p15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5" name="Google Shape;1595;p15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5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5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8" name="Google Shape;1598;p15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9" name="Google Shape;1599;p15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0" name="Google Shape;1600;p15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5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5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3" name="Google Shape;1603;p15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4" name="Google Shape;1604;p15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5" name="Google Shape;1605;p15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5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5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8" name="Google Shape;1608;p15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9" name="Google Shape;1609;p15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0" name="Google Shape;1610;p15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5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5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5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5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5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6" name="Google Shape;1616;p15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617" name="Google Shape;1617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1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9" name="Google Shape;1619;p15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620" name="Google Shape;1620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2" name="Google Shape;1622;p15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623" name="Google Shape;1623;p1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1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25" name="Google Shape;1625;p15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626" name="Google Shape;1626;p1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1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8" name="Google Shape;1628;p15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629" name="Google Shape;1629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1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1" name="Google Shape;1631;p15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632" name="Google Shape;1632;p1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1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1634" name="Google Shape;1634;p15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1635" name="Google Shape;1635;p15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1636" name="Google Shape;1636;p15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1637" name="Google Shape;1637;p15"/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1638" name="Google Shape;1638;p15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5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5"/>
              <p:cNvSpPr txBox="1"/>
              <p:nvPr/>
            </p:nvSpPr>
            <p:spPr>
              <a:xfrm>
                <a:off x="9572264" y="2060295"/>
                <a:ext cx="404278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5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5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5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1644" name="Google Shape;1644;p15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45" name="Google Shape;1645;p15"/>
              <p:cNvCxnSpPr/>
              <p:nvPr/>
            </p:nvCxnSpPr>
            <p:spPr>
              <a:xfrm>
                <a:off x="10359342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46" name="Google Shape;1646;p15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1647" name="Google Shape;1647;p15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1648" name="Google Shape;1648;p15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49" name="Google Shape;1649;p15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1650" name="Google Shape;1650;p15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51" name="Google Shape;1651;p15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sp>
        <p:nvSpPr>
          <p:cNvPr id="1658" name="Google Shape;1658;p1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9" name="Google Shape;1659;p16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1660" name="Google Shape;1660;p16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1661" name="Google Shape;1661;p16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62" name="Google Shape;1662;p16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3" name="Google Shape;1663;p16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64" name="Google Shape;1664;p16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16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16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16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16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6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0" name="Google Shape;1670;p16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1671" name="Google Shape;1671;p1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72" name="Google Shape;1672;p1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3" name="Google Shape;1673;p1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74" name="Google Shape;1674;p1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16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1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16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16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1679" name="Google Shape;1679;p1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0" name="Google Shape;1680;p1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1" name="Google Shape;1681;p1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82" name="Google Shape;1682;p1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16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1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1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6" name="Google Shape;1686;p16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1687" name="Google Shape;1687;p16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8" name="Google Shape;1688;p1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9" name="Google Shape;1689;p16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90" name="Google Shape;1690;p1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16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16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3" name="Google Shape;1693;p16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94" name="Google Shape;1694;p16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5" name="Google Shape;1695;p16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6" name="Google Shape;1696;p16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7" name="Google Shape;1697;p16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8" name="Google Shape;1698;p16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9" name="Google Shape;1699;p16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6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6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02" name="Google Shape;1702;p16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3" name="Google Shape;1703;p16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6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5" name="Google Shape;1705;p16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706" name="Google Shape;1706;p16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07" name="Google Shape;1707;p1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8" name="Google Shape;1708;p1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9" name="Google Shape;1709;p1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16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1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2" name="Google Shape;1712;p1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3" name="Google Shape;1713;p16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4" name="Google Shape;1714;p16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1715" name="Google Shape;1715;p1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6" name="Google Shape;1716;p1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7" name="Google Shape;1717;p1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8" name="Google Shape;1718;p1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16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1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16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22" name="Google Shape;1722;p16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3" name="Google Shape;1723;p16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24" name="Google Shape;1724;p16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5" name="Google Shape;1725;p16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6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6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6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9" name="Google Shape;1729;p16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6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31" name="Google Shape;1731;p16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1732" name="Google Shape;1732;p16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33" name="Google Shape;1733;p16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34" name="Google Shape;1734;p16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35" name="Google Shape;1735;p16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36" name="Google Shape;1736;p16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37" name="Google Shape;1737;p16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38" name="Google Shape;1738;p16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1739" name="Google Shape;1739;p16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1740" name="Google Shape;1740;p16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1741" name="Google Shape;1741;p16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1742" name="Google Shape;1742;p16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16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44" name="Google Shape;1744;p16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16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16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16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16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49" name="Google Shape;1749;p16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1750" name="Google Shape;1750;p16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6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6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1753" name="Google Shape;1753;p16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1754" name="Google Shape;1754;p16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1755" name="Google Shape;1755;p16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1756" name="Google Shape;1756;p16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1757" name="Google Shape;1757;p16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6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760" name="Google Shape;1760;p1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6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1762" name="Google Shape;1762;p16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1763" name="Google Shape;1763;p16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764" name="Google Shape;1764;p16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766" name="Google Shape;1766;p1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6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8" name="Google Shape;1768;p16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9" name="Google Shape;1769;p16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0" name="Google Shape;1770;p16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1771" name="Google Shape;1771;p16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2" name="Google Shape;1772;p16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1773" name="Google Shape;1773;p16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1774" name="Google Shape;1774;p16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775" name="Google Shape;1775;p16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6" name="Google Shape;1776;p16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7" name="Google Shape;1777;p16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1778" name="Google Shape;1778;p16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1779" name="Google Shape;1779;p16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0" name="Google Shape;1780;p16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1781" name="Google Shape;1781;p16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2" name="Google Shape;1782;p16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3" name="Google Shape;1783;p16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4" name="Google Shape;1784;p16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5" name="Google Shape;1785;p16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6" name="Google Shape;1786;p16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1787" name="Google Shape;1787;p16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8" name="Google Shape;1788;p16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789" name="Google Shape;1789;p16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790" name="Google Shape;1790;p16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91" name="Google Shape;1791;p16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792" name="Google Shape;1792;p16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793" name="Google Shape;1793;p16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1794" name="Google Shape;1794;p1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5" name="Google Shape;1795;p16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96" name="Google Shape;1796;p16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7" name="Google Shape;1797;p16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1798" name="Google Shape;1798;p1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9" name="Google Shape;1799;p16"/>
            <p:cNvCxnSpPr>
              <a:endCxn id="1800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00" name="Google Shape;1800;p1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1" name="Google Shape;1801;p16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1802" name="Google Shape;1802;p16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03" name="Google Shape;1803;p16"/>
            <p:cNvCxnSpPr>
              <a:stCxn id="1802" idx="4"/>
              <a:endCxn id="1804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04" name="Google Shape;1804;p1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5" name="Google Shape;1805;p16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1806" name="Google Shape;1806;p1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07" name="Google Shape;1807;p16"/>
            <p:cNvCxnSpPr>
              <a:stCxn id="1806" idx="3"/>
              <a:endCxn id="1808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08" name="Google Shape;1808;p1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9" name="Google Shape;1809;p16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1810" name="Google Shape;1810;p1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11" name="Google Shape;1811;p16"/>
            <p:cNvCxnSpPr>
              <a:stCxn id="1810" idx="3"/>
              <a:endCxn id="1812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12" name="Google Shape;1812;p16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d4efc2072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9" name="Google Shape;1819;g3d4efc20727_0_0" title="Screenshot 2026-04-07 at 10.47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575" y="144350"/>
            <a:ext cx="6691225" cy="661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d4efbdb73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g3d4efbdb73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7" name="Google Shape;1827;g3d4efbdb73c_0_0" title="ChatGPT Image Apr 7, 2026 at 10_39_0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112" y="578412"/>
            <a:ext cx="8551776" cy="570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33" name="Google Shape;18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39377"/>
            <a:ext cx="5271157" cy="4173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34" name="Google Shape;1834;p17"/>
          <p:cNvSpPr/>
          <p:nvPr/>
        </p:nvSpPr>
        <p:spPr>
          <a:xfrm>
            <a:off x="6109357" y="4526596"/>
            <a:ext cx="57374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414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the shortest path from t to all network nodes.</a:t>
            </a:r>
            <a:endParaRPr sz="1800">
              <a:solidFill>
                <a:srgbClr val="14141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</p:txBody>
      </p:sp>
      <p:graphicFrame>
        <p:nvGraphicFramePr>
          <p:cNvPr id="1840" name="Google Shape;1840;p18"/>
          <p:cNvGraphicFramePr/>
          <p:nvPr/>
        </p:nvGraphicFramePr>
        <p:xfrm>
          <a:off x="838202" y="1954927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{5C8A56B2-EC10-4498-A249-39590B8E276E}</a:tableStyleId>
              </a:tblPr>
              <a:tblGrid>
                <a:gridCol w="1159950"/>
                <a:gridCol w="1159950"/>
                <a:gridCol w="1096575"/>
                <a:gridCol w="1090225"/>
                <a:gridCol w="1331100"/>
                <a:gridCol w="1210650"/>
                <a:gridCol w="1210650"/>
                <a:gridCol w="1210650"/>
              </a:tblGrid>
              <a:tr h="80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N’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D(u),p(u) 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D(v),p(v)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D(w),p(w) 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D(x),p(x)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D(y),p(y)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D(z),p(z) 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tsuz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5,u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∞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tsuzv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4,v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6,v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tsuzvw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5,w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4,t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0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tsuzvwy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5,w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b="1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2026-03-24T04:46:41Z</dcterms:created>
  <dc:creator>Microsoft Office User</dc:creator>
</cp:coreProperties>
</file>