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90204"/>
      <a:defRPr sz="1400" b="0" i="0" u="none" strike="noStrike" cap="none">
        <a:solidFill>
          <a:srgbClr val="000000"/>
        </a:solidFill>
        <a:latin typeface="Arial" panose="020B0604020202090204"/>
        <a:ea typeface="Arial" panose="020B0604020202090204"/>
        <a:cs typeface="Arial" panose="020B0604020202090204"/>
        <a:sym typeface="Arial" panose="020B060402020209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6" name="Google Shape;8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Typical MSS is 1460 bytes</a:t>
            </a:r>
            <a:endParaRPr lang="en-US"/>
          </a:p>
        </p:txBody>
      </p:sp>
      <p:sp>
        <p:nvSpPr>
          <p:cNvPr id="112" name="Google Shape;112;p5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6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p6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ceda9d883_0_22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ceda9d883_0_22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g3bceda9d883_0_22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ceda9d883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bceda9d883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g3bceda9d883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9" name="Google Shape;219;p8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key thing to note here is that the ACK number (43) on the B-to-A segment is one more than the sequence number (42) on the A-to-B segment that triggered that ACK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lang="en-US"/>
              <a:t>Similarly, the ACK number (80) on the last A-to-B segment is one more than the sequence number (79) on the B-to-A segment that triggered that ACK</a:t>
            </a:r>
            <a:endParaRPr lang="en-US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0" name="Google Shape;220;p8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bceda9d883_0_21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bceda9d883_0_21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1" name="Google Shape;261;g3bceda9d883_0_217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7" name="Google Shape;267;p1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8" name="Google Shape;268;p11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2" name="Google Shape;302;p12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if RTT=30 msec, 1KB pkt every 30 msec: 33kB/sec thruput over 1 Gbps link</a:t>
            </a:r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 protocol limits use of physical resources</a:t>
            </a:r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Let’s develop a formula for utilization</a:t>
            </a:r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3" name="Google Shape;303;p12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6" name="Google Shape;326;p1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27" name="Google Shape;327;p13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4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4" name="Google Shape;414;p14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two generic forms of pipelined protocols: </a:t>
            </a:r>
            <a:r>
              <a:rPr lang="en-US" sz="1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go-Back-N, selective repeat</a:t>
            </a:r>
            <a:endParaRPr lang="en-US" sz="1200" b="0" i="1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5" name="Google Shape;415;p14:notes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bceda9d883_0_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1" name="Google Shape;481;g3bceda9d883_0_1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82" name="Google Shape;482;g3bceda9d883_0_1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bceda9d883_0_9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4" name="Google Shape;564;g3bceda9d883_0_9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65" name="Google Shape;565;g3bceda9d883_0_9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c60183ea06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c60183ea06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2" name="Google Shape;682;g3c60183ea06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9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20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20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3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4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4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6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90204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90204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90204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90204"/>
        <a:defRPr sz="1400" b="0" i="0" u="none" strike="noStrike" cap="none">
          <a:solidFill>
            <a:srgbClr val="000000"/>
          </a:solidFill>
          <a:latin typeface="Arial" panose="020B0604020202090204"/>
          <a:ea typeface="Arial" panose="020B0604020202090204"/>
          <a:cs typeface="Arial" panose="020B0604020202090204"/>
          <a:sym typeface="Arial" panose="020B060402020209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IT694</a:t>
            </a:r>
            <a:br>
              <a:rPr lang="en-US"/>
            </a:br>
            <a:r>
              <a:rPr lang="en-US"/>
              <a:t>Computer Networks</a:t>
            </a:r>
            <a:endParaRPr lang="en-US"/>
          </a:p>
        </p:txBody>
      </p:sp>
      <p:sp>
        <p:nvSpPr>
          <p:cNvPr id="89" name="Google Shape;89;p1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Week5-Transport layer-I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</a:p>
        </p:txBody>
      </p:sp>
      <p:sp>
        <p:nvSpPr>
          <p:cNvPr id="95" name="Google Shape;95;p2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Write a simple protocol for client and server for exchanging a single message</a:t>
            </a: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</a:p>
        </p:txBody>
      </p:sp>
      <p:sp>
        <p:nvSpPr>
          <p:cNvPr id="101" name="Google Shape;101;p3"/>
          <p:cNvSpPr txBox="1"/>
          <p:nvPr>
            <p:ph type="body" idx="1"/>
          </p:nvPr>
        </p:nvSpPr>
        <p:spPr>
          <a:xfrm>
            <a:off x="838200" y="1825625"/>
            <a:ext cx="521623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What if the client has multiple messages to send?</a:t>
            </a: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</a:p>
        </p:txBody>
      </p:sp>
      <p:sp>
        <p:nvSpPr>
          <p:cNvPr id="107" name="Google Shape;107;p4"/>
          <p:cNvSpPr txBox="1"/>
          <p:nvPr>
            <p:ph type="body" idx="1"/>
          </p:nvPr>
        </p:nvSpPr>
        <p:spPr>
          <a:xfrm>
            <a:off x="838200" y="1825625"/>
            <a:ext cx="394161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How does the client get to know if earlier message was received at the server?</a:t>
            </a: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</a:p>
        </p:txBody>
      </p:sp>
      <p:sp>
        <p:nvSpPr>
          <p:cNvPr id="108" name="Google Shape;108;p4"/>
          <p:cNvSpPr txBox="1"/>
          <p:nvPr/>
        </p:nvSpPr>
        <p:spPr>
          <a:xfrm>
            <a:off x="6096000" y="1825625"/>
            <a:ext cx="3941618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does the server get to know if earlier message was received at the server?</a:t>
            </a:r>
            <a:endParaRPr lang="en-US"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90204"/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>
            <p:ph type="title"/>
          </p:nvPr>
        </p:nvSpPr>
        <p:spPr>
          <a:xfrm>
            <a:off x="798690" y="289325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TCP: overview  </a:t>
            </a:r>
            <a:r>
              <a:rPr lang="en-US" sz="3200" b="0"/>
              <a:t>RFCs: 793,1122, 2018, 5681, 7323</a:t>
            </a:r>
            <a:endParaRPr sz="4400" b="0"/>
          </a:p>
        </p:txBody>
      </p:sp>
      <p:sp>
        <p:nvSpPr>
          <p:cNvPr id="115" name="Google Shape;115;p5"/>
          <p:cNvSpPr txBox="1"/>
          <p:nvPr/>
        </p:nvSpPr>
        <p:spPr>
          <a:xfrm>
            <a:off x="5949863" y="1322613"/>
            <a:ext cx="6012953" cy="5535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1805" marR="0" lvl="0" indent="-29400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cumulative ACKs</a:t>
            </a:r>
            <a:endParaRPr lang="en-US" sz="32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1805" marR="0" lvl="0" indent="-29400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pipelining:</a:t>
            </a:r>
            <a:endParaRPr lang="en-US" sz="32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9480" marR="0" lvl="2" indent="-2940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TCP congestion and flow control set window size</a:t>
            </a:r>
            <a:endParaRPr sz="28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1805" marR="0" lvl="0" indent="-3416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connection-oriented: </a:t>
            </a:r>
            <a:endParaRPr lang="en-US" sz="32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handshaking (exchange of control messages) initializes sender, receiver state before data exchange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1805" marR="0" lvl="0" indent="-3416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flow controlled:</a:t>
            </a:r>
            <a:endParaRPr lang="en-US" sz="32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 will not overwhelm receiver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 txBox="1"/>
          <p:nvPr/>
        </p:nvSpPr>
        <p:spPr>
          <a:xfrm>
            <a:off x="687960" y="1322613"/>
            <a:ext cx="5382987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71805" marR="0" lvl="0" indent="-29400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point-to-point</a:t>
            </a:r>
            <a:r>
              <a:rPr lang="en-US" sz="32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lang="en-US" sz="3200" b="0" i="0" u="none" strike="noStrike" cap="none">
              <a:solidFill>
                <a:srgbClr val="CC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9480" marR="0" lvl="2" indent="-2940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one sender, one receiver</a:t>
            </a:r>
            <a:r>
              <a:rPr lang="en-US" sz="2800" b="0" i="0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lang="en-US" sz="2800" b="0" i="0" u="none" strike="noStrike" cap="non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1805" marR="0" lvl="0" indent="-294005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reliable, in-order </a:t>
            </a:r>
            <a:r>
              <a:rPr lang="en-US" sz="3200" b="0" i="1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byte steam:</a:t>
            </a:r>
            <a:endParaRPr lang="en-US" sz="3200" b="0" i="1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9480" marR="0" lvl="2" indent="-29400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 “message boundaries"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71805" marR="0" lvl="0" indent="-34163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full duplex data:</a:t>
            </a:r>
            <a:endParaRPr lang="en-US" sz="3200" b="0" i="0" u="none" strike="noStrike" cap="none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bi-directional data flow in same connection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MSS: maximum segment size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52425" marR="0" lvl="0" indent="-444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"/>
          <p:cNvSpPr txBox="1"/>
          <p:nvPr>
            <p:ph type="title"/>
          </p:nvPr>
        </p:nvSpPr>
        <p:spPr>
          <a:xfrm>
            <a:off x="798690" y="289325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TCP segment structure</a:t>
            </a:r>
            <a:endParaRPr sz="4400" b="0"/>
          </a:p>
        </p:txBody>
      </p:sp>
      <p:sp>
        <p:nvSpPr>
          <p:cNvPr id="124" name="Google Shape;124;p6"/>
          <p:cNvSpPr/>
          <p:nvPr/>
        </p:nvSpPr>
        <p:spPr>
          <a:xfrm>
            <a:off x="4432073" y="1560062"/>
            <a:ext cx="3951287" cy="4824412"/>
          </a:xfrm>
          <a:prstGeom prst="rect">
            <a:avLst/>
          </a:prstGeom>
          <a:solidFill>
            <a:srgbClr val="0000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4346348" y="1675949"/>
            <a:ext cx="3951287" cy="4805363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</p:txBody>
      </p:sp>
      <p:grpSp>
        <p:nvGrpSpPr>
          <p:cNvPr id="126" name="Google Shape;126;p6"/>
          <p:cNvGrpSpPr/>
          <p:nvPr/>
        </p:nvGrpSpPr>
        <p:grpSpPr>
          <a:xfrm>
            <a:off x="4495573" y="1661303"/>
            <a:ext cx="3450544" cy="401997"/>
            <a:chOff x="4495573" y="1661303"/>
            <a:chExt cx="3450544" cy="401997"/>
          </a:xfrm>
        </p:grpSpPr>
        <p:sp>
          <p:nvSpPr>
            <p:cNvPr id="127" name="Google Shape;127;p6"/>
            <p:cNvSpPr txBox="1"/>
            <p:nvPr/>
          </p:nvSpPr>
          <p:spPr>
            <a:xfrm>
              <a:off x="4495573" y="1661303"/>
              <a:ext cx="1663700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source port #</a:t>
              </a: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28" name="Google Shape;128;p6"/>
            <p:cNvSpPr txBox="1"/>
            <p:nvPr/>
          </p:nvSpPr>
          <p:spPr>
            <a:xfrm>
              <a:off x="6564992" y="1666425"/>
              <a:ext cx="1381125" cy="396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dest port #</a:t>
              </a:r>
              <a:endParaRPr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cxnSp>
        <p:nvCxnSpPr>
          <p:cNvPr id="129" name="Google Shape;129;p6"/>
          <p:cNvCxnSpPr/>
          <p:nvPr/>
        </p:nvCxnSpPr>
        <p:spPr>
          <a:xfrm>
            <a:off x="4349523" y="2050599"/>
            <a:ext cx="3946525" cy="476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6"/>
          <p:cNvCxnSpPr/>
          <p:nvPr/>
        </p:nvCxnSpPr>
        <p:spPr>
          <a:xfrm>
            <a:off x="4343173" y="2430012"/>
            <a:ext cx="3951287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31" name="Google Shape;131;p6"/>
          <p:cNvGrpSpPr/>
          <p:nvPr/>
        </p:nvGrpSpPr>
        <p:grpSpPr>
          <a:xfrm>
            <a:off x="4324123" y="1145724"/>
            <a:ext cx="3935412" cy="366713"/>
            <a:chOff x="4324123" y="1145724"/>
            <a:chExt cx="3935412" cy="366713"/>
          </a:xfrm>
        </p:grpSpPr>
        <p:sp>
          <p:nvSpPr>
            <p:cNvPr id="132" name="Google Shape;132;p6"/>
            <p:cNvSpPr txBox="1"/>
            <p:nvPr/>
          </p:nvSpPr>
          <p:spPr>
            <a:xfrm>
              <a:off x="5832248" y="1145724"/>
              <a:ext cx="8572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32 bits</a:t>
              </a: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133" name="Google Shape;133;p6"/>
            <p:cNvCxnSpPr/>
            <p:nvPr/>
          </p:nvCxnSpPr>
          <p:spPr>
            <a:xfrm>
              <a:off x="6832373" y="1391787"/>
              <a:ext cx="1427162" cy="4762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4" name="Google Shape;134;p6"/>
            <p:cNvCxnSpPr/>
            <p:nvPr/>
          </p:nvCxnSpPr>
          <p:spPr>
            <a:xfrm rot="10800000">
              <a:off x="4324123" y="1402899"/>
              <a:ext cx="1341437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135" name="Google Shape;135;p6"/>
          <p:cNvCxnSpPr/>
          <p:nvPr/>
        </p:nvCxnSpPr>
        <p:spPr>
          <a:xfrm>
            <a:off x="4352698" y="2811012"/>
            <a:ext cx="3951287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6" name="Google Shape;136;p6"/>
          <p:cNvCxnSpPr/>
          <p:nvPr/>
        </p:nvCxnSpPr>
        <p:spPr>
          <a:xfrm>
            <a:off x="4347935" y="3206299"/>
            <a:ext cx="3951288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7" name="Google Shape;137;p6"/>
          <p:cNvCxnSpPr/>
          <p:nvPr/>
        </p:nvCxnSpPr>
        <p:spPr>
          <a:xfrm>
            <a:off x="4343173" y="3596824"/>
            <a:ext cx="3951287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8" name="Google Shape;138;p6"/>
          <p:cNvCxnSpPr/>
          <p:nvPr/>
        </p:nvCxnSpPr>
        <p:spPr>
          <a:xfrm>
            <a:off x="4343173" y="4158799"/>
            <a:ext cx="3951287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9" name="Google Shape;139;p6"/>
          <p:cNvCxnSpPr/>
          <p:nvPr/>
        </p:nvCxnSpPr>
        <p:spPr>
          <a:xfrm rot="10800000">
            <a:off x="6303735" y="2814187"/>
            <a:ext cx="4763" cy="77787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" name="Google Shape;140;p6"/>
          <p:cNvCxnSpPr/>
          <p:nvPr/>
        </p:nvCxnSpPr>
        <p:spPr>
          <a:xfrm rot="10800000">
            <a:off x="5668735" y="2814187"/>
            <a:ext cx="0" cy="392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6"/>
          <p:cNvCxnSpPr/>
          <p:nvPr/>
        </p:nvCxnSpPr>
        <p:spPr>
          <a:xfrm rot="10800000">
            <a:off x="5514748" y="2809424"/>
            <a:ext cx="0" cy="392113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2" name="Google Shape;142;p6"/>
          <p:cNvCxnSpPr/>
          <p:nvPr/>
        </p:nvCxnSpPr>
        <p:spPr>
          <a:xfrm rot="10800000">
            <a:off x="5355998" y="2818949"/>
            <a:ext cx="0" cy="392113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3" name="Google Shape;143;p6"/>
          <p:cNvSpPr txBox="1"/>
          <p:nvPr/>
        </p:nvSpPr>
        <p:spPr>
          <a:xfrm>
            <a:off x="4636966" y="2822952"/>
            <a:ext cx="482824" cy="4076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endParaRPr lang="en-US"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used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" name="Google Shape;144;p6"/>
          <p:cNvCxnSpPr/>
          <p:nvPr/>
        </p:nvCxnSpPr>
        <p:spPr>
          <a:xfrm rot="10800000">
            <a:off x="4713766" y="2809424"/>
            <a:ext cx="0" cy="392113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45" name="Google Shape;145;p6"/>
          <p:cNvGrpSpPr/>
          <p:nvPr/>
        </p:nvGrpSpPr>
        <p:grpSpPr>
          <a:xfrm>
            <a:off x="6405335" y="2817362"/>
            <a:ext cx="5252586" cy="731484"/>
            <a:chOff x="6405335" y="2817362"/>
            <a:chExt cx="5252586" cy="731484"/>
          </a:xfrm>
        </p:grpSpPr>
        <p:sp>
          <p:nvSpPr>
            <p:cNvPr id="146" name="Google Shape;146;p6"/>
            <p:cNvSpPr txBox="1"/>
            <p:nvPr/>
          </p:nvSpPr>
          <p:spPr>
            <a:xfrm>
              <a:off x="6405335" y="2817362"/>
              <a:ext cx="1746250" cy="3667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receive window</a:t>
              </a:r>
              <a:endPara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47" name="Google Shape;147;p6"/>
            <p:cNvSpPr txBox="1"/>
            <p:nvPr/>
          </p:nvSpPr>
          <p:spPr>
            <a:xfrm>
              <a:off x="8724900" y="2847115"/>
              <a:ext cx="2933021" cy="701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flow control: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# bytes receiver willing to accept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48" name="Google Shape;148;p6"/>
            <p:cNvCxnSpPr/>
            <p:nvPr/>
          </p:nvCxnSpPr>
          <p:spPr>
            <a:xfrm rot="10800000">
              <a:off x="8142852" y="3044701"/>
              <a:ext cx="582048" cy="0"/>
            </a:xfrm>
            <a:prstGeom prst="straightConnector1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9" name="Google Shape;149;p6"/>
          <p:cNvGrpSpPr/>
          <p:nvPr/>
        </p:nvGrpSpPr>
        <p:grpSpPr>
          <a:xfrm>
            <a:off x="4979760" y="1674436"/>
            <a:ext cx="7040433" cy="1034129"/>
            <a:chOff x="4979760" y="1674436"/>
            <a:chExt cx="7040433" cy="1034129"/>
          </a:xfrm>
        </p:grpSpPr>
        <p:sp>
          <p:nvSpPr>
            <p:cNvPr id="150" name="Google Shape;150;p6"/>
            <p:cNvSpPr txBox="1"/>
            <p:nvPr/>
          </p:nvSpPr>
          <p:spPr>
            <a:xfrm>
              <a:off x="4979760" y="2029962"/>
              <a:ext cx="24861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/>
                <a:t>s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equence numbe r</a:t>
              </a: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1" name="Google Shape;151;p6"/>
            <p:cNvSpPr txBox="1"/>
            <p:nvPr/>
          </p:nvSpPr>
          <p:spPr>
            <a:xfrm>
              <a:off x="8724900" y="1674436"/>
              <a:ext cx="3295293" cy="10341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segment seq  #: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counting bytes of data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into bytestream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(not segments!)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2" name="Google Shape;152;p6"/>
            <p:cNvCxnSpPr/>
            <p:nvPr/>
          </p:nvCxnSpPr>
          <p:spPr>
            <a:xfrm rot="10800000">
              <a:off x="7924797" y="2244436"/>
              <a:ext cx="800102" cy="0"/>
            </a:xfrm>
            <a:prstGeom prst="straightConnector1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3" name="Google Shape;153;p6"/>
          <p:cNvGrpSpPr/>
          <p:nvPr/>
        </p:nvGrpSpPr>
        <p:grpSpPr>
          <a:xfrm>
            <a:off x="5398860" y="4614412"/>
            <a:ext cx="5770816" cy="1113459"/>
            <a:chOff x="5398860" y="4614412"/>
            <a:chExt cx="5770816" cy="1113459"/>
          </a:xfrm>
        </p:grpSpPr>
        <p:sp>
          <p:nvSpPr>
            <p:cNvPr id="154" name="Google Shape;154;p6"/>
            <p:cNvSpPr txBox="1"/>
            <p:nvPr/>
          </p:nvSpPr>
          <p:spPr>
            <a:xfrm>
              <a:off x="5398860" y="4614412"/>
              <a:ext cx="2005013" cy="10064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application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data </a:t>
              </a:r>
              <a:endParaRPr lang="en-US" sz="20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(variable length)</a:t>
              </a: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55" name="Google Shape;155;p6"/>
            <p:cNvSpPr txBox="1"/>
            <p:nvPr/>
          </p:nvSpPr>
          <p:spPr>
            <a:xfrm>
              <a:off x="8980285" y="4638342"/>
              <a:ext cx="2189391" cy="10895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data sent by application into TCP socket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56" name="Google Shape;156;p6"/>
            <p:cNvCxnSpPr/>
            <p:nvPr/>
          </p:nvCxnSpPr>
          <p:spPr>
            <a:xfrm>
              <a:off x="6727821" y="5150307"/>
              <a:ext cx="2149479" cy="0"/>
            </a:xfrm>
            <a:prstGeom prst="straightConnector1">
              <a:avLst/>
            </a:prstGeom>
            <a:noFill/>
            <a:ln w="2540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57" name="Google Shape;157;p6"/>
          <p:cNvGrpSpPr/>
          <p:nvPr/>
        </p:nvGrpSpPr>
        <p:grpSpPr>
          <a:xfrm>
            <a:off x="230393" y="1952743"/>
            <a:ext cx="7771793" cy="1241280"/>
            <a:chOff x="230393" y="1952743"/>
            <a:chExt cx="7771793" cy="1241280"/>
          </a:xfrm>
        </p:grpSpPr>
        <p:sp>
          <p:nvSpPr>
            <p:cNvPr id="158" name="Google Shape;158;p6"/>
            <p:cNvSpPr txBox="1"/>
            <p:nvPr/>
          </p:nvSpPr>
          <p:spPr>
            <a:xfrm>
              <a:off x="5447297" y="2855469"/>
              <a:ext cx="30328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59" name="Google Shape;159;p6"/>
            <p:cNvGrpSpPr/>
            <p:nvPr/>
          </p:nvGrpSpPr>
          <p:grpSpPr>
            <a:xfrm>
              <a:off x="230393" y="1952743"/>
              <a:ext cx="7771793" cy="971860"/>
              <a:chOff x="217867" y="1965269"/>
              <a:chExt cx="7771793" cy="971860"/>
            </a:xfrm>
          </p:grpSpPr>
          <p:sp>
            <p:nvSpPr>
              <p:cNvPr id="160" name="Google Shape;160;p6"/>
              <p:cNvSpPr txBox="1"/>
              <p:nvPr/>
            </p:nvSpPr>
            <p:spPr>
              <a:xfrm>
                <a:off x="4579710" y="2430012"/>
                <a:ext cx="3409950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 panose="020B0604020202090204"/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acknowledgement number</a:t>
                </a:r>
                <a:endPara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161" name="Google Shape;161;p6"/>
              <p:cNvSpPr txBox="1"/>
              <p:nvPr/>
            </p:nvSpPr>
            <p:spPr>
              <a:xfrm>
                <a:off x="217867" y="1965269"/>
                <a:ext cx="3287333" cy="7017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lang="en-US" sz="24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ACK: </a:t>
                </a: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seq # of next expected byte; A bit: this is an ACK</a:t>
                </a:r>
                <a:endParaRPr sz="11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6"/>
              <p:cNvSpPr/>
              <p:nvPr/>
            </p:nvSpPr>
            <p:spPr>
              <a:xfrm>
                <a:off x="3505200" y="2417523"/>
                <a:ext cx="2076276" cy="519606"/>
              </a:xfrm>
              <a:custGeom>
                <a:avLst/>
                <a:gdLst/>
                <a:ahLst/>
                <a:cxnLst/>
                <a:rect l="l" t="t" r="r" b="b"/>
                <a:pathLst>
                  <a:path w="2076276" h="519606" extrusionOk="0">
                    <a:moveTo>
                      <a:pt x="0" y="0"/>
                    </a:moveTo>
                    <a:cubicBezTo>
                      <a:pt x="694209" y="186960"/>
                      <a:pt x="1382067" y="332646"/>
                      <a:pt x="2076276" y="519606"/>
                    </a:cubicBezTo>
                  </a:path>
                </a:pathLst>
              </a:custGeom>
              <a:noFill/>
              <a:ln w="19050" cap="flat" cmpd="sng">
                <a:solidFill>
                  <a:srgbClr val="C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cxnSp>
            <p:nvCxnSpPr>
              <p:cNvPr id="163" name="Google Shape;163;p6"/>
              <p:cNvCxnSpPr/>
              <p:nvPr/>
            </p:nvCxnSpPr>
            <p:spPr>
              <a:xfrm>
                <a:off x="3505200" y="2404996"/>
                <a:ext cx="1263476" cy="215853"/>
              </a:xfrm>
              <a:prstGeom prst="straightConnector1">
                <a:avLst/>
              </a:prstGeom>
              <a:noFill/>
              <a:ln w="19050" cap="flat" cmpd="sng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4" name="Google Shape;164;p6"/>
          <p:cNvGrpSpPr/>
          <p:nvPr/>
        </p:nvGrpSpPr>
        <p:grpSpPr>
          <a:xfrm>
            <a:off x="1895418" y="3659802"/>
            <a:ext cx="5828956" cy="1090980"/>
            <a:chOff x="1895418" y="3659802"/>
            <a:chExt cx="5828956" cy="1090980"/>
          </a:xfrm>
        </p:grpSpPr>
        <p:sp>
          <p:nvSpPr>
            <p:cNvPr id="165" name="Google Shape;165;p6"/>
            <p:cNvSpPr txBox="1"/>
            <p:nvPr/>
          </p:nvSpPr>
          <p:spPr>
            <a:xfrm>
              <a:off x="4830361" y="3659802"/>
              <a:ext cx="2894013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options (variable length)</a:t>
              </a:r>
              <a:endParaRPr sz="24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1895418" y="4326050"/>
              <a:ext cx="1688926" cy="424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options</a:t>
              </a: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67" name="Google Shape;167;p6"/>
            <p:cNvCxnSpPr>
              <a:stCxn id="166" idx="3"/>
              <a:endCxn id="165" idx="1"/>
            </p:cNvCxnSpPr>
            <p:nvPr/>
          </p:nvCxnSpPr>
          <p:spPr>
            <a:xfrm rot="10800000" flipH="1">
              <a:off x="3584344" y="3859816"/>
              <a:ext cx="1245900" cy="678600"/>
            </a:xfrm>
            <a:prstGeom prst="straightConnector1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68" name="Google Shape;168;p6"/>
          <p:cNvGrpSpPr/>
          <p:nvPr/>
        </p:nvGrpSpPr>
        <p:grpSpPr>
          <a:xfrm>
            <a:off x="318075" y="2819126"/>
            <a:ext cx="4456458" cy="424732"/>
            <a:chOff x="318075" y="2819126"/>
            <a:chExt cx="4456458" cy="424732"/>
          </a:xfrm>
        </p:grpSpPr>
        <p:sp>
          <p:nvSpPr>
            <p:cNvPr id="169" name="Google Shape;169;p6"/>
            <p:cNvSpPr txBox="1"/>
            <p:nvPr/>
          </p:nvSpPr>
          <p:spPr>
            <a:xfrm>
              <a:off x="4278884" y="2826980"/>
              <a:ext cx="495649" cy="4076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head</a:t>
              </a:r>
              <a:endPara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Calibri"/>
                <a:buNone/>
              </a:pPr>
              <a:r>
                <a:rPr lang="en-US" sz="12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len</a:t>
              </a:r>
              <a:endParaRPr sz="1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318075" y="2819126"/>
              <a:ext cx="3287333" cy="424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length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(of TCP header)</a:t>
              </a:r>
              <a:endPara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1" name="Google Shape;171;p6"/>
            <p:cNvCxnSpPr/>
            <p:nvPr/>
          </p:nvCxnSpPr>
          <p:spPr>
            <a:xfrm>
              <a:off x="3544867" y="3031480"/>
              <a:ext cx="783888" cy="0"/>
            </a:xfrm>
            <a:prstGeom prst="straightConnector1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172" name="Google Shape;172;p6"/>
          <p:cNvGrpSpPr/>
          <p:nvPr/>
        </p:nvGrpSpPr>
        <p:grpSpPr>
          <a:xfrm>
            <a:off x="-24878" y="3174115"/>
            <a:ext cx="6031751" cy="424732"/>
            <a:chOff x="-24878" y="3174115"/>
            <a:chExt cx="6031751" cy="424732"/>
          </a:xfrm>
        </p:grpSpPr>
        <p:sp>
          <p:nvSpPr>
            <p:cNvPr id="173" name="Google Shape;173;p6"/>
            <p:cNvSpPr txBox="1"/>
            <p:nvPr/>
          </p:nvSpPr>
          <p:spPr>
            <a:xfrm>
              <a:off x="4794023" y="3203124"/>
              <a:ext cx="12128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 panose="020B060402020209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checksum</a:t>
              </a:r>
              <a:endParaRPr lang="en-US" sz="18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-24878" y="3174115"/>
              <a:ext cx="3595495" cy="424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Calibri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Internet</a:t>
              </a: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checksum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6"/>
            <p:cNvCxnSpPr>
              <a:stCxn id="174" idx="3"/>
              <a:endCxn id="173" idx="1"/>
            </p:cNvCxnSpPr>
            <p:nvPr/>
          </p:nvCxnSpPr>
          <p:spPr>
            <a:xfrm>
              <a:off x="3570617" y="3386481"/>
              <a:ext cx="1223400" cy="0"/>
            </a:xfrm>
            <a:prstGeom prst="straightConnector1">
              <a:avLst/>
            </a:prstGeom>
            <a:noFill/>
            <a:ln w="19050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cxnSp>
        <p:nvCxnSpPr>
          <p:cNvPr id="176" name="Google Shape;176;p6"/>
          <p:cNvCxnSpPr/>
          <p:nvPr/>
        </p:nvCxnSpPr>
        <p:spPr>
          <a:xfrm rot="10800000">
            <a:off x="6289447" y="1679374"/>
            <a:ext cx="1761" cy="36518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6"/>
          <p:cNvCxnSpPr/>
          <p:nvPr/>
        </p:nvCxnSpPr>
        <p:spPr>
          <a:xfrm rot="10800000">
            <a:off x="6150711" y="2804662"/>
            <a:ext cx="0" cy="392112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6"/>
          <p:cNvCxnSpPr/>
          <p:nvPr/>
        </p:nvCxnSpPr>
        <p:spPr>
          <a:xfrm rot="10800000">
            <a:off x="5992924" y="2809424"/>
            <a:ext cx="0" cy="392113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6"/>
          <p:cNvCxnSpPr/>
          <p:nvPr/>
        </p:nvCxnSpPr>
        <p:spPr>
          <a:xfrm rot="10800000">
            <a:off x="5830374" y="2809424"/>
            <a:ext cx="0" cy="392113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80" name="Google Shape;180;p6"/>
          <p:cNvGrpSpPr/>
          <p:nvPr/>
        </p:nvGrpSpPr>
        <p:grpSpPr>
          <a:xfrm>
            <a:off x="172543" y="2863949"/>
            <a:ext cx="6190466" cy="2863751"/>
            <a:chOff x="172543" y="2863949"/>
            <a:chExt cx="6190466" cy="2863751"/>
          </a:xfrm>
        </p:grpSpPr>
        <p:sp>
          <p:nvSpPr>
            <p:cNvPr id="181" name="Google Shape;181;p6"/>
            <p:cNvSpPr txBox="1"/>
            <p:nvPr/>
          </p:nvSpPr>
          <p:spPr>
            <a:xfrm>
              <a:off x="172543" y="5025969"/>
              <a:ext cx="3419248" cy="7017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RST, SYN, FIN: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connection management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6"/>
            <p:cNvSpPr/>
            <p:nvPr/>
          </p:nvSpPr>
          <p:spPr>
            <a:xfrm>
              <a:off x="3558336" y="3152325"/>
              <a:ext cx="2678659" cy="2026938"/>
            </a:xfrm>
            <a:custGeom>
              <a:avLst/>
              <a:gdLst/>
              <a:ahLst/>
              <a:cxnLst/>
              <a:rect l="l" t="t" r="r" b="b"/>
              <a:pathLst>
                <a:path w="11573" h="28757" extrusionOk="0">
                  <a:moveTo>
                    <a:pt x="0" y="28757"/>
                  </a:moveTo>
                  <a:lnTo>
                    <a:pt x="10147" y="0"/>
                  </a:lnTo>
                  <a:lnTo>
                    <a:pt x="11573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grpSp>
          <p:nvGrpSpPr>
            <p:cNvPr id="183" name="Google Shape;183;p6"/>
            <p:cNvGrpSpPr/>
            <p:nvPr/>
          </p:nvGrpSpPr>
          <p:grpSpPr>
            <a:xfrm>
              <a:off x="5775299" y="2863949"/>
              <a:ext cx="587710" cy="339181"/>
              <a:chOff x="5775299" y="2863949"/>
              <a:chExt cx="587710" cy="339181"/>
            </a:xfrm>
          </p:grpSpPr>
          <p:sp>
            <p:nvSpPr>
              <p:cNvPr id="184" name="Google Shape;184;p6"/>
              <p:cNvSpPr txBox="1"/>
              <p:nvPr/>
            </p:nvSpPr>
            <p:spPr>
              <a:xfrm>
                <a:off x="6083766" y="2864576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</a:t>
                </a: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" name="Google Shape;185;p6"/>
              <p:cNvSpPr txBox="1"/>
              <p:nvPr/>
            </p:nvSpPr>
            <p:spPr>
              <a:xfrm>
                <a:off x="5939184" y="2863949"/>
                <a:ext cx="279243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</a:t>
                </a: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6"/>
              <p:cNvSpPr txBox="1"/>
              <p:nvPr/>
            </p:nvSpPr>
            <p:spPr>
              <a:xfrm>
                <a:off x="57752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87" name="Google Shape;187;p6"/>
          <p:cNvGrpSpPr/>
          <p:nvPr/>
        </p:nvGrpSpPr>
        <p:grpSpPr>
          <a:xfrm>
            <a:off x="5277007" y="2859957"/>
            <a:ext cx="2976178" cy="719405"/>
            <a:chOff x="5277007" y="2859957"/>
            <a:chExt cx="2976178" cy="719405"/>
          </a:xfrm>
        </p:grpSpPr>
        <p:sp>
          <p:nvSpPr>
            <p:cNvPr id="188" name="Google Shape;188;p6"/>
            <p:cNvSpPr txBox="1"/>
            <p:nvPr/>
          </p:nvSpPr>
          <p:spPr>
            <a:xfrm>
              <a:off x="6430735" y="3212649"/>
              <a:ext cx="1822450" cy="3667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BFBFBF"/>
                </a:buClr>
                <a:buSzPts val="1800"/>
                <a:buFont typeface="Arial" panose="020B0604020202090204"/>
                <a:buNone/>
              </a:pPr>
              <a:r>
                <a:rPr lang="en-US" sz="1800" b="0" i="0" u="none" strike="noStrike" cap="none">
                  <a:solidFill>
                    <a:srgbClr val="BFBFBF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Urg data pointer</a:t>
              </a:r>
              <a:endParaRPr lang="en-US" sz="1800" b="0" i="0" u="none" strike="noStrike" cap="none">
                <a:solidFill>
                  <a:srgbClr val="BFBFBF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grpSp>
          <p:nvGrpSpPr>
            <p:cNvPr id="189" name="Google Shape;189;p6"/>
            <p:cNvGrpSpPr/>
            <p:nvPr/>
          </p:nvGrpSpPr>
          <p:grpSpPr>
            <a:xfrm>
              <a:off x="5277007" y="2859957"/>
              <a:ext cx="627836" cy="345695"/>
              <a:chOff x="5527528" y="3067992"/>
              <a:chExt cx="627836" cy="345695"/>
            </a:xfrm>
          </p:grpSpPr>
          <p:sp>
            <p:nvSpPr>
              <p:cNvPr id="190" name="Google Shape;190;p6"/>
              <p:cNvSpPr txBox="1"/>
              <p:nvPr/>
            </p:nvSpPr>
            <p:spPr>
              <a:xfrm>
                <a:off x="5864900" y="3067992"/>
                <a:ext cx="290464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5A5A5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A5A5A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</a:t>
                </a:r>
                <a:endParaRPr sz="2400" b="0" i="0" u="none" strike="noStrike" cap="none">
                  <a:solidFill>
                    <a:srgbClr val="A5A5A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" name="Google Shape;191;p6"/>
              <p:cNvSpPr txBox="1"/>
              <p:nvPr/>
            </p:nvSpPr>
            <p:spPr>
              <a:xfrm>
                <a:off x="5527528" y="3075133"/>
                <a:ext cx="31611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A5A5A5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A5A5A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</a:t>
                </a:r>
                <a:endParaRPr sz="2400" b="0" i="0" u="none" strike="noStrike" cap="none">
                  <a:solidFill>
                    <a:srgbClr val="A5A5A5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cxnSp>
        <p:nvCxnSpPr>
          <p:cNvPr id="192" name="Google Shape;192;p6"/>
          <p:cNvCxnSpPr/>
          <p:nvPr/>
        </p:nvCxnSpPr>
        <p:spPr>
          <a:xfrm rot="10800000">
            <a:off x="5038305" y="2821148"/>
            <a:ext cx="0" cy="392113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3" name="Google Shape;193;p6"/>
          <p:cNvCxnSpPr/>
          <p:nvPr/>
        </p:nvCxnSpPr>
        <p:spPr>
          <a:xfrm rot="10800000">
            <a:off x="5198693" y="2812182"/>
            <a:ext cx="0" cy="392113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94" name="Google Shape;194;p6"/>
          <p:cNvGrpSpPr/>
          <p:nvPr/>
        </p:nvGrpSpPr>
        <p:grpSpPr>
          <a:xfrm>
            <a:off x="182880" y="2863950"/>
            <a:ext cx="5235245" cy="1390074"/>
            <a:chOff x="182880" y="2863950"/>
            <a:chExt cx="5235245" cy="1390074"/>
          </a:xfrm>
        </p:grpSpPr>
        <p:grpSp>
          <p:nvGrpSpPr>
            <p:cNvPr id="195" name="Google Shape;195;p6"/>
            <p:cNvGrpSpPr/>
            <p:nvPr/>
          </p:nvGrpSpPr>
          <p:grpSpPr>
            <a:xfrm>
              <a:off x="4962499" y="2863950"/>
              <a:ext cx="455626" cy="338554"/>
              <a:chOff x="4962499" y="2863950"/>
              <a:chExt cx="455626" cy="338554"/>
            </a:xfrm>
          </p:grpSpPr>
          <p:sp>
            <p:nvSpPr>
              <p:cNvPr id="196" name="Google Shape;196;p6"/>
              <p:cNvSpPr txBox="1"/>
              <p:nvPr/>
            </p:nvSpPr>
            <p:spPr>
              <a:xfrm>
                <a:off x="496249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7" name="Google Shape;197;p6"/>
              <p:cNvSpPr txBox="1"/>
              <p:nvPr/>
            </p:nvSpPr>
            <p:spPr>
              <a:xfrm>
                <a:off x="5121249" y="2863950"/>
                <a:ext cx="296876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Calibri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" name="Google Shape;198;p6"/>
            <p:cNvSpPr txBox="1"/>
            <p:nvPr/>
          </p:nvSpPr>
          <p:spPr>
            <a:xfrm>
              <a:off x="182880" y="3829292"/>
              <a:ext cx="3384479" cy="424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C, E: 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congestion notification</a:t>
              </a: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6"/>
            <p:cNvSpPr/>
            <p:nvPr/>
          </p:nvSpPr>
          <p:spPr>
            <a:xfrm>
              <a:off x="3573195" y="3136684"/>
              <a:ext cx="1749482" cy="914811"/>
            </a:xfrm>
            <a:custGeom>
              <a:avLst/>
              <a:gdLst/>
              <a:ahLst/>
              <a:cxnLst/>
              <a:rect l="l" t="t" r="r" b="b"/>
              <a:pathLst>
                <a:path w="10062" h="10017" extrusionOk="0">
                  <a:moveTo>
                    <a:pt x="0" y="10017"/>
                  </a:moveTo>
                  <a:lnTo>
                    <a:pt x="8853" y="17"/>
                  </a:lnTo>
                  <a:lnTo>
                    <a:pt x="10062" y="0"/>
                  </a:lnTo>
                </a:path>
              </a:pathLst>
            </a:custGeom>
            <a:noFill/>
            <a:ln w="19050" cap="flat" cmpd="sng">
              <a:solidFill>
                <a:srgbClr val="C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sp>
        <p:nvSpPr>
          <p:cNvPr id="200" name="Google Shape;200;p6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bceda9d883_0_2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TCP Handshake</a:t>
            </a:r>
            <a:endParaRPr lang="en-US"/>
          </a:p>
        </p:txBody>
      </p:sp>
      <p:sp>
        <p:nvSpPr>
          <p:cNvPr id="207" name="Google Shape;207;g3bceda9d883_0_223"/>
          <p:cNvSpPr txBox="1"/>
          <p:nvPr>
            <p:ph type="body" idx="1"/>
          </p:nvPr>
        </p:nvSpPr>
        <p:spPr>
          <a:xfrm>
            <a:off x="7043573" y="1690825"/>
            <a:ext cx="48252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457200" lvl="0" indent="-3460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 panose="020B0604020202090204"/>
              <a:buChar char="•"/>
            </a:pPr>
            <a:r>
              <a:rPr lang="en-US" sz="1850" b="1" u="sng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First Segment:</a:t>
            </a:r>
            <a:r>
              <a:rPr lang="en-US" sz="18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Client - Sequence number it plans to use (Flags= SYN, SequenceNum= x). </a:t>
            </a:r>
            <a:endParaRPr sz="18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lvl="0" indent="-3460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 panose="020B0604020202090204"/>
              <a:buChar char="•"/>
            </a:pPr>
            <a:r>
              <a:rPr lang="en-US" sz="1850" b="1" u="sng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SEcond Segment:</a:t>
            </a:r>
            <a:r>
              <a:rPr lang="en-US" sz="18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Server - 1 segment that both acknowledges the client’s sequence number (Flags= ACK, Ack= x + 1) and states its own beginning sequence number (Flags= SYN, SequenceNum= y).</a:t>
            </a:r>
            <a:endParaRPr sz="18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lvl="0" indent="-346075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Font typeface="Arial" panose="020B0604020202090204"/>
              <a:buChar char="•"/>
            </a:pPr>
            <a:r>
              <a:rPr lang="en-US" sz="1850" b="1" u="sng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Third segment:</a:t>
            </a:r>
            <a:r>
              <a:rPr lang="en-US" sz="18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Client - acknowledges the server’s sequence number (Flags= ACK, Ack= y + 1).</a:t>
            </a:r>
            <a:endParaRPr sz="18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</a:p>
        </p:txBody>
      </p:sp>
      <p:pic>
        <p:nvPicPr>
          <p:cNvPr id="208" name="Google Shape;208;g3bceda9d883_0_223" title="Screenshot 2026-02-04 at 10.40.30 AM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528500" y="1644100"/>
            <a:ext cx="5853876" cy="413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ceda9d883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Sequence Numbers and Ack Numbers</a:t>
            </a:r>
            <a:endParaRPr lang="en-US"/>
          </a:p>
        </p:txBody>
      </p:sp>
      <p:sp>
        <p:nvSpPr>
          <p:cNvPr id="215" name="Google Shape;215;g3bceda9d883_0_0"/>
          <p:cNvSpPr txBox="1"/>
          <p:nvPr>
            <p:ph type="body" idx="1"/>
          </p:nvPr>
        </p:nvSpPr>
        <p:spPr>
          <a:xfrm>
            <a:off x="7021450" y="1737125"/>
            <a:ext cx="4968900" cy="2012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250" i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The acknowledgment number that Host A puts in its segment is the sequence number of the next byte Host A is expecting from Host B.</a:t>
            </a:r>
            <a:endParaRPr sz="2250" i="1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4300"/>
          </a:p>
        </p:txBody>
      </p:sp>
      <p:sp>
        <p:nvSpPr>
          <p:cNvPr id="216" name="Google Shape;216;g3bceda9d883_0_0"/>
          <p:cNvSpPr txBox="1"/>
          <p:nvPr>
            <p:ph type="body" idx="2"/>
          </p:nvPr>
        </p:nvSpPr>
        <p:spPr>
          <a:xfrm>
            <a:off x="464600" y="2035800"/>
            <a:ext cx="5181600" cy="1325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2050" i="1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The sequence number for a segment is therefore the byte-stream number of the first byte in the segment.</a:t>
            </a:r>
            <a:endParaRPr sz="2050" i="1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"/>
          <p:cNvSpPr txBox="1"/>
          <p:nvPr>
            <p:ph type="title"/>
          </p:nvPr>
        </p:nvSpPr>
        <p:spPr>
          <a:xfrm>
            <a:off x="798690" y="289325"/>
            <a:ext cx="11393310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TCP sequence numbers, ACKs</a:t>
            </a:r>
            <a:endParaRPr sz="4400" b="0"/>
          </a:p>
        </p:txBody>
      </p:sp>
      <p:sp>
        <p:nvSpPr>
          <p:cNvPr id="223" name="Google Shape;223;p8"/>
          <p:cNvSpPr txBox="1"/>
          <p:nvPr/>
        </p:nvSpPr>
        <p:spPr>
          <a:xfrm>
            <a:off x="1661117" y="4011734"/>
            <a:ext cx="2519185" cy="757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ACKs receipt of echoed ‘C’</a:t>
            </a:r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 txBox="1"/>
          <p:nvPr/>
        </p:nvSpPr>
        <p:spPr>
          <a:xfrm>
            <a:off x="7229477" y="3001865"/>
            <a:ext cx="318721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ACKs receipt of‘C’, echoes back ‘C’</a:t>
            </a:r>
            <a:endParaRPr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3961011" y="5644479"/>
            <a:ext cx="3401893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simple telnet scenario</a:t>
            </a:r>
            <a:endParaRPr sz="1200" b="0" i="0" u="none" strike="noStrike" cap="none">
              <a:solidFill>
                <a:srgbClr val="0000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8"/>
          <p:cNvSpPr txBox="1"/>
          <p:nvPr/>
        </p:nvSpPr>
        <p:spPr>
          <a:xfrm>
            <a:off x="7129672" y="1492971"/>
            <a:ext cx="99738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B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 txBox="1"/>
          <p:nvPr/>
        </p:nvSpPr>
        <p:spPr>
          <a:xfrm>
            <a:off x="3204390" y="1459336"/>
            <a:ext cx="100861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 A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p8"/>
          <p:cNvGrpSpPr/>
          <p:nvPr/>
        </p:nvGrpSpPr>
        <p:grpSpPr>
          <a:xfrm>
            <a:off x="1499000" y="2541021"/>
            <a:ext cx="5581275" cy="780392"/>
            <a:chOff x="1499000" y="2541021"/>
            <a:chExt cx="5581275" cy="780392"/>
          </a:xfrm>
        </p:grpSpPr>
        <p:cxnSp>
          <p:nvCxnSpPr>
            <p:cNvPr id="229" name="Google Shape;229;p8"/>
            <p:cNvCxnSpPr/>
            <p:nvPr/>
          </p:nvCxnSpPr>
          <p:spPr>
            <a:xfrm>
              <a:off x="4354237" y="2749913"/>
              <a:ext cx="2586037" cy="571500"/>
            </a:xfrm>
            <a:prstGeom prst="straightConnector1">
              <a:avLst/>
            </a:prstGeom>
            <a:noFill/>
            <a:ln w="28575" cap="flat" cmpd="sng">
              <a:solidFill>
                <a:srgbClr val="3333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0" name="Google Shape;230;p8"/>
            <p:cNvSpPr txBox="1"/>
            <p:nvPr/>
          </p:nvSpPr>
          <p:spPr>
            <a:xfrm>
              <a:off x="1499000" y="2541021"/>
              <a:ext cx="2725007" cy="4247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User types‘C’</a:t>
              </a:r>
              <a:endPara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8"/>
            <p:cNvSpPr/>
            <p:nvPr/>
          </p:nvSpPr>
          <p:spPr>
            <a:xfrm>
              <a:off x="5167037" y="2841988"/>
              <a:ext cx="814387" cy="37941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8"/>
            <p:cNvSpPr txBox="1"/>
            <p:nvPr/>
          </p:nvSpPr>
          <p:spPr>
            <a:xfrm>
              <a:off x="4260272" y="2854620"/>
              <a:ext cx="2820003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Seq=42, ACK=79, data = ‘C’</a:t>
              </a: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8"/>
          <p:cNvGrpSpPr/>
          <p:nvPr/>
        </p:nvGrpSpPr>
        <p:grpSpPr>
          <a:xfrm>
            <a:off x="4264368" y="3523026"/>
            <a:ext cx="2813399" cy="800100"/>
            <a:chOff x="4264368" y="3523026"/>
            <a:chExt cx="2813399" cy="800100"/>
          </a:xfrm>
        </p:grpSpPr>
        <p:cxnSp>
          <p:nvCxnSpPr>
            <p:cNvPr id="234" name="Google Shape;234;p8"/>
            <p:cNvCxnSpPr/>
            <p:nvPr/>
          </p:nvCxnSpPr>
          <p:spPr>
            <a:xfrm flipH="1">
              <a:off x="4344712" y="3523026"/>
              <a:ext cx="2554287" cy="800100"/>
            </a:xfrm>
            <a:prstGeom prst="straightConnector1">
              <a:avLst/>
            </a:prstGeom>
            <a:noFill/>
            <a:ln w="28575" cap="flat" cmpd="sng">
              <a:solidFill>
                <a:srgbClr val="3333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5" name="Google Shape;235;p8"/>
            <p:cNvSpPr/>
            <p:nvPr/>
          </p:nvSpPr>
          <p:spPr>
            <a:xfrm>
              <a:off x="5201962" y="3800838"/>
              <a:ext cx="823912" cy="24606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8"/>
            <p:cNvSpPr txBox="1"/>
            <p:nvPr/>
          </p:nvSpPr>
          <p:spPr>
            <a:xfrm>
              <a:off x="4264368" y="3736718"/>
              <a:ext cx="2813399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Seq=79, ACK=43, data = ‘C’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7" name="Google Shape;237;p8"/>
          <p:cNvGrpSpPr/>
          <p:nvPr/>
        </p:nvGrpSpPr>
        <p:grpSpPr>
          <a:xfrm>
            <a:off x="4339949" y="4518388"/>
            <a:ext cx="2590800" cy="506413"/>
            <a:chOff x="4339949" y="4518388"/>
            <a:chExt cx="2590800" cy="506413"/>
          </a:xfrm>
        </p:grpSpPr>
        <p:cxnSp>
          <p:nvCxnSpPr>
            <p:cNvPr id="238" name="Google Shape;238;p8"/>
            <p:cNvCxnSpPr/>
            <p:nvPr/>
          </p:nvCxnSpPr>
          <p:spPr>
            <a:xfrm>
              <a:off x="4339949" y="4518388"/>
              <a:ext cx="2590800" cy="506413"/>
            </a:xfrm>
            <a:prstGeom prst="straightConnector1">
              <a:avLst/>
            </a:prstGeom>
            <a:noFill/>
            <a:ln w="28575" cap="flat" cmpd="sng">
              <a:solidFill>
                <a:srgbClr val="3333CC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39" name="Google Shape;239;p8"/>
            <p:cNvSpPr/>
            <p:nvPr/>
          </p:nvSpPr>
          <p:spPr>
            <a:xfrm>
              <a:off x="5268637" y="4648563"/>
              <a:ext cx="958850" cy="3571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8"/>
            <p:cNvSpPr txBox="1"/>
            <p:nvPr/>
          </p:nvSpPr>
          <p:spPr>
            <a:xfrm>
              <a:off x="4934710" y="4609843"/>
              <a:ext cx="17122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Seq=43, ACK=80</a:t>
              </a:r>
              <a:endParaRPr sz="11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41" name="Google Shape;241;p8"/>
          <p:cNvCxnSpPr/>
          <p:nvPr/>
        </p:nvCxnSpPr>
        <p:spPr>
          <a:xfrm>
            <a:off x="4332012" y="2508613"/>
            <a:ext cx="0" cy="2587625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2" name="Google Shape;242;p8"/>
          <p:cNvCxnSpPr/>
          <p:nvPr/>
        </p:nvCxnSpPr>
        <p:spPr>
          <a:xfrm>
            <a:off x="6994249" y="2561001"/>
            <a:ext cx="0" cy="2587625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43" name="Google Shape;243;p8"/>
          <p:cNvGrpSpPr/>
          <p:nvPr/>
        </p:nvGrpSpPr>
        <p:grpSpPr>
          <a:xfrm>
            <a:off x="3824012" y="1687876"/>
            <a:ext cx="755650" cy="782637"/>
            <a:chOff x="-44" y="1473"/>
            <a:chExt cx="981" cy="1105"/>
          </a:xfrm>
        </p:grpSpPr>
        <p:pic>
          <p:nvPicPr>
            <p:cNvPr id="244" name="Google Shape;244;p8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6" name="Google Shape;246;p8"/>
          <p:cNvGrpSpPr/>
          <p:nvPr/>
        </p:nvGrpSpPr>
        <p:grpSpPr>
          <a:xfrm flipH="1">
            <a:off x="6686274" y="1727563"/>
            <a:ext cx="788988" cy="862013"/>
            <a:chOff x="-44" y="1473"/>
            <a:chExt cx="981" cy="1105"/>
          </a:xfrm>
        </p:grpSpPr>
        <p:pic>
          <p:nvPicPr>
            <p:cNvPr id="247" name="Google Shape;247;p8" descr="desktop_computer_stylized_medium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8"/>
            <p:cNvSpPr/>
            <p:nvPr/>
          </p:nvSpPr>
          <p:spPr>
            <a:xfrm flipH="1">
              <a:off x="374" y="1579"/>
              <a:ext cx="477" cy="506"/>
            </a:xfrm>
            <a:custGeom>
              <a:avLst/>
              <a:gdLst/>
              <a:ahLst/>
              <a:cxnLst/>
              <a:rect l="l" t="t" r="r" b="b"/>
              <a:pathLst>
                <a:path w="356" h="368" extrusionOk="0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9" name="Google Shape;249;p8"/>
          <p:cNvGrpSpPr/>
          <p:nvPr/>
        </p:nvGrpSpPr>
        <p:grpSpPr>
          <a:xfrm>
            <a:off x="4692316" y="2815389"/>
            <a:ext cx="1388485" cy="1371600"/>
            <a:chOff x="4692316" y="2815389"/>
            <a:chExt cx="1388485" cy="1371600"/>
          </a:xfrm>
        </p:grpSpPr>
        <p:sp>
          <p:nvSpPr>
            <p:cNvPr id="250" name="Google Shape;250;p8"/>
            <p:cNvSpPr/>
            <p:nvPr/>
          </p:nvSpPr>
          <p:spPr>
            <a:xfrm>
              <a:off x="5566610" y="3721768"/>
              <a:ext cx="514191" cy="465221"/>
            </a:xfrm>
            <a:prstGeom prst="ellipse">
              <a:avLst/>
            </a:prstGeom>
            <a:noFill/>
            <a:ln w="349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8"/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2" name="Google Shape;252;p8"/>
            <p:cNvCxnSpPr/>
            <p:nvPr/>
          </p:nvCxnSpPr>
          <p:spPr>
            <a:xfrm rot="10800000">
              <a:off x="5117431" y="3224463"/>
              <a:ext cx="513348" cy="513348"/>
            </a:xfrm>
            <a:prstGeom prst="straightConnector1">
              <a:avLst/>
            </a:prstGeom>
            <a:noFill/>
            <a:ln w="222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253" name="Google Shape;253;p8"/>
          <p:cNvGrpSpPr/>
          <p:nvPr/>
        </p:nvGrpSpPr>
        <p:grpSpPr>
          <a:xfrm>
            <a:off x="4684295" y="3737810"/>
            <a:ext cx="1982043" cy="1307432"/>
            <a:chOff x="4692316" y="2815389"/>
            <a:chExt cx="1982043" cy="1307432"/>
          </a:xfrm>
        </p:grpSpPr>
        <p:sp>
          <p:nvSpPr>
            <p:cNvPr id="254" name="Google Shape;254;p8"/>
            <p:cNvSpPr/>
            <p:nvPr/>
          </p:nvSpPr>
          <p:spPr>
            <a:xfrm>
              <a:off x="6160168" y="3657600"/>
              <a:ext cx="514191" cy="465221"/>
            </a:xfrm>
            <a:prstGeom prst="ellipse">
              <a:avLst/>
            </a:prstGeom>
            <a:noFill/>
            <a:ln w="349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p8"/>
            <p:cNvSpPr/>
            <p:nvPr/>
          </p:nvSpPr>
          <p:spPr>
            <a:xfrm>
              <a:off x="4692316" y="2815389"/>
              <a:ext cx="514191" cy="465221"/>
            </a:xfrm>
            <a:prstGeom prst="ellipse">
              <a:avLst/>
            </a:prstGeom>
            <a:noFill/>
            <a:ln w="349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56" name="Google Shape;256;p8"/>
            <p:cNvCxnSpPr/>
            <p:nvPr/>
          </p:nvCxnSpPr>
          <p:spPr>
            <a:xfrm rot="10800000">
              <a:off x="5165557" y="3224463"/>
              <a:ext cx="970548" cy="521369"/>
            </a:xfrm>
            <a:prstGeom prst="straightConnector1">
              <a:avLst/>
            </a:prstGeom>
            <a:noFill/>
            <a:ln w="22225" cap="flat" cmpd="sng">
              <a:solidFill>
                <a:srgbClr val="C00000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257" name="Google Shape;257;p8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bceda9d883_0_2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Flow Control </a:t>
            </a:r>
            <a:endParaRPr lang="en-US"/>
          </a:p>
        </p:txBody>
      </p:sp>
      <p:sp>
        <p:nvSpPr>
          <p:cNvPr id="264" name="Google Shape;264;g3bceda9d883_0_217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90204"/>
              <a:buChar char="•"/>
            </a:pPr>
            <a:r>
              <a:rPr lang="en-US" sz="20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Receiver controls flow by telling sender </a:t>
            </a:r>
            <a:r>
              <a:rPr lang="en-US" sz="2000" u="sng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size of currently available buffer</a:t>
            </a:r>
            <a:r>
              <a:rPr lang="en-US" sz="20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 measured in bytes</a:t>
            </a:r>
            <a:endParaRPr sz="200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90204"/>
              <a:buChar char="•"/>
            </a:pPr>
            <a:r>
              <a:rPr lang="en-US" sz="2000" i="1" u="sng">
                <a:solidFill>
                  <a:srgbClr val="FF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Window advertisement</a:t>
            </a:r>
            <a:endParaRPr sz="2000" i="1" u="sng">
              <a:solidFill>
                <a:srgbClr val="FF0000"/>
              </a:solidFill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457200" lvl="0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90204"/>
              <a:buChar char="•"/>
            </a:pPr>
            <a:r>
              <a:rPr lang="en-US" sz="20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Each segment, including data segments, specifies size of window </a:t>
            </a:r>
            <a:r>
              <a:rPr lang="en-US" sz="2000" i="1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beyond acknowledged byte</a:t>
            </a:r>
            <a:endParaRPr sz="2000" i="1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914400" lvl="1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90204"/>
              <a:buChar char="•"/>
            </a:pPr>
            <a:r>
              <a:rPr lang="en-US" sz="20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Window size may be zero </a:t>
            </a:r>
            <a:endParaRPr sz="200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90204"/>
              <a:buChar char="•"/>
            </a:pPr>
            <a:r>
              <a:rPr lang="en-US" sz="20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receiver cannot accept additional data at present</a:t>
            </a:r>
            <a:endParaRPr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371600" lvl="2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90204"/>
              <a:buChar char="•"/>
            </a:pPr>
            <a:r>
              <a:rPr lang="en-US" sz="20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Receiver can send additional acknowledgement later </a:t>
            </a:r>
            <a:endParaRPr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1828800" lvl="3" indent="-355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90204"/>
              <a:buChar char="•"/>
            </a:pPr>
            <a:r>
              <a:rPr lang="en-US" sz="200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buffer space becomes available</a:t>
            </a:r>
            <a:endParaRPr sz="200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(RDT) stop-and-wait operation</a:t>
            </a:r>
            <a:endParaRPr sz="4400"/>
          </a:p>
        </p:txBody>
      </p:sp>
      <p:grpSp>
        <p:nvGrpSpPr>
          <p:cNvPr id="271" name="Google Shape;271;p11"/>
          <p:cNvGrpSpPr/>
          <p:nvPr/>
        </p:nvGrpSpPr>
        <p:grpSpPr>
          <a:xfrm>
            <a:off x="3188111" y="1436688"/>
            <a:ext cx="8729662" cy="3249612"/>
            <a:chOff x="1660525" y="1638643"/>
            <a:chExt cx="8729662" cy="3249612"/>
          </a:xfrm>
        </p:grpSpPr>
        <p:cxnSp>
          <p:nvCxnSpPr>
            <p:cNvPr id="272" name="Google Shape;272;p11"/>
            <p:cNvCxnSpPr/>
            <p:nvPr/>
          </p:nvCxnSpPr>
          <p:spPr>
            <a:xfrm>
              <a:off x="4984750" y="2194268"/>
              <a:ext cx="2227262" cy="922337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73" name="Google Shape;273;p11"/>
            <p:cNvSpPr txBox="1"/>
            <p:nvPr/>
          </p:nvSpPr>
          <p:spPr>
            <a:xfrm>
              <a:off x="1660525" y="1989480"/>
              <a:ext cx="3232150" cy="3524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first packet bit transmitted, t = 0</a:t>
              </a:r>
              <a:endPara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274" name="Google Shape;274;p11"/>
            <p:cNvCxnSpPr/>
            <p:nvPr/>
          </p:nvCxnSpPr>
          <p:spPr>
            <a:xfrm>
              <a:off x="4973637" y="1975193"/>
              <a:ext cx="23813" cy="2913062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5" name="Google Shape;275;p11"/>
            <p:cNvCxnSpPr/>
            <p:nvPr/>
          </p:nvCxnSpPr>
          <p:spPr>
            <a:xfrm>
              <a:off x="7200900" y="1987893"/>
              <a:ext cx="22225" cy="2890837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276" name="Google Shape;276;p11"/>
            <p:cNvSpPr txBox="1"/>
            <p:nvPr/>
          </p:nvSpPr>
          <p:spPr>
            <a:xfrm>
              <a:off x="4445000" y="1638643"/>
              <a:ext cx="885825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sender</a:t>
              </a:r>
              <a:endParaRPr sz="16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277" name="Google Shape;277;p11"/>
            <p:cNvSpPr txBox="1"/>
            <p:nvPr/>
          </p:nvSpPr>
          <p:spPr>
            <a:xfrm>
              <a:off x="6623050" y="1638643"/>
              <a:ext cx="946150" cy="35083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receiver</a:t>
              </a:r>
              <a:endParaRPr sz="16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278" name="Google Shape;278;p11"/>
            <p:cNvCxnSpPr/>
            <p:nvPr/>
          </p:nvCxnSpPr>
          <p:spPr>
            <a:xfrm>
              <a:off x="4997450" y="2189505"/>
              <a:ext cx="2190750" cy="317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79" name="Google Shape;279;p11"/>
            <p:cNvCxnSpPr/>
            <p:nvPr/>
          </p:nvCxnSpPr>
          <p:spPr>
            <a:xfrm>
              <a:off x="5002212" y="4300880"/>
              <a:ext cx="2192338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0" name="Google Shape;280;p11"/>
            <p:cNvCxnSpPr/>
            <p:nvPr/>
          </p:nvCxnSpPr>
          <p:spPr>
            <a:xfrm rot="10800000" flipH="1">
              <a:off x="5002212" y="3357905"/>
              <a:ext cx="2209800" cy="922338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1" name="Google Shape;281;p11"/>
            <p:cNvSpPr/>
            <p:nvPr/>
          </p:nvSpPr>
          <p:spPr>
            <a:xfrm>
              <a:off x="4979987" y="2187918"/>
              <a:ext cx="2232025" cy="1155700"/>
            </a:xfrm>
            <a:custGeom>
              <a:avLst/>
              <a:gdLst/>
              <a:ahLst/>
              <a:cxnLst/>
              <a:rect l="l" t="t" r="r" b="b"/>
              <a:pathLst>
                <a:path w="2902" h="1185" extrusionOk="0">
                  <a:moveTo>
                    <a:pt x="0" y="0"/>
                  </a:moveTo>
                  <a:lnTo>
                    <a:pt x="2895" y="937"/>
                  </a:lnTo>
                  <a:lnTo>
                    <a:pt x="2902" y="1185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cxnSp>
          <p:nvCxnSpPr>
            <p:cNvPr id="282" name="Google Shape;282;p11"/>
            <p:cNvCxnSpPr/>
            <p:nvPr/>
          </p:nvCxnSpPr>
          <p:spPr>
            <a:xfrm rot="10800000">
              <a:off x="4835525" y="2187918"/>
              <a:ext cx="131762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3" name="Google Shape;283;p11"/>
            <p:cNvCxnSpPr/>
            <p:nvPr/>
          </p:nvCxnSpPr>
          <p:spPr>
            <a:xfrm rot="10800000">
              <a:off x="4835525" y="2429218"/>
              <a:ext cx="131762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4" name="Google Shape;284;p11"/>
            <p:cNvCxnSpPr/>
            <p:nvPr/>
          </p:nvCxnSpPr>
          <p:spPr>
            <a:xfrm rot="10800000">
              <a:off x="4846637" y="4288180"/>
              <a:ext cx="13335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5" name="Google Shape;285;p11"/>
            <p:cNvSpPr txBox="1"/>
            <p:nvPr/>
          </p:nvSpPr>
          <p:spPr>
            <a:xfrm>
              <a:off x="4183062" y="3161055"/>
              <a:ext cx="847725" cy="3365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RTT</a:t>
              </a:r>
              <a:r>
                <a:rPr lang="en-US" sz="10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</a:t>
              </a:r>
              <a:endParaRPr sz="24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286" name="Google Shape;286;p11"/>
            <p:cNvCxnSpPr/>
            <p:nvPr/>
          </p:nvCxnSpPr>
          <p:spPr>
            <a:xfrm>
              <a:off x="4870450" y="3469030"/>
              <a:ext cx="11112" cy="811213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7" name="Google Shape;287;p11"/>
            <p:cNvCxnSpPr/>
            <p:nvPr/>
          </p:nvCxnSpPr>
          <p:spPr>
            <a:xfrm rot="10800000" flipH="1">
              <a:off x="4875212" y="2451443"/>
              <a:ext cx="3175" cy="76835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8" name="Google Shape;288;p11"/>
            <p:cNvCxnSpPr/>
            <p:nvPr/>
          </p:nvCxnSpPr>
          <p:spPr>
            <a:xfrm rot="10800000">
              <a:off x="7188200" y="3102318"/>
              <a:ext cx="13335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9" name="Google Shape;289;p11"/>
            <p:cNvSpPr txBox="1"/>
            <p:nvPr/>
          </p:nvSpPr>
          <p:spPr>
            <a:xfrm>
              <a:off x="7269162" y="2926105"/>
              <a:ext cx="2425700" cy="3524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first packet bit arrives</a:t>
              </a:r>
              <a:endParaRPr sz="16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cxnSp>
          <p:nvCxnSpPr>
            <p:cNvPr id="290" name="Google Shape;290;p11"/>
            <p:cNvCxnSpPr/>
            <p:nvPr/>
          </p:nvCxnSpPr>
          <p:spPr>
            <a:xfrm>
              <a:off x="7212012" y="3351555"/>
              <a:ext cx="127000" cy="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91" name="Google Shape;291;p11"/>
            <p:cNvSpPr txBox="1"/>
            <p:nvPr/>
          </p:nvSpPr>
          <p:spPr>
            <a:xfrm>
              <a:off x="7275512" y="3178518"/>
              <a:ext cx="3114675" cy="5699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last packet bit arrives, send ACK</a:t>
              </a:r>
              <a:endParaRPr sz="1600" b="0" i="0" u="none" strike="noStrike" cap="none">
                <a:solidFill>
                  <a:srgbClr val="00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292" name="Google Shape;292;p11"/>
            <p:cNvSpPr txBox="1"/>
            <p:nvPr/>
          </p:nvSpPr>
          <p:spPr>
            <a:xfrm>
              <a:off x="2252662" y="3961155"/>
              <a:ext cx="2686050" cy="635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 arrives, send next </a:t>
              </a:r>
              <a:endParaRPr lang="en-US" sz="1600" b="0" i="0" u="none" strike="noStrike" cap="none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packet, </a:t>
              </a:r>
              <a:r>
                <a:rPr lang="en-US" sz="16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t = RTT + L / R</a:t>
              </a:r>
              <a:endParaRPr sz="1600" b="0" i="0" u="none" strike="noStrike" cap="none">
                <a:solidFill>
                  <a:srgbClr val="CC0000"/>
                </a:solidFill>
                <a:latin typeface="Times New Roman" panose="02020503050405090304"/>
                <a:ea typeface="Times New Roman" panose="02020503050405090304"/>
                <a:cs typeface="Times New Roman" panose="02020503050405090304"/>
                <a:sym typeface="Times New Roman" panose="02020503050405090304"/>
              </a:endParaRPr>
            </a:p>
          </p:txBody>
        </p:sp>
        <p:sp>
          <p:nvSpPr>
            <p:cNvPr id="293" name="Google Shape;293;p11"/>
            <p:cNvSpPr/>
            <p:nvPr/>
          </p:nvSpPr>
          <p:spPr>
            <a:xfrm>
              <a:off x="4997450" y="4296118"/>
              <a:ext cx="1419225" cy="577850"/>
            </a:xfrm>
            <a:custGeom>
              <a:avLst/>
              <a:gdLst/>
              <a:ahLst/>
              <a:cxnLst/>
              <a:rect l="l" t="t" r="r" b="b"/>
              <a:pathLst>
                <a:path w="1845" h="592" extrusionOk="0">
                  <a:moveTo>
                    <a:pt x="0" y="0"/>
                  </a:moveTo>
                  <a:lnTo>
                    <a:pt x="1845" y="592"/>
                  </a:lnTo>
                  <a:lnTo>
                    <a:pt x="1095" y="592"/>
                  </a:lnTo>
                  <a:lnTo>
                    <a:pt x="0" y="24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CC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Calibri"/>
                <a:buNone/>
              </a:pPr>
              <a:endParaRPr sz="16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grpSp>
          <p:nvGrpSpPr>
            <p:cNvPr id="294" name="Google Shape;294;p11"/>
            <p:cNvGrpSpPr/>
            <p:nvPr/>
          </p:nvGrpSpPr>
          <p:grpSpPr>
            <a:xfrm>
              <a:off x="4991100" y="4288180"/>
              <a:ext cx="1281112" cy="534988"/>
              <a:chOff x="12315" y="13225"/>
              <a:chExt cx="2775" cy="913"/>
            </a:xfrm>
          </p:grpSpPr>
          <p:cxnSp>
            <p:nvCxnSpPr>
              <p:cNvPr id="295" name="Google Shape;295;p11"/>
              <p:cNvCxnSpPr/>
              <p:nvPr/>
            </p:nvCxnSpPr>
            <p:spPr>
              <a:xfrm>
                <a:off x="12315" y="13225"/>
                <a:ext cx="1587" cy="513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96" name="Google Shape;296;p11"/>
              <p:cNvCxnSpPr/>
              <p:nvPr/>
            </p:nvCxnSpPr>
            <p:spPr>
              <a:xfrm>
                <a:off x="13915" y="13737"/>
                <a:ext cx="1175" cy="401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97" name="Google Shape;297;p11"/>
            <p:cNvCxnSpPr/>
            <p:nvPr/>
          </p:nvCxnSpPr>
          <p:spPr>
            <a:xfrm>
              <a:off x="4991100" y="4529480"/>
              <a:ext cx="317500" cy="123825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8" name="Google Shape;298;p11"/>
            <p:cNvCxnSpPr/>
            <p:nvPr/>
          </p:nvCxnSpPr>
          <p:spPr>
            <a:xfrm>
              <a:off x="5314950" y="4653305"/>
              <a:ext cx="541337" cy="23495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sp>
        <p:nvSpPr>
          <p:cNvPr id="299" name="Google Shape;299;p11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2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Performance of (RDT)</a:t>
            </a:r>
            <a:r>
              <a:rPr lang="en-US" sz="3200"/>
              <a:t>(stop-and-wait)</a:t>
            </a:r>
            <a:endParaRPr sz="4400"/>
          </a:p>
        </p:txBody>
      </p:sp>
      <p:sp>
        <p:nvSpPr>
          <p:cNvPr id="306" name="Google Shape;306;p12"/>
          <p:cNvSpPr txBox="1"/>
          <p:nvPr/>
        </p:nvSpPr>
        <p:spPr>
          <a:xfrm>
            <a:off x="870585" y="2451735"/>
            <a:ext cx="11223625" cy="1044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09575" marR="0" lvl="0" indent="-2794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example: 1 Gbps link, 15 ms prop. delay, 8000 bit packet</a:t>
            </a:r>
            <a:endParaRPr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2"/>
          <p:cNvSpPr/>
          <p:nvPr/>
        </p:nvSpPr>
        <p:spPr>
          <a:xfrm>
            <a:off x="536827" y="1472895"/>
            <a:ext cx="10752586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88975" marR="0" lvl="1" indent="-23177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Char char="▪"/>
            </a:pPr>
            <a:r>
              <a:rPr lang="en-US" sz="32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 </a:t>
            </a:r>
            <a:r>
              <a:rPr lang="en-US" sz="3200" b="0" i="1" u="none" strike="noStrike" cap="none" baseline="-25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3200" b="0" i="1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utilization</a:t>
            </a:r>
            <a:r>
              <a:rPr lang="en-US" sz="3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– fraction of time sender busy sending</a:t>
            </a:r>
            <a:endParaRPr lang="en-US" sz="3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p12"/>
          <p:cNvGrpSpPr/>
          <p:nvPr/>
        </p:nvGrpSpPr>
        <p:grpSpPr>
          <a:xfrm>
            <a:off x="1782678" y="3526869"/>
            <a:ext cx="6154738" cy="919163"/>
            <a:chOff x="137" y="1675"/>
            <a:chExt cx="3877" cy="579"/>
          </a:xfrm>
        </p:grpSpPr>
        <p:sp>
          <p:nvSpPr>
            <p:cNvPr id="309" name="Google Shape;309;p12"/>
            <p:cNvSpPr txBox="1"/>
            <p:nvPr/>
          </p:nvSpPr>
          <p:spPr>
            <a:xfrm>
              <a:off x="137" y="1795"/>
              <a:ext cx="647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r>
                <a:rPr lang="en-US" sz="2400" b="0" i="1" u="none" strike="noStrike" cap="none" baseline="-25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</a:t>
              </a: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=</a:t>
              </a:r>
              <a:endPara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0" name="Google Shape;310;p12"/>
            <p:cNvGrpSpPr/>
            <p:nvPr/>
          </p:nvGrpSpPr>
          <p:grpSpPr>
            <a:xfrm>
              <a:off x="827" y="1677"/>
              <a:ext cx="235" cy="499"/>
              <a:chOff x="155" y="2937"/>
              <a:chExt cx="235" cy="499"/>
            </a:xfrm>
          </p:grpSpPr>
          <p:sp>
            <p:nvSpPr>
              <p:cNvPr id="311" name="Google Shape;311;p12"/>
              <p:cNvSpPr txBox="1"/>
              <p:nvPr/>
            </p:nvSpPr>
            <p:spPr>
              <a:xfrm>
                <a:off x="176" y="2937"/>
                <a:ext cx="19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</a:t>
                </a:r>
                <a:endPara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2" name="Google Shape;312;p12"/>
              <p:cNvSpPr txBox="1"/>
              <p:nvPr/>
            </p:nvSpPr>
            <p:spPr>
              <a:xfrm>
                <a:off x="155" y="3145"/>
                <a:ext cx="221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13" name="Google Shape;313;p12"/>
              <p:cNvCxnSpPr/>
              <p:nvPr/>
            </p:nvCxnSpPr>
            <p:spPr>
              <a:xfrm>
                <a:off x="204" y="3192"/>
                <a:ext cx="186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14" name="Google Shape;314;p12"/>
            <p:cNvGrpSpPr/>
            <p:nvPr/>
          </p:nvGrpSpPr>
          <p:grpSpPr>
            <a:xfrm>
              <a:off x="1395" y="1675"/>
              <a:ext cx="1232" cy="579"/>
              <a:chOff x="1563" y="1693"/>
              <a:chExt cx="1232" cy="579"/>
            </a:xfrm>
          </p:grpSpPr>
          <p:sp>
            <p:nvSpPr>
              <p:cNvPr id="315" name="Google Shape;315;p12"/>
              <p:cNvSpPr txBox="1"/>
              <p:nvPr/>
            </p:nvSpPr>
            <p:spPr>
              <a:xfrm>
                <a:off x="2085" y="1748"/>
                <a:ext cx="153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Calibri"/>
                  <a:buNone/>
                </a:pPr>
                <a:r>
                  <a:rPr lang="en-US" sz="20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endParaRPr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6" name="Google Shape;316;p12"/>
              <p:cNvSpPr txBox="1"/>
              <p:nvPr/>
            </p:nvSpPr>
            <p:spPr>
              <a:xfrm>
                <a:off x="1563" y="1693"/>
                <a:ext cx="972" cy="2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8000 bits</a:t>
                </a:r>
                <a:endPara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7" name="Google Shape;317;p12"/>
              <p:cNvSpPr txBox="1"/>
              <p:nvPr/>
            </p:nvSpPr>
            <p:spPr>
              <a:xfrm>
                <a:off x="1570" y="1984"/>
                <a:ext cx="1225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10</a:t>
                </a:r>
                <a:r>
                  <a:rPr lang="en-US" sz="2400" b="0" i="1" u="none" strike="noStrike" cap="none" baseline="300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9 </a:t>
                </a:r>
                <a:r>
                  <a:rPr lang="en-US" sz="2400" b="0" i="1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bits/sec</a:t>
                </a:r>
                <a:endPara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318" name="Google Shape;318;p12"/>
              <p:cNvCxnSpPr/>
              <p:nvPr/>
            </p:nvCxnSpPr>
            <p:spPr>
              <a:xfrm>
                <a:off x="1604" y="1950"/>
                <a:ext cx="97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319" name="Google Shape;319;p12"/>
            <p:cNvSpPr txBox="1"/>
            <p:nvPr/>
          </p:nvSpPr>
          <p:spPr>
            <a:xfrm>
              <a:off x="1093" y="1789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12"/>
            <p:cNvSpPr txBox="1"/>
            <p:nvPr/>
          </p:nvSpPr>
          <p:spPr>
            <a:xfrm>
              <a:off x="2509" y="1789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2"/>
            <p:cNvSpPr txBox="1"/>
            <p:nvPr/>
          </p:nvSpPr>
          <p:spPr>
            <a:xfrm>
              <a:off x="2715" y="1777"/>
              <a:ext cx="1299" cy="23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lang="en-US" sz="2400" b="0" i="1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8 microsecs</a:t>
              </a:r>
              <a:endParaRPr lang="en-US" sz="2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2"/>
          <p:cNvSpPr txBox="1"/>
          <p:nvPr/>
        </p:nvSpPr>
        <p:spPr>
          <a:xfrm>
            <a:off x="1127125" y="3141345"/>
            <a:ext cx="97231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/>
          </a:bodyPr>
          <a:lstStyle/>
          <a:p>
            <a:pPr marL="930275" marR="0" lvl="1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Arial" panose="020B0604020202090204"/>
              <a:buChar char="•"/>
            </a:pP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time to transmit packet into channel: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2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3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(RDT) pipelined protocols operation</a:t>
            </a:r>
            <a:endParaRPr sz="4400"/>
          </a:p>
        </p:txBody>
      </p:sp>
      <p:sp>
        <p:nvSpPr>
          <p:cNvPr id="330" name="Google Shape;330;p13"/>
          <p:cNvSpPr txBox="1"/>
          <p:nvPr/>
        </p:nvSpPr>
        <p:spPr>
          <a:xfrm>
            <a:off x="722556" y="1312877"/>
            <a:ext cx="10988826" cy="2033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52425" marR="0" lvl="0" indent="-2222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 b="0" i="0" u="none" strike="noStrike" cap="non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pipelining:</a:t>
            </a:r>
            <a:r>
              <a:rPr lang="en-US" sz="2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sender allows multiple, “in-flight”, yet-to-be-acknowledged packets</a:t>
            </a:r>
            <a:endParaRPr lang="en-US" sz="2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range of sequence numbers must be increased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695325" marR="0" lvl="1" indent="-23177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 panose="020B0604020202090204"/>
              <a:buChar char="•"/>
            </a:pPr>
            <a:r>
              <a:rPr lang="en-US" sz="2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buffering at sender and/or receiver</a:t>
            </a:r>
            <a:endParaRPr lang="en-US" sz="2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1" name="Google Shape;331;p13"/>
          <p:cNvGrpSpPr/>
          <p:nvPr/>
        </p:nvGrpSpPr>
        <p:grpSpPr>
          <a:xfrm>
            <a:off x="2916237" y="2993267"/>
            <a:ext cx="6359525" cy="2370138"/>
            <a:chOff x="1673403" y="3019025"/>
            <a:chExt cx="6359525" cy="2370138"/>
          </a:xfrm>
        </p:grpSpPr>
        <p:pic>
          <p:nvPicPr>
            <p:cNvPr id="332" name="Google Shape;332;p13" descr="rdt_pipelined1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1927403" y="3019025"/>
              <a:ext cx="6105525" cy="23701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3" name="Google Shape;333;p13"/>
            <p:cNvGrpSpPr/>
            <p:nvPr/>
          </p:nvGrpSpPr>
          <p:grpSpPr>
            <a:xfrm>
              <a:off x="1673403" y="3696888"/>
              <a:ext cx="469900" cy="465137"/>
              <a:chOff x="881" y="2283"/>
              <a:chExt cx="296" cy="293"/>
            </a:xfrm>
          </p:grpSpPr>
          <p:sp>
            <p:nvSpPr>
              <p:cNvPr id="334" name="Google Shape;334;p13"/>
              <p:cNvSpPr/>
              <p:nvPr/>
            </p:nvSpPr>
            <p:spPr>
              <a:xfrm>
                <a:off x="1026" y="2283"/>
                <a:ext cx="122" cy="26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35" name="Google Shape;335;p13"/>
              <p:cNvGrpSpPr/>
              <p:nvPr/>
            </p:nvGrpSpPr>
            <p:grpSpPr>
              <a:xfrm flipH="1">
                <a:off x="881" y="2283"/>
                <a:ext cx="296" cy="293"/>
                <a:chOff x="2839" y="3501"/>
                <a:chExt cx="755" cy="803"/>
              </a:xfrm>
            </p:grpSpPr>
            <p:pic>
              <p:nvPicPr>
                <p:cNvPr id="336" name="Google Shape;336;p13" descr="desktop_computer_stylized_medium"/>
                <p:cNvPicPr preferRelativeResize="0"/>
                <p:nvPr/>
              </p:nvPicPr>
              <p:blipFill rotWithShape="1">
                <a:blip r:embed="rId2"/>
                <a:srcRect/>
                <a:stretch>
                  <a:fillRect/>
                </a:stretch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37" name="Google Shape;337;p13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338" name="Google Shape;338;p13"/>
            <p:cNvSpPr/>
            <p:nvPr/>
          </p:nvSpPr>
          <p:spPr>
            <a:xfrm>
              <a:off x="7613828" y="3709588"/>
              <a:ext cx="185737" cy="431800"/>
            </a:xfrm>
            <a:custGeom>
              <a:avLst/>
              <a:gdLst/>
              <a:ahLst/>
              <a:cxnLst/>
              <a:rect l="l" t="t" r="r" b="b"/>
              <a:pathLst>
                <a:path w="117" h="272" extrusionOk="0">
                  <a:moveTo>
                    <a:pt x="6" y="6"/>
                  </a:moveTo>
                  <a:lnTo>
                    <a:pt x="3" y="77"/>
                  </a:lnTo>
                  <a:lnTo>
                    <a:pt x="59" y="120"/>
                  </a:lnTo>
                  <a:lnTo>
                    <a:pt x="0" y="146"/>
                  </a:lnTo>
                  <a:lnTo>
                    <a:pt x="3" y="270"/>
                  </a:lnTo>
                  <a:lnTo>
                    <a:pt x="117" y="272"/>
                  </a:lnTo>
                  <a:lnTo>
                    <a:pt x="114" y="0"/>
                  </a:lnTo>
                  <a:lnTo>
                    <a:pt x="6" y="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9" name="Google Shape;339;p13"/>
            <p:cNvGrpSpPr/>
            <p:nvPr/>
          </p:nvGrpSpPr>
          <p:grpSpPr>
            <a:xfrm>
              <a:off x="4784903" y="3714350"/>
              <a:ext cx="469900" cy="465138"/>
              <a:chOff x="881" y="2283"/>
              <a:chExt cx="296" cy="293"/>
            </a:xfrm>
          </p:grpSpPr>
          <p:sp>
            <p:nvSpPr>
              <p:cNvPr id="340" name="Google Shape;340;p13"/>
              <p:cNvSpPr/>
              <p:nvPr/>
            </p:nvSpPr>
            <p:spPr>
              <a:xfrm>
                <a:off x="1026" y="2283"/>
                <a:ext cx="122" cy="265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41" name="Google Shape;341;p13"/>
              <p:cNvGrpSpPr/>
              <p:nvPr/>
            </p:nvGrpSpPr>
            <p:grpSpPr>
              <a:xfrm flipH="1">
                <a:off x="881" y="2283"/>
                <a:ext cx="296" cy="293"/>
                <a:chOff x="2839" y="3501"/>
                <a:chExt cx="755" cy="803"/>
              </a:xfrm>
            </p:grpSpPr>
            <p:pic>
              <p:nvPicPr>
                <p:cNvPr id="342" name="Google Shape;342;p13" descr="desktop_computer_stylized_medium"/>
                <p:cNvPicPr preferRelativeResize="0"/>
                <p:nvPr/>
              </p:nvPicPr>
              <p:blipFill rotWithShape="1">
                <a:blip r:embed="rId2"/>
                <a:srcRect/>
                <a:stretch>
                  <a:fillRect/>
                </a:stretch>
              </p:blipFill>
              <p:spPr>
                <a:xfrm>
                  <a:off x="2839" y="3501"/>
                  <a:ext cx="755" cy="8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343" name="Google Shape;343;p13"/>
                <p:cNvSpPr/>
                <p:nvPr/>
              </p:nvSpPr>
              <p:spPr>
                <a:xfrm>
                  <a:off x="2916" y="3578"/>
                  <a:ext cx="356" cy="36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6" h="368" extrusionOk="0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44" name="Google Shape;344;p13"/>
            <p:cNvGrpSpPr/>
            <p:nvPr/>
          </p:nvGrpSpPr>
          <p:grpSpPr>
            <a:xfrm>
              <a:off x="4493546" y="3633388"/>
              <a:ext cx="223838" cy="501650"/>
              <a:chOff x="4140" y="429"/>
              <a:chExt cx="1425" cy="2396"/>
            </a:xfrm>
          </p:grpSpPr>
          <p:sp>
            <p:nvSpPr>
              <p:cNvPr id="345" name="Google Shape;345;p1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4211" y="429"/>
                <a:ext cx="1041" cy="2282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47" name="Google Shape;347;p1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1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13"/>
              <p:cNvSpPr/>
              <p:nvPr/>
            </p:nvSpPr>
            <p:spPr>
              <a:xfrm>
                <a:off x="4211" y="694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50" name="Google Shape;350;p13"/>
              <p:cNvGrpSpPr/>
              <p:nvPr/>
            </p:nvGrpSpPr>
            <p:grpSpPr>
              <a:xfrm>
                <a:off x="4747" y="671"/>
                <a:ext cx="586" cy="144"/>
                <a:chOff x="611" y="2571"/>
                <a:chExt cx="731" cy="138"/>
              </a:xfrm>
            </p:grpSpPr>
            <p:sp>
              <p:nvSpPr>
                <p:cNvPr id="351" name="Google Shape;351;p13"/>
                <p:cNvSpPr/>
                <p:nvPr/>
              </p:nvSpPr>
              <p:spPr>
                <a:xfrm>
                  <a:off x="611" y="2571"/>
                  <a:ext cx="73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52" name="Google Shape;352;p13"/>
                <p:cNvSpPr/>
                <p:nvPr/>
              </p:nvSpPr>
              <p:spPr>
                <a:xfrm>
                  <a:off x="623" y="2586"/>
                  <a:ext cx="706" cy="109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53" name="Google Shape;353;p13"/>
              <p:cNvSpPr/>
              <p:nvPr/>
            </p:nvSpPr>
            <p:spPr>
              <a:xfrm>
                <a:off x="4221" y="1020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54" name="Google Shape;354;p13"/>
              <p:cNvGrpSpPr/>
              <p:nvPr/>
            </p:nvGrpSpPr>
            <p:grpSpPr>
              <a:xfrm>
                <a:off x="4746" y="998"/>
                <a:ext cx="586" cy="129"/>
                <a:chOff x="613" y="2572"/>
                <a:chExt cx="731" cy="134"/>
              </a:xfrm>
            </p:grpSpPr>
            <p:sp>
              <p:nvSpPr>
                <p:cNvPr id="355" name="Google Shape;355;p13"/>
                <p:cNvSpPr/>
                <p:nvPr/>
              </p:nvSpPr>
              <p:spPr>
                <a:xfrm>
                  <a:off x="613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56" name="Google Shape;356;p13"/>
                <p:cNvSpPr/>
                <p:nvPr/>
              </p:nvSpPr>
              <p:spPr>
                <a:xfrm>
                  <a:off x="626" y="2588"/>
                  <a:ext cx="706" cy="10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57" name="Google Shape;357;p13"/>
              <p:cNvSpPr/>
              <p:nvPr/>
            </p:nvSpPr>
            <p:spPr>
              <a:xfrm>
                <a:off x="4221" y="1362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58" name="Google Shape;358;p13"/>
              <p:cNvSpPr/>
              <p:nvPr/>
            </p:nvSpPr>
            <p:spPr>
              <a:xfrm>
                <a:off x="4231" y="1657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59" name="Google Shape;359;p13"/>
              <p:cNvGrpSpPr/>
              <p:nvPr/>
            </p:nvGrpSpPr>
            <p:grpSpPr>
              <a:xfrm>
                <a:off x="4737" y="1627"/>
                <a:ext cx="576" cy="152"/>
                <a:chOff x="616" y="2568"/>
                <a:chExt cx="718" cy="140"/>
              </a:xfrm>
            </p:grpSpPr>
            <p:sp>
              <p:nvSpPr>
                <p:cNvPr id="360" name="Google Shape;360;p13"/>
                <p:cNvSpPr/>
                <p:nvPr/>
              </p:nvSpPr>
              <p:spPr>
                <a:xfrm>
                  <a:off x="616" y="2568"/>
                  <a:ext cx="718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61" name="Google Shape;361;p13"/>
                <p:cNvSpPr/>
                <p:nvPr/>
              </p:nvSpPr>
              <p:spPr>
                <a:xfrm>
                  <a:off x="628" y="2582"/>
                  <a:ext cx="692" cy="11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62" name="Google Shape;362;p1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3" name="Google Shape;363;p13"/>
              <p:cNvGrpSpPr/>
              <p:nvPr/>
            </p:nvGrpSpPr>
            <p:grpSpPr>
              <a:xfrm>
                <a:off x="4737" y="1324"/>
                <a:ext cx="586" cy="144"/>
                <a:chOff x="611" y="2565"/>
                <a:chExt cx="730" cy="144"/>
              </a:xfrm>
            </p:grpSpPr>
            <p:sp>
              <p:nvSpPr>
                <p:cNvPr id="364" name="Google Shape;364;p13"/>
                <p:cNvSpPr/>
                <p:nvPr/>
              </p:nvSpPr>
              <p:spPr>
                <a:xfrm>
                  <a:off x="611" y="2565"/>
                  <a:ext cx="730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65" name="Google Shape;365;p13"/>
                <p:cNvSpPr/>
                <p:nvPr/>
              </p:nvSpPr>
              <p:spPr>
                <a:xfrm>
                  <a:off x="623" y="2580"/>
                  <a:ext cx="705" cy="114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66" name="Google Shape;366;p13"/>
              <p:cNvSpPr/>
              <p:nvPr/>
            </p:nvSpPr>
            <p:spPr>
              <a:xfrm>
                <a:off x="5252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67" name="Google Shape;367;p1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" name="Google Shape;368;p13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9" name="Google Shape;369;p13"/>
              <p:cNvSpPr/>
              <p:nvPr/>
            </p:nvSpPr>
            <p:spPr>
              <a:xfrm>
                <a:off x="5514" y="2613"/>
                <a:ext cx="51" cy="91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70" name="Google Shape;370;p1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3"/>
              <p:cNvSpPr/>
              <p:nvPr/>
            </p:nvSpPr>
            <p:spPr>
              <a:xfrm>
                <a:off x="4140" y="2681"/>
                <a:ext cx="1203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72" name="Google Shape;372;p13"/>
              <p:cNvSpPr/>
              <p:nvPr/>
            </p:nvSpPr>
            <p:spPr>
              <a:xfrm>
                <a:off x="4211" y="2711"/>
                <a:ext cx="1061" cy="8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73" name="Google Shape;373;p13"/>
              <p:cNvSpPr/>
              <p:nvPr/>
            </p:nvSpPr>
            <p:spPr>
              <a:xfrm>
                <a:off x="4312" y="2385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74" name="Google Shape;374;p13"/>
              <p:cNvSpPr/>
              <p:nvPr/>
            </p:nvSpPr>
            <p:spPr>
              <a:xfrm>
                <a:off x="4484" y="2385"/>
                <a:ext cx="162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375" name="Google Shape;375;p13"/>
              <p:cNvSpPr/>
              <p:nvPr/>
            </p:nvSpPr>
            <p:spPr>
              <a:xfrm>
                <a:off x="4666" y="2378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76" name="Google Shape;376;p13"/>
              <p:cNvSpPr/>
              <p:nvPr/>
            </p:nvSpPr>
            <p:spPr>
              <a:xfrm>
                <a:off x="5060" y="1832"/>
                <a:ext cx="91" cy="766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</p:grpSp>
        <p:grpSp>
          <p:nvGrpSpPr>
            <p:cNvPr id="377" name="Google Shape;377;p13"/>
            <p:cNvGrpSpPr/>
            <p:nvPr/>
          </p:nvGrpSpPr>
          <p:grpSpPr>
            <a:xfrm>
              <a:off x="7659865" y="3576238"/>
              <a:ext cx="223838" cy="501650"/>
              <a:chOff x="4140" y="429"/>
              <a:chExt cx="1425" cy="2396"/>
            </a:xfrm>
          </p:grpSpPr>
          <p:sp>
            <p:nvSpPr>
              <p:cNvPr id="378" name="Google Shape;378;p13"/>
              <p:cNvSpPr/>
              <p:nvPr/>
            </p:nvSpPr>
            <p:spPr>
              <a:xfrm>
                <a:off x="5268" y="433"/>
                <a:ext cx="283" cy="2286"/>
              </a:xfrm>
              <a:custGeom>
                <a:avLst/>
                <a:gdLst/>
                <a:ahLst/>
                <a:cxnLst/>
                <a:rect l="l" t="t" r="r" b="b"/>
                <a:pathLst>
                  <a:path w="354" h="2742" extrusionOk="0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9" name="Google Shape;379;p13"/>
              <p:cNvSpPr/>
              <p:nvPr/>
            </p:nvSpPr>
            <p:spPr>
              <a:xfrm>
                <a:off x="4211" y="429"/>
                <a:ext cx="1041" cy="2282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80" name="Google Shape;380;p13"/>
              <p:cNvSpPr/>
              <p:nvPr/>
            </p:nvSpPr>
            <p:spPr>
              <a:xfrm>
                <a:off x="5321" y="570"/>
                <a:ext cx="169" cy="2115"/>
              </a:xfrm>
              <a:custGeom>
                <a:avLst/>
                <a:gdLst/>
                <a:ahLst/>
                <a:cxnLst/>
                <a:rect l="l" t="t" r="r" b="b"/>
                <a:pathLst>
                  <a:path w="211" h="2537" extrusionOk="0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1" name="Google Shape;381;p13"/>
              <p:cNvSpPr/>
              <p:nvPr/>
            </p:nvSpPr>
            <p:spPr>
              <a:xfrm>
                <a:off x="5284" y="1640"/>
                <a:ext cx="263" cy="189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2" name="Google Shape;382;p13"/>
              <p:cNvSpPr/>
              <p:nvPr/>
            </p:nvSpPr>
            <p:spPr>
              <a:xfrm>
                <a:off x="4211" y="694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83" name="Google Shape;383;p13"/>
              <p:cNvGrpSpPr/>
              <p:nvPr/>
            </p:nvGrpSpPr>
            <p:grpSpPr>
              <a:xfrm>
                <a:off x="4747" y="671"/>
                <a:ext cx="586" cy="144"/>
                <a:chOff x="611" y="2571"/>
                <a:chExt cx="731" cy="138"/>
              </a:xfrm>
            </p:grpSpPr>
            <p:sp>
              <p:nvSpPr>
                <p:cNvPr id="384" name="Google Shape;384;p13"/>
                <p:cNvSpPr/>
                <p:nvPr/>
              </p:nvSpPr>
              <p:spPr>
                <a:xfrm>
                  <a:off x="611" y="2571"/>
                  <a:ext cx="731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85" name="Google Shape;385;p13"/>
                <p:cNvSpPr/>
                <p:nvPr/>
              </p:nvSpPr>
              <p:spPr>
                <a:xfrm>
                  <a:off x="623" y="2586"/>
                  <a:ext cx="706" cy="109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86" name="Google Shape;386;p13"/>
              <p:cNvSpPr/>
              <p:nvPr/>
            </p:nvSpPr>
            <p:spPr>
              <a:xfrm>
                <a:off x="4221" y="1020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87" name="Google Shape;387;p13"/>
              <p:cNvGrpSpPr/>
              <p:nvPr/>
            </p:nvGrpSpPr>
            <p:grpSpPr>
              <a:xfrm>
                <a:off x="4746" y="998"/>
                <a:ext cx="586" cy="129"/>
                <a:chOff x="613" y="2572"/>
                <a:chExt cx="731" cy="134"/>
              </a:xfrm>
            </p:grpSpPr>
            <p:sp>
              <p:nvSpPr>
                <p:cNvPr id="388" name="Google Shape;388;p13"/>
                <p:cNvSpPr/>
                <p:nvPr/>
              </p:nvSpPr>
              <p:spPr>
                <a:xfrm>
                  <a:off x="613" y="2572"/>
                  <a:ext cx="73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89" name="Google Shape;389;p13"/>
                <p:cNvSpPr/>
                <p:nvPr/>
              </p:nvSpPr>
              <p:spPr>
                <a:xfrm>
                  <a:off x="626" y="2588"/>
                  <a:ext cx="706" cy="10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90" name="Google Shape;390;p13"/>
              <p:cNvSpPr/>
              <p:nvPr/>
            </p:nvSpPr>
            <p:spPr>
              <a:xfrm>
                <a:off x="4221" y="1362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391" name="Google Shape;391;p13"/>
              <p:cNvSpPr/>
              <p:nvPr/>
            </p:nvSpPr>
            <p:spPr>
              <a:xfrm>
                <a:off x="4231" y="1657"/>
                <a:ext cx="596" cy="45"/>
              </a:xfrm>
              <a:prstGeom prst="rect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grpSp>
            <p:nvGrpSpPr>
              <p:cNvPr id="392" name="Google Shape;392;p13"/>
              <p:cNvGrpSpPr/>
              <p:nvPr/>
            </p:nvGrpSpPr>
            <p:grpSpPr>
              <a:xfrm>
                <a:off x="4737" y="1627"/>
                <a:ext cx="576" cy="152"/>
                <a:chOff x="616" y="2568"/>
                <a:chExt cx="718" cy="140"/>
              </a:xfrm>
            </p:grpSpPr>
            <p:sp>
              <p:nvSpPr>
                <p:cNvPr id="393" name="Google Shape;393;p13"/>
                <p:cNvSpPr/>
                <p:nvPr/>
              </p:nvSpPr>
              <p:spPr>
                <a:xfrm>
                  <a:off x="616" y="2568"/>
                  <a:ext cx="718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94" name="Google Shape;394;p13"/>
                <p:cNvSpPr/>
                <p:nvPr/>
              </p:nvSpPr>
              <p:spPr>
                <a:xfrm>
                  <a:off x="628" y="2582"/>
                  <a:ext cx="692" cy="112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95" name="Google Shape;395;p13"/>
              <p:cNvSpPr/>
              <p:nvPr/>
            </p:nvSpPr>
            <p:spPr>
              <a:xfrm>
                <a:off x="5288" y="1354"/>
                <a:ext cx="263" cy="188"/>
              </a:xfrm>
              <a:custGeom>
                <a:avLst/>
                <a:gdLst/>
                <a:ahLst/>
                <a:cxnLst/>
                <a:rect l="l" t="t" r="r" b="b"/>
                <a:pathLst>
                  <a:path w="328" h="226" extrusionOk="0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6" name="Google Shape;396;p13"/>
              <p:cNvGrpSpPr/>
              <p:nvPr/>
            </p:nvGrpSpPr>
            <p:grpSpPr>
              <a:xfrm>
                <a:off x="4737" y="1324"/>
                <a:ext cx="586" cy="144"/>
                <a:chOff x="611" y="2565"/>
                <a:chExt cx="730" cy="144"/>
              </a:xfrm>
            </p:grpSpPr>
            <p:sp>
              <p:nvSpPr>
                <p:cNvPr id="397" name="Google Shape;397;p13"/>
                <p:cNvSpPr/>
                <p:nvPr/>
              </p:nvSpPr>
              <p:spPr>
                <a:xfrm>
                  <a:off x="611" y="2565"/>
                  <a:ext cx="730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sp>
              <p:nvSpPr>
                <p:cNvPr id="398" name="Google Shape;398;p13"/>
                <p:cNvSpPr/>
                <p:nvPr/>
              </p:nvSpPr>
              <p:spPr>
                <a:xfrm>
                  <a:off x="623" y="2580"/>
                  <a:ext cx="705" cy="114"/>
                </a:xfrm>
                <a:prstGeom prst="roundRect">
                  <a:avLst>
                    <a:gd name="adj" fmla="val 50000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800"/>
                    <a:buFont typeface="Calibri"/>
                    <a:buNone/>
                  </a:pPr>
                  <a:endParaRPr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</p:grpSp>
          <p:sp>
            <p:nvSpPr>
              <p:cNvPr id="399" name="Google Shape;399;p13"/>
              <p:cNvSpPr/>
              <p:nvPr/>
            </p:nvSpPr>
            <p:spPr>
              <a:xfrm>
                <a:off x="5252" y="429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400" name="Google Shape;400;p13"/>
              <p:cNvSpPr/>
              <p:nvPr/>
            </p:nvSpPr>
            <p:spPr>
              <a:xfrm>
                <a:off x="5312" y="1007"/>
                <a:ext cx="237" cy="213"/>
              </a:xfrm>
              <a:custGeom>
                <a:avLst/>
                <a:gdLst/>
                <a:ahLst/>
                <a:cxnLst/>
                <a:rect l="l" t="t" r="r" b="b"/>
                <a:pathLst>
                  <a:path w="296" h="256" extrusionOk="0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13"/>
              <p:cNvSpPr/>
              <p:nvPr/>
            </p:nvSpPr>
            <p:spPr>
              <a:xfrm>
                <a:off x="5315" y="680"/>
                <a:ext cx="244" cy="240"/>
              </a:xfrm>
              <a:custGeom>
                <a:avLst/>
                <a:gdLst/>
                <a:ahLst/>
                <a:cxnLst/>
                <a:rect l="l" t="t" r="r" b="b"/>
                <a:pathLst>
                  <a:path w="304" h="288" extrusionOk="0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13"/>
              <p:cNvSpPr/>
              <p:nvPr/>
            </p:nvSpPr>
            <p:spPr>
              <a:xfrm>
                <a:off x="5514" y="2613"/>
                <a:ext cx="51" cy="91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403" name="Google Shape;403;p13"/>
              <p:cNvSpPr/>
              <p:nvPr/>
            </p:nvSpPr>
            <p:spPr>
              <a:xfrm>
                <a:off x="5302" y="2614"/>
                <a:ext cx="245" cy="200"/>
              </a:xfrm>
              <a:custGeom>
                <a:avLst/>
                <a:gdLst/>
                <a:ahLst/>
                <a:cxnLst/>
                <a:rect l="l" t="t" r="r" b="b"/>
                <a:pathLst>
                  <a:path w="306" h="240" extrusionOk="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13"/>
              <p:cNvSpPr/>
              <p:nvPr/>
            </p:nvSpPr>
            <p:spPr>
              <a:xfrm>
                <a:off x="4140" y="2681"/>
                <a:ext cx="1203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405" name="Google Shape;405;p13"/>
              <p:cNvSpPr/>
              <p:nvPr/>
            </p:nvSpPr>
            <p:spPr>
              <a:xfrm>
                <a:off x="4211" y="2711"/>
                <a:ext cx="1061" cy="83"/>
              </a:xfrm>
              <a:prstGeom prst="roundRect">
                <a:avLst>
                  <a:gd name="adj" fmla="val 50000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406" name="Google Shape;406;p13"/>
              <p:cNvSpPr/>
              <p:nvPr/>
            </p:nvSpPr>
            <p:spPr>
              <a:xfrm>
                <a:off x="4312" y="2385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407" name="Google Shape;407;p13"/>
              <p:cNvSpPr/>
              <p:nvPr/>
            </p:nvSpPr>
            <p:spPr>
              <a:xfrm>
                <a:off x="4484" y="2385"/>
                <a:ext cx="162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FF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  <p:sp>
            <p:nvSpPr>
              <p:cNvPr id="408" name="Google Shape;408;p13"/>
              <p:cNvSpPr/>
              <p:nvPr/>
            </p:nvSpPr>
            <p:spPr>
              <a:xfrm>
                <a:off x="4666" y="2378"/>
                <a:ext cx="152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409" name="Google Shape;409;p13"/>
              <p:cNvSpPr/>
              <p:nvPr/>
            </p:nvSpPr>
            <p:spPr>
              <a:xfrm>
                <a:off x="5060" y="1832"/>
                <a:ext cx="91" cy="766"/>
              </a:xfrm>
              <a:prstGeom prst="rect">
                <a:avLst/>
              </a:prstGeom>
              <a:solidFill>
                <a:srgbClr val="292929"/>
              </a:solidFill>
              <a:ln w="9525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</p:grpSp>
      </p:grpSp>
      <p:sp>
        <p:nvSpPr>
          <p:cNvPr id="410" name="Google Shape;410;p13"/>
          <p:cNvSpPr/>
          <p:nvPr/>
        </p:nvSpPr>
        <p:spPr>
          <a:xfrm>
            <a:off x="6069496" y="2941983"/>
            <a:ext cx="3750365" cy="2491408"/>
          </a:xfrm>
          <a:custGeom>
            <a:avLst/>
            <a:gdLst/>
            <a:ahLst/>
            <a:cxnLst/>
            <a:rect l="l" t="t" r="r" b="b"/>
            <a:pathLst>
              <a:path w="3750365" h="2491408" extrusionOk="0">
                <a:moveTo>
                  <a:pt x="331304" y="0"/>
                </a:moveTo>
                <a:lnTo>
                  <a:pt x="0" y="861391"/>
                </a:lnTo>
                <a:lnTo>
                  <a:pt x="13252" y="1378226"/>
                </a:lnTo>
                <a:lnTo>
                  <a:pt x="26504" y="2491408"/>
                </a:lnTo>
                <a:lnTo>
                  <a:pt x="3750365" y="2451652"/>
                </a:lnTo>
                <a:lnTo>
                  <a:pt x="3723861" y="79513"/>
                </a:lnTo>
                <a:lnTo>
                  <a:pt x="331304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4"/>
          <p:cNvSpPr txBox="1"/>
          <p:nvPr>
            <p:ph type="title"/>
          </p:nvPr>
        </p:nvSpPr>
        <p:spPr>
          <a:xfrm>
            <a:off x="798690" y="289325"/>
            <a:ext cx="11100625" cy="894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Pipelining: increased utilization</a:t>
            </a:r>
            <a:endParaRPr sz="4400"/>
          </a:p>
        </p:txBody>
      </p:sp>
      <p:grpSp>
        <p:nvGrpSpPr>
          <p:cNvPr id="418" name="Google Shape;418;p14"/>
          <p:cNvGrpSpPr/>
          <p:nvPr/>
        </p:nvGrpSpPr>
        <p:grpSpPr>
          <a:xfrm>
            <a:off x="1436915" y="1417186"/>
            <a:ext cx="9144000" cy="3759200"/>
            <a:chOff x="1436915" y="1417186"/>
            <a:chExt cx="9144000" cy="3759200"/>
          </a:xfrm>
        </p:grpSpPr>
        <p:grpSp>
          <p:nvGrpSpPr>
            <p:cNvPr id="419" name="Google Shape;419;p14"/>
            <p:cNvGrpSpPr/>
            <p:nvPr/>
          </p:nvGrpSpPr>
          <p:grpSpPr>
            <a:xfrm>
              <a:off x="1436915" y="1744211"/>
              <a:ext cx="5265738" cy="3432175"/>
              <a:chOff x="1436915" y="1744211"/>
              <a:chExt cx="5265738" cy="3432175"/>
            </a:xfrm>
          </p:grpSpPr>
          <p:sp>
            <p:nvSpPr>
              <p:cNvPr id="420" name="Google Shape;420;p14"/>
              <p:cNvSpPr txBox="1"/>
              <p:nvPr/>
            </p:nvSpPr>
            <p:spPr>
              <a:xfrm>
                <a:off x="1436915" y="1760086"/>
                <a:ext cx="3086100" cy="35401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first packet bit transmitted, t = 0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cxnSp>
            <p:nvCxnSpPr>
              <p:cNvPr id="421" name="Google Shape;421;p14"/>
              <p:cNvCxnSpPr/>
              <p:nvPr/>
            </p:nvCxnSpPr>
            <p:spPr>
              <a:xfrm>
                <a:off x="4599215" y="1744211"/>
                <a:ext cx="20638" cy="3284538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22" name="Google Shape;422;p14"/>
              <p:cNvCxnSpPr/>
              <p:nvPr/>
            </p:nvCxnSpPr>
            <p:spPr>
              <a:xfrm>
                <a:off x="6680428" y="1756911"/>
                <a:ext cx="22225" cy="3351213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23" name="Google Shape;423;p14"/>
              <p:cNvGrpSpPr/>
              <p:nvPr/>
            </p:nvGrpSpPr>
            <p:grpSpPr>
              <a:xfrm>
                <a:off x="4480153" y="4081011"/>
                <a:ext cx="1466850" cy="608013"/>
                <a:chOff x="12502" y="21425"/>
                <a:chExt cx="3400" cy="1025"/>
              </a:xfrm>
            </p:grpSpPr>
            <p:cxnSp>
              <p:nvCxnSpPr>
                <p:cNvPr id="424" name="Google Shape;424;p14"/>
                <p:cNvCxnSpPr/>
                <p:nvPr/>
              </p:nvCxnSpPr>
              <p:spPr>
                <a:xfrm flipH="1">
                  <a:off x="12502" y="21425"/>
                  <a:ext cx="288" cy="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25" name="Google Shape;425;p14"/>
                <p:cNvSpPr/>
                <p:nvPr/>
              </p:nvSpPr>
              <p:spPr>
                <a:xfrm>
                  <a:off x="12827" y="21438"/>
                  <a:ext cx="3075" cy="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5" h="592" extrusionOk="0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grpSp>
              <p:nvGrpSpPr>
                <p:cNvPr id="426" name="Google Shape;426;p14"/>
                <p:cNvGrpSpPr/>
                <p:nvPr/>
              </p:nvGrpSpPr>
              <p:grpSpPr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cxnSp>
                <p:nvCxnSpPr>
                  <p:cNvPr id="427" name="Google Shape;427;p14"/>
                  <p:cNvCxnSpPr/>
                  <p:nvPr/>
                </p:nvCxnSpPr>
                <p:spPr>
                  <a:xfrm>
                    <a:off x="12315" y="13225"/>
                    <a:ext cx="1587" cy="513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28" name="Google Shape;428;p14"/>
                  <p:cNvCxnSpPr/>
                  <p:nvPr/>
                </p:nvCxnSpPr>
                <p:spPr>
                  <a:xfrm>
                    <a:off x="13915" y="13737"/>
                    <a:ext cx="1175" cy="401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dot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429" name="Google Shape;429;p14"/>
                <p:cNvCxnSpPr/>
                <p:nvPr/>
              </p:nvCxnSpPr>
              <p:spPr>
                <a:xfrm>
                  <a:off x="12815" y="21837"/>
                  <a:ext cx="687" cy="21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0" name="Google Shape;430;p14"/>
                <p:cNvCxnSpPr/>
                <p:nvPr/>
              </p:nvCxnSpPr>
              <p:spPr>
                <a:xfrm>
                  <a:off x="13515" y="22048"/>
                  <a:ext cx="1175" cy="40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dot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31" name="Google Shape;431;p14"/>
              <p:cNvGrpSpPr/>
              <p:nvPr/>
            </p:nvGrpSpPr>
            <p:grpSpPr>
              <a:xfrm>
                <a:off x="4469040" y="4319136"/>
                <a:ext cx="1466850" cy="606425"/>
                <a:chOff x="12502" y="21425"/>
                <a:chExt cx="3400" cy="1025"/>
              </a:xfrm>
            </p:grpSpPr>
            <p:cxnSp>
              <p:nvCxnSpPr>
                <p:cNvPr id="432" name="Google Shape;432;p14"/>
                <p:cNvCxnSpPr/>
                <p:nvPr/>
              </p:nvCxnSpPr>
              <p:spPr>
                <a:xfrm flipH="1">
                  <a:off x="12502" y="21425"/>
                  <a:ext cx="288" cy="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33" name="Google Shape;433;p14"/>
                <p:cNvSpPr/>
                <p:nvPr/>
              </p:nvSpPr>
              <p:spPr>
                <a:xfrm>
                  <a:off x="12827" y="21438"/>
                  <a:ext cx="3075" cy="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5" h="592" extrusionOk="0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grpSp>
              <p:nvGrpSpPr>
                <p:cNvPr id="434" name="Google Shape;434;p14"/>
                <p:cNvGrpSpPr/>
                <p:nvPr/>
              </p:nvGrpSpPr>
              <p:grpSpPr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cxnSp>
                <p:nvCxnSpPr>
                  <p:cNvPr id="435" name="Google Shape;435;p14"/>
                  <p:cNvCxnSpPr/>
                  <p:nvPr/>
                </p:nvCxnSpPr>
                <p:spPr>
                  <a:xfrm>
                    <a:off x="12315" y="13225"/>
                    <a:ext cx="1587" cy="513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36" name="Google Shape;436;p14"/>
                  <p:cNvCxnSpPr/>
                  <p:nvPr/>
                </p:nvCxnSpPr>
                <p:spPr>
                  <a:xfrm>
                    <a:off x="13915" y="13737"/>
                    <a:ext cx="1175" cy="401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dot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437" name="Google Shape;437;p14"/>
                <p:cNvCxnSpPr/>
                <p:nvPr/>
              </p:nvCxnSpPr>
              <p:spPr>
                <a:xfrm>
                  <a:off x="12815" y="21837"/>
                  <a:ext cx="687" cy="21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38" name="Google Shape;438;p14"/>
                <p:cNvCxnSpPr/>
                <p:nvPr/>
              </p:nvCxnSpPr>
              <p:spPr>
                <a:xfrm>
                  <a:off x="13515" y="22048"/>
                  <a:ext cx="1175" cy="40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dot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439" name="Google Shape;439;p14"/>
              <p:cNvGrpSpPr/>
              <p:nvPr/>
            </p:nvGrpSpPr>
            <p:grpSpPr>
              <a:xfrm>
                <a:off x="4480153" y="4569961"/>
                <a:ext cx="1466850" cy="606425"/>
                <a:chOff x="12502" y="21425"/>
                <a:chExt cx="3400" cy="1025"/>
              </a:xfrm>
            </p:grpSpPr>
            <p:cxnSp>
              <p:nvCxnSpPr>
                <p:cNvPr id="440" name="Google Shape;440;p14"/>
                <p:cNvCxnSpPr/>
                <p:nvPr/>
              </p:nvCxnSpPr>
              <p:spPr>
                <a:xfrm flipH="1">
                  <a:off x="12502" y="21425"/>
                  <a:ext cx="288" cy="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441" name="Google Shape;441;p14"/>
                <p:cNvSpPr/>
                <p:nvPr/>
              </p:nvSpPr>
              <p:spPr>
                <a:xfrm>
                  <a:off x="12827" y="21438"/>
                  <a:ext cx="3075" cy="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5" h="592" extrusionOk="0">
                      <a:moveTo>
                        <a:pt x="0" y="0"/>
                      </a:moveTo>
                      <a:lnTo>
                        <a:pt x="1845" y="592"/>
                      </a:lnTo>
                      <a:lnTo>
                        <a:pt x="1095" y="592"/>
                      </a:lnTo>
                      <a:lnTo>
                        <a:pt x="0" y="2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CCFF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dk1"/>
                    </a:buClr>
                    <a:buSzPts val="1600"/>
                    <a:buFont typeface="Calibri"/>
                    <a:buNone/>
                  </a:pPr>
                  <a:endParaRPr sz="16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endParaRPr>
                </a:p>
              </p:txBody>
            </p:sp>
            <p:grpSp>
              <p:nvGrpSpPr>
                <p:cNvPr id="442" name="Google Shape;442;p14"/>
                <p:cNvGrpSpPr/>
                <p:nvPr/>
              </p:nvGrpSpPr>
              <p:grpSpPr>
                <a:xfrm>
                  <a:off x="12815" y="21425"/>
                  <a:ext cx="2776" cy="913"/>
                  <a:chOff x="12315" y="13225"/>
                  <a:chExt cx="2775" cy="913"/>
                </a:xfrm>
              </p:grpSpPr>
              <p:cxnSp>
                <p:nvCxnSpPr>
                  <p:cNvPr id="443" name="Google Shape;443;p14"/>
                  <p:cNvCxnSpPr/>
                  <p:nvPr/>
                </p:nvCxnSpPr>
                <p:spPr>
                  <a:xfrm>
                    <a:off x="12315" y="13225"/>
                    <a:ext cx="1587" cy="513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</p:cxnSp>
              <p:cxnSp>
                <p:nvCxnSpPr>
                  <p:cNvPr id="444" name="Google Shape;444;p14"/>
                  <p:cNvCxnSpPr/>
                  <p:nvPr/>
                </p:nvCxnSpPr>
                <p:spPr>
                  <a:xfrm>
                    <a:off x="13915" y="13737"/>
                    <a:ext cx="1175" cy="401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dot"/>
                    <a:round/>
                    <a:headEnd type="none" w="med" len="med"/>
                    <a:tailEnd type="none" w="med" len="med"/>
                  </a:ln>
                </p:spPr>
              </p:cxnSp>
            </p:grpSp>
            <p:cxnSp>
              <p:nvCxnSpPr>
                <p:cNvPr id="445" name="Google Shape;445;p14"/>
                <p:cNvCxnSpPr/>
                <p:nvPr/>
              </p:nvCxnSpPr>
              <p:spPr>
                <a:xfrm>
                  <a:off x="12815" y="21837"/>
                  <a:ext cx="687" cy="213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446" name="Google Shape;446;p14"/>
                <p:cNvCxnSpPr/>
                <p:nvPr/>
              </p:nvCxnSpPr>
              <p:spPr>
                <a:xfrm>
                  <a:off x="13515" y="22048"/>
                  <a:ext cx="1175" cy="402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dot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447" name="Google Shape;447;p14"/>
              <p:cNvCxnSpPr/>
              <p:nvPr/>
            </p:nvCxnSpPr>
            <p:spPr>
              <a:xfrm rot="10800000" flipH="1">
                <a:off x="4630965" y="3646036"/>
                <a:ext cx="2065338" cy="931863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48" name="Google Shape;448;p14"/>
            <p:cNvGrpSpPr/>
            <p:nvPr/>
          </p:nvGrpSpPr>
          <p:grpSpPr>
            <a:xfrm>
              <a:off x="1782990" y="1417186"/>
              <a:ext cx="8797925" cy="2974975"/>
              <a:chOff x="1782990" y="1417186"/>
              <a:chExt cx="8797925" cy="2974975"/>
            </a:xfrm>
          </p:grpSpPr>
          <p:cxnSp>
            <p:nvCxnSpPr>
              <p:cNvPr id="449" name="Google Shape;449;p14"/>
              <p:cNvCxnSpPr/>
              <p:nvPr/>
            </p:nvCxnSpPr>
            <p:spPr>
              <a:xfrm>
                <a:off x="4608740" y="1966461"/>
                <a:ext cx="2082800" cy="931863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0" name="Google Shape;450;p14"/>
              <p:cNvSpPr txBox="1"/>
              <p:nvPr/>
            </p:nvSpPr>
            <p:spPr>
              <a:xfrm>
                <a:off x="4138840" y="1417186"/>
                <a:ext cx="1042988" cy="355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sender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451" name="Google Shape;451;p14"/>
              <p:cNvSpPr txBox="1"/>
              <p:nvPr/>
            </p:nvSpPr>
            <p:spPr>
              <a:xfrm>
                <a:off x="6167665" y="1417186"/>
                <a:ext cx="1108075" cy="3556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receiver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cxnSp>
            <p:nvCxnSpPr>
              <p:cNvPr id="452" name="Google Shape;452;p14"/>
              <p:cNvCxnSpPr/>
              <p:nvPr/>
            </p:nvCxnSpPr>
            <p:spPr>
              <a:xfrm>
                <a:off x="4619853" y="1961699"/>
                <a:ext cx="2049462" cy="3175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3" name="Google Shape;453;p14"/>
              <p:cNvCxnSpPr/>
              <p:nvPr/>
            </p:nvCxnSpPr>
            <p:spPr>
              <a:xfrm>
                <a:off x="4626203" y="4093711"/>
                <a:ext cx="2049462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dash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4" name="Google Shape;454;p14"/>
              <p:cNvSpPr/>
              <p:nvPr/>
            </p:nvSpPr>
            <p:spPr>
              <a:xfrm>
                <a:off x="4603978" y="1958524"/>
                <a:ext cx="2087562" cy="1169987"/>
              </a:xfrm>
              <a:custGeom>
                <a:avLst/>
                <a:gdLst/>
                <a:ahLst/>
                <a:cxnLst/>
                <a:rect l="l" t="t" r="r" b="b"/>
                <a:pathLst>
                  <a:path w="2902" h="1185" extrusionOk="0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cxnSp>
            <p:nvCxnSpPr>
              <p:cNvPr id="455" name="Google Shape;455;p14"/>
              <p:cNvCxnSpPr/>
              <p:nvPr/>
            </p:nvCxnSpPr>
            <p:spPr>
              <a:xfrm flipH="1">
                <a:off x="4469040" y="1958524"/>
                <a:ext cx="123825" cy="3175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4"/>
              <p:cNvCxnSpPr/>
              <p:nvPr/>
            </p:nvCxnSpPr>
            <p:spPr>
              <a:xfrm rot="10800000">
                <a:off x="4469040" y="2202999"/>
                <a:ext cx="123825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57" name="Google Shape;457;p14"/>
              <p:cNvSpPr txBox="1"/>
              <p:nvPr/>
            </p:nvSpPr>
            <p:spPr>
              <a:xfrm>
                <a:off x="3687990" y="2942774"/>
                <a:ext cx="965200" cy="3397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RTT 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cxnSp>
            <p:nvCxnSpPr>
              <p:cNvPr id="458" name="Google Shape;458;p14"/>
              <p:cNvCxnSpPr/>
              <p:nvPr/>
            </p:nvCxnSpPr>
            <p:spPr>
              <a:xfrm>
                <a:off x="4502378" y="3253924"/>
                <a:ext cx="9525" cy="820737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459" name="Google Shape;459;p14"/>
              <p:cNvCxnSpPr/>
              <p:nvPr/>
            </p:nvCxnSpPr>
            <p:spPr>
              <a:xfrm rot="10800000" flipH="1">
                <a:off x="4507140" y="2225224"/>
                <a:ext cx="1588" cy="776287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460" name="Google Shape;460;p14"/>
              <p:cNvSpPr txBox="1"/>
              <p:nvPr/>
            </p:nvSpPr>
            <p:spPr>
              <a:xfrm>
                <a:off x="1782990" y="2041074"/>
                <a:ext cx="2740025" cy="3540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last bit transmitted, t = L / R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cxnSp>
            <p:nvCxnSpPr>
              <p:cNvPr id="461" name="Google Shape;461;p14"/>
              <p:cNvCxnSpPr/>
              <p:nvPr/>
            </p:nvCxnSpPr>
            <p:spPr>
              <a:xfrm rot="10800000">
                <a:off x="6669315" y="2884036"/>
                <a:ext cx="125413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2" name="Google Shape;462;p14"/>
              <p:cNvSpPr txBox="1"/>
              <p:nvPr/>
            </p:nvSpPr>
            <p:spPr>
              <a:xfrm>
                <a:off x="6745515" y="2706236"/>
                <a:ext cx="2641600" cy="355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first packet bit arrives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cxnSp>
            <p:nvCxnSpPr>
              <p:cNvPr id="463" name="Google Shape;463;p14"/>
              <p:cNvCxnSpPr/>
              <p:nvPr/>
            </p:nvCxnSpPr>
            <p:spPr>
              <a:xfrm>
                <a:off x="6691540" y="3134861"/>
                <a:ext cx="119063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64" name="Google Shape;464;p14"/>
              <p:cNvSpPr txBox="1"/>
              <p:nvPr/>
            </p:nvSpPr>
            <p:spPr>
              <a:xfrm>
                <a:off x="6750278" y="2958649"/>
                <a:ext cx="3581400" cy="384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last packet bit arrives, send ACK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465" name="Google Shape;465;p14"/>
              <p:cNvSpPr txBox="1"/>
              <p:nvPr/>
            </p:nvSpPr>
            <p:spPr>
              <a:xfrm>
                <a:off x="1930628" y="3750811"/>
                <a:ext cx="2635250" cy="6413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ACK arrives, send next </a:t>
                </a:r>
                <a:endParaRPr lang="en-US" sz="1600" b="0" i="0" u="none" strike="noStrike" cap="none">
                  <a:solidFill>
                    <a:srgbClr val="00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  <a:p>
                <a:pPr marL="0" marR="0" lvl="0" indent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packet, t = RTT + L / R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sp>
            <p:nvSpPr>
              <p:cNvPr id="466" name="Google Shape;466;p14"/>
              <p:cNvSpPr/>
              <p:nvPr/>
            </p:nvSpPr>
            <p:spPr>
              <a:xfrm>
                <a:off x="4608740" y="2210936"/>
                <a:ext cx="2087563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2902" h="1185" extrusionOk="0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467" name="Google Shape;467;p14"/>
              <p:cNvSpPr/>
              <p:nvPr/>
            </p:nvSpPr>
            <p:spPr>
              <a:xfrm>
                <a:off x="4608740" y="2461761"/>
                <a:ext cx="2087563" cy="1168400"/>
              </a:xfrm>
              <a:custGeom>
                <a:avLst/>
                <a:gdLst/>
                <a:ahLst/>
                <a:cxnLst/>
                <a:rect l="l" t="t" r="r" b="b"/>
                <a:pathLst>
                  <a:path w="2902" h="1185" extrusionOk="0">
                    <a:moveTo>
                      <a:pt x="0" y="0"/>
                    </a:moveTo>
                    <a:lnTo>
                      <a:pt x="2895" y="937"/>
                    </a:lnTo>
                    <a:lnTo>
                      <a:pt x="2902" y="1185"/>
                    </a:lnTo>
                    <a:lnTo>
                      <a:pt x="0" y="2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Calibri"/>
                  <a:buNone/>
                </a:pPr>
                <a:endParaRPr sz="16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cxnSp>
            <p:nvCxnSpPr>
              <p:cNvPr id="468" name="Google Shape;468;p14"/>
              <p:cNvCxnSpPr/>
              <p:nvPr/>
            </p:nvCxnSpPr>
            <p:spPr>
              <a:xfrm rot="10800000" flipH="1">
                <a:off x="4626203" y="3142799"/>
                <a:ext cx="2065337" cy="931862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69" name="Google Shape;469;p14"/>
              <p:cNvCxnSpPr/>
              <p:nvPr/>
            </p:nvCxnSpPr>
            <p:spPr>
              <a:xfrm rot="10800000" flipH="1">
                <a:off x="4626203" y="3393624"/>
                <a:ext cx="2065337" cy="931862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0" name="Google Shape;470;p14"/>
              <p:cNvSpPr txBox="1"/>
              <p:nvPr/>
            </p:nvSpPr>
            <p:spPr>
              <a:xfrm>
                <a:off x="6747103" y="3212649"/>
                <a:ext cx="3833812" cy="384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last bit of 2</a:t>
                </a:r>
                <a:r>
                  <a:rPr lang="en-US" sz="1600" b="0" i="0" u="none" strike="noStrike" cap="none" baseline="30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nd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 packet arrives, send ACK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  <p:cxnSp>
            <p:nvCxnSpPr>
              <p:cNvPr id="471" name="Google Shape;471;p14"/>
              <p:cNvCxnSpPr/>
              <p:nvPr/>
            </p:nvCxnSpPr>
            <p:spPr>
              <a:xfrm>
                <a:off x="6691540" y="3371399"/>
                <a:ext cx="112713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2" name="Google Shape;472;p14"/>
              <p:cNvCxnSpPr/>
              <p:nvPr/>
            </p:nvCxnSpPr>
            <p:spPr>
              <a:xfrm>
                <a:off x="6702653" y="3623811"/>
                <a:ext cx="112712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73" name="Google Shape;473;p14"/>
              <p:cNvSpPr txBox="1"/>
              <p:nvPr/>
            </p:nvSpPr>
            <p:spPr>
              <a:xfrm>
                <a:off x="6742340" y="3446011"/>
                <a:ext cx="3838575" cy="384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last bit of 3</a:t>
                </a:r>
                <a:r>
                  <a:rPr lang="en-US" sz="1600" b="0" i="0" u="none" strike="noStrike" cap="none" baseline="30000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rd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 packet arrives, send ACK</a:t>
                </a:r>
                <a:endParaRPr sz="1600" b="0" i="0" u="none" strike="noStrike" cap="none">
                  <a:solidFill>
                    <a:srgbClr val="000000"/>
                  </a:solidFill>
                  <a:latin typeface="Times New Roman" panose="02020503050405090304"/>
                  <a:ea typeface="Times New Roman" panose="02020503050405090304"/>
                  <a:cs typeface="Times New Roman" panose="02020503050405090304"/>
                  <a:sym typeface="Times New Roman" panose="02020503050405090304"/>
                </a:endParaRPr>
              </a:p>
            </p:txBody>
          </p:sp>
        </p:grpSp>
      </p:grpSp>
      <p:grpSp>
        <p:nvGrpSpPr>
          <p:cNvPr id="474" name="Google Shape;474;p14"/>
          <p:cNvGrpSpPr/>
          <p:nvPr/>
        </p:nvGrpSpPr>
        <p:grpSpPr>
          <a:xfrm>
            <a:off x="6955065" y="4341361"/>
            <a:ext cx="3460750" cy="1145039"/>
            <a:chOff x="6955065" y="4341361"/>
            <a:chExt cx="3460750" cy="1145039"/>
          </a:xfrm>
        </p:grpSpPr>
        <p:sp>
          <p:nvSpPr>
            <p:cNvPr id="475" name="Google Shape;475;p14"/>
            <p:cNvSpPr txBox="1"/>
            <p:nvPr/>
          </p:nvSpPr>
          <p:spPr>
            <a:xfrm>
              <a:off x="6955065" y="4341361"/>
              <a:ext cx="3460750" cy="7016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3-packet pipelining increases</a:t>
              </a:r>
              <a:endParaRPr lang="en-US" sz="20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0000"/>
                </a:buClr>
                <a:buSzPts val="2000"/>
                <a:buFont typeface="Arial" panose="020B0604020202090204"/>
                <a:buNone/>
              </a:pPr>
              <a:r>
                <a:rPr lang="en-US" sz="2000" b="0" i="0" u="none" strike="noStrike" cap="none">
                  <a:solidFill>
                    <a:srgbClr val="CC0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 utilization by a factor of 3!</a:t>
              </a:r>
              <a:endParaRPr lang="en-US" sz="2000" b="0" i="0" u="none" strike="noStrike" cap="none">
                <a:solidFill>
                  <a:srgbClr val="CC0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cxnSp>
          <p:nvCxnSpPr>
            <p:cNvPr id="476" name="Google Shape;476;p14"/>
            <p:cNvCxnSpPr/>
            <p:nvPr/>
          </p:nvCxnSpPr>
          <p:spPr>
            <a:xfrm>
              <a:off x="7948840" y="5009699"/>
              <a:ext cx="1360" cy="476701"/>
            </a:xfrm>
            <a:prstGeom prst="straightConnector1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aphicFrame>
        <p:nvGraphicFramePr>
          <p:cNvPr id="477" name="Google Shape;477;p14"/>
          <p:cNvGraphicFramePr/>
          <p:nvPr/>
        </p:nvGraphicFramePr>
        <p:xfrm>
          <a:off x="2992665" y="5276399"/>
          <a:ext cx="6748463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" name="" r:id="rId1" imgW="23812500" imgH="3295650" progId="Word.Picture.8">
                  <p:embed/>
                </p:oleObj>
              </mc:Choice>
              <mc:Fallback>
                <p:oleObj name="" r:id="rId1" imgW="23812500" imgH="3295650" progId="Word.Picture.8">
                  <p:embed/>
                  <p:pic>
                    <p:nvPicPr>
                      <p:cNvPr id="0" name="Google Shape;477;p14"/>
                      <p:cNvPicPr preferRelativeResize="0"/>
                      <p:nvPr/>
                    </p:nvPicPr>
                    <p:blipFill rotWithShape="1">
                      <a:blip r:embed="rId2"/>
                      <a:srcRect/>
                      <a:stretch>
                        <a:fillRect/>
                      </a:stretch>
                    </p:blipFill>
                    <p:spPr>
                      <a:xfrm>
                        <a:off x="2992665" y="5276399"/>
                        <a:ext cx="6748463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8" name="Google Shape;478;p14"/>
          <p:cNvSpPr txBox="1"/>
          <p:nvPr>
            <p:ph type="sldNum" idx="4294967295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bceda9d883_0_11"/>
          <p:cNvSpPr txBox="1"/>
          <p:nvPr>
            <p:ph type="title"/>
          </p:nvPr>
        </p:nvSpPr>
        <p:spPr>
          <a:xfrm>
            <a:off x="798690" y="289325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Reliable data transfer (RDT) in ACTION</a:t>
            </a:r>
            <a:endParaRPr sz="4400"/>
          </a:p>
        </p:txBody>
      </p:sp>
      <p:sp>
        <p:nvSpPr>
          <p:cNvPr id="485" name="Google Shape;485;g3bceda9d883_0_11"/>
          <p:cNvSpPr txBox="1"/>
          <p:nvPr/>
        </p:nvSpPr>
        <p:spPr>
          <a:xfrm>
            <a:off x="1363148" y="1512487"/>
            <a:ext cx="93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0099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sender</a:t>
            </a:r>
            <a:endParaRPr lang="en-US" sz="2000" b="0" i="1" u="sng" strike="noStrike" cap="none">
              <a:solidFill>
                <a:srgbClr val="000099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86" name="Google Shape;486;g3bceda9d883_0_11"/>
          <p:cNvSpPr txBox="1"/>
          <p:nvPr/>
        </p:nvSpPr>
        <p:spPr>
          <a:xfrm>
            <a:off x="3803136" y="1507725"/>
            <a:ext cx="10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8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receiver</a:t>
            </a:r>
            <a:endParaRPr lang="en-US" sz="2000" b="0" i="1" u="sng" strike="noStrike" cap="none">
              <a:solidFill>
                <a:srgbClr val="008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87" name="Google Shape;487;g3bceda9d883_0_11"/>
          <p:cNvSpPr txBox="1"/>
          <p:nvPr/>
        </p:nvSpPr>
        <p:spPr>
          <a:xfrm>
            <a:off x="3806311" y="3131737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88" name="Google Shape;488;g3bceda9d883_0_11"/>
          <p:cNvSpPr txBox="1"/>
          <p:nvPr/>
        </p:nvSpPr>
        <p:spPr>
          <a:xfrm>
            <a:off x="3812661" y="3987400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89" name="Google Shape;489;g3bceda9d883_0_11"/>
          <p:cNvSpPr txBox="1"/>
          <p:nvPr/>
        </p:nvSpPr>
        <p:spPr>
          <a:xfrm>
            <a:off x="3809486" y="2445937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0" name="Google Shape;490;g3bceda9d883_0_11"/>
          <p:cNvSpPr txBox="1"/>
          <p:nvPr/>
        </p:nvSpPr>
        <p:spPr>
          <a:xfrm>
            <a:off x="3806311" y="3357162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1" name="Google Shape;491;g3bceda9d883_0_11"/>
          <p:cNvSpPr txBox="1"/>
          <p:nvPr/>
        </p:nvSpPr>
        <p:spPr>
          <a:xfrm>
            <a:off x="3806311" y="4182662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2" name="Google Shape;492;g3bceda9d883_0_11"/>
          <p:cNvSpPr txBox="1"/>
          <p:nvPr/>
        </p:nvSpPr>
        <p:spPr>
          <a:xfrm>
            <a:off x="1291711" y="2695175"/>
            <a:ext cx="102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3" name="Google Shape;493;g3bceda9d883_0_11"/>
          <p:cNvSpPr txBox="1"/>
          <p:nvPr/>
        </p:nvSpPr>
        <p:spPr>
          <a:xfrm>
            <a:off x="1136136" y="3788962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4" name="Google Shape;494;g3bceda9d883_0_11"/>
          <p:cNvSpPr txBox="1"/>
          <p:nvPr/>
        </p:nvSpPr>
        <p:spPr>
          <a:xfrm>
            <a:off x="1136136" y="2914250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5" name="Google Shape;495;g3bceda9d883_0_11"/>
          <p:cNvSpPr txBox="1"/>
          <p:nvPr/>
        </p:nvSpPr>
        <p:spPr>
          <a:xfrm>
            <a:off x="1280598" y="3549250"/>
            <a:ext cx="102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6" name="Google Shape;496;g3bceda9d883_0_11"/>
          <p:cNvSpPr txBox="1"/>
          <p:nvPr/>
        </p:nvSpPr>
        <p:spPr>
          <a:xfrm>
            <a:off x="1125023" y="1952225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497" name="Google Shape;497;g3bceda9d883_0_11"/>
          <p:cNvSpPr txBox="1"/>
          <p:nvPr/>
        </p:nvSpPr>
        <p:spPr>
          <a:xfrm>
            <a:off x="3801548" y="2234800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498" name="Google Shape;498;g3bceda9d883_0_11"/>
          <p:cNvGrpSpPr/>
          <p:nvPr/>
        </p:nvGrpSpPr>
        <p:grpSpPr>
          <a:xfrm>
            <a:off x="2341048" y="2022075"/>
            <a:ext cx="1428750" cy="631824"/>
            <a:chOff x="850" y="1159"/>
            <a:chExt cx="900" cy="398"/>
          </a:xfrm>
        </p:grpSpPr>
        <p:cxnSp>
          <p:nvCxnSpPr>
            <p:cNvPr id="499" name="Google Shape;499;g3bceda9d883_0_11"/>
            <p:cNvCxnSpPr/>
            <p:nvPr/>
          </p:nvCxnSpPr>
          <p:spPr>
            <a:xfrm>
              <a:off x="850" y="1257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0" name="Google Shape;500;g3bceda9d883_0_11"/>
            <p:cNvSpPr txBox="1"/>
            <p:nvPr/>
          </p:nvSpPr>
          <p:spPr>
            <a:xfrm>
              <a:off x="1100" y="115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pkt0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01" name="Google Shape;501;g3bceda9d883_0_11"/>
          <p:cNvGrpSpPr/>
          <p:nvPr/>
        </p:nvGrpSpPr>
        <p:grpSpPr>
          <a:xfrm>
            <a:off x="2334698" y="3758800"/>
            <a:ext cx="1428750" cy="606424"/>
            <a:chOff x="846" y="2253"/>
            <a:chExt cx="900" cy="382"/>
          </a:xfrm>
        </p:grpSpPr>
        <p:cxnSp>
          <p:nvCxnSpPr>
            <p:cNvPr id="502" name="Google Shape;502;g3bceda9d883_0_11"/>
            <p:cNvCxnSpPr/>
            <p:nvPr/>
          </p:nvCxnSpPr>
          <p:spPr>
            <a:xfrm>
              <a:off x="846" y="2335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3" name="Google Shape;503;g3bceda9d883_0_11"/>
            <p:cNvSpPr txBox="1"/>
            <p:nvPr/>
          </p:nvSpPr>
          <p:spPr>
            <a:xfrm>
              <a:off x="1097" y="225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pkt0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04" name="Google Shape;504;g3bceda9d883_0_11"/>
          <p:cNvGrpSpPr/>
          <p:nvPr/>
        </p:nvGrpSpPr>
        <p:grpSpPr>
          <a:xfrm>
            <a:off x="2348986" y="2896787"/>
            <a:ext cx="1428750" cy="623888"/>
            <a:chOff x="855" y="1710"/>
            <a:chExt cx="900" cy="393"/>
          </a:xfrm>
        </p:grpSpPr>
        <p:cxnSp>
          <p:nvCxnSpPr>
            <p:cNvPr id="505" name="Google Shape;505;g3bceda9d883_0_11"/>
            <p:cNvCxnSpPr/>
            <p:nvPr/>
          </p:nvCxnSpPr>
          <p:spPr>
            <a:xfrm>
              <a:off x="855" y="1803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6" name="Google Shape;506;g3bceda9d883_0_11"/>
            <p:cNvSpPr txBox="1"/>
            <p:nvPr/>
          </p:nvSpPr>
          <p:spPr>
            <a:xfrm>
              <a:off x="1094" y="171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07" name="Google Shape;507;g3bceda9d883_0_11"/>
          <p:cNvGrpSpPr/>
          <p:nvPr/>
        </p:nvGrpSpPr>
        <p:grpSpPr>
          <a:xfrm>
            <a:off x="2377560" y="3361925"/>
            <a:ext cx="1428750" cy="590549"/>
            <a:chOff x="873" y="2003"/>
            <a:chExt cx="900" cy="372"/>
          </a:xfrm>
        </p:grpSpPr>
        <p:cxnSp>
          <p:nvCxnSpPr>
            <p:cNvPr id="508" name="Google Shape;508;g3bceda9d883_0_11"/>
            <p:cNvCxnSpPr/>
            <p:nvPr/>
          </p:nvCxnSpPr>
          <p:spPr>
            <a:xfrm flipH="1">
              <a:off x="873" y="2075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09" name="Google Shape;509;g3bceda9d883_0_11"/>
            <p:cNvSpPr txBox="1"/>
            <p:nvPr/>
          </p:nvSpPr>
          <p:spPr>
            <a:xfrm>
              <a:off x="1092" y="200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ack1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10" name="Google Shape;510;g3bceda9d883_0_11"/>
          <p:cNvGrpSpPr/>
          <p:nvPr/>
        </p:nvGrpSpPr>
        <p:grpSpPr>
          <a:xfrm>
            <a:off x="2369624" y="2522137"/>
            <a:ext cx="1428750" cy="574676"/>
            <a:chOff x="868" y="1474"/>
            <a:chExt cx="900" cy="362"/>
          </a:xfrm>
        </p:grpSpPr>
        <p:cxnSp>
          <p:nvCxnSpPr>
            <p:cNvPr id="511" name="Google Shape;511;g3bceda9d883_0_11"/>
            <p:cNvCxnSpPr/>
            <p:nvPr/>
          </p:nvCxnSpPr>
          <p:spPr>
            <a:xfrm flipH="1">
              <a:off x="868" y="1536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2" name="Google Shape;512;g3bceda9d883_0_11"/>
            <p:cNvSpPr txBox="1"/>
            <p:nvPr/>
          </p:nvSpPr>
          <p:spPr>
            <a:xfrm>
              <a:off x="1089" y="147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13" name="Google Shape;513;g3bceda9d883_0_11"/>
          <p:cNvGrpSpPr/>
          <p:nvPr/>
        </p:nvGrpSpPr>
        <p:grpSpPr>
          <a:xfrm>
            <a:off x="2363274" y="4214412"/>
            <a:ext cx="1428750" cy="581026"/>
            <a:chOff x="864" y="2540"/>
            <a:chExt cx="900" cy="366"/>
          </a:xfrm>
        </p:grpSpPr>
        <p:cxnSp>
          <p:nvCxnSpPr>
            <p:cNvPr id="514" name="Google Shape;514;g3bceda9d883_0_11"/>
            <p:cNvCxnSpPr/>
            <p:nvPr/>
          </p:nvCxnSpPr>
          <p:spPr>
            <a:xfrm flipH="1">
              <a:off x="864" y="2606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15" name="Google Shape;515;g3bceda9d883_0_11"/>
            <p:cNvSpPr txBox="1"/>
            <p:nvPr/>
          </p:nvSpPr>
          <p:spPr>
            <a:xfrm>
              <a:off x="1086" y="25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516" name="Google Shape;516;g3bceda9d883_0_11"/>
          <p:cNvSpPr txBox="1"/>
          <p:nvPr/>
        </p:nvSpPr>
        <p:spPr>
          <a:xfrm>
            <a:off x="2628386" y="5293912"/>
            <a:ext cx="1252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(a) no loss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17" name="Google Shape;517;g3bceda9d883_0_11"/>
          <p:cNvSpPr txBox="1"/>
          <p:nvPr/>
        </p:nvSpPr>
        <p:spPr>
          <a:xfrm>
            <a:off x="7079959" y="1461687"/>
            <a:ext cx="93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0099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sender</a:t>
            </a:r>
            <a:endParaRPr lang="en-US" sz="2000" b="0" i="1" u="sng" strike="noStrike" cap="none">
              <a:solidFill>
                <a:srgbClr val="000099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18" name="Google Shape;518;g3bceda9d883_0_11"/>
          <p:cNvSpPr txBox="1"/>
          <p:nvPr/>
        </p:nvSpPr>
        <p:spPr>
          <a:xfrm>
            <a:off x="9519946" y="1456925"/>
            <a:ext cx="10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8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receiver</a:t>
            </a:r>
            <a:endParaRPr lang="en-US" sz="2000" b="0" i="1" u="sng" strike="noStrike" cap="none">
              <a:solidFill>
                <a:srgbClr val="008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19" name="Google Shape;519;g3bceda9d883_0_11"/>
          <p:cNvSpPr txBox="1"/>
          <p:nvPr/>
        </p:nvSpPr>
        <p:spPr>
          <a:xfrm>
            <a:off x="9521534" y="4373162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0" name="Google Shape;520;g3bceda9d883_0_11"/>
          <p:cNvSpPr txBox="1"/>
          <p:nvPr/>
        </p:nvSpPr>
        <p:spPr>
          <a:xfrm>
            <a:off x="9529471" y="5214537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1" name="Google Shape;521;g3bceda9d883_0_11"/>
          <p:cNvSpPr txBox="1"/>
          <p:nvPr/>
        </p:nvSpPr>
        <p:spPr>
          <a:xfrm>
            <a:off x="9526296" y="2395137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2" name="Google Shape;522;g3bceda9d883_0_11"/>
          <p:cNvSpPr txBox="1"/>
          <p:nvPr/>
        </p:nvSpPr>
        <p:spPr>
          <a:xfrm>
            <a:off x="9523121" y="4584300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3" name="Google Shape;523;g3bceda9d883_0_11"/>
          <p:cNvSpPr txBox="1"/>
          <p:nvPr/>
        </p:nvSpPr>
        <p:spPr>
          <a:xfrm>
            <a:off x="9523121" y="5409800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4" name="Google Shape;524;g3bceda9d883_0_11"/>
          <p:cNvSpPr txBox="1"/>
          <p:nvPr/>
        </p:nvSpPr>
        <p:spPr>
          <a:xfrm>
            <a:off x="7008521" y="2644375"/>
            <a:ext cx="102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5" name="Google Shape;525;g3bceda9d883_0_11"/>
          <p:cNvSpPr txBox="1"/>
          <p:nvPr/>
        </p:nvSpPr>
        <p:spPr>
          <a:xfrm>
            <a:off x="6852946" y="5016100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6" name="Google Shape;526;g3bceda9d883_0_11"/>
          <p:cNvSpPr txBox="1"/>
          <p:nvPr/>
        </p:nvSpPr>
        <p:spPr>
          <a:xfrm>
            <a:off x="6852946" y="2863450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7" name="Google Shape;527;g3bceda9d883_0_11"/>
          <p:cNvSpPr txBox="1"/>
          <p:nvPr/>
        </p:nvSpPr>
        <p:spPr>
          <a:xfrm>
            <a:off x="6997409" y="4776387"/>
            <a:ext cx="102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8" name="Google Shape;528;g3bceda9d883_0_11"/>
          <p:cNvSpPr txBox="1"/>
          <p:nvPr/>
        </p:nvSpPr>
        <p:spPr>
          <a:xfrm>
            <a:off x="6841834" y="1901425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29" name="Google Shape;529;g3bceda9d883_0_11"/>
          <p:cNvSpPr txBox="1"/>
          <p:nvPr/>
        </p:nvSpPr>
        <p:spPr>
          <a:xfrm>
            <a:off x="9518359" y="2184000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530" name="Google Shape;530;g3bceda9d883_0_11"/>
          <p:cNvGrpSpPr/>
          <p:nvPr/>
        </p:nvGrpSpPr>
        <p:grpSpPr>
          <a:xfrm>
            <a:off x="8057859" y="1971275"/>
            <a:ext cx="1428750" cy="631824"/>
            <a:chOff x="850" y="1159"/>
            <a:chExt cx="900" cy="398"/>
          </a:xfrm>
        </p:grpSpPr>
        <p:cxnSp>
          <p:nvCxnSpPr>
            <p:cNvPr id="531" name="Google Shape;531;g3bceda9d883_0_11"/>
            <p:cNvCxnSpPr/>
            <p:nvPr/>
          </p:nvCxnSpPr>
          <p:spPr>
            <a:xfrm>
              <a:off x="850" y="1257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2" name="Google Shape;532;g3bceda9d883_0_11"/>
            <p:cNvSpPr txBox="1"/>
            <p:nvPr/>
          </p:nvSpPr>
          <p:spPr>
            <a:xfrm>
              <a:off x="1100" y="115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pkt0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33" name="Google Shape;533;g3bceda9d883_0_11"/>
          <p:cNvGrpSpPr/>
          <p:nvPr/>
        </p:nvGrpSpPr>
        <p:grpSpPr>
          <a:xfrm>
            <a:off x="8051509" y="4985937"/>
            <a:ext cx="1428750" cy="606426"/>
            <a:chOff x="846" y="2253"/>
            <a:chExt cx="900" cy="382"/>
          </a:xfrm>
        </p:grpSpPr>
        <p:cxnSp>
          <p:nvCxnSpPr>
            <p:cNvPr id="534" name="Google Shape;534;g3bceda9d883_0_11"/>
            <p:cNvCxnSpPr/>
            <p:nvPr/>
          </p:nvCxnSpPr>
          <p:spPr>
            <a:xfrm>
              <a:off x="846" y="2335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5" name="Google Shape;535;g3bceda9d883_0_11"/>
            <p:cNvSpPr txBox="1"/>
            <p:nvPr/>
          </p:nvSpPr>
          <p:spPr>
            <a:xfrm>
              <a:off x="1097" y="225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pkt0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36" name="Google Shape;536;g3bceda9d883_0_11"/>
          <p:cNvGrpSpPr/>
          <p:nvPr/>
        </p:nvGrpSpPr>
        <p:grpSpPr>
          <a:xfrm>
            <a:off x="8094372" y="4589062"/>
            <a:ext cx="1428750" cy="590551"/>
            <a:chOff x="873" y="2003"/>
            <a:chExt cx="900" cy="372"/>
          </a:xfrm>
        </p:grpSpPr>
        <p:cxnSp>
          <p:nvCxnSpPr>
            <p:cNvPr id="537" name="Google Shape;537;g3bceda9d883_0_11"/>
            <p:cNvCxnSpPr/>
            <p:nvPr/>
          </p:nvCxnSpPr>
          <p:spPr>
            <a:xfrm flipH="1">
              <a:off x="873" y="2075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38" name="Google Shape;538;g3bceda9d883_0_11"/>
            <p:cNvSpPr txBox="1"/>
            <p:nvPr/>
          </p:nvSpPr>
          <p:spPr>
            <a:xfrm>
              <a:off x="1092" y="200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ack1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39" name="Google Shape;539;g3bceda9d883_0_11"/>
          <p:cNvGrpSpPr/>
          <p:nvPr/>
        </p:nvGrpSpPr>
        <p:grpSpPr>
          <a:xfrm>
            <a:off x="8086433" y="2471337"/>
            <a:ext cx="1428750" cy="574676"/>
            <a:chOff x="868" y="1474"/>
            <a:chExt cx="900" cy="362"/>
          </a:xfrm>
        </p:grpSpPr>
        <p:cxnSp>
          <p:nvCxnSpPr>
            <p:cNvPr id="540" name="Google Shape;540;g3bceda9d883_0_11"/>
            <p:cNvCxnSpPr/>
            <p:nvPr/>
          </p:nvCxnSpPr>
          <p:spPr>
            <a:xfrm flipH="1">
              <a:off x="868" y="1536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1" name="Google Shape;541;g3bceda9d883_0_11"/>
            <p:cNvSpPr txBox="1"/>
            <p:nvPr/>
          </p:nvSpPr>
          <p:spPr>
            <a:xfrm>
              <a:off x="1089" y="147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42" name="Google Shape;542;g3bceda9d883_0_11"/>
          <p:cNvGrpSpPr/>
          <p:nvPr/>
        </p:nvGrpSpPr>
        <p:grpSpPr>
          <a:xfrm>
            <a:off x="8080083" y="5436787"/>
            <a:ext cx="1428750" cy="585788"/>
            <a:chOff x="864" y="2537"/>
            <a:chExt cx="900" cy="369"/>
          </a:xfrm>
        </p:grpSpPr>
        <p:cxnSp>
          <p:nvCxnSpPr>
            <p:cNvPr id="543" name="Google Shape;543;g3bceda9d883_0_11"/>
            <p:cNvCxnSpPr/>
            <p:nvPr/>
          </p:nvCxnSpPr>
          <p:spPr>
            <a:xfrm flipH="1">
              <a:off x="864" y="2606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4" name="Google Shape;544;g3bceda9d883_0_11"/>
            <p:cNvSpPr txBox="1"/>
            <p:nvPr/>
          </p:nvSpPr>
          <p:spPr>
            <a:xfrm>
              <a:off x="1091" y="253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Tahoma" panose="020B060403050404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sp>
        <p:nvSpPr>
          <p:cNvPr id="545" name="Google Shape;545;g3bceda9d883_0_11"/>
          <p:cNvSpPr txBox="1"/>
          <p:nvPr/>
        </p:nvSpPr>
        <p:spPr>
          <a:xfrm>
            <a:off x="8130884" y="6207345"/>
            <a:ext cx="167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(b) packet loss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546" name="Google Shape;546;g3bceda9d883_0_11"/>
          <p:cNvGrpSpPr/>
          <p:nvPr/>
        </p:nvGrpSpPr>
        <p:grpSpPr>
          <a:xfrm>
            <a:off x="8065796" y="2845987"/>
            <a:ext cx="1204913" cy="877888"/>
            <a:chOff x="3726" y="1687"/>
            <a:chExt cx="759" cy="553"/>
          </a:xfrm>
        </p:grpSpPr>
        <p:cxnSp>
          <p:nvCxnSpPr>
            <p:cNvPr id="547" name="Google Shape;547;g3bceda9d883_0_11"/>
            <p:cNvCxnSpPr/>
            <p:nvPr/>
          </p:nvCxnSpPr>
          <p:spPr>
            <a:xfrm>
              <a:off x="3726" y="1780"/>
              <a:ext cx="600" cy="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48" name="Google Shape;548;g3bceda9d883_0_11"/>
            <p:cNvSpPr txBox="1"/>
            <p:nvPr/>
          </p:nvSpPr>
          <p:spPr>
            <a:xfrm>
              <a:off x="3965" y="1687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549" name="Google Shape;549;g3bceda9d883_0_11"/>
            <p:cNvSpPr txBox="1"/>
            <p:nvPr/>
          </p:nvSpPr>
          <p:spPr>
            <a:xfrm>
              <a:off x="4185" y="1808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Tahoma" panose="020B0604030504040204"/>
                <a:buNone/>
              </a:pPr>
              <a:r>
                <a:rPr lang="en-US" sz="1800" b="1" i="0" u="none" strike="noStrike" cap="none">
                  <a:solidFill>
                    <a:srgbClr val="FF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X</a:t>
              </a:r>
              <a:endParaRPr lang="en-US" sz="1800" b="1" i="0" u="none" strike="noStrike" cap="none">
                <a:solidFill>
                  <a:srgbClr val="FF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550" name="Google Shape;550;g3bceda9d883_0_11"/>
            <p:cNvSpPr txBox="1"/>
            <p:nvPr/>
          </p:nvSpPr>
          <p:spPr>
            <a:xfrm>
              <a:off x="4126" y="19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 panose="020B0604030504040204"/>
                <a:buNone/>
              </a:pPr>
              <a:r>
                <a:rPr lang="en-US" sz="1600" b="0" i="1" u="none" strike="noStrike" cap="none">
                  <a:solidFill>
                    <a:srgbClr val="FF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loss</a:t>
              </a:r>
              <a:endParaRPr lang="en-US" sz="1600" b="0" i="1" u="none" strike="noStrike" cap="none">
                <a:solidFill>
                  <a:srgbClr val="FF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grpSp>
        <p:nvGrpSpPr>
          <p:cNvPr id="551" name="Google Shape;551;g3bceda9d883_0_11"/>
          <p:cNvGrpSpPr/>
          <p:nvPr/>
        </p:nvGrpSpPr>
        <p:grpSpPr>
          <a:xfrm>
            <a:off x="8064269" y="3149200"/>
            <a:ext cx="4701" cy="1033462"/>
            <a:chOff x="3726" y="1878"/>
            <a:chExt cx="3" cy="963"/>
          </a:xfrm>
        </p:grpSpPr>
        <p:cxnSp>
          <p:nvCxnSpPr>
            <p:cNvPr id="552" name="Google Shape;552;g3bceda9d883_0_11"/>
            <p:cNvCxnSpPr/>
            <p:nvPr/>
          </p:nvCxnSpPr>
          <p:spPr>
            <a:xfrm>
              <a:off x="3729" y="1879"/>
              <a:ext cx="0" cy="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3" name="Google Shape;553;g3bceda9d883_0_11"/>
            <p:cNvCxnSpPr/>
            <p:nvPr/>
          </p:nvCxnSpPr>
          <p:spPr>
            <a:xfrm>
              <a:off x="3726" y="1878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4" name="Google Shape;554;g3bceda9d883_0_11"/>
            <p:cNvCxnSpPr/>
            <p:nvPr/>
          </p:nvCxnSpPr>
          <p:spPr>
            <a:xfrm>
              <a:off x="3726" y="2841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555" name="Google Shape;555;g3bceda9d883_0_11"/>
          <p:cNvGrpSpPr/>
          <p:nvPr/>
        </p:nvGrpSpPr>
        <p:grpSpPr>
          <a:xfrm>
            <a:off x="8075321" y="4138212"/>
            <a:ext cx="1428750" cy="623888"/>
            <a:chOff x="855" y="1710"/>
            <a:chExt cx="900" cy="393"/>
          </a:xfrm>
        </p:grpSpPr>
        <p:cxnSp>
          <p:nvCxnSpPr>
            <p:cNvPr id="556" name="Google Shape;556;g3bceda9d883_0_11"/>
            <p:cNvCxnSpPr/>
            <p:nvPr/>
          </p:nvCxnSpPr>
          <p:spPr>
            <a:xfrm>
              <a:off x="855" y="1803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57" name="Google Shape;557;g3bceda9d883_0_11"/>
            <p:cNvSpPr txBox="1"/>
            <p:nvPr/>
          </p:nvSpPr>
          <p:spPr>
            <a:xfrm>
              <a:off x="1094" y="171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58" name="Google Shape;558;g3bceda9d883_0_11"/>
          <p:cNvGrpSpPr/>
          <p:nvPr/>
        </p:nvGrpSpPr>
        <p:grpSpPr>
          <a:xfrm>
            <a:off x="6643396" y="3761975"/>
            <a:ext cx="1428750" cy="703262"/>
            <a:chOff x="2802" y="2348"/>
            <a:chExt cx="900" cy="443"/>
          </a:xfrm>
        </p:grpSpPr>
        <p:pic>
          <p:nvPicPr>
            <p:cNvPr id="559" name="Google Shape;559;g3bceda9d883_0_11" descr="alarm_clock_ringi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g3bceda9d883_0_11"/>
            <p:cNvSpPr txBox="1"/>
            <p:nvPr/>
          </p:nvSpPr>
          <p:spPr>
            <a:xfrm>
              <a:off x="2802" y="249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Tahoma" panose="020B0604030504040204"/>
                <a:buNone/>
              </a:pPr>
              <a:r>
                <a:rPr lang="en-US" sz="1800" b="0" i="1" u="none" strike="noStrike" cap="none">
                  <a:solidFill>
                    <a:srgbClr val="FF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timeout</a:t>
              </a:r>
              <a:endParaRPr lang="en-US" sz="1800" b="0" i="1" u="none" strike="noStrike" cap="none">
                <a:solidFill>
                  <a:srgbClr val="FF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  <a:p>
              <a:pPr marL="0" marR="0" lvl="0" indent="0" algn="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 panose="020B060403050404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resend pkt1</a:t>
              </a:r>
              <a:endPara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sp>
        <p:nvSpPr>
          <p:cNvPr id="561" name="Google Shape;561;g3bceda9d883_0_11"/>
          <p:cNvSpPr txBox="1"/>
          <p:nvPr>
            <p:ph type="sldNum" idx="4294967295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9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2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000"/>
                            </p:stCondLst>
                            <p:childTnLst>
                              <p:par>
                                <p:cTn id="5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500"/>
                            </p:stCondLst>
                            <p:childTnLst>
                              <p:par>
                                <p:cTn id="5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00"/>
                            </p:stCondLst>
                            <p:childTnLst>
                              <p:par>
                                <p:cTn id="6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0"/>
                            </p:stCondLst>
                            <p:childTnLst>
                              <p:par>
                                <p:cTn id="6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5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1000"/>
                                        <p:tgtEl>
                                          <p:spTgt spid="5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500"/>
                            </p:stCondLst>
                            <p:childTnLst>
                              <p:par>
                                <p:cTn id="1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500"/>
                            </p:stCondLst>
                            <p:childTnLst>
                              <p:par>
                                <p:cTn id="1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2000"/>
                            </p:stCondLst>
                            <p:childTnLst>
                              <p:par>
                                <p:cTn id="1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2500"/>
                            </p:stCondLst>
                            <p:childTnLst>
                              <p:par>
                                <p:cTn id="1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3000"/>
                            </p:stCondLst>
                            <p:childTnLst>
                              <p:par>
                                <p:cTn id="1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>
                            <p:stCondLst>
                              <p:cond delay="3500"/>
                            </p:stCondLst>
                            <p:childTnLst>
                              <p:par>
                                <p:cTn id="1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5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4500"/>
                            </p:stCondLst>
                            <p:childTnLst>
                              <p:par>
                                <p:cTn id="1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bceda9d883_0_93"/>
          <p:cNvSpPr txBox="1"/>
          <p:nvPr>
            <p:ph type="title"/>
          </p:nvPr>
        </p:nvSpPr>
        <p:spPr>
          <a:xfrm>
            <a:off x="798690" y="289325"/>
            <a:ext cx="11100600" cy="8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US" sz="4800"/>
              <a:t>Reliable data transfer (RDT) in ACTION</a:t>
            </a:r>
            <a:endParaRPr sz="4400"/>
          </a:p>
        </p:txBody>
      </p:sp>
      <p:sp>
        <p:nvSpPr>
          <p:cNvPr id="568" name="Google Shape;568;g3bceda9d883_0_93"/>
          <p:cNvSpPr txBox="1"/>
          <p:nvPr/>
        </p:nvSpPr>
        <p:spPr>
          <a:xfrm>
            <a:off x="3808470" y="3116226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69" name="Google Shape;569;g3bceda9d883_0_93"/>
          <p:cNvSpPr txBox="1"/>
          <p:nvPr/>
        </p:nvSpPr>
        <p:spPr>
          <a:xfrm>
            <a:off x="3808470" y="3341651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70" name="Google Shape;570;g3bceda9d883_0_93"/>
          <p:cNvSpPr txBox="1"/>
          <p:nvPr/>
        </p:nvSpPr>
        <p:spPr>
          <a:xfrm>
            <a:off x="3789420" y="4532276"/>
            <a:ext cx="156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 panose="020B0604030504040204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(detect duplicate)</a:t>
            </a:r>
            <a:endParaRPr lang="en-US" sz="14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571" name="Google Shape;571;g3bceda9d883_0_93"/>
          <p:cNvGrpSpPr/>
          <p:nvPr/>
        </p:nvGrpSpPr>
        <p:grpSpPr>
          <a:xfrm>
            <a:off x="2340033" y="2889213"/>
            <a:ext cx="1428750" cy="623887"/>
            <a:chOff x="855" y="1710"/>
            <a:chExt cx="900" cy="393"/>
          </a:xfrm>
        </p:grpSpPr>
        <p:cxnSp>
          <p:nvCxnSpPr>
            <p:cNvPr id="572" name="Google Shape;572;g3bceda9d883_0_93"/>
            <p:cNvCxnSpPr/>
            <p:nvPr/>
          </p:nvCxnSpPr>
          <p:spPr>
            <a:xfrm>
              <a:off x="855" y="1803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73" name="Google Shape;573;g3bceda9d883_0_93"/>
            <p:cNvSpPr txBox="1"/>
            <p:nvPr/>
          </p:nvSpPr>
          <p:spPr>
            <a:xfrm>
              <a:off x="1094" y="171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574" name="Google Shape;574;g3bceda9d883_0_93"/>
          <p:cNvSpPr txBox="1"/>
          <p:nvPr/>
        </p:nvSpPr>
        <p:spPr>
          <a:xfrm>
            <a:off x="1352608" y="1508088"/>
            <a:ext cx="93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0099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sender</a:t>
            </a:r>
            <a:endParaRPr lang="en-US" sz="2000" b="0" i="1" u="sng" strike="noStrike" cap="none">
              <a:solidFill>
                <a:srgbClr val="000099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75" name="Google Shape;575;g3bceda9d883_0_93"/>
          <p:cNvSpPr txBox="1"/>
          <p:nvPr/>
        </p:nvSpPr>
        <p:spPr>
          <a:xfrm>
            <a:off x="3792595" y="1503326"/>
            <a:ext cx="10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8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receiver</a:t>
            </a:r>
            <a:endParaRPr lang="en-US" sz="2000" b="0" i="1" u="sng" strike="noStrike" cap="none">
              <a:solidFill>
                <a:srgbClr val="008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76" name="Google Shape;576;g3bceda9d883_0_93"/>
          <p:cNvSpPr txBox="1"/>
          <p:nvPr/>
        </p:nvSpPr>
        <p:spPr>
          <a:xfrm>
            <a:off x="3805295" y="4263988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77" name="Google Shape;577;g3bceda9d883_0_93"/>
          <p:cNvSpPr txBox="1"/>
          <p:nvPr/>
        </p:nvSpPr>
        <p:spPr>
          <a:xfrm>
            <a:off x="3802120" y="5260938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78" name="Google Shape;578;g3bceda9d883_0_93"/>
          <p:cNvSpPr txBox="1"/>
          <p:nvPr/>
        </p:nvSpPr>
        <p:spPr>
          <a:xfrm>
            <a:off x="3798945" y="2441538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79" name="Google Shape;579;g3bceda9d883_0_93"/>
          <p:cNvSpPr txBox="1"/>
          <p:nvPr/>
        </p:nvSpPr>
        <p:spPr>
          <a:xfrm>
            <a:off x="3817995" y="4686263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80" name="Google Shape;580;g3bceda9d883_0_93"/>
          <p:cNvSpPr txBox="1"/>
          <p:nvPr/>
        </p:nvSpPr>
        <p:spPr>
          <a:xfrm>
            <a:off x="3795770" y="5456201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81" name="Google Shape;581;g3bceda9d883_0_93"/>
          <p:cNvSpPr txBox="1"/>
          <p:nvPr/>
        </p:nvSpPr>
        <p:spPr>
          <a:xfrm>
            <a:off x="1281170" y="2690776"/>
            <a:ext cx="102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82" name="Google Shape;582;g3bceda9d883_0_93"/>
          <p:cNvSpPr txBox="1"/>
          <p:nvPr/>
        </p:nvSpPr>
        <p:spPr>
          <a:xfrm>
            <a:off x="1125595" y="5062501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83" name="Google Shape;583;g3bceda9d883_0_93"/>
          <p:cNvSpPr txBox="1"/>
          <p:nvPr/>
        </p:nvSpPr>
        <p:spPr>
          <a:xfrm>
            <a:off x="1125595" y="2909851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84" name="Google Shape;584;g3bceda9d883_0_93"/>
          <p:cNvSpPr txBox="1"/>
          <p:nvPr/>
        </p:nvSpPr>
        <p:spPr>
          <a:xfrm>
            <a:off x="1270058" y="4822788"/>
            <a:ext cx="102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85" name="Google Shape;585;g3bceda9d883_0_93"/>
          <p:cNvSpPr txBox="1"/>
          <p:nvPr/>
        </p:nvSpPr>
        <p:spPr>
          <a:xfrm>
            <a:off x="1114483" y="1947826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586" name="Google Shape;586;g3bceda9d883_0_93"/>
          <p:cNvSpPr txBox="1"/>
          <p:nvPr/>
        </p:nvSpPr>
        <p:spPr>
          <a:xfrm>
            <a:off x="3791008" y="2230401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587" name="Google Shape;587;g3bceda9d883_0_93"/>
          <p:cNvGrpSpPr/>
          <p:nvPr/>
        </p:nvGrpSpPr>
        <p:grpSpPr>
          <a:xfrm>
            <a:off x="2330508" y="2017676"/>
            <a:ext cx="1428750" cy="631824"/>
            <a:chOff x="850" y="1159"/>
            <a:chExt cx="900" cy="398"/>
          </a:xfrm>
        </p:grpSpPr>
        <p:cxnSp>
          <p:nvCxnSpPr>
            <p:cNvPr id="588" name="Google Shape;588;g3bceda9d883_0_93"/>
            <p:cNvCxnSpPr/>
            <p:nvPr/>
          </p:nvCxnSpPr>
          <p:spPr>
            <a:xfrm>
              <a:off x="850" y="1257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89" name="Google Shape;589;g3bceda9d883_0_93"/>
            <p:cNvSpPr txBox="1"/>
            <p:nvPr/>
          </p:nvSpPr>
          <p:spPr>
            <a:xfrm>
              <a:off x="1100" y="1159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pkt0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90" name="Google Shape;590;g3bceda9d883_0_93"/>
          <p:cNvGrpSpPr/>
          <p:nvPr/>
        </p:nvGrpSpPr>
        <p:grpSpPr>
          <a:xfrm>
            <a:off x="2324158" y="5032338"/>
            <a:ext cx="1428750" cy="606426"/>
            <a:chOff x="846" y="2253"/>
            <a:chExt cx="900" cy="382"/>
          </a:xfrm>
        </p:grpSpPr>
        <p:cxnSp>
          <p:nvCxnSpPr>
            <p:cNvPr id="591" name="Google Shape;591;g3bceda9d883_0_93"/>
            <p:cNvCxnSpPr/>
            <p:nvPr/>
          </p:nvCxnSpPr>
          <p:spPr>
            <a:xfrm>
              <a:off x="846" y="2335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2" name="Google Shape;592;g3bceda9d883_0_93"/>
            <p:cNvSpPr txBox="1"/>
            <p:nvPr/>
          </p:nvSpPr>
          <p:spPr>
            <a:xfrm>
              <a:off x="1097" y="225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pkt0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93" name="Google Shape;593;g3bceda9d883_0_93"/>
          <p:cNvGrpSpPr/>
          <p:nvPr/>
        </p:nvGrpSpPr>
        <p:grpSpPr>
          <a:xfrm>
            <a:off x="2367021" y="4635463"/>
            <a:ext cx="1428750" cy="590551"/>
            <a:chOff x="873" y="2003"/>
            <a:chExt cx="900" cy="372"/>
          </a:xfrm>
        </p:grpSpPr>
        <p:cxnSp>
          <p:nvCxnSpPr>
            <p:cNvPr id="594" name="Google Shape;594;g3bceda9d883_0_93"/>
            <p:cNvCxnSpPr/>
            <p:nvPr/>
          </p:nvCxnSpPr>
          <p:spPr>
            <a:xfrm flipH="1">
              <a:off x="873" y="2075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5" name="Google Shape;595;g3bceda9d883_0_93"/>
            <p:cNvSpPr txBox="1"/>
            <p:nvPr/>
          </p:nvSpPr>
          <p:spPr>
            <a:xfrm>
              <a:off x="1092" y="2003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ack1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96" name="Google Shape;596;g3bceda9d883_0_93"/>
          <p:cNvGrpSpPr/>
          <p:nvPr/>
        </p:nvGrpSpPr>
        <p:grpSpPr>
          <a:xfrm>
            <a:off x="2359082" y="2517738"/>
            <a:ext cx="1428750" cy="574676"/>
            <a:chOff x="868" y="1474"/>
            <a:chExt cx="900" cy="362"/>
          </a:xfrm>
        </p:grpSpPr>
        <p:cxnSp>
          <p:nvCxnSpPr>
            <p:cNvPr id="597" name="Google Shape;597;g3bceda9d883_0_93"/>
            <p:cNvCxnSpPr/>
            <p:nvPr/>
          </p:nvCxnSpPr>
          <p:spPr>
            <a:xfrm flipH="1">
              <a:off x="868" y="1536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598" name="Google Shape;598;g3bceda9d883_0_93"/>
            <p:cNvSpPr txBox="1"/>
            <p:nvPr/>
          </p:nvSpPr>
          <p:spPr>
            <a:xfrm>
              <a:off x="1089" y="1474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599" name="Google Shape;599;g3bceda9d883_0_93"/>
          <p:cNvGrpSpPr/>
          <p:nvPr/>
        </p:nvGrpSpPr>
        <p:grpSpPr>
          <a:xfrm>
            <a:off x="2352732" y="5487951"/>
            <a:ext cx="1428750" cy="581024"/>
            <a:chOff x="864" y="2540"/>
            <a:chExt cx="900" cy="366"/>
          </a:xfrm>
        </p:grpSpPr>
        <p:cxnSp>
          <p:nvCxnSpPr>
            <p:cNvPr id="600" name="Google Shape;600;g3bceda9d883_0_93"/>
            <p:cNvCxnSpPr/>
            <p:nvPr/>
          </p:nvCxnSpPr>
          <p:spPr>
            <a:xfrm flipH="1">
              <a:off x="864" y="2606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1" name="Google Shape;601;g3bceda9d883_0_93"/>
            <p:cNvSpPr txBox="1"/>
            <p:nvPr/>
          </p:nvSpPr>
          <p:spPr>
            <a:xfrm>
              <a:off x="1086" y="25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602" name="Google Shape;602;g3bceda9d883_0_93"/>
          <p:cNvSpPr txBox="1"/>
          <p:nvPr/>
        </p:nvSpPr>
        <p:spPr>
          <a:xfrm>
            <a:off x="2108258" y="6200738"/>
            <a:ext cx="13938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(c) ACK loss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603" name="Google Shape;603;g3bceda9d883_0_93"/>
          <p:cNvGrpSpPr/>
          <p:nvPr/>
        </p:nvGrpSpPr>
        <p:grpSpPr>
          <a:xfrm>
            <a:off x="2595620" y="3289263"/>
            <a:ext cx="1212850" cy="858838"/>
            <a:chOff x="1324" y="1931"/>
            <a:chExt cx="764" cy="541"/>
          </a:xfrm>
        </p:grpSpPr>
        <p:cxnSp>
          <p:nvCxnSpPr>
            <p:cNvPr id="604" name="Google Shape;604;g3bceda9d883_0_93"/>
            <p:cNvCxnSpPr/>
            <p:nvPr/>
          </p:nvCxnSpPr>
          <p:spPr>
            <a:xfrm rot="10800000">
              <a:off x="1488" y="2031"/>
              <a:ext cx="600" cy="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05" name="Google Shape;605;g3bceda9d883_0_93"/>
            <p:cNvSpPr txBox="1"/>
            <p:nvPr/>
          </p:nvSpPr>
          <p:spPr>
            <a:xfrm>
              <a:off x="1456" y="1931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ack1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  <p:sp>
          <p:nvSpPr>
            <p:cNvPr id="606" name="Google Shape;606;g3bceda9d883_0_93"/>
            <p:cNvSpPr txBox="1"/>
            <p:nvPr/>
          </p:nvSpPr>
          <p:spPr>
            <a:xfrm>
              <a:off x="1383" y="204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Tahoma" panose="020B0604030504040204"/>
                <a:buNone/>
              </a:pPr>
              <a:r>
                <a:rPr lang="en-US" sz="1800" b="1" i="0" u="none" strike="noStrike" cap="none">
                  <a:solidFill>
                    <a:srgbClr val="FF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X</a:t>
              </a:r>
              <a:endParaRPr lang="en-US" sz="1800" b="1" i="0" u="none" strike="noStrike" cap="none">
                <a:solidFill>
                  <a:srgbClr val="FF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607" name="Google Shape;607;g3bceda9d883_0_93"/>
            <p:cNvSpPr txBox="1"/>
            <p:nvPr/>
          </p:nvSpPr>
          <p:spPr>
            <a:xfrm>
              <a:off x="1324" y="2172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600"/>
                <a:buFont typeface="Tahoma" panose="020B0604030504040204"/>
                <a:buNone/>
              </a:pPr>
              <a:r>
                <a:rPr lang="en-US" sz="1600" b="0" i="1" u="none" strike="noStrike" cap="none">
                  <a:solidFill>
                    <a:srgbClr val="FF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loss</a:t>
              </a:r>
              <a:endParaRPr lang="en-US" sz="1600" b="0" i="1" u="none" strike="noStrike" cap="none">
                <a:solidFill>
                  <a:srgbClr val="FF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grpSp>
        <p:nvGrpSpPr>
          <p:cNvPr id="608" name="Google Shape;608;g3bceda9d883_0_93"/>
          <p:cNvGrpSpPr/>
          <p:nvPr/>
        </p:nvGrpSpPr>
        <p:grpSpPr>
          <a:xfrm>
            <a:off x="2336918" y="3195601"/>
            <a:ext cx="4701" cy="1033462"/>
            <a:chOff x="3726" y="1878"/>
            <a:chExt cx="3" cy="963"/>
          </a:xfrm>
        </p:grpSpPr>
        <p:cxnSp>
          <p:nvCxnSpPr>
            <p:cNvPr id="609" name="Google Shape;609;g3bceda9d883_0_93"/>
            <p:cNvCxnSpPr/>
            <p:nvPr/>
          </p:nvCxnSpPr>
          <p:spPr>
            <a:xfrm>
              <a:off x="3729" y="1879"/>
              <a:ext cx="0" cy="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0" name="Google Shape;610;g3bceda9d883_0_93"/>
            <p:cNvCxnSpPr/>
            <p:nvPr/>
          </p:nvCxnSpPr>
          <p:spPr>
            <a:xfrm>
              <a:off x="3726" y="1878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11" name="Google Shape;611;g3bceda9d883_0_93"/>
            <p:cNvCxnSpPr/>
            <p:nvPr/>
          </p:nvCxnSpPr>
          <p:spPr>
            <a:xfrm>
              <a:off x="3726" y="2841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12" name="Google Shape;612;g3bceda9d883_0_93"/>
          <p:cNvGrpSpPr/>
          <p:nvPr/>
        </p:nvGrpSpPr>
        <p:grpSpPr>
          <a:xfrm>
            <a:off x="2347970" y="4184613"/>
            <a:ext cx="1428750" cy="623887"/>
            <a:chOff x="855" y="1710"/>
            <a:chExt cx="900" cy="393"/>
          </a:xfrm>
        </p:grpSpPr>
        <p:cxnSp>
          <p:nvCxnSpPr>
            <p:cNvPr id="613" name="Google Shape;613;g3bceda9d883_0_93"/>
            <p:cNvCxnSpPr/>
            <p:nvPr/>
          </p:nvCxnSpPr>
          <p:spPr>
            <a:xfrm>
              <a:off x="855" y="1803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14" name="Google Shape;614;g3bceda9d883_0_93"/>
            <p:cNvSpPr txBox="1"/>
            <p:nvPr/>
          </p:nvSpPr>
          <p:spPr>
            <a:xfrm>
              <a:off x="1094" y="1710"/>
              <a:ext cx="3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615" name="Google Shape;615;g3bceda9d883_0_93"/>
          <p:cNvGrpSpPr/>
          <p:nvPr/>
        </p:nvGrpSpPr>
        <p:grpSpPr>
          <a:xfrm>
            <a:off x="916045" y="3808376"/>
            <a:ext cx="1428750" cy="703262"/>
            <a:chOff x="2802" y="2348"/>
            <a:chExt cx="900" cy="443"/>
          </a:xfrm>
        </p:grpSpPr>
        <p:pic>
          <p:nvPicPr>
            <p:cNvPr id="616" name="Google Shape;616;g3bceda9d883_0_93" descr="alarm_clock_ringi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g3bceda9d883_0_93"/>
            <p:cNvSpPr txBox="1"/>
            <p:nvPr/>
          </p:nvSpPr>
          <p:spPr>
            <a:xfrm>
              <a:off x="2802" y="249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Tahoma" panose="020B0604030504040204"/>
                <a:buNone/>
              </a:pPr>
              <a:r>
                <a:rPr lang="en-US" sz="1800" b="0" i="1" u="none" strike="noStrike" cap="none">
                  <a:solidFill>
                    <a:srgbClr val="FF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timeout</a:t>
              </a:r>
              <a:endParaRPr lang="en-US" sz="1800" b="0" i="1" u="none" strike="noStrike" cap="none">
                <a:solidFill>
                  <a:srgbClr val="FF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  <a:p>
              <a:pPr marL="0" marR="0" lvl="0" indent="0" algn="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 panose="020B060403050404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resend pkt1</a:t>
              </a:r>
              <a:endPara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sp>
        <p:nvSpPr>
          <p:cNvPr id="618" name="Google Shape;618;g3bceda9d883_0_93"/>
          <p:cNvSpPr txBox="1"/>
          <p:nvPr/>
        </p:nvSpPr>
        <p:spPr>
          <a:xfrm>
            <a:off x="9492400" y="2644738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19" name="Google Shape;619;g3bceda9d883_0_93"/>
          <p:cNvSpPr txBox="1"/>
          <p:nvPr/>
        </p:nvSpPr>
        <p:spPr>
          <a:xfrm>
            <a:off x="9492400" y="2870163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20" name="Google Shape;620;g3bceda9d883_0_93"/>
          <p:cNvSpPr txBox="1"/>
          <p:nvPr/>
        </p:nvSpPr>
        <p:spPr>
          <a:xfrm>
            <a:off x="9432963" y="4166394"/>
            <a:ext cx="15684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 panose="020B0604030504040204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(detect duplicate)</a:t>
            </a:r>
            <a:endParaRPr lang="en-US" sz="14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621" name="Google Shape;621;g3bceda9d883_0_93"/>
          <p:cNvGrpSpPr/>
          <p:nvPr/>
        </p:nvGrpSpPr>
        <p:grpSpPr>
          <a:xfrm>
            <a:off x="8023963" y="2517742"/>
            <a:ext cx="1428750" cy="523876"/>
            <a:chOff x="855" y="1773"/>
            <a:chExt cx="900" cy="330"/>
          </a:xfrm>
        </p:grpSpPr>
        <p:cxnSp>
          <p:nvCxnSpPr>
            <p:cNvPr id="622" name="Google Shape;622;g3bceda9d883_0_93"/>
            <p:cNvCxnSpPr/>
            <p:nvPr/>
          </p:nvCxnSpPr>
          <p:spPr>
            <a:xfrm>
              <a:off x="855" y="1803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3" name="Google Shape;623;g3bceda9d883_0_93"/>
            <p:cNvSpPr txBox="1"/>
            <p:nvPr/>
          </p:nvSpPr>
          <p:spPr>
            <a:xfrm>
              <a:off x="1094" y="1773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624" name="Google Shape;624;g3bceda9d883_0_93"/>
          <p:cNvSpPr txBox="1"/>
          <p:nvPr/>
        </p:nvSpPr>
        <p:spPr>
          <a:xfrm>
            <a:off x="7036538" y="1036601"/>
            <a:ext cx="936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0099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sender</a:t>
            </a:r>
            <a:endParaRPr lang="en-US" sz="2000" b="0" i="1" u="sng" strike="noStrike" cap="none">
              <a:solidFill>
                <a:srgbClr val="000099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25" name="Google Shape;625;g3bceda9d883_0_93"/>
          <p:cNvSpPr txBox="1"/>
          <p:nvPr/>
        </p:nvSpPr>
        <p:spPr>
          <a:xfrm>
            <a:off x="9476525" y="1031838"/>
            <a:ext cx="107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2000"/>
              <a:buFont typeface="Tahoma" panose="020B0604030504040204"/>
              <a:buNone/>
            </a:pPr>
            <a:r>
              <a:rPr lang="en-US" sz="2000" b="0" i="1" u="sng" strike="noStrike" cap="none">
                <a:solidFill>
                  <a:srgbClr val="008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receiver</a:t>
            </a:r>
            <a:endParaRPr lang="en-US" sz="2000" b="0" i="1" u="sng" strike="noStrike" cap="none">
              <a:solidFill>
                <a:srgbClr val="008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26" name="Google Shape;626;g3bceda9d883_0_93"/>
          <p:cNvSpPr txBox="1"/>
          <p:nvPr/>
        </p:nvSpPr>
        <p:spPr>
          <a:xfrm>
            <a:off x="9500155" y="3886501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27" name="Google Shape;627;g3bceda9d883_0_93"/>
          <p:cNvSpPr txBox="1"/>
          <p:nvPr/>
        </p:nvSpPr>
        <p:spPr>
          <a:xfrm>
            <a:off x="9482875" y="1970051"/>
            <a:ext cx="1197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28" name="Google Shape;628;g3bceda9d883_0_93"/>
          <p:cNvSpPr txBox="1"/>
          <p:nvPr/>
        </p:nvSpPr>
        <p:spPr>
          <a:xfrm>
            <a:off x="6965100" y="2219288"/>
            <a:ext cx="1022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ack0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29" name="Google Shape;629;g3bceda9d883_0_93"/>
          <p:cNvSpPr txBox="1"/>
          <p:nvPr/>
        </p:nvSpPr>
        <p:spPr>
          <a:xfrm>
            <a:off x="6809525" y="2438363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pkt1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30" name="Google Shape;630;g3bceda9d883_0_93"/>
          <p:cNvSpPr txBox="1"/>
          <p:nvPr/>
        </p:nvSpPr>
        <p:spPr>
          <a:xfrm>
            <a:off x="6798413" y="1476338"/>
            <a:ext cx="117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send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sp>
        <p:nvSpPr>
          <p:cNvPr id="631" name="Google Shape;631;g3bceda9d883_0_93"/>
          <p:cNvSpPr txBox="1"/>
          <p:nvPr/>
        </p:nvSpPr>
        <p:spPr>
          <a:xfrm>
            <a:off x="9474938" y="1758913"/>
            <a:ext cx="1000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rcv pkt0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632" name="Google Shape;632;g3bceda9d883_0_93"/>
          <p:cNvGrpSpPr/>
          <p:nvPr/>
        </p:nvGrpSpPr>
        <p:grpSpPr>
          <a:xfrm>
            <a:off x="8014438" y="1658899"/>
            <a:ext cx="1428750" cy="519113"/>
            <a:chOff x="850" y="1230"/>
            <a:chExt cx="900" cy="327"/>
          </a:xfrm>
        </p:grpSpPr>
        <p:cxnSp>
          <p:nvCxnSpPr>
            <p:cNvPr id="633" name="Google Shape;633;g3bceda9d883_0_93"/>
            <p:cNvCxnSpPr/>
            <p:nvPr/>
          </p:nvCxnSpPr>
          <p:spPr>
            <a:xfrm>
              <a:off x="850" y="1257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4" name="Google Shape;634;g3bceda9d883_0_93"/>
            <p:cNvSpPr txBox="1"/>
            <p:nvPr/>
          </p:nvSpPr>
          <p:spPr>
            <a:xfrm>
              <a:off x="1082" y="1230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pkt0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635" name="Google Shape;635;g3bceda9d883_0_93"/>
          <p:cNvGrpSpPr/>
          <p:nvPr/>
        </p:nvGrpSpPr>
        <p:grpSpPr>
          <a:xfrm>
            <a:off x="8043012" y="2131982"/>
            <a:ext cx="1428750" cy="488951"/>
            <a:chOff x="868" y="1528"/>
            <a:chExt cx="900" cy="308"/>
          </a:xfrm>
        </p:grpSpPr>
        <p:cxnSp>
          <p:nvCxnSpPr>
            <p:cNvPr id="636" name="Google Shape;636;g3bceda9d883_0_93"/>
            <p:cNvCxnSpPr/>
            <p:nvPr/>
          </p:nvCxnSpPr>
          <p:spPr>
            <a:xfrm flipH="1">
              <a:off x="868" y="1536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37" name="Google Shape;637;g3bceda9d883_0_93"/>
            <p:cNvSpPr txBox="1"/>
            <p:nvPr/>
          </p:nvSpPr>
          <p:spPr>
            <a:xfrm>
              <a:off x="1089" y="1528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sp>
        <p:nvSpPr>
          <p:cNvPr id="638" name="Google Shape;638;g3bceda9d883_0_93"/>
          <p:cNvSpPr txBox="1"/>
          <p:nvPr/>
        </p:nvSpPr>
        <p:spPr>
          <a:xfrm>
            <a:off x="6965100" y="6200644"/>
            <a:ext cx="3867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 panose="020B0604030504040204"/>
              <a:buNone/>
            </a:pPr>
            <a:r>
              <a: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rPr>
              <a:t>(d) premature timeout/ delayed ACK</a:t>
            </a:r>
            <a:endParaRPr lang="en-US" sz="1800" b="0" i="0" u="none" strike="noStrike" cap="none">
              <a:solidFill>
                <a:srgbClr val="000000"/>
              </a:solidFill>
              <a:latin typeface="Tahoma" panose="020B0604030504040204"/>
              <a:ea typeface="Tahoma" panose="020B0604030504040204"/>
              <a:cs typeface="Tahoma" panose="020B0604030504040204"/>
              <a:sym typeface="Tahoma" panose="020B0604030504040204"/>
            </a:endParaRPr>
          </a:p>
        </p:txBody>
      </p:sp>
      <p:grpSp>
        <p:nvGrpSpPr>
          <p:cNvPr id="639" name="Google Shape;639;g3bceda9d883_0_93"/>
          <p:cNvGrpSpPr/>
          <p:nvPr/>
        </p:nvGrpSpPr>
        <p:grpSpPr>
          <a:xfrm>
            <a:off x="8020848" y="2724113"/>
            <a:ext cx="4701" cy="1033463"/>
            <a:chOff x="3726" y="1878"/>
            <a:chExt cx="3" cy="963"/>
          </a:xfrm>
        </p:grpSpPr>
        <p:cxnSp>
          <p:nvCxnSpPr>
            <p:cNvPr id="640" name="Google Shape;640;g3bceda9d883_0_93"/>
            <p:cNvCxnSpPr/>
            <p:nvPr/>
          </p:nvCxnSpPr>
          <p:spPr>
            <a:xfrm>
              <a:off x="3729" y="1879"/>
              <a:ext cx="0" cy="90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1" name="Google Shape;641;g3bceda9d883_0_93"/>
            <p:cNvCxnSpPr/>
            <p:nvPr/>
          </p:nvCxnSpPr>
          <p:spPr>
            <a:xfrm>
              <a:off x="3726" y="1878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42" name="Google Shape;642;g3bceda9d883_0_93"/>
            <p:cNvCxnSpPr/>
            <p:nvPr/>
          </p:nvCxnSpPr>
          <p:spPr>
            <a:xfrm>
              <a:off x="3726" y="2841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643" name="Google Shape;643;g3bceda9d883_0_93"/>
          <p:cNvGrpSpPr/>
          <p:nvPr/>
        </p:nvGrpSpPr>
        <p:grpSpPr>
          <a:xfrm>
            <a:off x="8031900" y="3854417"/>
            <a:ext cx="1428750" cy="482601"/>
            <a:chOff x="855" y="1799"/>
            <a:chExt cx="900" cy="304"/>
          </a:xfrm>
        </p:grpSpPr>
        <p:cxnSp>
          <p:nvCxnSpPr>
            <p:cNvPr id="644" name="Google Shape;644;g3bceda9d883_0_93"/>
            <p:cNvCxnSpPr/>
            <p:nvPr/>
          </p:nvCxnSpPr>
          <p:spPr>
            <a:xfrm>
              <a:off x="855" y="1803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45" name="Google Shape;645;g3bceda9d883_0_93"/>
            <p:cNvSpPr txBox="1"/>
            <p:nvPr/>
          </p:nvSpPr>
          <p:spPr>
            <a:xfrm>
              <a:off x="1121" y="1799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646" name="Google Shape;646;g3bceda9d883_0_93"/>
          <p:cNvGrpSpPr/>
          <p:nvPr/>
        </p:nvGrpSpPr>
        <p:grpSpPr>
          <a:xfrm>
            <a:off x="6599975" y="3336888"/>
            <a:ext cx="1428750" cy="703263"/>
            <a:chOff x="2802" y="2348"/>
            <a:chExt cx="900" cy="443"/>
          </a:xfrm>
        </p:grpSpPr>
        <p:pic>
          <p:nvPicPr>
            <p:cNvPr id="647" name="Google Shape;647;g3bceda9d883_0_93" descr="alarm_clock_ringi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2846" y="2348"/>
              <a:ext cx="275" cy="3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g3bceda9d883_0_93"/>
            <p:cNvSpPr txBox="1"/>
            <p:nvPr/>
          </p:nvSpPr>
          <p:spPr>
            <a:xfrm>
              <a:off x="2802" y="2491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0000"/>
                </a:buClr>
                <a:buSzPts val="1800"/>
                <a:buFont typeface="Tahoma" panose="020B0604030504040204"/>
                <a:buNone/>
              </a:pPr>
              <a:r>
                <a:rPr lang="en-US" sz="1800" b="0" i="1" u="none" strike="noStrike" cap="none">
                  <a:solidFill>
                    <a:srgbClr val="FF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timeout</a:t>
              </a:r>
              <a:endParaRPr lang="en-US" sz="1800" b="0" i="1" u="none" strike="noStrike" cap="none">
                <a:solidFill>
                  <a:srgbClr val="FF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  <a:p>
              <a:pPr marL="0" marR="0" lvl="0" indent="0" algn="r" rtl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 panose="020B060403050404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resend pkt1</a:t>
              </a:r>
              <a:endPara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grpSp>
        <p:nvGrpSpPr>
          <p:cNvPr id="649" name="Google Shape;649;g3bceda9d883_0_93"/>
          <p:cNvGrpSpPr/>
          <p:nvPr/>
        </p:nvGrpSpPr>
        <p:grpSpPr>
          <a:xfrm>
            <a:off x="8637287" y="2976526"/>
            <a:ext cx="914563" cy="732542"/>
            <a:chOff x="4223" y="1705"/>
            <a:chExt cx="600" cy="441"/>
          </a:xfrm>
        </p:grpSpPr>
        <p:cxnSp>
          <p:nvCxnSpPr>
            <p:cNvPr id="650" name="Google Shape;650;g3bceda9d883_0_93"/>
            <p:cNvCxnSpPr/>
            <p:nvPr/>
          </p:nvCxnSpPr>
          <p:spPr>
            <a:xfrm flipH="1">
              <a:off x="4484" y="1705"/>
              <a:ext cx="3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1" name="Google Shape;651;g3bceda9d883_0_93"/>
            <p:cNvCxnSpPr/>
            <p:nvPr/>
          </p:nvCxnSpPr>
          <p:spPr>
            <a:xfrm>
              <a:off x="4332" y="2047"/>
              <a:ext cx="0" cy="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652" name="Google Shape;652;g3bceda9d883_0_93"/>
            <p:cNvSpPr txBox="1"/>
            <p:nvPr/>
          </p:nvSpPr>
          <p:spPr>
            <a:xfrm>
              <a:off x="4223" y="1846"/>
              <a:ext cx="6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ack1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cxnSp>
        <p:nvCxnSpPr>
          <p:cNvPr id="653" name="Google Shape;653;g3bceda9d883_0_93"/>
          <p:cNvCxnSpPr/>
          <p:nvPr/>
        </p:nvCxnSpPr>
        <p:spPr>
          <a:xfrm flipH="1">
            <a:off x="7922400" y="3521038"/>
            <a:ext cx="909600" cy="739800"/>
          </a:xfrm>
          <a:prstGeom prst="straightConnector1">
            <a:avLst/>
          </a:prstGeom>
          <a:noFill/>
          <a:ln w="28575" cap="flat" cmpd="sng">
            <a:solidFill>
              <a:srgbClr val="008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654" name="Google Shape;654;g3bceda9d883_0_93"/>
          <p:cNvGrpSpPr/>
          <p:nvPr/>
        </p:nvGrpSpPr>
        <p:grpSpPr>
          <a:xfrm>
            <a:off x="8055532" y="4309460"/>
            <a:ext cx="2624865" cy="853718"/>
            <a:chOff x="8204959" y="4679496"/>
            <a:chExt cx="2624865" cy="853718"/>
          </a:xfrm>
        </p:grpSpPr>
        <p:grpSp>
          <p:nvGrpSpPr>
            <p:cNvPr id="655" name="Google Shape;655;g3bceda9d883_0_93"/>
            <p:cNvGrpSpPr/>
            <p:nvPr/>
          </p:nvGrpSpPr>
          <p:grpSpPr>
            <a:xfrm>
              <a:off x="8204959" y="4974413"/>
              <a:ext cx="1428750" cy="558801"/>
              <a:chOff x="2256" y="3467"/>
              <a:chExt cx="900" cy="352"/>
            </a:xfrm>
          </p:grpSpPr>
          <p:cxnSp>
            <p:nvCxnSpPr>
              <p:cNvPr id="656" name="Google Shape;656;g3bceda9d883_0_93"/>
              <p:cNvCxnSpPr/>
              <p:nvPr/>
            </p:nvCxnSpPr>
            <p:spPr>
              <a:xfrm flipH="1">
                <a:off x="2256" y="3467"/>
                <a:ext cx="900" cy="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8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57" name="Google Shape;657;g3bceda9d883_0_93"/>
              <p:cNvSpPr txBox="1"/>
              <p:nvPr/>
            </p:nvSpPr>
            <p:spPr>
              <a:xfrm>
                <a:off x="2336" y="3519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8000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8000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ack1</a:t>
                </a:r>
                <a:endPara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sp>
          <p:nvSpPr>
            <p:cNvPr id="658" name="Google Shape;658;g3bceda9d883_0_93"/>
            <p:cNvSpPr txBox="1"/>
            <p:nvPr/>
          </p:nvSpPr>
          <p:spPr>
            <a:xfrm>
              <a:off x="9632824" y="4679496"/>
              <a:ext cx="11970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 panose="020B060403050404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send ack1</a:t>
              </a:r>
              <a:endPara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grpSp>
        <p:nvGrpSpPr>
          <p:cNvPr id="659" name="Google Shape;659;g3bceda9d883_0_93"/>
          <p:cNvGrpSpPr/>
          <p:nvPr/>
        </p:nvGrpSpPr>
        <p:grpSpPr>
          <a:xfrm>
            <a:off x="6804583" y="4153524"/>
            <a:ext cx="4065591" cy="1214444"/>
            <a:chOff x="6954010" y="4523560"/>
            <a:chExt cx="4065591" cy="1214444"/>
          </a:xfrm>
        </p:grpSpPr>
        <p:grpSp>
          <p:nvGrpSpPr>
            <p:cNvPr id="660" name="Google Shape;660;g3bceda9d883_0_93"/>
            <p:cNvGrpSpPr/>
            <p:nvPr/>
          </p:nvGrpSpPr>
          <p:grpSpPr>
            <a:xfrm>
              <a:off x="6954010" y="4523560"/>
              <a:ext cx="1089025" cy="719139"/>
              <a:chOff x="2830" y="3285"/>
              <a:chExt cx="686" cy="453"/>
            </a:xfrm>
          </p:grpSpPr>
          <p:sp>
            <p:nvSpPr>
              <p:cNvPr id="661" name="Google Shape;661;g3bceda9d883_0_93"/>
              <p:cNvSpPr txBox="1"/>
              <p:nvPr/>
            </p:nvSpPr>
            <p:spPr>
              <a:xfrm>
                <a:off x="2830" y="3438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 panose="020B0604030504040204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rPr>
                  <a:t>send pkt0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662" name="Google Shape;662;g3bceda9d883_0_93"/>
              <p:cNvSpPr txBox="1"/>
              <p:nvPr/>
            </p:nvSpPr>
            <p:spPr>
              <a:xfrm>
                <a:off x="2916" y="3285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 panose="020B0604030504040204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rPr>
                  <a:t>rcv ack1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</p:grpSp>
        <p:grpSp>
          <p:nvGrpSpPr>
            <p:cNvPr id="663" name="Google Shape;663;g3bceda9d883_0_93"/>
            <p:cNvGrpSpPr/>
            <p:nvPr/>
          </p:nvGrpSpPr>
          <p:grpSpPr>
            <a:xfrm>
              <a:off x="8073197" y="4747083"/>
              <a:ext cx="1502731" cy="578736"/>
              <a:chOff x="850" y="1229"/>
              <a:chExt cx="900" cy="328"/>
            </a:xfrm>
          </p:grpSpPr>
          <p:cxnSp>
            <p:nvCxnSpPr>
              <p:cNvPr id="664" name="Google Shape;664;g3bceda9d883_0_93"/>
              <p:cNvCxnSpPr/>
              <p:nvPr/>
            </p:nvCxnSpPr>
            <p:spPr>
              <a:xfrm>
                <a:off x="850" y="1257"/>
                <a:ext cx="900" cy="300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0099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665" name="Google Shape;665;g3bceda9d883_0_93"/>
              <p:cNvSpPr txBox="1"/>
              <p:nvPr/>
            </p:nvSpPr>
            <p:spPr>
              <a:xfrm>
                <a:off x="1014" y="1229"/>
                <a:ext cx="300" cy="3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99"/>
                  </a:buClr>
                  <a:buSzPts val="1600"/>
                  <a:buFont typeface="Arial" panose="020B0604020202090204"/>
                  <a:buNone/>
                </a:pPr>
                <a:r>
                  <a:rPr lang="en-US" sz="1600" b="0" i="0" u="none" strike="noStrike" cap="none">
                    <a:solidFill>
                      <a:srgbClr val="000099"/>
                    </a:solidFill>
                    <a:latin typeface="Arial" panose="020B0604020202090204"/>
                    <a:ea typeface="Arial" panose="020B0604020202090204"/>
                    <a:cs typeface="Arial" panose="020B0604020202090204"/>
                    <a:sym typeface="Arial" panose="020B0604020202090204"/>
                  </a:rPr>
                  <a:t>pkt0</a:t>
                </a:r>
                <a:endPara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endParaRPr>
              </a:p>
            </p:txBody>
          </p:sp>
        </p:grpSp>
        <p:grpSp>
          <p:nvGrpSpPr>
            <p:cNvPr id="666" name="Google Shape;666;g3bceda9d883_0_93"/>
            <p:cNvGrpSpPr/>
            <p:nvPr/>
          </p:nvGrpSpPr>
          <p:grpSpPr>
            <a:xfrm>
              <a:off x="9582913" y="5037915"/>
              <a:ext cx="1436688" cy="700089"/>
              <a:chOff x="4762" y="2985"/>
              <a:chExt cx="905" cy="441"/>
            </a:xfrm>
          </p:grpSpPr>
          <p:sp>
            <p:nvSpPr>
              <p:cNvPr id="667" name="Google Shape;667;g3bceda9d883_0_93"/>
              <p:cNvSpPr txBox="1"/>
              <p:nvPr/>
            </p:nvSpPr>
            <p:spPr>
              <a:xfrm>
                <a:off x="4762" y="2985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 panose="020B0604030504040204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rPr>
                  <a:t>rcv pkt0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  <p:sp>
            <p:nvSpPr>
              <p:cNvPr id="668" name="Google Shape;668;g3bceda9d883_0_93"/>
              <p:cNvSpPr txBox="1"/>
              <p:nvPr/>
            </p:nvSpPr>
            <p:spPr>
              <a:xfrm>
                <a:off x="4767" y="312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Tahoma" panose="020B0604030504040204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Tahoma" panose="020B0604030504040204"/>
                    <a:ea typeface="Tahoma" panose="020B0604030504040204"/>
                    <a:cs typeface="Tahoma" panose="020B0604030504040204"/>
                    <a:sym typeface="Tahoma" panose="020B0604030504040204"/>
                  </a:rPr>
                  <a:t>send ack0</a:t>
                </a:r>
                <a:endPara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endParaRPr>
              </a:p>
            </p:txBody>
          </p:sp>
        </p:grpSp>
      </p:grpSp>
      <p:grpSp>
        <p:nvGrpSpPr>
          <p:cNvPr id="669" name="Google Shape;669;g3bceda9d883_0_93"/>
          <p:cNvGrpSpPr/>
          <p:nvPr/>
        </p:nvGrpSpPr>
        <p:grpSpPr>
          <a:xfrm>
            <a:off x="8063467" y="4967903"/>
            <a:ext cx="1428750" cy="512763"/>
            <a:chOff x="3857" y="2850"/>
            <a:chExt cx="900" cy="323"/>
          </a:xfrm>
        </p:grpSpPr>
        <p:cxnSp>
          <p:nvCxnSpPr>
            <p:cNvPr id="670" name="Google Shape;670;g3bceda9d883_0_93"/>
            <p:cNvCxnSpPr/>
            <p:nvPr/>
          </p:nvCxnSpPr>
          <p:spPr>
            <a:xfrm flipH="1">
              <a:off x="3857" y="2850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8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1" name="Google Shape;671;g3bceda9d883_0_93"/>
            <p:cNvSpPr txBox="1"/>
            <p:nvPr/>
          </p:nvSpPr>
          <p:spPr>
            <a:xfrm>
              <a:off x="4104" y="2873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8000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8000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ack0</a:t>
              </a:r>
              <a:endParaRPr lang="en-US" sz="1600" b="0" i="0" u="none" strike="noStrike" cap="none">
                <a:solidFill>
                  <a:srgbClr val="008000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672" name="Google Shape;672;g3bceda9d883_0_93"/>
          <p:cNvGrpSpPr/>
          <p:nvPr/>
        </p:nvGrpSpPr>
        <p:grpSpPr>
          <a:xfrm>
            <a:off x="8026461" y="5469606"/>
            <a:ext cx="1428750" cy="482601"/>
            <a:chOff x="855" y="1799"/>
            <a:chExt cx="900" cy="304"/>
          </a:xfrm>
        </p:grpSpPr>
        <p:cxnSp>
          <p:nvCxnSpPr>
            <p:cNvPr id="673" name="Google Shape;673;g3bceda9d883_0_93"/>
            <p:cNvCxnSpPr/>
            <p:nvPr/>
          </p:nvCxnSpPr>
          <p:spPr>
            <a:xfrm>
              <a:off x="855" y="1803"/>
              <a:ext cx="900" cy="300"/>
            </a:xfrm>
            <a:prstGeom prst="straightConnector1">
              <a:avLst/>
            </a:prstGeom>
            <a:noFill/>
            <a:ln w="28575" cap="flat" cmpd="sng">
              <a:solidFill>
                <a:srgbClr val="000099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74" name="Google Shape;674;g3bceda9d883_0_93"/>
            <p:cNvSpPr txBox="1"/>
            <p:nvPr/>
          </p:nvSpPr>
          <p:spPr>
            <a:xfrm>
              <a:off x="1129" y="1799"/>
              <a:ext cx="300" cy="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1600"/>
                <a:buFont typeface="Arial" panose="020B0604020202090204"/>
                <a:buNone/>
              </a:pPr>
              <a:r>
                <a:rPr lang="en-US" sz="1600" b="0" i="0" u="none" strike="noStrike" cap="none">
                  <a:solidFill>
                    <a:srgbClr val="000099"/>
                  </a:solidFill>
                  <a:latin typeface="Arial" panose="020B0604020202090204"/>
                  <a:ea typeface="Arial" panose="020B0604020202090204"/>
                  <a:cs typeface="Arial" panose="020B0604020202090204"/>
                  <a:sym typeface="Arial" panose="020B0604020202090204"/>
                </a:rPr>
                <a:t>pkt1</a:t>
              </a:r>
              <a:endParaRPr lang="en-US" sz="1600" b="0" i="0" u="none" strike="noStrike" cap="none">
                <a:solidFill>
                  <a:srgbClr val="000099"/>
                </a:solidFill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endParaRPr>
            </a:p>
          </p:txBody>
        </p:sp>
      </p:grpSp>
      <p:grpSp>
        <p:nvGrpSpPr>
          <p:cNvPr id="675" name="Google Shape;675;g3bceda9d883_0_93"/>
          <p:cNvGrpSpPr/>
          <p:nvPr/>
        </p:nvGrpSpPr>
        <p:grpSpPr>
          <a:xfrm>
            <a:off x="6993934" y="4806637"/>
            <a:ext cx="1022400" cy="553630"/>
            <a:chOff x="6289259" y="5452590"/>
            <a:chExt cx="1022400" cy="553630"/>
          </a:xfrm>
        </p:grpSpPr>
        <p:sp>
          <p:nvSpPr>
            <p:cNvPr id="676" name="Google Shape;676;g3bceda9d883_0_93"/>
            <p:cNvSpPr txBox="1"/>
            <p:nvPr/>
          </p:nvSpPr>
          <p:spPr>
            <a:xfrm>
              <a:off x="6339123" y="5698420"/>
              <a:ext cx="8196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 panose="020B0604030504040204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(ignore)</a:t>
              </a:r>
              <a:endParaRPr lang="en-US" sz="14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  <p:sp>
          <p:nvSpPr>
            <p:cNvPr id="677" name="Google Shape;677;g3bceda9d883_0_93"/>
            <p:cNvSpPr txBox="1"/>
            <p:nvPr/>
          </p:nvSpPr>
          <p:spPr>
            <a:xfrm>
              <a:off x="6289259" y="5452590"/>
              <a:ext cx="10224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Tahoma" panose="020B0604030504040204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Tahoma" panose="020B0604030504040204"/>
                  <a:ea typeface="Tahoma" panose="020B0604030504040204"/>
                  <a:cs typeface="Tahoma" panose="020B0604030504040204"/>
                  <a:sym typeface="Tahoma" panose="020B0604030504040204"/>
                </a:rPr>
                <a:t>rcv ack1</a:t>
              </a:r>
              <a:endParaRPr lang="en-US" sz="1800" b="0" i="0" u="none" strike="noStrike" cap="none">
                <a:solidFill>
                  <a:srgbClr val="000000"/>
                </a:solidFill>
                <a:latin typeface="Tahoma" panose="020B0604030504040204"/>
                <a:ea typeface="Tahoma" panose="020B0604030504040204"/>
                <a:cs typeface="Tahoma" panose="020B0604030504040204"/>
                <a:sym typeface="Tahoma" panose="020B0604030504040204"/>
              </a:endParaRPr>
            </a:p>
          </p:txBody>
        </p:sp>
      </p:grpSp>
      <p:sp>
        <p:nvSpPr>
          <p:cNvPr id="678" name="Google Shape;678;g3bceda9d883_0_93"/>
          <p:cNvSpPr txBox="1"/>
          <p:nvPr>
            <p:ph type="sldNum" idx="4294967295"/>
          </p:nvPr>
        </p:nvSpPr>
        <p:spPr>
          <a:xfrm>
            <a:off x="9219616" y="6443089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Transport Layer: 3-</a:t>
            </a: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500"/>
                            </p:stCondLst>
                            <p:childTnLst>
                              <p:par>
                                <p:cTn id="7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30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35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4500"/>
                            </p:stCondLst>
                            <p:childTnLst>
                              <p:par>
                                <p:cTn id="9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00"/>
                            </p:stCondLst>
                            <p:childTnLst>
                              <p:par>
                                <p:cTn id="10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6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000"/>
                            </p:stCondLst>
                            <p:childTnLst>
                              <p:par>
                                <p:cTn id="10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2500"/>
                            </p:stCondLst>
                            <p:childTnLst>
                              <p:par>
                                <p:cTn id="1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3000"/>
                            </p:stCondLst>
                            <p:childTnLst>
                              <p:par>
                                <p:cTn id="1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3500"/>
                            </p:stCondLst>
                            <p:childTnLst>
                              <p:par>
                                <p:cTn id="1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500"/>
                            </p:stCondLst>
                            <p:childTnLst>
                              <p:par>
                                <p:cTn id="1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5500"/>
                            </p:stCondLst>
                            <p:childTnLst>
                              <p:par>
                                <p:cTn id="1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500"/>
                                        <p:tgtEl>
                                          <p:spTgt spid="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4" dur="500"/>
                                        <p:tgtEl>
                                          <p:spTgt spid="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5" fill="hold">
                            <p:stCondLst>
                              <p:cond delay="500"/>
                            </p:stCondLst>
                            <p:childTnLst>
                              <p:par>
                                <p:cTn id="17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8" dur="500"/>
                                        <p:tgtEl>
                                          <p:spTgt spid="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g3c60183ea06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85" name="Google Shape;685;g3c60183ea06_0_0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An institution has a T1 access line (1.544 Mbps) which services web requests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from about 150 users in the network. The institution is considering putting up a proxy server which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can act as a cache for all these users. (I.e., whenever a user makes a web request, the request is first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sent to the proxy server to see if it can service the request from its cache. Otherwise, the proxy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forwards the requests to the origin server.)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a) The users make on the average 1 request per second, with an average size of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a request object being 10 kbits. What percentage of the bandwidth is consumed by the web traffic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when there is no proxy server, and all requests are serviced by the origin server?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b) After installing the proxy server, it was found that the hit rate to the cache is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90204"/>
              <a:buNone/>
            </a:pPr>
            <a:r>
              <a:rPr lang="en-US" sz="1550">
                <a:latin typeface="Arial" panose="020B0604020202090204"/>
                <a:ea typeface="Arial" panose="020B0604020202090204"/>
                <a:cs typeface="Arial" panose="020B0604020202090204"/>
                <a:sym typeface="Arial" panose="020B0604020202090204"/>
              </a:rPr>
              <a:t>40%. What percentage of the institutional bandwidth is now consumed by the Web traffic?</a:t>
            </a:r>
            <a:endParaRPr sz="1550">
              <a:latin typeface="Arial" panose="020B0604020202090204"/>
              <a:ea typeface="Arial" panose="020B0604020202090204"/>
              <a:cs typeface="Arial" panose="020B0604020202090204"/>
              <a:sym typeface="Arial" panose="020B0604020202090204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5397</Words>
  <Application>WPS Presentation</Application>
  <PresentationFormat/>
  <Paragraphs>468</Paragraphs>
  <Slides>17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3" baseType="lpstr">
      <vt:lpstr>Arial</vt:lpstr>
      <vt:lpstr>SimSun</vt:lpstr>
      <vt:lpstr>Wingdings</vt:lpstr>
      <vt:lpstr>Arial</vt:lpstr>
      <vt:lpstr>Calibri</vt:lpstr>
      <vt:lpstr>Helvetica Neue</vt:lpstr>
      <vt:lpstr>Noto Sans Symbols</vt:lpstr>
      <vt:lpstr>Tahoma</vt:lpstr>
      <vt:lpstr>Times New Roman</vt:lpstr>
      <vt:lpstr>Microsoft YaHei</vt:lpstr>
      <vt:lpstr>汉仪旗黑</vt:lpstr>
      <vt:lpstr>Arial Unicode MS</vt:lpstr>
      <vt:lpstr>Thonburi</vt:lpstr>
      <vt:lpstr>宋体-简</vt:lpstr>
      <vt:lpstr>Office Theme</vt:lpstr>
      <vt:lpstr>Word.Picture.8</vt:lpstr>
      <vt:lpstr>IT694 Computer Networks</vt:lpstr>
      <vt:lpstr>PowerPoint 演示文稿</vt:lpstr>
      <vt:lpstr>PowerPoint 演示文稿</vt:lpstr>
      <vt:lpstr>PowerPoint 演示文稿</vt:lpstr>
      <vt:lpstr>TCP: overview  RFCs: 793,1122, 2018, 5681, 7323</vt:lpstr>
      <vt:lpstr>TCP segment structure</vt:lpstr>
      <vt:lpstr>TCP Handshake</vt:lpstr>
      <vt:lpstr>Sequence Numbers and Ack Numbers</vt:lpstr>
      <vt:lpstr>TCP sequence numbers, ACKs</vt:lpstr>
      <vt:lpstr>Flow Control </vt:lpstr>
      <vt:lpstr>(RDT) stop-and-wait operation</vt:lpstr>
      <vt:lpstr>Performance of (RDT)(stop-and-wait)</vt:lpstr>
      <vt:lpstr>(RDT) pipelined protocols operation</vt:lpstr>
      <vt:lpstr>Pipelining: increased utilization</vt:lpstr>
      <vt:lpstr>Reliable data transfer (RDT) in ACTION</vt:lpstr>
      <vt:lpstr>Reliable data transfer (RDT) in ACTION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IT694 Computer Networks</dc:title>
  <dc:creator>Microsoft Office User</dc:creator>
  <cp:lastModifiedBy>2025 12100</cp:lastModifiedBy>
  <cp:revision>1</cp:revision>
  <dcterms:created xsi:type="dcterms:W3CDTF">2026-02-12T04:00:31Z</dcterms:created>
  <dcterms:modified xsi:type="dcterms:W3CDTF">2026-02-12T04:00:31Z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8241A542547079145F508D697B68854A_42</vt:lpwstr>
  </property>
  <property fmtid="{D5CDD505-2E9C-101B-9397-08002B2CF9AE}" pid="3" name="KSOProductBuildVer">
    <vt:lpwstr>1033-12.1.23155.23155</vt:lpwstr>
  </property>
</Properties>
</file>