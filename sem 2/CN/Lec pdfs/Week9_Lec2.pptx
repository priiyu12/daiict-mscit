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1"/>
    <p:restoredTop sz="96154"/>
  </p:normalViewPr>
  <p:slideViewPr>
    <p:cSldViewPr snapToGrid="0" snapToObjects="1">
      <p:cViewPr varScale="1">
        <p:scale>
          <a:sx n="116" d="100"/>
          <a:sy n="116" d="100"/>
        </p:scale>
        <p:origin x="5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F1345B-BE5C-5246-98C6-F1D67AAF57AA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D8E94D-2A1D-1349-BDAC-DAA79CBEA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15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219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4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770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0741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6558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5468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2493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2762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1145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4813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86785-79B4-DE49-82CE-93BCBDE9F06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0BE4-DEE8-2A4F-BE12-6793078B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6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86785-79B4-DE49-82CE-93BCBDE9F06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0BE4-DEE8-2A4F-BE12-6793078B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39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86785-79B4-DE49-82CE-93BCBDE9F06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0BE4-DEE8-2A4F-BE12-6793078B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86785-79B4-DE49-82CE-93BCBDE9F06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0BE4-DEE8-2A4F-BE12-6793078B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27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86785-79B4-DE49-82CE-93BCBDE9F06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0BE4-DEE8-2A4F-BE12-6793078B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33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86785-79B4-DE49-82CE-93BCBDE9F06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0BE4-DEE8-2A4F-BE12-6793078B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73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86785-79B4-DE49-82CE-93BCBDE9F06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0BE4-DEE8-2A4F-BE12-6793078B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581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86785-79B4-DE49-82CE-93BCBDE9F06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0BE4-DEE8-2A4F-BE12-6793078B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99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86785-79B4-DE49-82CE-93BCBDE9F06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0BE4-DEE8-2A4F-BE12-6793078B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46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86785-79B4-DE49-82CE-93BCBDE9F06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0BE4-DEE8-2A4F-BE12-6793078B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72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86785-79B4-DE49-82CE-93BCBDE9F06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0BE4-DEE8-2A4F-BE12-6793078B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89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86785-79B4-DE49-82CE-93BCBDE9F066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70BE4-DEE8-2A4F-BE12-6793078B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2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IT694</a:t>
            </a:r>
            <a:br>
              <a:rPr lang="en-US" dirty="0" smtClean="0"/>
            </a:br>
            <a:r>
              <a:rPr lang="en-US" dirty="0" smtClean="0"/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Week9_Lec2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27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01B1128-B8E1-7C40-B73B-BD6D4E180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696" y="1379472"/>
            <a:ext cx="11035748" cy="634860"/>
          </a:xfrm>
        </p:spPr>
        <p:txBody>
          <a:bodyPr>
            <a:normAutofit/>
          </a:bodyPr>
          <a:lstStyle/>
          <a:p>
            <a:pPr indent="-287338">
              <a:buFont typeface="Wingdings" charset="2"/>
              <a:buChar char="§"/>
              <a:defRPr/>
            </a:pPr>
            <a:r>
              <a:rPr lang="en-US" sz="3200" dirty="0"/>
              <a:t>transfer packet from input link to appropriate output link</a:t>
            </a:r>
          </a:p>
          <a:p>
            <a:pPr indent="-287338">
              <a:buFont typeface="Wingdings" charset="2"/>
              <a:buChar char="§"/>
              <a:defRPr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Switching fabrics</a:t>
            </a:r>
            <a:endParaRPr lang="en-US" sz="4800" dirty="0"/>
          </a:p>
        </p:txBody>
      </p:sp>
      <p:grpSp>
        <p:nvGrpSpPr>
          <p:cNvPr id="140" name="Group 60">
            <a:extLst>
              <a:ext uri="{FF2B5EF4-FFF2-40B4-BE49-F238E27FC236}">
                <a16:creationId xmlns="" xmlns:a16="http://schemas.microsoft.com/office/drawing/2014/main" id="{E16CE5B6-2BB1-8843-9C94-E2F2D5BE7F75}"/>
              </a:ext>
            </a:extLst>
          </p:cNvPr>
          <p:cNvGrpSpPr>
            <a:grpSpLocks/>
          </p:cNvGrpSpPr>
          <p:nvPr/>
        </p:nvGrpSpPr>
        <p:grpSpPr bwMode="auto">
          <a:xfrm>
            <a:off x="4510432" y="3943350"/>
            <a:ext cx="1609725" cy="2343150"/>
            <a:chOff x="2418" y="1882"/>
            <a:chExt cx="1014" cy="14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1" name="Rectangle 45">
              <a:extLst>
                <a:ext uri="{FF2B5EF4-FFF2-40B4-BE49-F238E27FC236}">
                  <a16:creationId xmlns="" xmlns:a16="http://schemas.microsoft.com/office/drawing/2014/main" id="{F26101B5-1F43-6C44-B633-4C17C2A3D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882"/>
              <a:ext cx="1014" cy="147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2" name="Text Box 48">
              <a:extLst>
                <a:ext uri="{FF2B5EF4-FFF2-40B4-BE49-F238E27FC236}">
                  <a16:creationId xmlns="" xmlns:a16="http://schemas.microsoft.com/office/drawing/2014/main" id="{1E1E4579-D30C-D245-B0D4-E5A2AEC25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5" y="2418"/>
              <a:ext cx="876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high-speed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switching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</p:txBody>
        </p:sp>
      </p:grpSp>
      <p:sp>
        <p:nvSpPr>
          <p:cNvPr id="160" name="Text Box 57">
            <a:extLst>
              <a:ext uri="{FF2B5EF4-FFF2-40B4-BE49-F238E27FC236}">
                <a16:creationId xmlns="" xmlns:a16="http://schemas.microsoft.com/office/drawing/2014/main" id="{F1679189-37C6-6D40-A05F-4B13D87DE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772" y="4857819"/>
            <a:ext cx="14927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 input ports</a:t>
            </a:r>
          </a:p>
        </p:txBody>
      </p:sp>
      <p:grpSp>
        <p:nvGrpSpPr>
          <p:cNvPr id="168" name="Group 38">
            <a:extLst>
              <a:ext uri="{FF2B5EF4-FFF2-40B4-BE49-F238E27FC236}">
                <a16:creationId xmlns="" xmlns:a16="http://schemas.microsoft.com/office/drawing/2014/main" id="{8AC17FBD-D822-CD43-929D-2CC812BF0667}"/>
              </a:ext>
            </a:extLst>
          </p:cNvPr>
          <p:cNvGrpSpPr>
            <a:grpSpLocks/>
          </p:cNvGrpSpPr>
          <p:nvPr/>
        </p:nvGrpSpPr>
        <p:grpSpPr bwMode="auto">
          <a:xfrm>
            <a:off x="6149007" y="5709203"/>
            <a:ext cx="1472095" cy="386798"/>
            <a:chOff x="-51" y="2454"/>
            <a:chExt cx="1482" cy="357"/>
          </a:xfrm>
        </p:grpSpPr>
        <p:grpSp>
          <p:nvGrpSpPr>
            <p:cNvPr id="169" name="Group 39">
              <a:extLst>
                <a:ext uri="{FF2B5EF4-FFF2-40B4-BE49-F238E27FC236}">
                  <a16:creationId xmlns="" xmlns:a16="http://schemas.microsoft.com/office/drawing/2014/main" id="{0892708C-B62F-1443-A450-88C550BC04B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171" name="Rectangle 40">
                <a:extLst>
                  <a:ext uri="{FF2B5EF4-FFF2-40B4-BE49-F238E27FC236}">
                    <a16:creationId xmlns="" xmlns:a16="http://schemas.microsoft.com/office/drawing/2014/main" id="{646AD0B4-3035-904E-BC08-F1F7B9E66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2" name="Rectangle 41">
                <a:extLst>
                  <a:ext uri="{FF2B5EF4-FFF2-40B4-BE49-F238E27FC236}">
                    <a16:creationId xmlns="" xmlns:a16="http://schemas.microsoft.com/office/drawing/2014/main" id="{C11D294C-080E-E146-92DD-4E0970AA1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3" name="Rectangle 42">
                <a:extLst>
                  <a:ext uri="{FF2B5EF4-FFF2-40B4-BE49-F238E27FC236}">
                    <a16:creationId xmlns="" xmlns:a16="http://schemas.microsoft.com/office/drawing/2014/main" id="{AEC771A2-E626-8246-BD5D-885A3F232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4" name="Rectangle 43">
                <a:extLst>
                  <a:ext uri="{FF2B5EF4-FFF2-40B4-BE49-F238E27FC236}">
                    <a16:creationId xmlns="" xmlns:a16="http://schemas.microsoft.com/office/drawing/2014/main" id="{D9ACADB5-CB99-0C44-953C-36D248E85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70" name="Line 44">
              <a:extLst>
                <a:ext uri="{FF2B5EF4-FFF2-40B4-BE49-F238E27FC236}">
                  <a16:creationId xmlns="" xmlns:a16="http://schemas.microsoft.com/office/drawing/2014/main" id="{0B5CB4ED-80BB-FD4A-8E51-691C12DA6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Text Box 57">
            <a:extLst>
              <a:ext uri="{FF2B5EF4-FFF2-40B4-BE49-F238E27FC236}">
                <a16:creationId xmlns="" xmlns:a16="http://schemas.microsoft.com/office/drawing/2014/main" id="{7B04503A-E5E8-3F47-B2CA-2C4493C55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78" y="4864446"/>
            <a:ext cx="163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 output ports</a:t>
            </a:r>
          </a:p>
        </p:txBody>
      </p:sp>
      <p:grpSp>
        <p:nvGrpSpPr>
          <p:cNvPr id="182" name="Group 38">
            <a:extLst>
              <a:ext uri="{FF2B5EF4-FFF2-40B4-BE49-F238E27FC236}">
                <a16:creationId xmlns="" xmlns:a16="http://schemas.microsoft.com/office/drawing/2014/main" id="{0D66BD80-759C-4845-8712-8D0B4AF84EF1}"/>
              </a:ext>
            </a:extLst>
          </p:cNvPr>
          <p:cNvGrpSpPr>
            <a:grpSpLocks/>
          </p:cNvGrpSpPr>
          <p:nvPr/>
        </p:nvGrpSpPr>
        <p:grpSpPr bwMode="auto">
          <a:xfrm>
            <a:off x="6155633" y="4072559"/>
            <a:ext cx="1472095" cy="386798"/>
            <a:chOff x="-51" y="2454"/>
            <a:chExt cx="1482" cy="357"/>
          </a:xfrm>
        </p:grpSpPr>
        <p:grpSp>
          <p:nvGrpSpPr>
            <p:cNvPr id="183" name="Group 39">
              <a:extLst>
                <a:ext uri="{FF2B5EF4-FFF2-40B4-BE49-F238E27FC236}">
                  <a16:creationId xmlns="" xmlns:a16="http://schemas.microsoft.com/office/drawing/2014/main" id="{5C936A85-45B9-074E-B843-773AFF5135C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185" name="Rectangle 40">
                <a:extLst>
                  <a:ext uri="{FF2B5EF4-FFF2-40B4-BE49-F238E27FC236}">
                    <a16:creationId xmlns="" xmlns:a16="http://schemas.microsoft.com/office/drawing/2014/main" id="{B622FEB5-7929-1240-B7D5-15643E719F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Rectangle 41">
                <a:extLst>
                  <a:ext uri="{FF2B5EF4-FFF2-40B4-BE49-F238E27FC236}">
                    <a16:creationId xmlns="" xmlns:a16="http://schemas.microsoft.com/office/drawing/2014/main" id="{9EC76602-1084-F84D-AD9A-D96EB15A8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7" name="Rectangle 42">
                <a:extLst>
                  <a:ext uri="{FF2B5EF4-FFF2-40B4-BE49-F238E27FC236}">
                    <a16:creationId xmlns="" xmlns:a16="http://schemas.microsoft.com/office/drawing/2014/main" id="{DD155316-70EC-7F4D-B61B-21231E854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8" name="Rectangle 43">
                <a:extLst>
                  <a:ext uri="{FF2B5EF4-FFF2-40B4-BE49-F238E27FC236}">
                    <a16:creationId xmlns="" xmlns:a16="http://schemas.microsoft.com/office/drawing/2014/main" id="{BFE2402A-9D06-854F-8BB0-978456C98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84" name="Line 44">
              <a:extLst>
                <a:ext uri="{FF2B5EF4-FFF2-40B4-BE49-F238E27FC236}">
                  <a16:creationId xmlns="" xmlns:a16="http://schemas.microsoft.com/office/drawing/2014/main" id="{D7FF759B-D504-9D47-8A31-C0C49E47A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67B67A3-971A-E044-9E63-6007998B6291}"/>
              </a:ext>
            </a:extLst>
          </p:cNvPr>
          <p:cNvSpPr txBox="1"/>
          <p:nvPr/>
        </p:nvSpPr>
        <p:spPr>
          <a:xfrm rot="5400000">
            <a:off x="6248400" y="4708389"/>
            <a:ext cx="927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="" xmlns:a16="http://schemas.microsoft.com/office/drawing/2014/main" id="{90C8DE0E-9EEF-204C-9448-24E1458DC419}"/>
              </a:ext>
            </a:extLst>
          </p:cNvPr>
          <p:cNvSpPr txBox="1"/>
          <p:nvPr/>
        </p:nvSpPr>
        <p:spPr>
          <a:xfrm rot="5400000">
            <a:off x="3472070" y="4715016"/>
            <a:ext cx="927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grpSp>
        <p:nvGrpSpPr>
          <p:cNvPr id="192" name="Group 39">
            <a:extLst>
              <a:ext uri="{FF2B5EF4-FFF2-40B4-BE49-F238E27FC236}">
                <a16:creationId xmlns="" xmlns:a16="http://schemas.microsoft.com/office/drawing/2014/main" id="{43EE5875-DB50-8F42-9E84-EBF455D6C7E5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3242010" y="4065933"/>
            <a:ext cx="1078742" cy="386798"/>
            <a:chOff x="171" y="2454"/>
            <a:chExt cx="1086" cy="357"/>
          </a:xfrm>
        </p:grpSpPr>
        <p:sp>
          <p:nvSpPr>
            <p:cNvPr id="194" name="Rectangle 40">
              <a:extLst>
                <a:ext uri="{FF2B5EF4-FFF2-40B4-BE49-F238E27FC236}">
                  <a16:creationId xmlns="" xmlns:a16="http://schemas.microsoft.com/office/drawing/2014/main" id="{906CC695-2DD1-2E42-A750-72D294151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54"/>
              <a:ext cx="1084" cy="35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5" name="Rectangle 41">
              <a:extLst>
                <a:ext uri="{FF2B5EF4-FFF2-40B4-BE49-F238E27FC236}">
                  <a16:creationId xmlns="" xmlns:a16="http://schemas.microsoft.com/office/drawing/2014/main" id="{99D0D5A4-1E5B-0B43-A1B7-FD7BC835D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2554"/>
              <a:ext cx="337" cy="1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6" name="Rectangle 42">
              <a:extLst>
                <a:ext uri="{FF2B5EF4-FFF2-40B4-BE49-F238E27FC236}">
                  <a16:creationId xmlns="" xmlns:a16="http://schemas.microsoft.com/office/drawing/2014/main" id="{6140224D-DBC1-EB40-AFE8-D6D0132B5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490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7" name="Rectangle 43">
              <a:extLst>
                <a:ext uri="{FF2B5EF4-FFF2-40B4-BE49-F238E27FC236}">
                  <a16:creationId xmlns="" xmlns:a16="http://schemas.microsoft.com/office/drawing/2014/main" id="{0A00DDFA-F665-324F-A415-D0B5E35A5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2488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93" name="Line 44">
            <a:extLst>
              <a:ext uri="{FF2B5EF4-FFF2-40B4-BE49-F238E27FC236}">
                <a16:creationId xmlns="" xmlns:a16="http://schemas.microsoft.com/office/drawing/2014/main" id="{A888E476-EAD9-6C4A-A7A3-DDB9C8C3A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494" y="4260957"/>
            <a:ext cx="14720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9" name="Group 39">
            <a:extLst>
              <a:ext uri="{FF2B5EF4-FFF2-40B4-BE49-F238E27FC236}">
                <a16:creationId xmlns="" xmlns:a16="http://schemas.microsoft.com/office/drawing/2014/main" id="{861F8D20-AD91-3246-9499-A09CBEB79CED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3248636" y="5729080"/>
            <a:ext cx="1078742" cy="386798"/>
            <a:chOff x="171" y="2454"/>
            <a:chExt cx="1086" cy="357"/>
          </a:xfrm>
        </p:grpSpPr>
        <p:sp>
          <p:nvSpPr>
            <p:cNvPr id="201" name="Rectangle 40">
              <a:extLst>
                <a:ext uri="{FF2B5EF4-FFF2-40B4-BE49-F238E27FC236}">
                  <a16:creationId xmlns="" xmlns:a16="http://schemas.microsoft.com/office/drawing/2014/main" id="{C04E48EB-4A34-004B-84AD-61BC56BA5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54"/>
              <a:ext cx="1084" cy="35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2" name="Rectangle 41">
              <a:extLst>
                <a:ext uri="{FF2B5EF4-FFF2-40B4-BE49-F238E27FC236}">
                  <a16:creationId xmlns="" xmlns:a16="http://schemas.microsoft.com/office/drawing/2014/main" id="{D0C6BD53-6130-A748-BC48-3FA658887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2554"/>
              <a:ext cx="337" cy="1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42">
              <a:extLst>
                <a:ext uri="{FF2B5EF4-FFF2-40B4-BE49-F238E27FC236}">
                  <a16:creationId xmlns="" xmlns:a16="http://schemas.microsoft.com/office/drawing/2014/main" id="{19984A44-E408-0A4C-A437-40EAEAA84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490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Rectangle 43">
              <a:extLst>
                <a:ext uri="{FF2B5EF4-FFF2-40B4-BE49-F238E27FC236}">
                  <a16:creationId xmlns="" xmlns:a16="http://schemas.microsoft.com/office/drawing/2014/main" id="{30660A84-3620-0541-9A93-C5E1D76F1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2488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00" name="Line 44">
            <a:extLst>
              <a:ext uri="{FF2B5EF4-FFF2-40B4-BE49-F238E27FC236}">
                <a16:creationId xmlns="" xmlns:a16="http://schemas.microsoft.com/office/drawing/2014/main" id="{975E947C-3697-5947-8DC9-3EF33B31B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8120" y="5924104"/>
            <a:ext cx="14720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Content Placeholder 2">
            <a:extLst>
              <a:ext uri="{FF2B5EF4-FFF2-40B4-BE49-F238E27FC236}">
                <a16:creationId xmlns="" xmlns:a16="http://schemas.microsoft.com/office/drawing/2014/main" id="{DC2E6EA4-0C86-5F4C-BB3E-C92E5B769FC5}"/>
              </a:ext>
            </a:extLst>
          </p:cNvPr>
          <p:cNvSpPr txBox="1">
            <a:spLocks/>
          </p:cNvSpPr>
          <p:nvPr/>
        </p:nvSpPr>
        <p:spPr>
          <a:xfrm>
            <a:off x="805070" y="1889680"/>
            <a:ext cx="11035748" cy="2317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switching rate: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rate at which packets can be transfer from inputs to outputs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often measured as multiple of input/output line rate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inputs: switching rate N times line rate desirable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01E77334-DD7E-1B48-8BC7-370BDB02F09A}"/>
              </a:ext>
            </a:extLst>
          </p:cNvPr>
          <p:cNvSpPr txBox="1"/>
          <p:nvPr/>
        </p:nvSpPr>
        <p:spPr>
          <a:xfrm>
            <a:off x="2756452" y="408167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="" xmlns:a16="http://schemas.microsoft.com/office/drawing/2014/main" id="{38F21D3F-8391-534C-9242-3758758C301A}"/>
              </a:ext>
            </a:extLst>
          </p:cNvPr>
          <p:cNvSpPr txBox="1"/>
          <p:nvPr/>
        </p:nvSpPr>
        <p:spPr>
          <a:xfrm>
            <a:off x="2749826" y="571831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="" xmlns:a16="http://schemas.microsoft.com/office/drawing/2014/main" id="{58A4E43E-89E0-E547-8C85-19EA30836952}"/>
              </a:ext>
            </a:extLst>
          </p:cNvPr>
          <p:cNvSpPr txBox="1"/>
          <p:nvPr/>
        </p:nvSpPr>
        <p:spPr>
          <a:xfrm>
            <a:off x="7593495" y="408167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="" xmlns:a16="http://schemas.microsoft.com/office/drawing/2014/main" id="{394AA5E3-B3F2-B445-8CEF-84D33DC4565C}"/>
              </a:ext>
            </a:extLst>
          </p:cNvPr>
          <p:cNvSpPr txBox="1"/>
          <p:nvPr/>
        </p:nvSpPr>
        <p:spPr>
          <a:xfrm>
            <a:off x="7586868" y="571831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A8D02FF0-F045-2443-B110-8EA634D57D8A}"/>
              </a:ext>
            </a:extLst>
          </p:cNvPr>
          <p:cNvSpPr txBox="1"/>
          <p:nvPr/>
        </p:nvSpPr>
        <p:spPr>
          <a:xfrm>
            <a:off x="4611758" y="4094922"/>
            <a:ext cx="1331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(rate: NR, ideally)</a:t>
            </a:r>
          </a:p>
        </p:txBody>
      </p:sp>
      <p:sp>
        <p:nvSpPr>
          <p:cNvPr id="43" name="Slide Number Placeholder 4">
            <a:extLst>
              <a:ext uri="{FF2B5EF4-FFF2-40B4-BE49-F238E27FC236}">
                <a16:creationId xmlns="" xmlns:a16="http://schemas.microsoft.com/office/drawing/2014/main" id="{1006AEB9-8E30-BF47-8218-D88E2916AC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52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Switching fabrics</a:t>
            </a:r>
            <a:endParaRPr lang="en-US" sz="4800" dirty="0"/>
          </a:p>
        </p:txBody>
      </p:sp>
      <p:grpSp>
        <p:nvGrpSpPr>
          <p:cNvPr id="311" name="Group 80">
            <a:extLst>
              <a:ext uri="{FF2B5EF4-FFF2-40B4-BE49-F238E27FC236}">
                <a16:creationId xmlns="" xmlns:a16="http://schemas.microsoft.com/office/drawing/2014/main" id="{3ECBEF50-5AB0-494A-8A71-7779C83BEB48}"/>
              </a:ext>
            </a:extLst>
          </p:cNvPr>
          <p:cNvGrpSpPr>
            <a:grpSpLocks/>
          </p:cNvGrpSpPr>
          <p:nvPr/>
        </p:nvGrpSpPr>
        <p:grpSpPr bwMode="auto">
          <a:xfrm>
            <a:off x="4769281" y="4484392"/>
            <a:ext cx="1093120" cy="215900"/>
            <a:chOff x="876" y="2800"/>
            <a:chExt cx="788" cy="175"/>
          </a:xfrm>
        </p:grpSpPr>
        <p:sp>
          <p:nvSpPr>
            <p:cNvPr id="312" name="Rectangle 81">
              <a:extLst>
                <a:ext uri="{FF2B5EF4-FFF2-40B4-BE49-F238E27FC236}">
                  <a16:creationId xmlns="" xmlns:a16="http://schemas.microsoft.com/office/drawing/2014/main" id="{37D52850-F316-4144-A0B4-19C304D68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Rectangle 82">
              <a:extLst>
                <a:ext uri="{FF2B5EF4-FFF2-40B4-BE49-F238E27FC236}">
                  <a16:creationId xmlns="" xmlns:a16="http://schemas.microsoft.com/office/drawing/2014/main" id="{69439B26-261D-744E-9369-27374726E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Rectangle 83">
              <a:extLst>
                <a:ext uri="{FF2B5EF4-FFF2-40B4-BE49-F238E27FC236}">
                  <a16:creationId xmlns="" xmlns:a16="http://schemas.microsoft.com/office/drawing/2014/main" id="{1B510572-6B31-7748-A75A-BF9B27F84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Rectangle 84">
              <a:extLst>
                <a:ext uri="{FF2B5EF4-FFF2-40B4-BE49-F238E27FC236}">
                  <a16:creationId xmlns="" xmlns:a16="http://schemas.microsoft.com/office/drawing/2014/main" id="{09923AAC-D18D-164E-B81F-A06E6E34C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Line 85">
              <a:extLst>
                <a:ext uri="{FF2B5EF4-FFF2-40B4-BE49-F238E27FC236}">
                  <a16:creationId xmlns="" xmlns:a16="http://schemas.microsoft.com/office/drawing/2014/main" id="{7260ED2A-03CA-CD4D-ADAC-6C8DFBED0D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7"/>
              <a:ext cx="7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7" name="Group 86">
            <a:extLst>
              <a:ext uri="{FF2B5EF4-FFF2-40B4-BE49-F238E27FC236}">
                <a16:creationId xmlns="" xmlns:a16="http://schemas.microsoft.com/office/drawing/2014/main" id="{BE86221D-4C38-2645-B32F-F1F6D4B5168D}"/>
              </a:ext>
            </a:extLst>
          </p:cNvPr>
          <p:cNvGrpSpPr>
            <a:grpSpLocks/>
          </p:cNvGrpSpPr>
          <p:nvPr/>
        </p:nvGrpSpPr>
        <p:grpSpPr bwMode="auto">
          <a:xfrm>
            <a:off x="4767694" y="4879680"/>
            <a:ext cx="1094506" cy="215900"/>
            <a:chOff x="876" y="2800"/>
            <a:chExt cx="789" cy="175"/>
          </a:xfrm>
        </p:grpSpPr>
        <p:sp>
          <p:nvSpPr>
            <p:cNvPr id="318" name="Rectangle 87">
              <a:extLst>
                <a:ext uri="{FF2B5EF4-FFF2-40B4-BE49-F238E27FC236}">
                  <a16:creationId xmlns="" xmlns:a16="http://schemas.microsoft.com/office/drawing/2014/main" id="{996C6DCD-B0C9-FD49-B834-5736A5B7D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9" name="Rectangle 88">
              <a:extLst>
                <a:ext uri="{FF2B5EF4-FFF2-40B4-BE49-F238E27FC236}">
                  <a16:creationId xmlns="" xmlns:a16="http://schemas.microsoft.com/office/drawing/2014/main" id="{4C49FD79-8AA8-374F-9E0F-16366ADC4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89">
              <a:extLst>
                <a:ext uri="{FF2B5EF4-FFF2-40B4-BE49-F238E27FC236}">
                  <a16:creationId xmlns="" xmlns:a16="http://schemas.microsoft.com/office/drawing/2014/main" id="{30AA73C6-743D-744D-8076-CEB84412F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Rectangle 90">
              <a:extLst>
                <a:ext uri="{FF2B5EF4-FFF2-40B4-BE49-F238E27FC236}">
                  <a16:creationId xmlns="" xmlns:a16="http://schemas.microsoft.com/office/drawing/2014/main" id="{4090BF92-DB22-2543-BF40-68E82A14D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Line 91">
              <a:extLst>
                <a:ext uri="{FF2B5EF4-FFF2-40B4-BE49-F238E27FC236}">
                  <a16:creationId xmlns="" xmlns:a16="http://schemas.microsoft.com/office/drawing/2014/main" id="{A9CC5C11-4FA7-CD4B-974B-BE7F20975D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7"/>
              <a:ext cx="7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3" name="Group 92">
            <a:extLst>
              <a:ext uri="{FF2B5EF4-FFF2-40B4-BE49-F238E27FC236}">
                <a16:creationId xmlns="" xmlns:a16="http://schemas.microsoft.com/office/drawing/2014/main" id="{7F0C30F0-93C0-7B41-A148-F2583C432712}"/>
              </a:ext>
            </a:extLst>
          </p:cNvPr>
          <p:cNvGrpSpPr>
            <a:grpSpLocks/>
          </p:cNvGrpSpPr>
          <p:nvPr/>
        </p:nvGrpSpPr>
        <p:grpSpPr bwMode="auto">
          <a:xfrm>
            <a:off x="4762932" y="5306717"/>
            <a:ext cx="1079248" cy="215900"/>
            <a:chOff x="876" y="2800"/>
            <a:chExt cx="778" cy="175"/>
          </a:xfrm>
        </p:grpSpPr>
        <p:sp>
          <p:nvSpPr>
            <p:cNvPr id="324" name="Rectangle 93">
              <a:extLst>
                <a:ext uri="{FF2B5EF4-FFF2-40B4-BE49-F238E27FC236}">
                  <a16:creationId xmlns="" xmlns:a16="http://schemas.microsoft.com/office/drawing/2014/main" id="{FE2D31CC-2899-6644-8262-069C836FE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5" name="Rectangle 94">
              <a:extLst>
                <a:ext uri="{FF2B5EF4-FFF2-40B4-BE49-F238E27FC236}">
                  <a16:creationId xmlns="" xmlns:a16="http://schemas.microsoft.com/office/drawing/2014/main" id="{E084BCAF-AF68-F044-95BA-E9DD3AB8A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6" name="Rectangle 95">
              <a:extLst>
                <a:ext uri="{FF2B5EF4-FFF2-40B4-BE49-F238E27FC236}">
                  <a16:creationId xmlns="" xmlns:a16="http://schemas.microsoft.com/office/drawing/2014/main" id="{21E8CE31-B88B-E249-802C-CD6E7DB90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7" name="Rectangle 96">
              <a:extLst>
                <a:ext uri="{FF2B5EF4-FFF2-40B4-BE49-F238E27FC236}">
                  <a16:creationId xmlns="" xmlns:a16="http://schemas.microsoft.com/office/drawing/2014/main" id="{1D496C77-4D8A-4B49-BD5B-56233FC90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Line 97">
              <a:extLst>
                <a:ext uri="{FF2B5EF4-FFF2-40B4-BE49-F238E27FC236}">
                  <a16:creationId xmlns="" xmlns:a16="http://schemas.microsoft.com/office/drawing/2014/main" id="{A04C69F2-C1EE-854B-B285-27D90EB90A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7"/>
              <a:ext cx="77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29" name="Line 98">
            <a:extLst>
              <a:ext uri="{FF2B5EF4-FFF2-40B4-BE49-F238E27FC236}">
                <a16:creationId xmlns="" xmlns:a16="http://schemas.microsoft.com/office/drawing/2014/main" id="{C1BD91B1-20FC-3B4C-8D6A-F8B58DCC0D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8461" y="4492509"/>
            <a:ext cx="0" cy="10033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30" name="Group 99">
            <a:extLst>
              <a:ext uri="{FF2B5EF4-FFF2-40B4-BE49-F238E27FC236}">
                <a16:creationId xmlns="" xmlns:a16="http://schemas.microsoft.com/office/drawing/2014/main" id="{81F4A5FC-EF4D-2A48-8784-1750FC54BE25}"/>
              </a:ext>
            </a:extLst>
          </p:cNvPr>
          <p:cNvGrpSpPr>
            <a:grpSpLocks/>
          </p:cNvGrpSpPr>
          <p:nvPr/>
        </p:nvGrpSpPr>
        <p:grpSpPr bwMode="auto">
          <a:xfrm>
            <a:off x="5956300" y="4501349"/>
            <a:ext cx="1030288" cy="215900"/>
            <a:chOff x="367" y="3463"/>
            <a:chExt cx="649" cy="136"/>
          </a:xfrm>
        </p:grpSpPr>
        <p:sp>
          <p:nvSpPr>
            <p:cNvPr id="331" name="Rectangle 100">
              <a:extLst>
                <a:ext uri="{FF2B5EF4-FFF2-40B4-BE49-F238E27FC236}">
                  <a16:creationId xmlns="" xmlns:a16="http://schemas.microsoft.com/office/drawing/2014/main" id="{2FA335FE-AECE-F547-B1ED-C257408CF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Rectangle 101">
              <a:extLst>
                <a:ext uri="{FF2B5EF4-FFF2-40B4-BE49-F238E27FC236}">
                  <a16:creationId xmlns="" xmlns:a16="http://schemas.microsoft.com/office/drawing/2014/main" id="{5F80436E-3841-8349-8966-AB341E01A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02">
              <a:extLst>
                <a:ext uri="{FF2B5EF4-FFF2-40B4-BE49-F238E27FC236}">
                  <a16:creationId xmlns="" xmlns:a16="http://schemas.microsoft.com/office/drawing/2014/main" id="{36262B26-2B10-664E-B485-2B0BF6B95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4" name="Rectangle 103">
              <a:extLst>
                <a:ext uri="{FF2B5EF4-FFF2-40B4-BE49-F238E27FC236}">
                  <a16:creationId xmlns="" xmlns:a16="http://schemas.microsoft.com/office/drawing/2014/main" id="{B2511842-B5CE-E242-9E79-819A629F7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5" name="Line 104">
              <a:extLst>
                <a:ext uri="{FF2B5EF4-FFF2-40B4-BE49-F238E27FC236}">
                  <a16:creationId xmlns="" xmlns:a16="http://schemas.microsoft.com/office/drawing/2014/main" id="{CAAFBF8F-0301-0F4D-9DF5-B3DD1EC8C7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" y="3527"/>
              <a:ext cx="64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6" name="Group 105">
            <a:extLst>
              <a:ext uri="{FF2B5EF4-FFF2-40B4-BE49-F238E27FC236}">
                <a16:creationId xmlns="" xmlns:a16="http://schemas.microsoft.com/office/drawing/2014/main" id="{7BFAB449-E2DA-3147-849E-09A6366B098F}"/>
              </a:ext>
            </a:extLst>
          </p:cNvPr>
          <p:cNvGrpSpPr>
            <a:grpSpLocks/>
          </p:cNvGrpSpPr>
          <p:nvPr/>
        </p:nvGrpSpPr>
        <p:grpSpPr bwMode="auto">
          <a:xfrm>
            <a:off x="5946775" y="4893462"/>
            <a:ext cx="1044574" cy="215900"/>
            <a:chOff x="358" y="3463"/>
            <a:chExt cx="658" cy="136"/>
          </a:xfrm>
        </p:grpSpPr>
        <p:sp>
          <p:nvSpPr>
            <p:cNvPr id="337" name="Rectangle 106">
              <a:extLst>
                <a:ext uri="{FF2B5EF4-FFF2-40B4-BE49-F238E27FC236}">
                  <a16:creationId xmlns="" xmlns:a16="http://schemas.microsoft.com/office/drawing/2014/main" id="{9C435B71-B7F9-FB4C-83FD-6F3745D78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07">
              <a:extLst>
                <a:ext uri="{FF2B5EF4-FFF2-40B4-BE49-F238E27FC236}">
                  <a16:creationId xmlns="" xmlns:a16="http://schemas.microsoft.com/office/drawing/2014/main" id="{09CF7D3E-B128-CD40-817F-B76520EE2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108">
              <a:extLst>
                <a:ext uri="{FF2B5EF4-FFF2-40B4-BE49-F238E27FC236}">
                  <a16:creationId xmlns="" xmlns:a16="http://schemas.microsoft.com/office/drawing/2014/main" id="{86FC5905-2FC0-E848-B8C8-C68F4ACE3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109">
              <a:extLst>
                <a:ext uri="{FF2B5EF4-FFF2-40B4-BE49-F238E27FC236}">
                  <a16:creationId xmlns="" xmlns:a16="http://schemas.microsoft.com/office/drawing/2014/main" id="{D25B9F48-5027-6E4E-BF5B-3A43EB204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Line 110">
              <a:extLst>
                <a:ext uri="{FF2B5EF4-FFF2-40B4-BE49-F238E27FC236}">
                  <a16:creationId xmlns="" xmlns:a16="http://schemas.microsoft.com/office/drawing/2014/main" id="{9C3B50DE-BC7E-DC41-A996-2C8F99ABF5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" y="3527"/>
              <a:ext cx="65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111">
            <a:extLst>
              <a:ext uri="{FF2B5EF4-FFF2-40B4-BE49-F238E27FC236}">
                <a16:creationId xmlns="" xmlns:a16="http://schemas.microsoft.com/office/drawing/2014/main" id="{7DF99D71-DDE6-BB4A-B28F-8F67E7B81B51}"/>
              </a:ext>
            </a:extLst>
          </p:cNvPr>
          <p:cNvGrpSpPr>
            <a:grpSpLocks/>
          </p:cNvGrpSpPr>
          <p:nvPr/>
        </p:nvGrpSpPr>
        <p:grpSpPr bwMode="auto">
          <a:xfrm>
            <a:off x="5945368" y="5315556"/>
            <a:ext cx="1046163" cy="215900"/>
            <a:chOff x="357" y="3463"/>
            <a:chExt cx="659" cy="136"/>
          </a:xfrm>
        </p:grpSpPr>
        <p:sp>
          <p:nvSpPr>
            <p:cNvPr id="343" name="Rectangle 112">
              <a:extLst>
                <a:ext uri="{FF2B5EF4-FFF2-40B4-BE49-F238E27FC236}">
                  <a16:creationId xmlns="" xmlns:a16="http://schemas.microsoft.com/office/drawing/2014/main" id="{DADCADDA-AA8E-4A44-881D-9DC078380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113">
              <a:extLst>
                <a:ext uri="{FF2B5EF4-FFF2-40B4-BE49-F238E27FC236}">
                  <a16:creationId xmlns="" xmlns:a16="http://schemas.microsoft.com/office/drawing/2014/main" id="{7B071F8D-7A94-0545-B654-6656D361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114">
              <a:extLst>
                <a:ext uri="{FF2B5EF4-FFF2-40B4-BE49-F238E27FC236}">
                  <a16:creationId xmlns="" xmlns:a16="http://schemas.microsoft.com/office/drawing/2014/main" id="{030036A2-20DE-2444-AEBC-ED30EF2E2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115">
              <a:extLst>
                <a:ext uri="{FF2B5EF4-FFF2-40B4-BE49-F238E27FC236}">
                  <a16:creationId xmlns="" xmlns:a16="http://schemas.microsoft.com/office/drawing/2014/main" id="{618626AC-F6A7-144F-9ECD-C4110EE9D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Line 116">
              <a:extLst>
                <a:ext uri="{FF2B5EF4-FFF2-40B4-BE49-F238E27FC236}">
                  <a16:creationId xmlns="" xmlns:a16="http://schemas.microsoft.com/office/drawing/2014/main" id="{75B1015E-550F-F445-8AAB-4865BC07F6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" y="3527"/>
              <a:ext cx="65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48" name="Text Box 117">
            <a:extLst>
              <a:ext uri="{FF2B5EF4-FFF2-40B4-BE49-F238E27FC236}">
                <a16:creationId xmlns="" xmlns:a16="http://schemas.microsoft.com/office/drawing/2014/main" id="{65D98CB2-870D-B84B-9B0C-A2C174F40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477" y="5835029"/>
            <a:ext cx="552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bus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DD7B28A1-7CC4-EC46-9F15-0A766D5FA67A}"/>
              </a:ext>
            </a:extLst>
          </p:cNvPr>
          <p:cNvGrpSpPr/>
          <p:nvPr/>
        </p:nvGrpSpPr>
        <p:grpSpPr>
          <a:xfrm>
            <a:off x="1186899" y="4439064"/>
            <a:ext cx="2798763" cy="1752600"/>
            <a:chOff x="1968777" y="4452316"/>
            <a:chExt cx="2798763" cy="1752600"/>
          </a:xfrm>
        </p:grpSpPr>
        <p:grpSp>
          <p:nvGrpSpPr>
            <p:cNvPr id="272" name="Group 30">
              <a:extLst>
                <a:ext uri="{FF2B5EF4-FFF2-40B4-BE49-F238E27FC236}">
                  <a16:creationId xmlns="" xmlns:a16="http://schemas.microsoft.com/office/drawing/2014/main" id="{3C7C2E39-B8FC-2E4E-8EA7-9980DBE08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1177" y="4534866"/>
              <a:ext cx="890588" cy="215900"/>
              <a:chOff x="876" y="2800"/>
              <a:chExt cx="642" cy="175"/>
            </a:xfrm>
          </p:grpSpPr>
          <p:sp>
            <p:nvSpPr>
              <p:cNvPr id="273" name="Rectangle 7">
                <a:extLst>
                  <a:ext uri="{FF2B5EF4-FFF2-40B4-BE49-F238E27FC236}">
                    <a16:creationId xmlns="" xmlns:a16="http://schemas.microsoft.com/office/drawing/2014/main" id="{1C7F0720-4AD3-7241-A18F-1322594DD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4" name="Rectangle 8">
                <a:extLst>
                  <a:ext uri="{FF2B5EF4-FFF2-40B4-BE49-F238E27FC236}">
                    <a16:creationId xmlns="" xmlns:a16="http://schemas.microsoft.com/office/drawing/2014/main" id="{6355CF5C-E1D3-BA4C-9C14-531EDEA37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5" name="Rectangle 9">
                <a:extLst>
                  <a:ext uri="{FF2B5EF4-FFF2-40B4-BE49-F238E27FC236}">
                    <a16:creationId xmlns="" xmlns:a16="http://schemas.microsoft.com/office/drawing/2014/main" id="{41497BCF-AE4C-5744-A422-5C5FDE760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6" name="Rectangle 10">
                <a:extLst>
                  <a:ext uri="{FF2B5EF4-FFF2-40B4-BE49-F238E27FC236}">
                    <a16:creationId xmlns="" xmlns:a16="http://schemas.microsoft.com/office/drawing/2014/main" id="{BC5034A8-3C30-BA4E-9BC2-0F43C7DAE0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7" name="Line 11">
                <a:extLst>
                  <a:ext uri="{FF2B5EF4-FFF2-40B4-BE49-F238E27FC236}">
                    <a16:creationId xmlns="" xmlns:a16="http://schemas.microsoft.com/office/drawing/2014/main" id="{B5DB05AA-F635-D242-8616-F8A3AA1232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78" name="Group 45">
              <a:extLst>
                <a:ext uri="{FF2B5EF4-FFF2-40B4-BE49-F238E27FC236}">
                  <a16:creationId xmlns="" xmlns:a16="http://schemas.microsoft.com/office/drawing/2014/main" id="{8F35E416-2B65-1B4A-A2ED-DF0FCBEF83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7365" y="4930154"/>
              <a:ext cx="890587" cy="215900"/>
              <a:chOff x="876" y="2800"/>
              <a:chExt cx="642" cy="175"/>
            </a:xfrm>
          </p:grpSpPr>
          <p:sp>
            <p:nvSpPr>
              <p:cNvPr id="279" name="Rectangle 46">
                <a:extLst>
                  <a:ext uri="{FF2B5EF4-FFF2-40B4-BE49-F238E27FC236}">
                    <a16:creationId xmlns="" xmlns:a16="http://schemas.microsoft.com/office/drawing/2014/main" id="{38918ABB-CEF1-BE45-AEE3-24901AE83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0" name="Rectangle 47">
                <a:extLst>
                  <a:ext uri="{FF2B5EF4-FFF2-40B4-BE49-F238E27FC236}">
                    <a16:creationId xmlns="" xmlns:a16="http://schemas.microsoft.com/office/drawing/2014/main" id="{FA6EFB7D-6BC0-FB42-BB60-753DA2C2F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1" name="Rectangle 48">
                <a:extLst>
                  <a:ext uri="{FF2B5EF4-FFF2-40B4-BE49-F238E27FC236}">
                    <a16:creationId xmlns="" xmlns:a16="http://schemas.microsoft.com/office/drawing/2014/main" id="{E6160B5F-9E39-C440-A991-AFCD9768C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2" name="Rectangle 49">
                <a:extLst>
                  <a:ext uri="{FF2B5EF4-FFF2-40B4-BE49-F238E27FC236}">
                    <a16:creationId xmlns="" xmlns:a16="http://schemas.microsoft.com/office/drawing/2014/main" id="{732D2AFE-3597-644A-97A1-28DD2F90A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3" name="Line 50">
                <a:extLst>
                  <a:ext uri="{FF2B5EF4-FFF2-40B4-BE49-F238E27FC236}">
                    <a16:creationId xmlns="" xmlns:a16="http://schemas.microsoft.com/office/drawing/2014/main" id="{F3A2C82B-D735-2341-9B29-100DEE8F8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84" name="Group 51">
              <a:extLst>
                <a:ext uri="{FF2B5EF4-FFF2-40B4-BE49-F238E27FC236}">
                  <a16:creationId xmlns="" xmlns:a16="http://schemas.microsoft.com/office/drawing/2014/main" id="{6BA36712-4E6B-3D4E-ABC4-0CE286CF56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2602" y="5357191"/>
              <a:ext cx="890588" cy="215900"/>
              <a:chOff x="876" y="2800"/>
              <a:chExt cx="642" cy="175"/>
            </a:xfrm>
          </p:grpSpPr>
          <p:sp>
            <p:nvSpPr>
              <p:cNvPr id="285" name="Rectangle 52">
                <a:extLst>
                  <a:ext uri="{FF2B5EF4-FFF2-40B4-BE49-F238E27FC236}">
                    <a16:creationId xmlns="" xmlns:a16="http://schemas.microsoft.com/office/drawing/2014/main" id="{129DC514-3311-A645-A11D-4FF6C0B87A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6" name="Rectangle 53">
                <a:extLst>
                  <a:ext uri="{FF2B5EF4-FFF2-40B4-BE49-F238E27FC236}">
                    <a16:creationId xmlns="" xmlns:a16="http://schemas.microsoft.com/office/drawing/2014/main" id="{E067EF7E-DADF-0B4B-A13F-44B8E3407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7" name="Rectangle 54">
                <a:extLst>
                  <a:ext uri="{FF2B5EF4-FFF2-40B4-BE49-F238E27FC236}">
                    <a16:creationId xmlns="" xmlns:a16="http://schemas.microsoft.com/office/drawing/2014/main" id="{9301E58F-0697-8D42-8D86-7240128C54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8" name="Rectangle 55">
                <a:extLst>
                  <a:ext uri="{FF2B5EF4-FFF2-40B4-BE49-F238E27FC236}">
                    <a16:creationId xmlns="" xmlns:a16="http://schemas.microsoft.com/office/drawing/2014/main" id="{91AC650D-8A42-5745-8F86-B02FF0476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9" name="Line 56">
                <a:extLst>
                  <a:ext uri="{FF2B5EF4-FFF2-40B4-BE49-F238E27FC236}">
                    <a16:creationId xmlns="" xmlns:a16="http://schemas.microsoft.com/office/drawing/2014/main" id="{F9808253-1247-4A4E-96D0-B5614778EF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0" name="Rectangle 57">
              <a:extLst>
                <a:ext uri="{FF2B5EF4-FFF2-40B4-BE49-F238E27FC236}">
                  <a16:creationId xmlns="" xmlns:a16="http://schemas.microsoft.com/office/drawing/2014/main" id="{41269D84-F7BD-3F4B-9EE9-23A8785FC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0015" y="4452316"/>
              <a:ext cx="704850" cy="117633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1" name="Group 64">
              <a:extLst>
                <a:ext uri="{FF2B5EF4-FFF2-40B4-BE49-F238E27FC236}">
                  <a16:creationId xmlns="" xmlns:a16="http://schemas.microsoft.com/office/drawing/2014/main" id="{F48BF83F-9F4E-FD44-89AF-AD40F44A1B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9627" y="4533279"/>
              <a:ext cx="890588" cy="215900"/>
              <a:chOff x="455" y="3463"/>
              <a:chExt cx="561" cy="136"/>
            </a:xfrm>
          </p:grpSpPr>
          <p:sp>
            <p:nvSpPr>
              <p:cNvPr id="292" name="Rectangle 59">
                <a:extLst>
                  <a:ext uri="{FF2B5EF4-FFF2-40B4-BE49-F238E27FC236}">
                    <a16:creationId xmlns="" xmlns:a16="http://schemas.microsoft.com/office/drawing/2014/main" id="{4E120DDC-4D03-F842-94AF-27555EDB5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Rectangle 60">
                <a:extLst>
                  <a:ext uri="{FF2B5EF4-FFF2-40B4-BE49-F238E27FC236}">
                    <a16:creationId xmlns="" xmlns:a16="http://schemas.microsoft.com/office/drawing/2014/main" id="{3E424F24-DEF2-7747-8B32-D2D41DCCB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4" name="Rectangle 61">
                <a:extLst>
                  <a:ext uri="{FF2B5EF4-FFF2-40B4-BE49-F238E27FC236}">
                    <a16:creationId xmlns="" xmlns:a16="http://schemas.microsoft.com/office/drawing/2014/main" id="{FCB1CF36-46B1-EA41-94AF-564D1A453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Rectangle 62">
                <a:extLst>
                  <a:ext uri="{FF2B5EF4-FFF2-40B4-BE49-F238E27FC236}">
                    <a16:creationId xmlns="" xmlns:a16="http://schemas.microsoft.com/office/drawing/2014/main" id="{1B49B267-612F-D84F-B02E-C419C0367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6" name="Line 63">
                <a:extLst>
                  <a:ext uri="{FF2B5EF4-FFF2-40B4-BE49-F238E27FC236}">
                    <a16:creationId xmlns="" xmlns:a16="http://schemas.microsoft.com/office/drawing/2014/main" id="{DCB1F4FA-6E22-F34F-B286-A108C325D3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5" y="3527"/>
                <a:ext cx="561" cy="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97" name="Group 65">
              <a:extLst>
                <a:ext uri="{FF2B5EF4-FFF2-40B4-BE49-F238E27FC236}">
                  <a16:creationId xmlns="" xmlns:a16="http://schemas.microsoft.com/office/drawing/2014/main" id="{719D39D4-FB51-7642-A36C-2BA36F1698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4390" y="4925391"/>
              <a:ext cx="890587" cy="215900"/>
              <a:chOff x="455" y="3463"/>
              <a:chExt cx="561" cy="136"/>
            </a:xfrm>
          </p:grpSpPr>
          <p:sp>
            <p:nvSpPr>
              <p:cNvPr id="298" name="Rectangle 66">
                <a:extLst>
                  <a:ext uri="{FF2B5EF4-FFF2-40B4-BE49-F238E27FC236}">
                    <a16:creationId xmlns="" xmlns:a16="http://schemas.microsoft.com/office/drawing/2014/main" id="{95FB090C-CEEB-C642-B6E3-796C33946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Rectangle 67">
                <a:extLst>
                  <a:ext uri="{FF2B5EF4-FFF2-40B4-BE49-F238E27FC236}">
                    <a16:creationId xmlns="" xmlns:a16="http://schemas.microsoft.com/office/drawing/2014/main" id="{90EE24D2-2A23-8A4B-AA6C-77A540AF2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0" name="Rectangle 68">
                <a:extLst>
                  <a:ext uri="{FF2B5EF4-FFF2-40B4-BE49-F238E27FC236}">
                    <a16:creationId xmlns="" xmlns:a16="http://schemas.microsoft.com/office/drawing/2014/main" id="{0EE5C8FE-A545-1047-B033-D000FCC810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1" name="Rectangle 69">
                <a:extLst>
                  <a:ext uri="{FF2B5EF4-FFF2-40B4-BE49-F238E27FC236}">
                    <a16:creationId xmlns="" xmlns:a16="http://schemas.microsoft.com/office/drawing/2014/main" id="{4875E736-57B1-E048-9DED-51F8EBE44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2" name="Line 70">
                <a:extLst>
                  <a:ext uri="{FF2B5EF4-FFF2-40B4-BE49-F238E27FC236}">
                    <a16:creationId xmlns="" xmlns:a16="http://schemas.microsoft.com/office/drawing/2014/main" id="{F1131A5F-4FDC-6741-B569-1128DD469C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5" y="3527"/>
                <a:ext cx="561" cy="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03" name="Group 71">
              <a:extLst>
                <a:ext uri="{FF2B5EF4-FFF2-40B4-BE49-F238E27FC236}">
                  <a16:creationId xmlns="" xmlns:a16="http://schemas.microsoft.com/office/drawing/2014/main" id="{563249F4-CC55-FB4F-A620-0484EEFEF1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9627" y="5352429"/>
              <a:ext cx="890588" cy="215900"/>
              <a:chOff x="455" y="3463"/>
              <a:chExt cx="561" cy="136"/>
            </a:xfrm>
          </p:grpSpPr>
          <p:sp>
            <p:nvSpPr>
              <p:cNvPr id="304" name="Rectangle 72">
                <a:extLst>
                  <a:ext uri="{FF2B5EF4-FFF2-40B4-BE49-F238E27FC236}">
                    <a16:creationId xmlns="" xmlns:a16="http://schemas.microsoft.com/office/drawing/2014/main" id="{C3C1DBA4-7D91-0449-AD0B-AD923E3486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5" name="Rectangle 73">
                <a:extLst>
                  <a:ext uri="{FF2B5EF4-FFF2-40B4-BE49-F238E27FC236}">
                    <a16:creationId xmlns="" xmlns:a16="http://schemas.microsoft.com/office/drawing/2014/main" id="{0745B999-1569-3C4A-B569-9ACA75633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6" name="Rectangle 74">
                <a:extLst>
                  <a:ext uri="{FF2B5EF4-FFF2-40B4-BE49-F238E27FC236}">
                    <a16:creationId xmlns="" xmlns:a16="http://schemas.microsoft.com/office/drawing/2014/main" id="{521FB59F-393E-8043-969B-F335910062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7" name="Rectangle 75">
                <a:extLst>
                  <a:ext uri="{FF2B5EF4-FFF2-40B4-BE49-F238E27FC236}">
                    <a16:creationId xmlns="" xmlns:a16="http://schemas.microsoft.com/office/drawing/2014/main" id="{8BDC1A78-9913-4044-AD8A-150F04126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8" name="Line 76">
                <a:extLst>
                  <a:ext uri="{FF2B5EF4-FFF2-40B4-BE49-F238E27FC236}">
                    <a16:creationId xmlns="" xmlns:a16="http://schemas.microsoft.com/office/drawing/2014/main" id="{7CD69A6B-8BD5-4A41-B066-4747BB61C4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5" y="3527"/>
                <a:ext cx="561" cy="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" name="Text Box 78">
              <a:extLst>
                <a:ext uri="{FF2B5EF4-FFF2-40B4-BE49-F238E27FC236}">
                  <a16:creationId xmlns="" xmlns:a16="http://schemas.microsoft.com/office/drawing/2014/main" id="{DA6CCE94-715B-FE44-98B3-B5292404E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327" y="5838204"/>
              <a:ext cx="1009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memory</a:t>
              </a:r>
            </a:p>
          </p:txBody>
        </p:sp>
        <p:sp>
          <p:nvSpPr>
            <p:cNvPr id="310" name="Text Box 79">
              <a:extLst>
                <a:ext uri="{FF2B5EF4-FFF2-40B4-BE49-F238E27FC236}">
                  <a16:creationId xmlns="" xmlns:a16="http://schemas.microsoft.com/office/drawing/2014/main" id="{021CED6C-C2DB-174F-9D8D-6ABDA56141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1752" y="4769816"/>
              <a:ext cx="82391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memory</a:t>
              </a:r>
            </a:p>
          </p:txBody>
        </p:sp>
        <p:sp>
          <p:nvSpPr>
            <p:cNvPr id="402" name="Freeform 171">
              <a:extLst>
                <a:ext uri="{FF2B5EF4-FFF2-40B4-BE49-F238E27FC236}">
                  <a16:creationId xmlns="" xmlns:a16="http://schemas.microsoft.com/office/drawing/2014/main" id="{7EB6C5B2-8711-C447-BA49-C9D20140F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777" y="4577729"/>
              <a:ext cx="2798763" cy="412750"/>
            </a:xfrm>
            <a:custGeom>
              <a:avLst/>
              <a:gdLst>
                <a:gd name="T0" fmla="*/ 0 w 1763"/>
                <a:gd name="T1" fmla="*/ 0 h 260"/>
                <a:gd name="T2" fmla="*/ 2147483647 w 1763"/>
                <a:gd name="T3" fmla="*/ 0 h 260"/>
                <a:gd name="T4" fmla="*/ 2147483647 w 1763"/>
                <a:gd name="T5" fmla="*/ 2147483647 h 260"/>
                <a:gd name="T6" fmla="*/ 2147483647 w 1763"/>
                <a:gd name="T7" fmla="*/ 2147483647 h 2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63"/>
                <a:gd name="T13" fmla="*/ 0 h 260"/>
                <a:gd name="T14" fmla="*/ 1763 w 1763"/>
                <a:gd name="T15" fmla="*/ 260 h 2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63" h="260">
                  <a:moveTo>
                    <a:pt x="0" y="0"/>
                  </a:moveTo>
                  <a:lnTo>
                    <a:pt x="689" y="0"/>
                  </a:lnTo>
                  <a:lnTo>
                    <a:pt x="1054" y="260"/>
                  </a:lnTo>
                  <a:lnTo>
                    <a:pt x="1763" y="26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03" name="Freeform 172">
            <a:extLst>
              <a:ext uri="{FF2B5EF4-FFF2-40B4-BE49-F238E27FC236}">
                <a16:creationId xmlns="" xmlns:a16="http://schemas.microsoft.com/office/drawing/2014/main" id="{FCB8CAB7-7CE5-7648-B2F4-FF9B29F4C17A}"/>
              </a:ext>
            </a:extLst>
          </p:cNvPr>
          <p:cNvSpPr>
            <a:spLocks/>
          </p:cNvSpPr>
          <p:nvPr/>
        </p:nvSpPr>
        <p:spPr bwMode="auto">
          <a:xfrm>
            <a:off x="5019952" y="4547566"/>
            <a:ext cx="2006600" cy="400050"/>
          </a:xfrm>
          <a:custGeom>
            <a:avLst/>
            <a:gdLst>
              <a:gd name="T0" fmla="*/ 0 w 1264"/>
              <a:gd name="T1" fmla="*/ 2147483647 h 252"/>
              <a:gd name="T2" fmla="*/ 2147483647 w 1264"/>
              <a:gd name="T3" fmla="*/ 0 h 252"/>
              <a:gd name="T4" fmla="*/ 2147483647 w 1264"/>
              <a:gd name="T5" fmla="*/ 2147483647 h 252"/>
              <a:gd name="T6" fmla="*/ 2147483647 w 1264"/>
              <a:gd name="T7" fmla="*/ 2147483647 h 252"/>
              <a:gd name="T8" fmla="*/ 0 60000 65536"/>
              <a:gd name="T9" fmla="*/ 0 60000 65536"/>
              <a:gd name="T10" fmla="*/ 0 60000 65536"/>
              <a:gd name="T11" fmla="*/ 0 60000 65536"/>
              <a:gd name="T12" fmla="*/ 0 w 1264"/>
              <a:gd name="T13" fmla="*/ 0 h 252"/>
              <a:gd name="T14" fmla="*/ 1264 w 1264"/>
              <a:gd name="T15" fmla="*/ 252 h 2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64" h="252">
                <a:moveTo>
                  <a:pt x="0" y="2"/>
                </a:moveTo>
                <a:lnTo>
                  <a:pt x="622" y="0"/>
                </a:lnTo>
                <a:lnTo>
                  <a:pt x="616" y="246"/>
                </a:lnTo>
                <a:lnTo>
                  <a:pt x="1264" y="252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05" name="Group 404">
            <a:extLst>
              <a:ext uri="{FF2B5EF4-FFF2-40B4-BE49-F238E27FC236}">
                <a16:creationId xmlns="" xmlns:a16="http://schemas.microsoft.com/office/drawing/2014/main" id="{1E24DDED-AAB8-1742-BEAA-647483FFA1F1}"/>
              </a:ext>
            </a:extLst>
          </p:cNvPr>
          <p:cNvGrpSpPr/>
          <p:nvPr/>
        </p:nvGrpSpPr>
        <p:grpSpPr>
          <a:xfrm>
            <a:off x="7258217" y="4512159"/>
            <a:ext cx="2854919" cy="2066925"/>
            <a:chOff x="6675121" y="4485654"/>
            <a:chExt cx="2854919" cy="2066925"/>
          </a:xfrm>
        </p:grpSpPr>
        <p:grpSp>
          <p:nvGrpSpPr>
            <p:cNvPr id="349" name="Group 118">
              <a:extLst>
                <a:ext uri="{FF2B5EF4-FFF2-40B4-BE49-F238E27FC236}">
                  <a16:creationId xmlns="" xmlns:a16="http://schemas.microsoft.com/office/drawing/2014/main" id="{2404D93A-580B-0343-A0B1-94D96A2957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69465" y="4485654"/>
              <a:ext cx="890587" cy="215900"/>
              <a:chOff x="876" y="2800"/>
              <a:chExt cx="642" cy="175"/>
            </a:xfrm>
          </p:grpSpPr>
          <p:sp>
            <p:nvSpPr>
              <p:cNvPr id="350" name="Rectangle 119">
                <a:extLst>
                  <a:ext uri="{FF2B5EF4-FFF2-40B4-BE49-F238E27FC236}">
                    <a16:creationId xmlns="" xmlns:a16="http://schemas.microsoft.com/office/drawing/2014/main" id="{DEAD9689-A93F-3A40-A1F0-D7AE2D9E4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1" name="Rectangle 120">
                <a:extLst>
                  <a:ext uri="{FF2B5EF4-FFF2-40B4-BE49-F238E27FC236}">
                    <a16:creationId xmlns="" xmlns:a16="http://schemas.microsoft.com/office/drawing/2014/main" id="{B3FFEF5C-2CF8-3F48-AA70-FCA4463DD7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2" name="Rectangle 121">
                <a:extLst>
                  <a:ext uri="{FF2B5EF4-FFF2-40B4-BE49-F238E27FC236}">
                    <a16:creationId xmlns="" xmlns:a16="http://schemas.microsoft.com/office/drawing/2014/main" id="{6DA8F41A-C8D0-E84A-BE1E-E5D24606E5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3" name="Rectangle 122">
                <a:extLst>
                  <a:ext uri="{FF2B5EF4-FFF2-40B4-BE49-F238E27FC236}">
                    <a16:creationId xmlns="" xmlns:a16="http://schemas.microsoft.com/office/drawing/2014/main" id="{71D1CE81-6E07-EF41-B20A-E71DD54276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Line 123">
                <a:extLst>
                  <a:ext uri="{FF2B5EF4-FFF2-40B4-BE49-F238E27FC236}">
                    <a16:creationId xmlns="" xmlns:a16="http://schemas.microsoft.com/office/drawing/2014/main" id="{FDFD10E9-723C-CD4E-9B1E-C974437C04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55" name="Group 124">
              <a:extLst>
                <a:ext uri="{FF2B5EF4-FFF2-40B4-BE49-F238E27FC236}">
                  <a16:creationId xmlns="" xmlns:a16="http://schemas.microsoft.com/office/drawing/2014/main" id="{531A9996-A8C0-EB41-BF87-89DBD438FC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5652" y="4880941"/>
              <a:ext cx="890588" cy="215900"/>
              <a:chOff x="876" y="2800"/>
              <a:chExt cx="642" cy="175"/>
            </a:xfrm>
          </p:grpSpPr>
          <p:sp>
            <p:nvSpPr>
              <p:cNvPr id="356" name="Rectangle 125">
                <a:extLst>
                  <a:ext uri="{FF2B5EF4-FFF2-40B4-BE49-F238E27FC236}">
                    <a16:creationId xmlns="" xmlns:a16="http://schemas.microsoft.com/office/drawing/2014/main" id="{2467BB19-E02A-7B43-9CA4-9F0EB6D87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7" name="Rectangle 126">
                <a:extLst>
                  <a:ext uri="{FF2B5EF4-FFF2-40B4-BE49-F238E27FC236}">
                    <a16:creationId xmlns="" xmlns:a16="http://schemas.microsoft.com/office/drawing/2014/main" id="{962D332A-F4A3-2648-892A-BD845A64A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Rectangle 127">
                <a:extLst>
                  <a:ext uri="{FF2B5EF4-FFF2-40B4-BE49-F238E27FC236}">
                    <a16:creationId xmlns="" xmlns:a16="http://schemas.microsoft.com/office/drawing/2014/main" id="{72283283-9F77-C548-B1DC-7BED275E1B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9" name="Rectangle 128">
                <a:extLst>
                  <a:ext uri="{FF2B5EF4-FFF2-40B4-BE49-F238E27FC236}">
                    <a16:creationId xmlns="" xmlns:a16="http://schemas.microsoft.com/office/drawing/2014/main" id="{97305BF1-8C59-FD41-8C7C-DBF2671DC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Line 129">
                <a:extLst>
                  <a:ext uri="{FF2B5EF4-FFF2-40B4-BE49-F238E27FC236}">
                    <a16:creationId xmlns="" xmlns:a16="http://schemas.microsoft.com/office/drawing/2014/main" id="{EDA7687B-3958-E947-B115-E7E60D777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61" name="Group 130">
              <a:extLst>
                <a:ext uri="{FF2B5EF4-FFF2-40B4-BE49-F238E27FC236}">
                  <a16:creationId xmlns="" xmlns:a16="http://schemas.microsoft.com/office/drawing/2014/main" id="{1D80AFC0-343E-BE4A-A3A1-7940B6D336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0890" y="5307979"/>
              <a:ext cx="890587" cy="215900"/>
              <a:chOff x="876" y="2800"/>
              <a:chExt cx="642" cy="175"/>
            </a:xfrm>
          </p:grpSpPr>
          <p:sp>
            <p:nvSpPr>
              <p:cNvPr id="362" name="Rectangle 131">
                <a:extLst>
                  <a:ext uri="{FF2B5EF4-FFF2-40B4-BE49-F238E27FC236}">
                    <a16:creationId xmlns="" xmlns:a16="http://schemas.microsoft.com/office/drawing/2014/main" id="{41CC58A8-B68E-884F-BD23-08890CD10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3" name="Rectangle 132">
                <a:extLst>
                  <a:ext uri="{FF2B5EF4-FFF2-40B4-BE49-F238E27FC236}">
                    <a16:creationId xmlns="" xmlns:a16="http://schemas.microsoft.com/office/drawing/2014/main" id="{328A28BC-2B66-004E-8A4C-0C3533209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4" name="Rectangle 133">
                <a:extLst>
                  <a:ext uri="{FF2B5EF4-FFF2-40B4-BE49-F238E27FC236}">
                    <a16:creationId xmlns="" xmlns:a16="http://schemas.microsoft.com/office/drawing/2014/main" id="{D3427F60-4900-B545-B8F2-23A9D4F798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5" name="Rectangle 134">
                <a:extLst>
                  <a:ext uri="{FF2B5EF4-FFF2-40B4-BE49-F238E27FC236}">
                    <a16:creationId xmlns="" xmlns:a16="http://schemas.microsoft.com/office/drawing/2014/main" id="{808AFD0A-2342-6644-842D-FE9FD6D74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6" name="Line 135">
                <a:extLst>
                  <a:ext uri="{FF2B5EF4-FFF2-40B4-BE49-F238E27FC236}">
                    <a16:creationId xmlns="" xmlns:a16="http://schemas.microsoft.com/office/drawing/2014/main" id="{AA67B89E-6553-F34F-9540-BB2888CF45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67" name="Group 154">
              <a:extLst>
                <a:ext uri="{FF2B5EF4-FFF2-40B4-BE49-F238E27FC236}">
                  <a16:creationId xmlns="" xmlns:a16="http://schemas.microsoft.com/office/drawing/2014/main" id="{FCB38C9C-3886-1647-B1BB-77C45B97E5F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8564840" y="5504829"/>
              <a:ext cx="895350" cy="1035050"/>
              <a:chOff x="2954" y="2776"/>
              <a:chExt cx="564" cy="652"/>
            </a:xfrm>
          </p:grpSpPr>
          <p:grpSp>
            <p:nvGrpSpPr>
              <p:cNvPr id="368" name="Group 136">
                <a:extLst>
                  <a:ext uri="{FF2B5EF4-FFF2-40B4-BE49-F238E27FC236}">
                    <a16:creationId xmlns="" xmlns:a16="http://schemas.microsoft.com/office/drawing/2014/main" id="{EC3B7F3C-2CB6-0642-A702-4D975C6E96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4" y="2776"/>
                <a:ext cx="561" cy="136"/>
                <a:chOff x="455" y="3463"/>
                <a:chExt cx="561" cy="136"/>
              </a:xfrm>
            </p:grpSpPr>
            <p:sp>
              <p:nvSpPr>
                <p:cNvPr id="381" name="Rectangle 137">
                  <a:extLst>
                    <a:ext uri="{FF2B5EF4-FFF2-40B4-BE49-F238E27FC236}">
                      <a16:creationId xmlns="" xmlns:a16="http://schemas.microsoft.com/office/drawing/2014/main" id="{333322CF-B6EA-B147-806E-4AA261E430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2" name="Rectangle 138">
                  <a:extLst>
                    <a:ext uri="{FF2B5EF4-FFF2-40B4-BE49-F238E27FC236}">
                      <a16:creationId xmlns="" xmlns:a16="http://schemas.microsoft.com/office/drawing/2014/main" id="{884DB2A1-6022-954E-B68C-90C304DB2F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3" name="Rectangle 139">
                  <a:extLst>
                    <a:ext uri="{FF2B5EF4-FFF2-40B4-BE49-F238E27FC236}">
                      <a16:creationId xmlns="" xmlns:a16="http://schemas.microsoft.com/office/drawing/2014/main" id="{39F0096A-6580-4B46-9B00-336282120F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4" name="Rectangle 140">
                  <a:extLst>
                    <a:ext uri="{FF2B5EF4-FFF2-40B4-BE49-F238E27FC236}">
                      <a16:creationId xmlns="" xmlns:a16="http://schemas.microsoft.com/office/drawing/2014/main" id="{A02D0A4D-FA88-0445-B282-F1BA4FAC99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5" name="Line 141">
                  <a:extLst>
                    <a:ext uri="{FF2B5EF4-FFF2-40B4-BE49-F238E27FC236}">
                      <a16:creationId xmlns="" xmlns:a16="http://schemas.microsoft.com/office/drawing/2014/main" id="{89AD7EED-2D5A-5F4B-82F9-B59964C7DA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369" name="Group 142">
                <a:extLst>
                  <a:ext uri="{FF2B5EF4-FFF2-40B4-BE49-F238E27FC236}">
                    <a16:creationId xmlns="" xmlns:a16="http://schemas.microsoft.com/office/drawing/2014/main" id="{971C6EFA-672B-694C-8BB8-27DE8BB10C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7" y="3023"/>
                <a:ext cx="561" cy="136"/>
                <a:chOff x="455" y="3463"/>
                <a:chExt cx="561" cy="136"/>
              </a:xfrm>
            </p:grpSpPr>
            <p:sp>
              <p:nvSpPr>
                <p:cNvPr id="376" name="Rectangle 143">
                  <a:extLst>
                    <a:ext uri="{FF2B5EF4-FFF2-40B4-BE49-F238E27FC236}">
                      <a16:creationId xmlns="" xmlns:a16="http://schemas.microsoft.com/office/drawing/2014/main" id="{E55A46DF-72A8-7647-876D-A80F15CE88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7" name="Rectangle 144">
                  <a:extLst>
                    <a:ext uri="{FF2B5EF4-FFF2-40B4-BE49-F238E27FC236}">
                      <a16:creationId xmlns="" xmlns:a16="http://schemas.microsoft.com/office/drawing/2014/main" id="{D24335F7-9D53-044A-AB88-2B9DF89C15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8" name="Rectangle 145">
                  <a:extLst>
                    <a:ext uri="{FF2B5EF4-FFF2-40B4-BE49-F238E27FC236}">
                      <a16:creationId xmlns="" xmlns:a16="http://schemas.microsoft.com/office/drawing/2014/main" id="{6AEA3435-AA43-9F49-9087-3A3338DAFA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9" name="Rectangle 146">
                  <a:extLst>
                    <a:ext uri="{FF2B5EF4-FFF2-40B4-BE49-F238E27FC236}">
                      <a16:creationId xmlns="" xmlns:a16="http://schemas.microsoft.com/office/drawing/2014/main" id="{177A053B-0BAE-0640-AB44-0E043F06D9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0" name="Line 147">
                  <a:extLst>
                    <a:ext uri="{FF2B5EF4-FFF2-40B4-BE49-F238E27FC236}">
                      <a16:creationId xmlns="" xmlns:a16="http://schemas.microsoft.com/office/drawing/2014/main" id="{8AEFB38B-7DDC-9F44-A516-7DAA76A7E0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370" name="Group 148">
                <a:extLst>
                  <a:ext uri="{FF2B5EF4-FFF2-40B4-BE49-F238E27FC236}">
                    <a16:creationId xmlns="" xmlns:a16="http://schemas.microsoft.com/office/drawing/2014/main" id="{FD714310-89A4-394D-B783-5EC2CA17AE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4" y="3292"/>
                <a:ext cx="561" cy="136"/>
                <a:chOff x="455" y="3463"/>
                <a:chExt cx="561" cy="136"/>
              </a:xfrm>
            </p:grpSpPr>
            <p:sp>
              <p:nvSpPr>
                <p:cNvPr id="371" name="Rectangle 149">
                  <a:extLst>
                    <a:ext uri="{FF2B5EF4-FFF2-40B4-BE49-F238E27FC236}">
                      <a16:creationId xmlns="" xmlns:a16="http://schemas.microsoft.com/office/drawing/2014/main" id="{ADDE511B-C129-9D4B-A35E-5B67168684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2" name="Rectangle 150">
                  <a:extLst>
                    <a:ext uri="{FF2B5EF4-FFF2-40B4-BE49-F238E27FC236}">
                      <a16:creationId xmlns="" xmlns:a16="http://schemas.microsoft.com/office/drawing/2014/main" id="{1926829B-5C2B-7B46-AAD2-DCC04D10C2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3" name="Rectangle 151">
                  <a:extLst>
                    <a:ext uri="{FF2B5EF4-FFF2-40B4-BE49-F238E27FC236}">
                      <a16:creationId xmlns="" xmlns:a16="http://schemas.microsoft.com/office/drawing/2014/main" id="{5166BAC0-36EC-054B-AEAE-4083E2973B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4" name="Rectangle 152">
                  <a:extLst>
                    <a:ext uri="{FF2B5EF4-FFF2-40B4-BE49-F238E27FC236}">
                      <a16:creationId xmlns="" xmlns:a16="http://schemas.microsoft.com/office/drawing/2014/main" id="{B8D687ED-21A3-5844-8144-FC4568CCB8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5" name="Line 153">
                  <a:extLst>
                    <a:ext uri="{FF2B5EF4-FFF2-40B4-BE49-F238E27FC236}">
                      <a16:creationId xmlns="" xmlns:a16="http://schemas.microsoft.com/office/drawing/2014/main" id="{B0B99B84-F7F0-474D-9C17-F45572185C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386" name="Line 155">
              <a:extLst>
                <a:ext uri="{FF2B5EF4-FFF2-40B4-BE49-F238E27FC236}">
                  <a16:creationId xmlns="" xmlns:a16="http://schemas.microsoft.com/office/drawing/2014/main" id="{03C8D9EA-BBBC-B346-8BF2-359A0A507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60052" y="4592016"/>
              <a:ext cx="10636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7" name="Line 156">
              <a:extLst>
                <a:ext uri="{FF2B5EF4-FFF2-40B4-BE49-F238E27FC236}">
                  <a16:creationId xmlns="" xmlns:a16="http://schemas.microsoft.com/office/drawing/2014/main" id="{A11B99D5-398C-2B4F-8426-2A7897D267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21952" y="4979366"/>
              <a:ext cx="1111250" cy="31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8" name="Line 157">
              <a:extLst>
                <a:ext uri="{FF2B5EF4-FFF2-40B4-BE49-F238E27FC236}">
                  <a16:creationId xmlns="" xmlns:a16="http://schemas.microsoft.com/office/drawing/2014/main" id="{E19B9C74-C0F9-9C48-96BC-5083BFA426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1952" y="5411166"/>
              <a:ext cx="11017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9" name="Line 158">
              <a:extLst>
                <a:ext uri="{FF2B5EF4-FFF2-40B4-BE49-F238E27FC236}">
                  <a16:creationId xmlns="" xmlns:a16="http://schemas.microsoft.com/office/drawing/2014/main" id="{972BC1ED-3C65-0D48-80B7-F3828BC10B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04527" y="4592016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0" name="Line 159">
              <a:extLst>
                <a:ext uri="{FF2B5EF4-FFF2-40B4-BE49-F238E27FC236}">
                  <a16:creationId xmlns="" xmlns:a16="http://schemas.microsoft.com/office/drawing/2014/main" id="{C423A751-C773-8948-92DB-5C00303B00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26802" y="4592016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1" name="Line 160">
              <a:extLst>
                <a:ext uri="{FF2B5EF4-FFF2-40B4-BE49-F238E27FC236}">
                  <a16:creationId xmlns="" xmlns:a16="http://schemas.microsoft.com/office/drawing/2014/main" id="{2109E4A3-3D73-694A-B332-08F4B9DB2B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23677" y="4582491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Oval 161">
              <a:extLst>
                <a:ext uri="{FF2B5EF4-FFF2-40B4-BE49-F238E27FC236}">
                  <a16:creationId xmlns="" xmlns:a16="http://schemas.microsoft.com/office/drawing/2014/main" id="{560F0CCD-566F-2848-BC28-48AB5BC46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3252" y="4553916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Oval 162">
              <a:extLst>
                <a:ext uri="{FF2B5EF4-FFF2-40B4-BE49-F238E27FC236}">
                  <a16:creationId xmlns="" xmlns:a16="http://schemas.microsoft.com/office/drawing/2014/main" id="{6B545151-450A-F94D-A4C6-78382BC89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3252" y="493809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Oval 163">
              <a:extLst>
                <a:ext uri="{FF2B5EF4-FFF2-40B4-BE49-F238E27FC236}">
                  <a16:creationId xmlns="" xmlns:a16="http://schemas.microsoft.com/office/drawing/2014/main" id="{EA145C17-3847-3E48-8C50-06E7F086C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6902" y="536354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Oval 164">
              <a:extLst>
                <a:ext uri="{FF2B5EF4-FFF2-40B4-BE49-F238E27FC236}">
                  <a16:creationId xmlns="" xmlns:a16="http://schemas.microsoft.com/office/drawing/2014/main" id="{D583174B-E718-A249-BE75-33AB9B1F6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8702" y="4553916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Oval 165">
              <a:extLst>
                <a:ext uri="{FF2B5EF4-FFF2-40B4-BE49-F238E27FC236}">
                  <a16:creationId xmlns="" xmlns:a16="http://schemas.microsoft.com/office/drawing/2014/main" id="{FC9B88BE-9FFF-DE40-8BFE-380354604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8702" y="493809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Oval 166">
              <a:extLst>
                <a:ext uri="{FF2B5EF4-FFF2-40B4-BE49-F238E27FC236}">
                  <a16:creationId xmlns="" xmlns:a16="http://schemas.microsoft.com/office/drawing/2014/main" id="{6F896AF1-2C34-3149-8329-09390CA6B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2352" y="536354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Oval 167">
              <a:extLst>
                <a:ext uri="{FF2B5EF4-FFF2-40B4-BE49-F238E27FC236}">
                  <a16:creationId xmlns="" xmlns:a16="http://schemas.microsoft.com/office/drawing/2014/main" id="{54294AED-0555-D244-94AB-1E755BFB4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9227" y="4553916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Oval 168">
              <a:extLst>
                <a:ext uri="{FF2B5EF4-FFF2-40B4-BE49-F238E27FC236}">
                  <a16:creationId xmlns="" xmlns:a16="http://schemas.microsoft.com/office/drawing/2014/main" id="{89BB0930-936E-2C4A-B203-3AF50935C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9227" y="493809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Oval 169">
              <a:extLst>
                <a:ext uri="{FF2B5EF4-FFF2-40B4-BE49-F238E27FC236}">
                  <a16:creationId xmlns="" xmlns:a16="http://schemas.microsoft.com/office/drawing/2014/main" id="{54A896D0-B039-1C43-B23B-699A69438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2877" y="536354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Text Box 170">
              <a:extLst>
                <a:ext uri="{FF2B5EF4-FFF2-40B4-BE49-F238E27FC236}">
                  <a16:creationId xmlns="" xmlns:a16="http://schemas.microsoft.com/office/drawing/2014/main" id="{D7A7FAC4-A795-2344-B8A6-A06C120333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121" y="5767934"/>
              <a:ext cx="174919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interconnection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404" name="Freeform 173">
              <a:extLst>
                <a:ext uri="{FF2B5EF4-FFF2-40B4-BE49-F238E27FC236}">
                  <a16:creationId xmlns="" xmlns:a16="http://schemas.microsoft.com/office/drawing/2014/main" id="{7731649A-7A0C-FF4B-AE01-BDFE9F590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7077" y="4538041"/>
              <a:ext cx="1543050" cy="2014538"/>
            </a:xfrm>
            <a:custGeom>
              <a:avLst/>
              <a:gdLst>
                <a:gd name="T0" fmla="*/ 0 w 972"/>
                <a:gd name="T1" fmla="*/ 2147483647 h 1266"/>
                <a:gd name="T2" fmla="*/ 2147483647 w 972"/>
                <a:gd name="T3" fmla="*/ 0 h 1266"/>
                <a:gd name="T4" fmla="*/ 2147483647 w 972"/>
                <a:gd name="T5" fmla="*/ 2147483647 h 1266"/>
                <a:gd name="T6" fmla="*/ 0 60000 65536"/>
                <a:gd name="T7" fmla="*/ 0 60000 65536"/>
                <a:gd name="T8" fmla="*/ 0 60000 65536"/>
                <a:gd name="T9" fmla="*/ 0 w 972"/>
                <a:gd name="T10" fmla="*/ 0 h 1266"/>
                <a:gd name="T11" fmla="*/ 972 w 972"/>
                <a:gd name="T12" fmla="*/ 1266 h 12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2" h="1266">
                  <a:moveTo>
                    <a:pt x="0" y="3"/>
                  </a:moveTo>
                  <a:lnTo>
                    <a:pt x="969" y="0"/>
                  </a:lnTo>
                  <a:lnTo>
                    <a:pt x="972" y="1266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06" name="Content Placeholder 2">
            <a:extLst>
              <a:ext uri="{FF2B5EF4-FFF2-40B4-BE49-F238E27FC236}">
                <a16:creationId xmlns="" xmlns:a16="http://schemas.microsoft.com/office/drawing/2014/main" id="{2B7122AF-D615-5F41-945E-7E1D8CD01EF3}"/>
              </a:ext>
            </a:extLst>
          </p:cNvPr>
          <p:cNvSpPr txBox="1">
            <a:spLocks/>
          </p:cNvSpPr>
          <p:nvPr/>
        </p:nvSpPr>
        <p:spPr>
          <a:xfrm>
            <a:off x="818322" y="3691974"/>
            <a:ext cx="11035748" cy="654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three major types of switching fabrics:</a:t>
            </a:r>
          </a:p>
        </p:txBody>
      </p:sp>
      <p:sp>
        <p:nvSpPr>
          <p:cNvPr id="412" name="Content Placeholder 2">
            <a:extLst>
              <a:ext uri="{FF2B5EF4-FFF2-40B4-BE49-F238E27FC236}">
                <a16:creationId xmlns="" xmlns:a16="http://schemas.microsoft.com/office/drawing/2014/main" id="{B6082DFD-51BE-9044-ABA0-EB366AEB6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696" y="1379472"/>
            <a:ext cx="11035748" cy="634860"/>
          </a:xfrm>
        </p:spPr>
        <p:txBody>
          <a:bodyPr>
            <a:normAutofit/>
          </a:bodyPr>
          <a:lstStyle/>
          <a:p>
            <a:pPr indent="-287338">
              <a:buFont typeface="Wingdings" charset="2"/>
              <a:buChar char="§"/>
              <a:defRPr/>
            </a:pPr>
            <a:r>
              <a:rPr lang="en-US" sz="3200" dirty="0"/>
              <a:t>transfer packet from input link to appropriate output link</a:t>
            </a:r>
          </a:p>
          <a:p>
            <a:pPr indent="-287338">
              <a:buFont typeface="Wingdings" charset="2"/>
              <a:buChar char="§"/>
              <a:defRPr/>
            </a:pPr>
            <a:endParaRPr lang="en-US" dirty="0"/>
          </a:p>
        </p:txBody>
      </p:sp>
      <p:sp>
        <p:nvSpPr>
          <p:cNvPr id="413" name="Content Placeholder 2">
            <a:extLst>
              <a:ext uri="{FF2B5EF4-FFF2-40B4-BE49-F238E27FC236}">
                <a16:creationId xmlns="" xmlns:a16="http://schemas.microsoft.com/office/drawing/2014/main" id="{A6F34ABD-FD08-FA48-8F01-C889297B0D8A}"/>
              </a:ext>
            </a:extLst>
          </p:cNvPr>
          <p:cNvSpPr txBox="1">
            <a:spLocks/>
          </p:cNvSpPr>
          <p:nvPr/>
        </p:nvSpPr>
        <p:spPr>
          <a:xfrm>
            <a:off x="805070" y="1889680"/>
            <a:ext cx="11035748" cy="2317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switching rate: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rate at which packets can be transfer from inputs to outputs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often measured as multiple of input/output line rate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inputs: switching rate N times line rate desirable</a:t>
            </a:r>
          </a:p>
        </p:txBody>
      </p:sp>
      <p:sp>
        <p:nvSpPr>
          <p:cNvPr id="141" name="Slide Number Placeholder 4">
            <a:extLst>
              <a:ext uri="{FF2B5EF4-FFF2-40B4-BE49-F238E27FC236}">
                <a16:creationId xmlns="" xmlns:a16="http://schemas.microsoft.com/office/drawing/2014/main" id="{82EC96B9-9A8B-1444-8EB6-680BED473A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068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01B1128-B8E1-7C40-B73B-BD6D4E180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695" y="1472236"/>
            <a:ext cx="11287539" cy="2768460"/>
          </a:xfrm>
        </p:spPr>
        <p:txBody>
          <a:bodyPr>
            <a:normAutofit/>
          </a:bodyPr>
          <a:lstStyle/>
          <a:p>
            <a:pPr marL="234950" indent="-234950">
              <a:buNone/>
            </a:pPr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first generation routers:</a:t>
            </a:r>
          </a:p>
          <a:p>
            <a:pPr marL="404813" indent="-287338"/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traditional computers with switching under direct control of CPU</a:t>
            </a:r>
          </a:p>
          <a:p>
            <a:pPr marL="404813" indent="-287338"/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packet copied to system’</a:t>
            </a:r>
            <a:r>
              <a:rPr lang="en-US" altLang="ja-JP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 memory</a:t>
            </a:r>
          </a:p>
          <a:p>
            <a:pPr marL="404813" indent="-287338"/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speed limited by memory bandwidth (2 bus crossings per datagram)</a:t>
            </a:r>
            <a:endParaRPr lang="en-US" altLang="en-US" sz="2000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Switching via memory</a:t>
            </a:r>
            <a:endParaRPr lang="en-US" sz="4800" dirty="0"/>
          </a:p>
        </p:txBody>
      </p:sp>
      <p:grpSp>
        <p:nvGrpSpPr>
          <p:cNvPr id="172" name="Group 42">
            <a:extLst>
              <a:ext uri="{FF2B5EF4-FFF2-40B4-BE49-F238E27FC236}">
                <a16:creationId xmlns="" xmlns:a16="http://schemas.microsoft.com/office/drawing/2014/main" id="{F2B5464E-F88B-A642-84D4-5094AFD5B16B}"/>
              </a:ext>
            </a:extLst>
          </p:cNvPr>
          <p:cNvGrpSpPr>
            <a:grpSpLocks/>
          </p:cNvGrpSpPr>
          <p:nvPr/>
        </p:nvGrpSpPr>
        <p:grpSpPr bwMode="auto">
          <a:xfrm>
            <a:off x="2991749" y="4058753"/>
            <a:ext cx="6611937" cy="1787525"/>
            <a:chOff x="983" y="2540"/>
            <a:chExt cx="4165" cy="1126"/>
          </a:xfrm>
        </p:grpSpPr>
        <p:sp>
          <p:nvSpPr>
            <p:cNvPr id="173" name="Rectangle 30">
              <a:extLst>
                <a:ext uri="{FF2B5EF4-FFF2-40B4-BE49-F238E27FC236}">
                  <a16:creationId xmlns="" xmlns:a16="http://schemas.microsoft.com/office/drawing/2014/main" id="{45BBBE01-E2E8-274B-8035-4961E1D9E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" y="2542"/>
              <a:ext cx="766" cy="70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4" name="Text Box 31">
              <a:extLst>
                <a:ext uri="{FF2B5EF4-FFF2-40B4-BE49-F238E27FC236}">
                  <a16:creationId xmlns="" xmlns:a16="http://schemas.microsoft.com/office/drawing/2014/main" id="{FFED6ECD-74D4-9944-B695-F1E1E045E3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1" y="2557"/>
              <a:ext cx="708" cy="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input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(e.g.,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Ethernet)</a:t>
              </a:r>
            </a:p>
          </p:txBody>
        </p:sp>
        <p:sp>
          <p:nvSpPr>
            <p:cNvPr id="175" name="Text Box 32">
              <a:extLst>
                <a:ext uri="{FF2B5EF4-FFF2-40B4-BE49-F238E27FC236}">
                  <a16:creationId xmlns="" xmlns:a16="http://schemas.microsoft.com/office/drawing/2014/main" id="{20392B0C-5AA1-5D4A-8C31-19BC5047B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4" y="2773"/>
              <a:ext cx="636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memory</a:t>
              </a:r>
            </a:p>
          </p:txBody>
        </p:sp>
        <p:sp>
          <p:nvSpPr>
            <p:cNvPr id="176" name="Rectangle 34">
              <a:extLst>
                <a:ext uri="{FF2B5EF4-FFF2-40B4-BE49-F238E27FC236}">
                  <a16:creationId xmlns="" xmlns:a16="http://schemas.microsoft.com/office/drawing/2014/main" id="{EA86606E-2DCD-924C-A723-41E2CA4CD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2" y="2542"/>
              <a:ext cx="1173" cy="688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7" name="Rectangle 35">
              <a:extLst>
                <a:ext uri="{FF2B5EF4-FFF2-40B4-BE49-F238E27FC236}">
                  <a16:creationId xmlns="" xmlns:a16="http://schemas.microsoft.com/office/drawing/2014/main" id="{24885012-DDCB-5048-A51F-1CDF934C2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" y="2540"/>
              <a:ext cx="766" cy="70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8" name="Text Box 36">
              <a:extLst>
                <a:ext uri="{FF2B5EF4-FFF2-40B4-BE49-F238E27FC236}">
                  <a16:creationId xmlns="" xmlns:a16="http://schemas.microsoft.com/office/drawing/2014/main" id="{14386179-C33A-9940-94C2-AA092DA42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5" y="2555"/>
              <a:ext cx="708" cy="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output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(e.g.,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Ethernet)</a:t>
              </a:r>
            </a:p>
          </p:txBody>
        </p:sp>
        <p:sp>
          <p:nvSpPr>
            <p:cNvPr id="179" name="Line 37">
              <a:extLst>
                <a:ext uri="{FF2B5EF4-FFF2-40B4-BE49-F238E27FC236}">
                  <a16:creationId xmlns="" xmlns:a16="http://schemas.microsoft.com/office/drawing/2014/main" id="{65666B6A-D931-D542-B3CE-2E1BC9433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" y="3561"/>
              <a:ext cx="333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0" name="Line 38">
              <a:extLst>
                <a:ext uri="{FF2B5EF4-FFF2-40B4-BE49-F238E27FC236}">
                  <a16:creationId xmlns="" xmlns:a16="http://schemas.microsoft.com/office/drawing/2014/main" id="{60D852FF-88FA-2B42-8C46-DCE2935251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0" y="3252"/>
              <a:ext cx="0" cy="316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1" name="Line 39">
              <a:extLst>
                <a:ext uri="{FF2B5EF4-FFF2-40B4-BE49-F238E27FC236}">
                  <a16:creationId xmlns="" xmlns:a16="http://schemas.microsoft.com/office/drawing/2014/main" id="{6E64FFE5-A2FF-0849-879D-A0AA8D057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242"/>
              <a:ext cx="0" cy="316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Line 40">
              <a:extLst>
                <a:ext uri="{FF2B5EF4-FFF2-40B4-BE49-F238E27FC236}">
                  <a16:creationId xmlns="" xmlns:a16="http://schemas.microsoft.com/office/drawing/2014/main" id="{CA89C20C-F9FF-C845-B7D8-9DEA22C14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5" y="3240"/>
              <a:ext cx="0" cy="3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3" name="Text Box 41">
              <a:extLst>
                <a:ext uri="{FF2B5EF4-FFF2-40B4-BE49-F238E27FC236}">
                  <a16:creationId xmlns="" xmlns:a16="http://schemas.microsoft.com/office/drawing/2014/main" id="{2EA1FDDA-9659-AC45-86D4-9A5051345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3435"/>
              <a:ext cx="8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system bus</a:t>
              </a:r>
            </a:p>
          </p:txBody>
        </p:sp>
      </p:grpSp>
      <p:pic>
        <p:nvPicPr>
          <p:cNvPr id="184" name="Picture 43">
            <a:extLst>
              <a:ext uri="{FF2B5EF4-FFF2-40B4-BE49-F238E27FC236}">
                <a16:creationId xmlns="" xmlns:a16="http://schemas.microsoft.com/office/drawing/2014/main" id="{934DBF87-BC52-A04F-9252-6C0BA3F16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774" y="4252428"/>
            <a:ext cx="5334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" name="Picture 44">
            <a:extLst>
              <a:ext uri="{FF2B5EF4-FFF2-40B4-BE49-F238E27FC236}">
                <a16:creationId xmlns="" xmlns:a16="http://schemas.microsoft.com/office/drawing/2014/main" id="{F4E5056C-1E65-BD48-BC26-3C48FF565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574" y="4215916"/>
            <a:ext cx="533400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" name="Rectangle 45">
            <a:extLst>
              <a:ext uri="{FF2B5EF4-FFF2-40B4-BE49-F238E27FC236}">
                <a16:creationId xmlns="" xmlns:a16="http://schemas.microsoft.com/office/drawing/2014/main" id="{8A994D05-53E3-B047-9E60-A9448B35F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061" y="4487378"/>
            <a:ext cx="434975" cy="22225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Rectangle 46">
            <a:extLst>
              <a:ext uri="{FF2B5EF4-FFF2-40B4-BE49-F238E27FC236}">
                <a16:creationId xmlns="" xmlns:a16="http://schemas.microsoft.com/office/drawing/2014/main" id="{14B41E01-8B4F-2643-84CF-7D3D707C7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1761" y="4496903"/>
            <a:ext cx="446088" cy="212725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" name="Slide Number Placeholder 4">
            <a:extLst>
              <a:ext uri="{FF2B5EF4-FFF2-40B4-BE49-F238E27FC236}">
                <a16:creationId xmlns="" xmlns:a16="http://schemas.microsoft.com/office/drawing/2014/main" id="{E873C787-12AC-6546-8188-86FCEB09AB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51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1 -0.00162 L 0.11159 -0.00162 L 0.11497 0.13334 L 0.26849 0.13334 L 0.26849 0.03912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29" y="6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0.1487 3.7037E-6 L 0.15195 0.13819 L 0.31055 0.13588 L 0.30924 0.03842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21" y="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849 0.03912 L 0.28151 0.03912 L 0.28151 0.12685 L 0.44622 0.12199 L 0.44713 -0.00324 L 0.58046 -0.00324 " pathEditMode="relative" rAng="0" ptsTypes="AAAAAA">
                                      <p:cBhvr>
                                        <p:cTn id="17" dur="2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99" y="2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6" grpId="2" animBg="1"/>
      <p:bldP spid="187" grpId="0" animBg="1"/>
      <p:bldP spid="18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01B1128-B8E1-7C40-B73B-BD6D4E180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940" y="1405975"/>
            <a:ext cx="10574934" cy="2768460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§"/>
              <a:defRPr/>
            </a:pPr>
            <a:r>
              <a:rPr lang="en-US" sz="3200" dirty="0"/>
              <a:t>datagram from input port memory to output port memory via a shared bus</a:t>
            </a:r>
          </a:p>
          <a:p>
            <a:pPr>
              <a:buFont typeface="Wingdings" charset="2"/>
              <a:buChar char="§"/>
              <a:defRPr/>
            </a:pPr>
            <a:r>
              <a:rPr lang="en-US" sz="3200" i="1" dirty="0">
                <a:solidFill>
                  <a:srgbClr val="CC0000"/>
                </a:solidFill>
              </a:rPr>
              <a:t>bus contention:</a:t>
            </a:r>
            <a:r>
              <a:rPr lang="en-US" sz="3200" dirty="0"/>
              <a:t>  switching speed limited by bus bandwidth</a:t>
            </a:r>
          </a:p>
          <a:p>
            <a:pPr>
              <a:buFont typeface="Wingdings" charset="2"/>
              <a:buChar char="§"/>
              <a:defRPr/>
            </a:pPr>
            <a:r>
              <a:rPr lang="en-US" sz="3200" dirty="0"/>
              <a:t>32 Gbps bus, Cisco 5600: sufficient speed for access routers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Switching via a bus</a:t>
            </a:r>
            <a:endParaRPr lang="en-US" sz="4800" dirty="0"/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9B8CD304-8CB5-AA4B-A0E8-C0ADE3BF0764}"/>
              </a:ext>
            </a:extLst>
          </p:cNvPr>
          <p:cNvGrpSpPr/>
          <p:nvPr/>
        </p:nvGrpSpPr>
        <p:grpSpPr>
          <a:xfrm>
            <a:off x="4078698" y="4298863"/>
            <a:ext cx="5296665" cy="1766337"/>
            <a:chOff x="4336991" y="4484392"/>
            <a:chExt cx="2903568" cy="1047064"/>
          </a:xfrm>
        </p:grpSpPr>
        <p:grpSp>
          <p:nvGrpSpPr>
            <p:cNvPr id="21" name="Group 80">
              <a:extLst>
                <a:ext uri="{FF2B5EF4-FFF2-40B4-BE49-F238E27FC236}">
                  <a16:creationId xmlns="" xmlns:a16="http://schemas.microsoft.com/office/drawing/2014/main" id="{6528F6A7-EDEC-9C4B-9732-5C83E48F24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9281" y="4484392"/>
              <a:ext cx="1093120" cy="215900"/>
              <a:chOff x="876" y="2800"/>
              <a:chExt cx="788" cy="175"/>
            </a:xfrm>
          </p:grpSpPr>
          <p:sp>
            <p:nvSpPr>
              <p:cNvPr id="22" name="Rectangle 81">
                <a:extLst>
                  <a:ext uri="{FF2B5EF4-FFF2-40B4-BE49-F238E27FC236}">
                    <a16:creationId xmlns="" xmlns:a16="http://schemas.microsoft.com/office/drawing/2014/main" id="{DFDBF7BA-06E4-494D-8F9D-FFA33A3BF9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" name="Rectangle 82">
                <a:extLst>
                  <a:ext uri="{FF2B5EF4-FFF2-40B4-BE49-F238E27FC236}">
                    <a16:creationId xmlns="" xmlns:a16="http://schemas.microsoft.com/office/drawing/2014/main" id="{2C9A0A09-54EF-D24E-84A4-0E4BF0FA6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4" name="Rectangle 83">
                <a:extLst>
                  <a:ext uri="{FF2B5EF4-FFF2-40B4-BE49-F238E27FC236}">
                    <a16:creationId xmlns="" xmlns:a16="http://schemas.microsoft.com/office/drawing/2014/main" id="{AF1F9C4D-1234-2343-9758-A7BC801F6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" name="Rectangle 84">
                <a:extLst>
                  <a:ext uri="{FF2B5EF4-FFF2-40B4-BE49-F238E27FC236}">
                    <a16:creationId xmlns="" xmlns:a16="http://schemas.microsoft.com/office/drawing/2014/main" id="{FFA1C2EC-B4A7-7945-BE6D-F41404063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" name="Line 85">
                <a:extLst>
                  <a:ext uri="{FF2B5EF4-FFF2-40B4-BE49-F238E27FC236}">
                    <a16:creationId xmlns="" xmlns:a16="http://schemas.microsoft.com/office/drawing/2014/main" id="{BB9C01BB-870F-9B4A-8484-B8328825B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7"/>
                <a:ext cx="7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7" name="Group 86">
              <a:extLst>
                <a:ext uri="{FF2B5EF4-FFF2-40B4-BE49-F238E27FC236}">
                  <a16:creationId xmlns="" xmlns:a16="http://schemas.microsoft.com/office/drawing/2014/main" id="{0507AB92-4047-F447-8DD5-6B9DDD7137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7694" y="4879680"/>
              <a:ext cx="1094506" cy="215900"/>
              <a:chOff x="876" y="2800"/>
              <a:chExt cx="789" cy="175"/>
            </a:xfrm>
          </p:grpSpPr>
          <p:sp>
            <p:nvSpPr>
              <p:cNvPr id="28" name="Rectangle 87">
                <a:extLst>
                  <a:ext uri="{FF2B5EF4-FFF2-40B4-BE49-F238E27FC236}">
                    <a16:creationId xmlns="" xmlns:a16="http://schemas.microsoft.com/office/drawing/2014/main" id="{1F3E0863-B0C8-C846-9E3A-94CA2AB7D1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" name="Rectangle 88">
                <a:extLst>
                  <a:ext uri="{FF2B5EF4-FFF2-40B4-BE49-F238E27FC236}">
                    <a16:creationId xmlns="" xmlns:a16="http://schemas.microsoft.com/office/drawing/2014/main" id="{E1208338-3967-594A-A93C-06C80B2EF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" name="Rectangle 89">
                <a:extLst>
                  <a:ext uri="{FF2B5EF4-FFF2-40B4-BE49-F238E27FC236}">
                    <a16:creationId xmlns="" xmlns:a16="http://schemas.microsoft.com/office/drawing/2014/main" id="{AD425D1B-FA67-5D49-809C-40473A853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" name="Rectangle 90">
                <a:extLst>
                  <a:ext uri="{FF2B5EF4-FFF2-40B4-BE49-F238E27FC236}">
                    <a16:creationId xmlns="" xmlns:a16="http://schemas.microsoft.com/office/drawing/2014/main" id="{C12121D2-ED33-1E48-B66D-BB7E3355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" name="Line 91">
                <a:extLst>
                  <a:ext uri="{FF2B5EF4-FFF2-40B4-BE49-F238E27FC236}">
                    <a16:creationId xmlns="" xmlns:a16="http://schemas.microsoft.com/office/drawing/2014/main" id="{29B1EBEE-9DC3-F248-883E-3C7EBBC5D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7"/>
                <a:ext cx="78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3" name="Group 92">
              <a:extLst>
                <a:ext uri="{FF2B5EF4-FFF2-40B4-BE49-F238E27FC236}">
                  <a16:creationId xmlns="" xmlns:a16="http://schemas.microsoft.com/office/drawing/2014/main" id="{15849422-916A-D541-89DB-EDF9C76CA0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2932" y="5306717"/>
              <a:ext cx="1079248" cy="215900"/>
              <a:chOff x="876" y="2800"/>
              <a:chExt cx="778" cy="175"/>
            </a:xfrm>
          </p:grpSpPr>
          <p:sp>
            <p:nvSpPr>
              <p:cNvPr id="34" name="Rectangle 93">
                <a:extLst>
                  <a:ext uri="{FF2B5EF4-FFF2-40B4-BE49-F238E27FC236}">
                    <a16:creationId xmlns="" xmlns:a16="http://schemas.microsoft.com/office/drawing/2014/main" id="{6837A002-1AB6-B746-AB5C-86F943C2EA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" name="Rectangle 94">
                <a:extLst>
                  <a:ext uri="{FF2B5EF4-FFF2-40B4-BE49-F238E27FC236}">
                    <a16:creationId xmlns="" xmlns:a16="http://schemas.microsoft.com/office/drawing/2014/main" id="{3B8F334D-4C97-7143-9AC3-AC7B3FE5F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" name="Rectangle 95">
                <a:extLst>
                  <a:ext uri="{FF2B5EF4-FFF2-40B4-BE49-F238E27FC236}">
                    <a16:creationId xmlns="" xmlns:a16="http://schemas.microsoft.com/office/drawing/2014/main" id="{4D921AF2-17CB-8E49-8671-3EAA4877D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" name="Rectangle 96">
                <a:extLst>
                  <a:ext uri="{FF2B5EF4-FFF2-40B4-BE49-F238E27FC236}">
                    <a16:creationId xmlns="" xmlns:a16="http://schemas.microsoft.com/office/drawing/2014/main" id="{B87CC2E9-EF90-8543-8B83-B8D8ADCE2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" name="Line 97">
                <a:extLst>
                  <a:ext uri="{FF2B5EF4-FFF2-40B4-BE49-F238E27FC236}">
                    <a16:creationId xmlns="" xmlns:a16="http://schemas.microsoft.com/office/drawing/2014/main" id="{B30FD0D3-0C14-504C-BBDC-CDFB3AC056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7"/>
                <a:ext cx="77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9" name="Line 98">
              <a:extLst>
                <a:ext uri="{FF2B5EF4-FFF2-40B4-BE49-F238E27FC236}">
                  <a16:creationId xmlns="" xmlns:a16="http://schemas.microsoft.com/office/drawing/2014/main" id="{DE23C0B3-C20C-6E4B-83D9-8205BD88B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8461" y="4492509"/>
              <a:ext cx="0" cy="100330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" name="Group 99">
              <a:extLst>
                <a:ext uri="{FF2B5EF4-FFF2-40B4-BE49-F238E27FC236}">
                  <a16:creationId xmlns="" xmlns:a16="http://schemas.microsoft.com/office/drawing/2014/main" id="{B057B153-5339-C940-9B95-E3A19199C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56300" y="4501349"/>
              <a:ext cx="1030288" cy="215900"/>
              <a:chOff x="367" y="3463"/>
              <a:chExt cx="649" cy="136"/>
            </a:xfrm>
          </p:grpSpPr>
          <p:sp>
            <p:nvSpPr>
              <p:cNvPr id="41" name="Rectangle 100">
                <a:extLst>
                  <a:ext uri="{FF2B5EF4-FFF2-40B4-BE49-F238E27FC236}">
                    <a16:creationId xmlns="" xmlns:a16="http://schemas.microsoft.com/office/drawing/2014/main" id="{8DEBF029-6DFE-F347-BF75-F0FE46DE4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" name="Rectangle 101">
                <a:extLst>
                  <a:ext uri="{FF2B5EF4-FFF2-40B4-BE49-F238E27FC236}">
                    <a16:creationId xmlns="" xmlns:a16="http://schemas.microsoft.com/office/drawing/2014/main" id="{30E34A5E-46CF-1448-8180-33029F5850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" name="Rectangle 102">
                <a:extLst>
                  <a:ext uri="{FF2B5EF4-FFF2-40B4-BE49-F238E27FC236}">
                    <a16:creationId xmlns="" xmlns:a16="http://schemas.microsoft.com/office/drawing/2014/main" id="{644A9EC6-2179-E746-B3EC-49E5DC46F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" name="Rectangle 103">
                <a:extLst>
                  <a:ext uri="{FF2B5EF4-FFF2-40B4-BE49-F238E27FC236}">
                    <a16:creationId xmlns="" xmlns:a16="http://schemas.microsoft.com/office/drawing/2014/main" id="{ADA4A993-AB6B-9847-94AF-6B5ABC32A5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" name="Line 104">
                <a:extLst>
                  <a:ext uri="{FF2B5EF4-FFF2-40B4-BE49-F238E27FC236}">
                    <a16:creationId xmlns="" xmlns:a16="http://schemas.microsoft.com/office/drawing/2014/main" id="{7F7B93B6-8CCC-4246-80FD-A0BC1C0DE7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7" y="3527"/>
                <a:ext cx="64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" name="Group 105">
              <a:extLst>
                <a:ext uri="{FF2B5EF4-FFF2-40B4-BE49-F238E27FC236}">
                  <a16:creationId xmlns="" xmlns:a16="http://schemas.microsoft.com/office/drawing/2014/main" id="{253A7FA6-AF01-EE46-AEBD-180DFBBE2B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6775" y="4893462"/>
              <a:ext cx="1044574" cy="215900"/>
              <a:chOff x="358" y="3463"/>
              <a:chExt cx="658" cy="136"/>
            </a:xfrm>
          </p:grpSpPr>
          <p:sp>
            <p:nvSpPr>
              <p:cNvPr id="47" name="Rectangle 106">
                <a:extLst>
                  <a:ext uri="{FF2B5EF4-FFF2-40B4-BE49-F238E27FC236}">
                    <a16:creationId xmlns="" xmlns:a16="http://schemas.microsoft.com/office/drawing/2014/main" id="{4CB26F35-0AB7-6C45-9E02-E33340F14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Rectangle 107">
                <a:extLst>
                  <a:ext uri="{FF2B5EF4-FFF2-40B4-BE49-F238E27FC236}">
                    <a16:creationId xmlns="" xmlns:a16="http://schemas.microsoft.com/office/drawing/2014/main" id="{67BE3DEA-07EB-2B43-8B04-C28F828217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9" name="Rectangle 108">
                <a:extLst>
                  <a:ext uri="{FF2B5EF4-FFF2-40B4-BE49-F238E27FC236}">
                    <a16:creationId xmlns="" xmlns:a16="http://schemas.microsoft.com/office/drawing/2014/main" id="{B51ABD53-CAD7-F74A-89E0-FCB3F00BF2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" name="Rectangle 109">
                <a:extLst>
                  <a:ext uri="{FF2B5EF4-FFF2-40B4-BE49-F238E27FC236}">
                    <a16:creationId xmlns="" xmlns:a16="http://schemas.microsoft.com/office/drawing/2014/main" id="{3F2D9755-73A8-9948-95A4-E712A4BDF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" name="Line 110">
                <a:extLst>
                  <a:ext uri="{FF2B5EF4-FFF2-40B4-BE49-F238E27FC236}">
                    <a16:creationId xmlns="" xmlns:a16="http://schemas.microsoft.com/office/drawing/2014/main" id="{D7F71280-BF9B-274A-A19D-8AD6340BC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8" y="3527"/>
                <a:ext cx="65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52" name="Group 111">
              <a:extLst>
                <a:ext uri="{FF2B5EF4-FFF2-40B4-BE49-F238E27FC236}">
                  <a16:creationId xmlns="" xmlns:a16="http://schemas.microsoft.com/office/drawing/2014/main" id="{AEA606A1-09BC-9842-A76E-4118C48EBE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5368" y="5315556"/>
              <a:ext cx="1046163" cy="215900"/>
              <a:chOff x="357" y="3463"/>
              <a:chExt cx="659" cy="136"/>
            </a:xfrm>
          </p:grpSpPr>
          <p:sp>
            <p:nvSpPr>
              <p:cNvPr id="53" name="Rectangle 112">
                <a:extLst>
                  <a:ext uri="{FF2B5EF4-FFF2-40B4-BE49-F238E27FC236}">
                    <a16:creationId xmlns="" xmlns:a16="http://schemas.microsoft.com/office/drawing/2014/main" id="{0AEBF59D-138D-7B49-A052-A32BEC687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" name="Rectangle 113">
                <a:extLst>
                  <a:ext uri="{FF2B5EF4-FFF2-40B4-BE49-F238E27FC236}">
                    <a16:creationId xmlns="" xmlns:a16="http://schemas.microsoft.com/office/drawing/2014/main" id="{3A86422E-A2BC-1241-A314-C1DCEDCA5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5" name="Rectangle 114">
                <a:extLst>
                  <a:ext uri="{FF2B5EF4-FFF2-40B4-BE49-F238E27FC236}">
                    <a16:creationId xmlns="" xmlns:a16="http://schemas.microsoft.com/office/drawing/2014/main" id="{2BDFF28F-4422-D64B-8B07-E2807D44A2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Rectangle 115">
                <a:extLst>
                  <a:ext uri="{FF2B5EF4-FFF2-40B4-BE49-F238E27FC236}">
                    <a16:creationId xmlns="" xmlns:a16="http://schemas.microsoft.com/office/drawing/2014/main" id="{0A511C67-6757-134F-8367-4F223A211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7" name="Line 116">
                <a:extLst>
                  <a:ext uri="{FF2B5EF4-FFF2-40B4-BE49-F238E27FC236}">
                    <a16:creationId xmlns="" xmlns:a16="http://schemas.microsoft.com/office/drawing/2014/main" id="{761AAC06-8D58-1442-B04E-57C0C45D51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7" y="3527"/>
                <a:ext cx="65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9" name="Freeform 172">
              <a:extLst>
                <a:ext uri="{FF2B5EF4-FFF2-40B4-BE49-F238E27FC236}">
                  <a16:creationId xmlns="" xmlns:a16="http://schemas.microsoft.com/office/drawing/2014/main" id="{B11B5CDC-2A64-4848-B87A-BC58BA35A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991" y="4553666"/>
              <a:ext cx="2903568" cy="396590"/>
            </a:xfrm>
            <a:custGeom>
              <a:avLst/>
              <a:gdLst>
                <a:gd name="T0" fmla="*/ 0 w 1264"/>
                <a:gd name="T1" fmla="*/ 2147483647 h 252"/>
                <a:gd name="T2" fmla="*/ 2147483647 w 1264"/>
                <a:gd name="T3" fmla="*/ 0 h 252"/>
                <a:gd name="T4" fmla="*/ 2147483647 w 1264"/>
                <a:gd name="T5" fmla="*/ 2147483647 h 252"/>
                <a:gd name="T6" fmla="*/ 2147483647 w 1264"/>
                <a:gd name="T7" fmla="*/ 2147483647 h 2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4"/>
                <a:gd name="T13" fmla="*/ 0 h 252"/>
                <a:gd name="T14" fmla="*/ 1264 w 1264"/>
                <a:gd name="T15" fmla="*/ 252 h 252"/>
                <a:gd name="connsiteX0" fmla="*/ 0 w 12819"/>
                <a:gd name="connsiteY0" fmla="*/ 155 h 10000"/>
                <a:gd name="connsiteX1" fmla="*/ 7740 w 12819"/>
                <a:gd name="connsiteY1" fmla="*/ 0 h 10000"/>
                <a:gd name="connsiteX2" fmla="*/ 7692 w 12819"/>
                <a:gd name="connsiteY2" fmla="*/ 9762 h 10000"/>
                <a:gd name="connsiteX3" fmla="*/ 12819 w 12819"/>
                <a:gd name="connsiteY3" fmla="*/ 10000 h 10000"/>
                <a:gd name="connsiteX0" fmla="*/ 0 w 12819"/>
                <a:gd name="connsiteY0" fmla="*/ 155 h 10000"/>
                <a:gd name="connsiteX1" fmla="*/ 7740 w 12819"/>
                <a:gd name="connsiteY1" fmla="*/ 0 h 10000"/>
                <a:gd name="connsiteX2" fmla="*/ 7773 w 12819"/>
                <a:gd name="connsiteY2" fmla="*/ 9838 h 10000"/>
                <a:gd name="connsiteX3" fmla="*/ 12819 w 12819"/>
                <a:gd name="connsiteY3" fmla="*/ 10000 h 10000"/>
                <a:gd name="connsiteX0" fmla="*/ 0 w 13839"/>
                <a:gd name="connsiteY0" fmla="*/ 155 h 9838"/>
                <a:gd name="connsiteX1" fmla="*/ 7740 w 13839"/>
                <a:gd name="connsiteY1" fmla="*/ 0 h 9838"/>
                <a:gd name="connsiteX2" fmla="*/ 7773 w 13839"/>
                <a:gd name="connsiteY2" fmla="*/ 9838 h 9838"/>
                <a:gd name="connsiteX3" fmla="*/ 13839 w 13839"/>
                <a:gd name="connsiteY3" fmla="*/ 9696 h 9838"/>
                <a:gd name="connsiteX0" fmla="*/ 0 w 10000"/>
                <a:gd name="connsiteY0" fmla="*/ 158 h 10077"/>
                <a:gd name="connsiteX1" fmla="*/ 5593 w 10000"/>
                <a:gd name="connsiteY1" fmla="*/ 0 h 10077"/>
                <a:gd name="connsiteX2" fmla="*/ 5375 w 10000"/>
                <a:gd name="connsiteY2" fmla="*/ 10077 h 10077"/>
                <a:gd name="connsiteX3" fmla="*/ 10000 w 10000"/>
                <a:gd name="connsiteY3" fmla="*/ 9856 h 10077"/>
                <a:gd name="connsiteX0" fmla="*/ 0 w 10000"/>
                <a:gd name="connsiteY0" fmla="*/ 3 h 9922"/>
                <a:gd name="connsiteX1" fmla="*/ 5351 w 10000"/>
                <a:gd name="connsiteY1" fmla="*/ 0 h 9922"/>
                <a:gd name="connsiteX2" fmla="*/ 5375 w 10000"/>
                <a:gd name="connsiteY2" fmla="*/ 9922 h 9922"/>
                <a:gd name="connsiteX3" fmla="*/ 10000 w 10000"/>
                <a:gd name="connsiteY3" fmla="*/ 9701 h 9922"/>
                <a:gd name="connsiteX0" fmla="*/ 0 w 10000"/>
                <a:gd name="connsiteY0" fmla="*/ 3 h 10078"/>
                <a:gd name="connsiteX1" fmla="*/ 5351 w 10000"/>
                <a:gd name="connsiteY1" fmla="*/ 0 h 10078"/>
                <a:gd name="connsiteX2" fmla="*/ 5346 w 10000"/>
                <a:gd name="connsiteY2" fmla="*/ 10078 h 10078"/>
                <a:gd name="connsiteX3" fmla="*/ 10000 w 10000"/>
                <a:gd name="connsiteY3" fmla="*/ 9777 h 10078"/>
                <a:gd name="connsiteX0" fmla="*/ 0 w 10000"/>
                <a:gd name="connsiteY0" fmla="*/ 3 h 10156"/>
                <a:gd name="connsiteX1" fmla="*/ 5351 w 10000"/>
                <a:gd name="connsiteY1" fmla="*/ 0 h 10156"/>
                <a:gd name="connsiteX2" fmla="*/ 5365 w 10000"/>
                <a:gd name="connsiteY2" fmla="*/ 10156 h 10156"/>
                <a:gd name="connsiteX3" fmla="*/ 10000 w 10000"/>
                <a:gd name="connsiteY3" fmla="*/ 9777 h 10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156">
                  <a:moveTo>
                    <a:pt x="0" y="3"/>
                  </a:moveTo>
                  <a:lnTo>
                    <a:pt x="5351" y="0"/>
                  </a:lnTo>
                  <a:cubicBezTo>
                    <a:pt x="5359" y="3359"/>
                    <a:pt x="5357" y="6797"/>
                    <a:pt x="5365" y="10156"/>
                  </a:cubicBezTo>
                  <a:lnTo>
                    <a:pt x="10000" y="9777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8" name="Slide Number Placeholder 4">
            <a:extLst>
              <a:ext uri="{FF2B5EF4-FFF2-40B4-BE49-F238E27FC236}">
                <a16:creationId xmlns="" xmlns:a16="http://schemas.microsoft.com/office/drawing/2014/main" id="{804CF0B2-B0FB-2D4A-9DE1-1310059203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551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01B1128-B8E1-7C40-B73B-BD6D4E180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940" y="1405975"/>
            <a:ext cx="6477000" cy="5100842"/>
          </a:xfrm>
        </p:spPr>
        <p:txBody>
          <a:bodyPr>
            <a:normAutofit/>
          </a:bodyPr>
          <a:lstStyle/>
          <a:p>
            <a:pPr indent="-287338">
              <a:buFont typeface="Wingdings" charset="2"/>
              <a:buChar char="§"/>
              <a:defRPr/>
            </a:pPr>
            <a:r>
              <a:rPr lang="en-US" sz="3200" dirty="0"/>
              <a:t>Crossbar, Clos networks, other interconnection nets initially developed to connect processors in multiprocessor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Switching via interconnection network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="" xmlns:a16="http://schemas.microsoft.com/office/drawing/2014/main" id="{73BC25E0-E8D5-F049-83E9-F0682565AF56}"/>
              </a:ext>
            </a:extLst>
          </p:cNvPr>
          <p:cNvGrpSpPr/>
          <p:nvPr/>
        </p:nvGrpSpPr>
        <p:grpSpPr>
          <a:xfrm>
            <a:off x="8083826" y="1590262"/>
            <a:ext cx="2319130" cy="1855304"/>
            <a:chOff x="7417077" y="4485654"/>
            <a:chExt cx="2112963" cy="2066925"/>
          </a:xfrm>
        </p:grpSpPr>
        <p:grpSp>
          <p:nvGrpSpPr>
            <p:cNvPr id="60" name="Group 118">
              <a:extLst>
                <a:ext uri="{FF2B5EF4-FFF2-40B4-BE49-F238E27FC236}">
                  <a16:creationId xmlns="" xmlns:a16="http://schemas.microsoft.com/office/drawing/2014/main" id="{BDFB8215-3D56-2D42-B36A-269A0DF68C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69465" y="4485654"/>
              <a:ext cx="890587" cy="215900"/>
              <a:chOff x="876" y="2800"/>
              <a:chExt cx="642" cy="175"/>
            </a:xfrm>
          </p:grpSpPr>
          <p:sp>
            <p:nvSpPr>
              <p:cNvPr id="109" name="Rectangle 119">
                <a:extLst>
                  <a:ext uri="{FF2B5EF4-FFF2-40B4-BE49-F238E27FC236}">
                    <a16:creationId xmlns="" xmlns:a16="http://schemas.microsoft.com/office/drawing/2014/main" id="{EF4B7892-A69C-B64C-8510-14C1B274D0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" name="Rectangle 120">
                <a:extLst>
                  <a:ext uri="{FF2B5EF4-FFF2-40B4-BE49-F238E27FC236}">
                    <a16:creationId xmlns="" xmlns:a16="http://schemas.microsoft.com/office/drawing/2014/main" id="{FE2EA6C0-E7DC-1842-B380-66BD448F4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1" name="Rectangle 121">
                <a:extLst>
                  <a:ext uri="{FF2B5EF4-FFF2-40B4-BE49-F238E27FC236}">
                    <a16:creationId xmlns="" xmlns:a16="http://schemas.microsoft.com/office/drawing/2014/main" id="{7E0CFCBF-4656-A846-BB21-6FD14CE46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2" name="Rectangle 122">
                <a:extLst>
                  <a:ext uri="{FF2B5EF4-FFF2-40B4-BE49-F238E27FC236}">
                    <a16:creationId xmlns="" xmlns:a16="http://schemas.microsoft.com/office/drawing/2014/main" id="{92F45F15-8114-484B-BB16-CBD68760A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Line 123">
                <a:extLst>
                  <a:ext uri="{FF2B5EF4-FFF2-40B4-BE49-F238E27FC236}">
                    <a16:creationId xmlns="" xmlns:a16="http://schemas.microsoft.com/office/drawing/2014/main" id="{2D95AFB2-02C8-3D4A-87D0-AE121B456C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61" name="Group 124">
              <a:extLst>
                <a:ext uri="{FF2B5EF4-FFF2-40B4-BE49-F238E27FC236}">
                  <a16:creationId xmlns="" xmlns:a16="http://schemas.microsoft.com/office/drawing/2014/main" id="{93E2D3F6-A7EF-6542-84C8-21B44C9CEE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5652" y="4880941"/>
              <a:ext cx="890588" cy="215900"/>
              <a:chOff x="876" y="2800"/>
              <a:chExt cx="642" cy="175"/>
            </a:xfrm>
          </p:grpSpPr>
          <p:sp>
            <p:nvSpPr>
              <p:cNvPr id="104" name="Rectangle 125">
                <a:extLst>
                  <a:ext uri="{FF2B5EF4-FFF2-40B4-BE49-F238E27FC236}">
                    <a16:creationId xmlns="" xmlns:a16="http://schemas.microsoft.com/office/drawing/2014/main" id="{41418EC7-91D0-5544-BCA0-2A1CC3DFC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5" name="Rectangle 126">
                <a:extLst>
                  <a:ext uri="{FF2B5EF4-FFF2-40B4-BE49-F238E27FC236}">
                    <a16:creationId xmlns="" xmlns:a16="http://schemas.microsoft.com/office/drawing/2014/main" id="{D8E3B2A9-3D82-AD48-A93B-71583BCE3A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6" name="Rectangle 127">
                <a:extLst>
                  <a:ext uri="{FF2B5EF4-FFF2-40B4-BE49-F238E27FC236}">
                    <a16:creationId xmlns="" xmlns:a16="http://schemas.microsoft.com/office/drawing/2014/main" id="{C0867EE3-2BC5-874A-814C-A4B0DAF954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Rectangle 128">
                <a:extLst>
                  <a:ext uri="{FF2B5EF4-FFF2-40B4-BE49-F238E27FC236}">
                    <a16:creationId xmlns="" xmlns:a16="http://schemas.microsoft.com/office/drawing/2014/main" id="{75944114-E888-5043-A7C2-56BC12040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" name="Line 129">
                <a:extLst>
                  <a:ext uri="{FF2B5EF4-FFF2-40B4-BE49-F238E27FC236}">
                    <a16:creationId xmlns="" xmlns:a16="http://schemas.microsoft.com/office/drawing/2014/main" id="{26320DB4-394D-0A43-A8A6-C99E5CC0BF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62" name="Group 130">
              <a:extLst>
                <a:ext uri="{FF2B5EF4-FFF2-40B4-BE49-F238E27FC236}">
                  <a16:creationId xmlns="" xmlns:a16="http://schemas.microsoft.com/office/drawing/2014/main" id="{DD7E937A-F922-3B49-B727-489978FC63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0890" y="5307979"/>
              <a:ext cx="890587" cy="215900"/>
              <a:chOff x="876" y="2800"/>
              <a:chExt cx="642" cy="175"/>
            </a:xfrm>
          </p:grpSpPr>
          <p:sp>
            <p:nvSpPr>
              <p:cNvPr id="99" name="Rectangle 131">
                <a:extLst>
                  <a:ext uri="{FF2B5EF4-FFF2-40B4-BE49-F238E27FC236}">
                    <a16:creationId xmlns="" xmlns:a16="http://schemas.microsoft.com/office/drawing/2014/main" id="{A0A7DC16-AAF0-0543-B181-2D0657967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0" name="Rectangle 132">
                <a:extLst>
                  <a:ext uri="{FF2B5EF4-FFF2-40B4-BE49-F238E27FC236}">
                    <a16:creationId xmlns="" xmlns:a16="http://schemas.microsoft.com/office/drawing/2014/main" id="{4888429E-949E-5C46-B8C3-47C65F62A4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1" name="Rectangle 133">
                <a:extLst>
                  <a:ext uri="{FF2B5EF4-FFF2-40B4-BE49-F238E27FC236}">
                    <a16:creationId xmlns="" xmlns:a16="http://schemas.microsoft.com/office/drawing/2014/main" id="{B17D677C-7F64-6F43-82D8-FCC88D2C0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2" name="Rectangle 134">
                <a:extLst>
                  <a:ext uri="{FF2B5EF4-FFF2-40B4-BE49-F238E27FC236}">
                    <a16:creationId xmlns="" xmlns:a16="http://schemas.microsoft.com/office/drawing/2014/main" id="{E19D732E-85B6-E34A-9661-7644732E7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3" name="Line 135">
                <a:extLst>
                  <a:ext uri="{FF2B5EF4-FFF2-40B4-BE49-F238E27FC236}">
                    <a16:creationId xmlns="" xmlns:a16="http://schemas.microsoft.com/office/drawing/2014/main" id="{9E926801-1D95-B942-965D-EC34909B22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63" name="Group 154">
              <a:extLst>
                <a:ext uri="{FF2B5EF4-FFF2-40B4-BE49-F238E27FC236}">
                  <a16:creationId xmlns="" xmlns:a16="http://schemas.microsoft.com/office/drawing/2014/main" id="{5D801805-22E9-3342-9E61-4013BDBDBF0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8564840" y="5504829"/>
              <a:ext cx="895350" cy="1035050"/>
              <a:chOff x="2954" y="2776"/>
              <a:chExt cx="564" cy="652"/>
            </a:xfrm>
          </p:grpSpPr>
          <p:grpSp>
            <p:nvGrpSpPr>
              <p:cNvPr id="81" name="Group 136">
                <a:extLst>
                  <a:ext uri="{FF2B5EF4-FFF2-40B4-BE49-F238E27FC236}">
                    <a16:creationId xmlns="" xmlns:a16="http://schemas.microsoft.com/office/drawing/2014/main" id="{DC4ACDF3-3A37-974C-9F24-96752CB4F9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4" y="2776"/>
                <a:ext cx="561" cy="136"/>
                <a:chOff x="455" y="3463"/>
                <a:chExt cx="561" cy="136"/>
              </a:xfrm>
            </p:grpSpPr>
            <p:sp>
              <p:nvSpPr>
                <p:cNvPr id="94" name="Rectangle 137">
                  <a:extLst>
                    <a:ext uri="{FF2B5EF4-FFF2-40B4-BE49-F238E27FC236}">
                      <a16:creationId xmlns="" xmlns:a16="http://schemas.microsoft.com/office/drawing/2014/main" id="{5140BCA1-AB6C-7246-9D38-40A1E491AA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5" name="Rectangle 138">
                  <a:extLst>
                    <a:ext uri="{FF2B5EF4-FFF2-40B4-BE49-F238E27FC236}">
                      <a16:creationId xmlns="" xmlns:a16="http://schemas.microsoft.com/office/drawing/2014/main" id="{C37AD059-391A-BD44-8F54-18B650B064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" name="Rectangle 139">
                  <a:extLst>
                    <a:ext uri="{FF2B5EF4-FFF2-40B4-BE49-F238E27FC236}">
                      <a16:creationId xmlns="" xmlns:a16="http://schemas.microsoft.com/office/drawing/2014/main" id="{EE27F0FF-5EF9-D843-929A-3953523A9F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7" name="Rectangle 140">
                  <a:extLst>
                    <a:ext uri="{FF2B5EF4-FFF2-40B4-BE49-F238E27FC236}">
                      <a16:creationId xmlns="" xmlns:a16="http://schemas.microsoft.com/office/drawing/2014/main" id="{09C2F96D-9977-7F48-B003-05EE8C4173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" name="Line 141">
                  <a:extLst>
                    <a:ext uri="{FF2B5EF4-FFF2-40B4-BE49-F238E27FC236}">
                      <a16:creationId xmlns="" xmlns:a16="http://schemas.microsoft.com/office/drawing/2014/main" id="{B0A2C267-A8F8-5343-BBA6-24283D0BE1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82" name="Group 142">
                <a:extLst>
                  <a:ext uri="{FF2B5EF4-FFF2-40B4-BE49-F238E27FC236}">
                    <a16:creationId xmlns="" xmlns:a16="http://schemas.microsoft.com/office/drawing/2014/main" id="{73020812-FECA-6246-AAD6-7B05930AC0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7" y="3023"/>
                <a:ext cx="561" cy="136"/>
                <a:chOff x="455" y="3463"/>
                <a:chExt cx="561" cy="136"/>
              </a:xfrm>
            </p:grpSpPr>
            <p:sp>
              <p:nvSpPr>
                <p:cNvPr id="89" name="Rectangle 143">
                  <a:extLst>
                    <a:ext uri="{FF2B5EF4-FFF2-40B4-BE49-F238E27FC236}">
                      <a16:creationId xmlns="" xmlns:a16="http://schemas.microsoft.com/office/drawing/2014/main" id="{D6FCD1B7-B959-994C-B29E-A9A5B76E36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0" name="Rectangle 144">
                  <a:extLst>
                    <a:ext uri="{FF2B5EF4-FFF2-40B4-BE49-F238E27FC236}">
                      <a16:creationId xmlns="" xmlns:a16="http://schemas.microsoft.com/office/drawing/2014/main" id="{593F7969-8E89-2D47-BDE5-5210EAEE60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1" name="Rectangle 145">
                  <a:extLst>
                    <a:ext uri="{FF2B5EF4-FFF2-40B4-BE49-F238E27FC236}">
                      <a16:creationId xmlns="" xmlns:a16="http://schemas.microsoft.com/office/drawing/2014/main" id="{C1482B84-B84B-7E4B-AF00-6AA2344929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2" name="Rectangle 146">
                  <a:extLst>
                    <a:ext uri="{FF2B5EF4-FFF2-40B4-BE49-F238E27FC236}">
                      <a16:creationId xmlns="" xmlns:a16="http://schemas.microsoft.com/office/drawing/2014/main" id="{73FD5F69-21CF-0346-B2CA-EDA9FF6EFD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3" name="Line 147">
                  <a:extLst>
                    <a:ext uri="{FF2B5EF4-FFF2-40B4-BE49-F238E27FC236}">
                      <a16:creationId xmlns="" xmlns:a16="http://schemas.microsoft.com/office/drawing/2014/main" id="{31A2A149-6C13-3640-A322-7E1A5ED0BD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83" name="Group 148">
                <a:extLst>
                  <a:ext uri="{FF2B5EF4-FFF2-40B4-BE49-F238E27FC236}">
                    <a16:creationId xmlns="" xmlns:a16="http://schemas.microsoft.com/office/drawing/2014/main" id="{6C1D3A5F-381C-864A-88EB-B040498493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4" y="3292"/>
                <a:ext cx="561" cy="136"/>
                <a:chOff x="455" y="3463"/>
                <a:chExt cx="561" cy="136"/>
              </a:xfrm>
            </p:grpSpPr>
            <p:sp>
              <p:nvSpPr>
                <p:cNvPr id="84" name="Rectangle 149">
                  <a:extLst>
                    <a:ext uri="{FF2B5EF4-FFF2-40B4-BE49-F238E27FC236}">
                      <a16:creationId xmlns="" xmlns:a16="http://schemas.microsoft.com/office/drawing/2014/main" id="{14AD2249-2359-6A4A-A176-4000523777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" name="Rectangle 150">
                  <a:extLst>
                    <a:ext uri="{FF2B5EF4-FFF2-40B4-BE49-F238E27FC236}">
                      <a16:creationId xmlns="" xmlns:a16="http://schemas.microsoft.com/office/drawing/2014/main" id="{04B515EF-281D-F94C-AED4-8ED9BEAE75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6" name="Rectangle 151">
                  <a:extLst>
                    <a:ext uri="{FF2B5EF4-FFF2-40B4-BE49-F238E27FC236}">
                      <a16:creationId xmlns="" xmlns:a16="http://schemas.microsoft.com/office/drawing/2014/main" id="{C272AC2F-2576-1447-A246-09AEE63AFD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" name="Rectangle 152">
                  <a:extLst>
                    <a:ext uri="{FF2B5EF4-FFF2-40B4-BE49-F238E27FC236}">
                      <a16:creationId xmlns="" xmlns:a16="http://schemas.microsoft.com/office/drawing/2014/main" id="{7806C0E0-4DAD-EB43-94FA-6C7BFC6D43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" name="Line 153">
                  <a:extLst>
                    <a:ext uri="{FF2B5EF4-FFF2-40B4-BE49-F238E27FC236}">
                      <a16:creationId xmlns="" xmlns:a16="http://schemas.microsoft.com/office/drawing/2014/main" id="{3BF9883C-66A0-5947-BC28-BF02D827A9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64" name="Line 155">
              <a:extLst>
                <a:ext uri="{FF2B5EF4-FFF2-40B4-BE49-F238E27FC236}">
                  <a16:creationId xmlns="" xmlns:a16="http://schemas.microsoft.com/office/drawing/2014/main" id="{A0B12453-ABAF-784E-9587-2EDADB3CE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60052" y="4592016"/>
              <a:ext cx="10636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5" name="Line 156">
              <a:extLst>
                <a:ext uri="{FF2B5EF4-FFF2-40B4-BE49-F238E27FC236}">
                  <a16:creationId xmlns="" xmlns:a16="http://schemas.microsoft.com/office/drawing/2014/main" id="{3BA7B7A3-5901-8B41-AF4B-8AD856BE21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21952" y="4979366"/>
              <a:ext cx="1111250" cy="31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Line 157">
              <a:extLst>
                <a:ext uri="{FF2B5EF4-FFF2-40B4-BE49-F238E27FC236}">
                  <a16:creationId xmlns="" xmlns:a16="http://schemas.microsoft.com/office/drawing/2014/main" id="{F69E1FCD-BBAA-9E43-BED9-EE235364E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1952" y="5411166"/>
              <a:ext cx="11017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Line 158">
              <a:extLst>
                <a:ext uri="{FF2B5EF4-FFF2-40B4-BE49-F238E27FC236}">
                  <a16:creationId xmlns="" xmlns:a16="http://schemas.microsoft.com/office/drawing/2014/main" id="{4DEB4277-4967-454A-9807-61DFB43FB2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04527" y="4592016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Line 159">
              <a:extLst>
                <a:ext uri="{FF2B5EF4-FFF2-40B4-BE49-F238E27FC236}">
                  <a16:creationId xmlns="" xmlns:a16="http://schemas.microsoft.com/office/drawing/2014/main" id="{32ED3CA0-6B4A-9940-A7FF-2B4B1FD494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26802" y="4592016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Line 160">
              <a:extLst>
                <a:ext uri="{FF2B5EF4-FFF2-40B4-BE49-F238E27FC236}">
                  <a16:creationId xmlns="" xmlns:a16="http://schemas.microsoft.com/office/drawing/2014/main" id="{D6336297-B3DB-A64E-8187-6A52BB96D5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23677" y="4582491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Oval 161">
              <a:extLst>
                <a:ext uri="{FF2B5EF4-FFF2-40B4-BE49-F238E27FC236}">
                  <a16:creationId xmlns="" xmlns:a16="http://schemas.microsoft.com/office/drawing/2014/main" id="{14FD0237-6962-7D4D-A26A-99F549DF7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3252" y="4553916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1" name="Oval 162">
              <a:extLst>
                <a:ext uri="{FF2B5EF4-FFF2-40B4-BE49-F238E27FC236}">
                  <a16:creationId xmlns="" xmlns:a16="http://schemas.microsoft.com/office/drawing/2014/main" id="{2384493A-323F-B14C-9F98-CA6218402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3252" y="493809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2" name="Oval 163">
              <a:extLst>
                <a:ext uri="{FF2B5EF4-FFF2-40B4-BE49-F238E27FC236}">
                  <a16:creationId xmlns="" xmlns:a16="http://schemas.microsoft.com/office/drawing/2014/main" id="{32E7692D-5C12-B442-80FF-C7B249514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6902" y="536354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Oval 164">
              <a:extLst>
                <a:ext uri="{FF2B5EF4-FFF2-40B4-BE49-F238E27FC236}">
                  <a16:creationId xmlns="" xmlns:a16="http://schemas.microsoft.com/office/drawing/2014/main" id="{0DDA2FFE-E5BA-0C4F-8A0B-F1CA4A5E3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8702" y="4553916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Oval 165">
              <a:extLst>
                <a:ext uri="{FF2B5EF4-FFF2-40B4-BE49-F238E27FC236}">
                  <a16:creationId xmlns="" xmlns:a16="http://schemas.microsoft.com/office/drawing/2014/main" id="{9CF681B8-BF04-5441-BEE3-A16AEEDE8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8702" y="493809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Oval 166">
              <a:extLst>
                <a:ext uri="{FF2B5EF4-FFF2-40B4-BE49-F238E27FC236}">
                  <a16:creationId xmlns="" xmlns:a16="http://schemas.microsoft.com/office/drawing/2014/main" id="{F756BE03-9919-5149-B8C1-27AA85376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2352" y="536354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6" name="Oval 167">
              <a:extLst>
                <a:ext uri="{FF2B5EF4-FFF2-40B4-BE49-F238E27FC236}">
                  <a16:creationId xmlns="" xmlns:a16="http://schemas.microsoft.com/office/drawing/2014/main" id="{ACBB363A-E96A-164C-982D-673D5C98F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9227" y="4553916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7" name="Oval 168">
              <a:extLst>
                <a:ext uri="{FF2B5EF4-FFF2-40B4-BE49-F238E27FC236}">
                  <a16:creationId xmlns="" xmlns:a16="http://schemas.microsoft.com/office/drawing/2014/main" id="{6B3D6E0C-831F-1C4C-A193-5B2FD8811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9227" y="493809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Oval 169">
              <a:extLst>
                <a:ext uri="{FF2B5EF4-FFF2-40B4-BE49-F238E27FC236}">
                  <a16:creationId xmlns="" xmlns:a16="http://schemas.microsoft.com/office/drawing/2014/main" id="{9A7D3398-0377-0B4F-823A-F463BA7F4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2877" y="536354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Freeform 173">
              <a:extLst>
                <a:ext uri="{FF2B5EF4-FFF2-40B4-BE49-F238E27FC236}">
                  <a16:creationId xmlns="" xmlns:a16="http://schemas.microsoft.com/office/drawing/2014/main" id="{030444B6-CE0A-BD47-AC76-37A98FE88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7077" y="4538041"/>
              <a:ext cx="1543050" cy="2014538"/>
            </a:xfrm>
            <a:custGeom>
              <a:avLst/>
              <a:gdLst>
                <a:gd name="T0" fmla="*/ 0 w 972"/>
                <a:gd name="T1" fmla="*/ 2147483647 h 1266"/>
                <a:gd name="T2" fmla="*/ 2147483647 w 972"/>
                <a:gd name="T3" fmla="*/ 0 h 1266"/>
                <a:gd name="T4" fmla="*/ 2147483647 w 972"/>
                <a:gd name="T5" fmla="*/ 2147483647 h 1266"/>
                <a:gd name="T6" fmla="*/ 0 60000 65536"/>
                <a:gd name="T7" fmla="*/ 0 60000 65536"/>
                <a:gd name="T8" fmla="*/ 0 60000 65536"/>
                <a:gd name="T9" fmla="*/ 0 w 972"/>
                <a:gd name="T10" fmla="*/ 0 h 1266"/>
                <a:gd name="T11" fmla="*/ 972 w 972"/>
                <a:gd name="T12" fmla="*/ 1266 h 12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2" h="1266">
                  <a:moveTo>
                    <a:pt x="0" y="3"/>
                  </a:moveTo>
                  <a:lnTo>
                    <a:pt x="969" y="0"/>
                  </a:lnTo>
                  <a:lnTo>
                    <a:pt x="972" y="1266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9D4BCC10-D7E9-614B-926D-56BBE41D093E}"/>
              </a:ext>
            </a:extLst>
          </p:cNvPr>
          <p:cNvGrpSpPr/>
          <p:nvPr/>
        </p:nvGrpSpPr>
        <p:grpSpPr>
          <a:xfrm>
            <a:off x="8097079" y="4019964"/>
            <a:ext cx="3244414" cy="2535302"/>
            <a:chOff x="8097079" y="4019964"/>
            <a:chExt cx="3244414" cy="2535302"/>
          </a:xfrm>
        </p:grpSpPr>
        <p:grpSp>
          <p:nvGrpSpPr>
            <p:cNvPr id="239" name="Group 238">
              <a:extLst>
                <a:ext uri="{FF2B5EF4-FFF2-40B4-BE49-F238E27FC236}">
                  <a16:creationId xmlns="" xmlns:a16="http://schemas.microsoft.com/office/drawing/2014/main" id="{F8CD2492-ABC8-0B42-8CF0-E5637A87FB48}"/>
                </a:ext>
              </a:extLst>
            </p:cNvPr>
            <p:cNvGrpSpPr/>
            <p:nvPr/>
          </p:nvGrpSpPr>
          <p:grpSpPr>
            <a:xfrm>
              <a:off x="8169965" y="4019964"/>
              <a:ext cx="2682875" cy="1949450"/>
              <a:chOff x="7772400" y="4086225"/>
              <a:chExt cx="2682875" cy="1949450"/>
            </a:xfrm>
          </p:grpSpPr>
          <p:sp>
            <p:nvSpPr>
              <p:cNvPr id="223" name="Freeform 222">
                <a:extLst>
                  <a:ext uri="{FF2B5EF4-FFF2-40B4-BE49-F238E27FC236}">
                    <a16:creationId xmlns="" xmlns:a16="http://schemas.microsoft.com/office/drawing/2014/main" id="{6D34F9C0-29A9-D84A-A418-F4116A1040B0}"/>
                  </a:ext>
                </a:extLst>
              </p:cNvPr>
              <p:cNvSpPr/>
              <p:nvPr/>
            </p:nvSpPr>
            <p:spPr>
              <a:xfrm>
                <a:off x="7778750" y="4194175"/>
                <a:ext cx="2676525" cy="479425"/>
              </a:xfrm>
              <a:custGeom>
                <a:avLst/>
                <a:gdLst>
                  <a:gd name="connsiteX0" fmla="*/ 0 w 2676525"/>
                  <a:gd name="connsiteY0" fmla="*/ 476250 h 479425"/>
                  <a:gd name="connsiteX1" fmla="*/ 622300 w 2676525"/>
                  <a:gd name="connsiteY1" fmla="*/ 479425 h 479425"/>
                  <a:gd name="connsiteX2" fmla="*/ 1028700 w 2676525"/>
                  <a:gd name="connsiteY2" fmla="*/ 0 h 479425"/>
                  <a:gd name="connsiteX3" fmla="*/ 1644650 w 2676525"/>
                  <a:gd name="connsiteY3" fmla="*/ 0 h 479425"/>
                  <a:gd name="connsiteX4" fmla="*/ 2054225 w 2676525"/>
                  <a:gd name="connsiteY4" fmla="*/ 469900 h 479425"/>
                  <a:gd name="connsiteX5" fmla="*/ 2676525 w 2676525"/>
                  <a:gd name="connsiteY5" fmla="*/ 466725 h 479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76525" h="479425">
                    <a:moveTo>
                      <a:pt x="0" y="476250"/>
                    </a:moveTo>
                    <a:lnTo>
                      <a:pt x="622300" y="479425"/>
                    </a:lnTo>
                    <a:lnTo>
                      <a:pt x="1028700" y="0"/>
                    </a:lnTo>
                    <a:lnTo>
                      <a:pt x="1644650" y="0"/>
                    </a:lnTo>
                    <a:lnTo>
                      <a:pt x="2054225" y="469900"/>
                    </a:lnTo>
                    <a:lnTo>
                      <a:pt x="2676525" y="466725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="" xmlns:a16="http://schemas.microsoft.com/office/drawing/2014/main" id="{00F4ED56-6913-1F47-AFAA-EA8139FE3A6A}"/>
                  </a:ext>
                </a:extLst>
              </p:cNvPr>
              <p:cNvSpPr/>
              <p:nvPr/>
            </p:nvSpPr>
            <p:spPr>
              <a:xfrm flipV="1">
                <a:off x="7775575" y="5454650"/>
                <a:ext cx="2676525" cy="479425"/>
              </a:xfrm>
              <a:custGeom>
                <a:avLst/>
                <a:gdLst>
                  <a:gd name="connsiteX0" fmla="*/ 0 w 2676525"/>
                  <a:gd name="connsiteY0" fmla="*/ 476250 h 479425"/>
                  <a:gd name="connsiteX1" fmla="*/ 622300 w 2676525"/>
                  <a:gd name="connsiteY1" fmla="*/ 479425 h 479425"/>
                  <a:gd name="connsiteX2" fmla="*/ 1028700 w 2676525"/>
                  <a:gd name="connsiteY2" fmla="*/ 0 h 479425"/>
                  <a:gd name="connsiteX3" fmla="*/ 1644650 w 2676525"/>
                  <a:gd name="connsiteY3" fmla="*/ 0 h 479425"/>
                  <a:gd name="connsiteX4" fmla="*/ 2054225 w 2676525"/>
                  <a:gd name="connsiteY4" fmla="*/ 469900 h 479425"/>
                  <a:gd name="connsiteX5" fmla="*/ 2676525 w 2676525"/>
                  <a:gd name="connsiteY5" fmla="*/ 466725 h 479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76525" h="479425">
                    <a:moveTo>
                      <a:pt x="0" y="476250"/>
                    </a:moveTo>
                    <a:lnTo>
                      <a:pt x="622300" y="479425"/>
                    </a:lnTo>
                    <a:lnTo>
                      <a:pt x="1028700" y="0"/>
                    </a:lnTo>
                    <a:lnTo>
                      <a:pt x="1644650" y="0"/>
                    </a:lnTo>
                    <a:lnTo>
                      <a:pt x="2054225" y="469900"/>
                    </a:lnTo>
                    <a:lnTo>
                      <a:pt x="2676525" y="466725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 224">
                <a:extLst>
                  <a:ext uri="{FF2B5EF4-FFF2-40B4-BE49-F238E27FC236}">
                    <a16:creationId xmlns="" xmlns:a16="http://schemas.microsoft.com/office/drawing/2014/main" id="{D040CEC2-BCD9-CC4A-9B8C-BA4CBF9256D1}"/>
                  </a:ext>
                </a:extLst>
              </p:cNvPr>
              <p:cNvSpPr/>
              <p:nvPr/>
            </p:nvSpPr>
            <p:spPr>
              <a:xfrm>
                <a:off x="7781925" y="4699000"/>
                <a:ext cx="2673350" cy="57150"/>
              </a:xfrm>
              <a:custGeom>
                <a:avLst/>
                <a:gdLst>
                  <a:gd name="connsiteX0" fmla="*/ 0 w 2673350"/>
                  <a:gd name="connsiteY0" fmla="*/ 57150 h 57150"/>
                  <a:gd name="connsiteX1" fmla="*/ 619125 w 2673350"/>
                  <a:gd name="connsiteY1" fmla="*/ 57150 h 57150"/>
                  <a:gd name="connsiteX2" fmla="*/ 1025525 w 2673350"/>
                  <a:gd name="connsiteY2" fmla="*/ 0 h 57150"/>
                  <a:gd name="connsiteX3" fmla="*/ 1638300 w 2673350"/>
                  <a:gd name="connsiteY3" fmla="*/ 3175 h 57150"/>
                  <a:gd name="connsiteX4" fmla="*/ 2047875 w 2673350"/>
                  <a:gd name="connsiteY4" fmla="*/ 47625 h 57150"/>
                  <a:gd name="connsiteX5" fmla="*/ 2673350 w 2673350"/>
                  <a:gd name="connsiteY5" fmla="*/ 4762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73350" h="57150">
                    <a:moveTo>
                      <a:pt x="0" y="57150"/>
                    </a:moveTo>
                    <a:lnTo>
                      <a:pt x="619125" y="57150"/>
                    </a:lnTo>
                    <a:lnTo>
                      <a:pt x="1025525" y="0"/>
                    </a:lnTo>
                    <a:lnTo>
                      <a:pt x="1638300" y="3175"/>
                    </a:lnTo>
                    <a:lnTo>
                      <a:pt x="2047875" y="47625"/>
                    </a:lnTo>
                    <a:lnTo>
                      <a:pt x="2673350" y="47625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Freeform 225">
                <a:extLst>
                  <a:ext uri="{FF2B5EF4-FFF2-40B4-BE49-F238E27FC236}">
                    <a16:creationId xmlns="" xmlns:a16="http://schemas.microsoft.com/office/drawing/2014/main" id="{1A2CDA45-208E-9946-A2AD-822647EFEDFA}"/>
                  </a:ext>
                </a:extLst>
              </p:cNvPr>
              <p:cNvSpPr/>
              <p:nvPr/>
            </p:nvSpPr>
            <p:spPr>
              <a:xfrm flipV="1">
                <a:off x="7772400" y="5381625"/>
                <a:ext cx="2673350" cy="57150"/>
              </a:xfrm>
              <a:custGeom>
                <a:avLst/>
                <a:gdLst>
                  <a:gd name="connsiteX0" fmla="*/ 0 w 2673350"/>
                  <a:gd name="connsiteY0" fmla="*/ 57150 h 57150"/>
                  <a:gd name="connsiteX1" fmla="*/ 619125 w 2673350"/>
                  <a:gd name="connsiteY1" fmla="*/ 57150 h 57150"/>
                  <a:gd name="connsiteX2" fmla="*/ 1025525 w 2673350"/>
                  <a:gd name="connsiteY2" fmla="*/ 0 h 57150"/>
                  <a:gd name="connsiteX3" fmla="*/ 1638300 w 2673350"/>
                  <a:gd name="connsiteY3" fmla="*/ 3175 h 57150"/>
                  <a:gd name="connsiteX4" fmla="*/ 2047875 w 2673350"/>
                  <a:gd name="connsiteY4" fmla="*/ 47625 h 57150"/>
                  <a:gd name="connsiteX5" fmla="*/ 2673350 w 2673350"/>
                  <a:gd name="connsiteY5" fmla="*/ 4762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73350" h="57150">
                    <a:moveTo>
                      <a:pt x="0" y="57150"/>
                    </a:moveTo>
                    <a:lnTo>
                      <a:pt x="619125" y="57150"/>
                    </a:lnTo>
                    <a:lnTo>
                      <a:pt x="1025525" y="0"/>
                    </a:lnTo>
                    <a:lnTo>
                      <a:pt x="1638300" y="3175"/>
                    </a:lnTo>
                    <a:lnTo>
                      <a:pt x="2047875" y="47625"/>
                    </a:lnTo>
                    <a:lnTo>
                      <a:pt x="2673350" y="47625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="" xmlns:a16="http://schemas.microsoft.com/office/drawing/2014/main" id="{FE54A13B-3416-FF4A-B70D-7C6B5BAF587B}"/>
                  </a:ext>
                </a:extLst>
              </p:cNvPr>
              <p:cNvSpPr/>
              <p:nvPr/>
            </p:nvSpPr>
            <p:spPr>
              <a:xfrm>
                <a:off x="7781925" y="4832350"/>
                <a:ext cx="2670175" cy="431800"/>
              </a:xfrm>
              <a:custGeom>
                <a:avLst/>
                <a:gdLst>
                  <a:gd name="connsiteX0" fmla="*/ 0 w 2670175"/>
                  <a:gd name="connsiteY0" fmla="*/ 9525 h 431800"/>
                  <a:gd name="connsiteX1" fmla="*/ 619125 w 2670175"/>
                  <a:gd name="connsiteY1" fmla="*/ 12700 h 431800"/>
                  <a:gd name="connsiteX2" fmla="*/ 1028700 w 2670175"/>
                  <a:gd name="connsiteY2" fmla="*/ 431800 h 431800"/>
                  <a:gd name="connsiteX3" fmla="*/ 1647825 w 2670175"/>
                  <a:gd name="connsiteY3" fmla="*/ 431800 h 431800"/>
                  <a:gd name="connsiteX4" fmla="*/ 2047875 w 2670175"/>
                  <a:gd name="connsiteY4" fmla="*/ 0 h 431800"/>
                  <a:gd name="connsiteX5" fmla="*/ 2670175 w 2670175"/>
                  <a:gd name="connsiteY5" fmla="*/ 0 h 431800"/>
                  <a:gd name="connsiteX6" fmla="*/ 2670175 w 2670175"/>
                  <a:gd name="connsiteY6" fmla="*/ 0 h 43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0175" h="431800">
                    <a:moveTo>
                      <a:pt x="0" y="9525"/>
                    </a:moveTo>
                    <a:lnTo>
                      <a:pt x="619125" y="12700"/>
                    </a:lnTo>
                    <a:lnTo>
                      <a:pt x="1028700" y="431800"/>
                    </a:lnTo>
                    <a:lnTo>
                      <a:pt x="1647825" y="431800"/>
                    </a:lnTo>
                    <a:lnTo>
                      <a:pt x="2047875" y="0"/>
                    </a:lnTo>
                    <a:lnTo>
                      <a:pt x="2670175" y="0"/>
                    </a:lnTo>
                    <a:lnTo>
                      <a:pt x="267017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="" xmlns:a16="http://schemas.microsoft.com/office/drawing/2014/main" id="{422C6A4B-723B-9F4A-9C0E-546001CFE567}"/>
                  </a:ext>
                </a:extLst>
              </p:cNvPr>
              <p:cNvSpPr/>
              <p:nvPr/>
            </p:nvSpPr>
            <p:spPr>
              <a:xfrm flipV="1">
                <a:off x="7772400" y="4870450"/>
                <a:ext cx="2670175" cy="431800"/>
              </a:xfrm>
              <a:custGeom>
                <a:avLst/>
                <a:gdLst>
                  <a:gd name="connsiteX0" fmla="*/ 0 w 2670175"/>
                  <a:gd name="connsiteY0" fmla="*/ 9525 h 431800"/>
                  <a:gd name="connsiteX1" fmla="*/ 619125 w 2670175"/>
                  <a:gd name="connsiteY1" fmla="*/ 12700 h 431800"/>
                  <a:gd name="connsiteX2" fmla="*/ 1028700 w 2670175"/>
                  <a:gd name="connsiteY2" fmla="*/ 431800 h 431800"/>
                  <a:gd name="connsiteX3" fmla="*/ 1647825 w 2670175"/>
                  <a:gd name="connsiteY3" fmla="*/ 431800 h 431800"/>
                  <a:gd name="connsiteX4" fmla="*/ 2047875 w 2670175"/>
                  <a:gd name="connsiteY4" fmla="*/ 0 h 431800"/>
                  <a:gd name="connsiteX5" fmla="*/ 2670175 w 2670175"/>
                  <a:gd name="connsiteY5" fmla="*/ 0 h 431800"/>
                  <a:gd name="connsiteX6" fmla="*/ 2670175 w 2670175"/>
                  <a:gd name="connsiteY6" fmla="*/ 0 h 43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0175" h="431800">
                    <a:moveTo>
                      <a:pt x="0" y="9525"/>
                    </a:moveTo>
                    <a:lnTo>
                      <a:pt x="619125" y="12700"/>
                    </a:lnTo>
                    <a:lnTo>
                      <a:pt x="1028700" y="431800"/>
                    </a:lnTo>
                    <a:lnTo>
                      <a:pt x="1647825" y="431800"/>
                    </a:lnTo>
                    <a:lnTo>
                      <a:pt x="2047875" y="0"/>
                    </a:lnTo>
                    <a:lnTo>
                      <a:pt x="2670175" y="0"/>
                    </a:lnTo>
                    <a:lnTo>
                      <a:pt x="267017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="" xmlns:a16="http://schemas.microsoft.com/office/drawing/2014/main" id="{9E0AF2C1-2620-9E44-97FC-19E9F839C492}"/>
                  </a:ext>
                </a:extLst>
              </p:cNvPr>
              <p:cNvSpPr/>
              <p:nvPr/>
            </p:nvSpPr>
            <p:spPr>
              <a:xfrm>
                <a:off x="7778750" y="4911725"/>
                <a:ext cx="2667000" cy="860425"/>
              </a:xfrm>
              <a:custGeom>
                <a:avLst/>
                <a:gdLst>
                  <a:gd name="connsiteX0" fmla="*/ 0 w 2667000"/>
                  <a:gd name="connsiteY0" fmla="*/ 12700 h 860425"/>
                  <a:gd name="connsiteX1" fmla="*/ 622300 w 2667000"/>
                  <a:gd name="connsiteY1" fmla="*/ 15875 h 860425"/>
                  <a:gd name="connsiteX2" fmla="*/ 1022350 w 2667000"/>
                  <a:gd name="connsiteY2" fmla="*/ 860425 h 860425"/>
                  <a:gd name="connsiteX3" fmla="*/ 1654175 w 2667000"/>
                  <a:gd name="connsiteY3" fmla="*/ 857250 h 860425"/>
                  <a:gd name="connsiteX4" fmla="*/ 2057400 w 2667000"/>
                  <a:gd name="connsiteY4" fmla="*/ 0 h 860425"/>
                  <a:gd name="connsiteX5" fmla="*/ 2667000 w 2667000"/>
                  <a:gd name="connsiteY5" fmla="*/ 3175 h 860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67000" h="860425">
                    <a:moveTo>
                      <a:pt x="0" y="12700"/>
                    </a:moveTo>
                    <a:lnTo>
                      <a:pt x="622300" y="15875"/>
                    </a:lnTo>
                    <a:lnTo>
                      <a:pt x="1022350" y="860425"/>
                    </a:lnTo>
                    <a:lnTo>
                      <a:pt x="1654175" y="857250"/>
                    </a:lnTo>
                    <a:lnTo>
                      <a:pt x="2057400" y="0"/>
                    </a:lnTo>
                    <a:lnTo>
                      <a:pt x="2667000" y="3175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="" xmlns:a16="http://schemas.microsoft.com/office/drawing/2014/main" id="{88B69035-8F28-C644-A38A-B94888D6C889}"/>
                  </a:ext>
                </a:extLst>
              </p:cNvPr>
              <p:cNvSpPr/>
              <p:nvPr/>
            </p:nvSpPr>
            <p:spPr>
              <a:xfrm flipV="1">
                <a:off x="7772400" y="4362450"/>
                <a:ext cx="2667000" cy="860425"/>
              </a:xfrm>
              <a:custGeom>
                <a:avLst/>
                <a:gdLst>
                  <a:gd name="connsiteX0" fmla="*/ 0 w 2667000"/>
                  <a:gd name="connsiteY0" fmla="*/ 12700 h 860425"/>
                  <a:gd name="connsiteX1" fmla="*/ 622300 w 2667000"/>
                  <a:gd name="connsiteY1" fmla="*/ 15875 h 860425"/>
                  <a:gd name="connsiteX2" fmla="*/ 1022350 w 2667000"/>
                  <a:gd name="connsiteY2" fmla="*/ 860425 h 860425"/>
                  <a:gd name="connsiteX3" fmla="*/ 1654175 w 2667000"/>
                  <a:gd name="connsiteY3" fmla="*/ 857250 h 860425"/>
                  <a:gd name="connsiteX4" fmla="*/ 2057400 w 2667000"/>
                  <a:gd name="connsiteY4" fmla="*/ 0 h 860425"/>
                  <a:gd name="connsiteX5" fmla="*/ 2667000 w 2667000"/>
                  <a:gd name="connsiteY5" fmla="*/ 3175 h 860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67000" h="860425">
                    <a:moveTo>
                      <a:pt x="0" y="12700"/>
                    </a:moveTo>
                    <a:lnTo>
                      <a:pt x="622300" y="15875"/>
                    </a:lnTo>
                    <a:lnTo>
                      <a:pt x="1022350" y="860425"/>
                    </a:lnTo>
                    <a:lnTo>
                      <a:pt x="1654175" y="857250"/>
                    </a:lnTo>
                    <a:lnTo>
                      <a:pt x="2057400" y="0"/>
                    </a:lnTo>
                    <a:lnTo>
                      <a:pt x="2667000" y="3175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="" xmlns:a16="http://schemas.microsoft.com/office/drawing/2014/main" id="{96950FD3-B7F2-234A-A4D7-176DF00FF8F2}"/>
                  </a:ext>
                </a:extLst>
              </p:cNvPr>
              <p:cNvSpPr/>
              <p:nvPr/>
            </p:nvSpPr>
            <p:spPr>
              <a:xfrm>
                <a:off x="7896225" y="4606925"/>
                <a:ext cx="381000" cy="381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="" xmlns:a16="http://schemas.microsoft.com/office/drawing/2014/main" id="{668109C4-4800-6341-9708-CD02EDA64090}"/>
                  </a:ext>
                </a:extLst>
              </p:cNvPr>
              <p:cNvSpPr/>
              <p:nvPr/>
            </p:nvSpPr>
            <p:spPr>
              <a:xfrm>
                <a:off x="7893050" y="5153025"/>
                <a:ext cx="381000" cy="381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="" xmlns:a16="http://schemas.microsoft.com/office/drawing/2014/main" id="{87252927-5ABB-4143-A0CF-8F27601B552F}"/>
                  </a:ext>
                </a:extLst>
              </p:cNvPr>
              <p:cNvSpPr/>
              <p:nvPr/>
            </p:nvSpPr>
            <p:spPr>
              <a:xfrm>
                <a:off x="8921750" y="4086225"/>
                <a:ext cx="381000" cy="381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="" xmlns:a16="http://schemas.microsoft.com/office/drawing/2014/main" id="{6F93DF06-F167-394B-81B1-7291F4CA8475}"/>
                  </a:ext>
                </a:extLst>
              </p:cNvPr>
              <p:cNvSpPr/>
              <p:nvPr/>
            </p:nvSpPr>
            <p:spPr>
              <a:xfrm>
                <a:off x="8912225" y="4587875"/>
                <a:ext cx="381000" cy="381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="" xmlns:a16="http://schemas.microsoft.com/office/drawing/2014/main" id="{EF079388-6C88-6547-87EC-8A1B75261342}"/>
                  </a:ext>
                </a:extLst>
              </p:cNvPr>
              <p:cNvSpPr/>
              <p:nvPr/>
            </p:nvSpPr>
            <p:spPr>
              <a:xfrm>
                <a:off x="8915400" y="5143500"/>
                <a:ext cx="381000" cy="381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="" xmlns:a16="http://schemas.microsoft.com/office/drawing/2014/main" id="{7D123F75-983B-C64D-8690-6077B5C786EC}"/>
                  </a:ext>
                </a:extLst>
              </p:cNvPr>
              <p:cNvSpPr/>
              <p:nvPr/>
            </p:nvSpPr>
            <p:spPr>
              <a:xfrm>
                <a:off x="8921750" y="5654675"/>
                <a:ext cx="381000" cy="381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="" xmlns:a16="http://schemas.microsoft.com/office/drawing/2014/main" id="{7494C5C3-47A7-E742-A563-34C9D94740D8}"/>
                  </a:ext>
                </a:extLst>
              </p:cNvPr>
              <p:cNvSpPr/>
              <p:nvPr/>
            </p:nvSpPr>
            <p:spPr>
              <a:xfrm>
                <a:off x="9944100" y="5153025"/>
                <a:ext cx="381000" cy="381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="" xmlns:a16="http://schemas.microsoft.com/office/drawing/2014/main" id="{00C425D8-A431-8042-B3F0-55970A83C656}"/>
                  </a:ext>
                </a:extLst>
              </p:cNvPr>
              <p:cNvSpPr/>
              <p:nvPr/>
            </p:nvSpPr>
            <p:spPr>
              <a:xfrm>
                <a:off x="9944100" y="4587875"/>
                <a:ext cx="381000" cy="381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40" name="TextBox 239">
              <a:extLst>
                <a:ext uri="{FF2B5EF4-FFF2-40B4-BE49-F238E27FC236}">
                  <a16:creationId xmlns="" xmlns:a16="http://schemas.microsoft.com/office/drawing/2014/main" id="{3D9B9457-EBBB-0C43-82B6-87717EDBAAEA}"/>
                </a:ext>
              </a:extLst>
            </p:cNvPr>
            <p:cNvSpPr txBox="1"/>
            <p:nvPr/>
          </p:nvSpPr>
          <p:spPr>
            <a:xfrm>
              <a:off x="8097079" y="5989983"/>
              <a:ext cx="3244414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8x8 multistage switch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built from smaller-sized switches</a:t>
              </a:r>
            </a:p>
          </p:txBody>
        </p:sp>
      </p:grpSp>
      <p:sp>
        <p:nvSpPr>
          <p:cNvPr id="241" name="TextBox 240">
            <a:extLst>
              <a:ext uri="{FF2B5EF4-FFF2-40B4-BE49-F238E27FC236}">
                <a16:creationId xmlns="" xmlns:a16="http://schemas.microsoft.com/office/drawing/2014/main" id="{B2396B77-B6FA-2840-BC57-4DD04AF562BD}"/>
              </a:ext>
            </a:extLst>
          </p:cNvPr>
          <p:cNvSpPr txBox="1"/>
          <p:nvPr/>
        </p:nvSpPr>
        <p:spPr>
          <a:xfrm>
            <a:off x="9006580" y="3438940"/>
            <a:ext cx="1359155" cy="3298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3x3 crossbar</a:t>
            </a:r>
          </a:p>
        </p:txBody>
      </p:sp>
      <p:sp>
        <p:nvSpPr>
          <p:cNvPr id="79" name="Content Placeholder 2">
            <a:extLst>
              <a:ext uri="{FF2B5EF4-FFF2-40B4-BE49-F238E27FC236}">
                <a16:creationId xmlns="" xmlns:a16="http://schemas.microsoft.com/office/drawing/2014/main" id="{F80CBFA4-4A18-914C-A713-E4A5E18F64DB}"/>
              </a:ext>
            </a:extLst>
          </p:cNvPr>
          <p:cNvSpPr txBox="1">
            <a:spLocks/>
          </p:cNvSpPr>
          <p:nvPr/>
        </p:nvSpPr>
        <p:spPr>
          <a:xfrm>
            <a:off x="788873" y="3242734"/>
            <a:ext cx="6477000" cy="1093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multistage switch: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nxn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switch from multiple stages of smaller switches</a:t>
            </a:r>
          </a:p>
        </p:txBody>
      </p:sp>
      <p:sp>
        <p:nvSpPr>
          <p:cNvPr id="114" name="Content Placeholder 2">
            <a:extLst>
              <a:ext uri="{FF2B5EF4-FFF2-40B4-BE49-F238E27FC236}">
                <a16:creationId xmlns="" xmlns:a16="http://schemas.microsoft.com/office/drawing/2014/main" id="{C44BED26-0F25-A14C-A2DE-9DA48DF09A44}"/>
              </a:ext>
            </a:extLst>
          </p:cNvPr>
          <p:cNvSpPr txBox="1">
            <a:spLocks/>
          </p:cNvSpPr>
          <p:nvPr/>
        </p:nvSpPr>
        <p:spPr>
          <a:xfrm>
            <a:off x="775016" y="4281825"/>
            <a:ext cx="6477000" cy="2118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exploiting parallelism: </a:t>
            </a:r>
          </a:p>
          <a:p>
            <a:pPr marL="693738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fragment datagram into fixed length cells on entry</a:t>
            </a:r>
          </a:p>
          <a:p>
            <a:pPr marL="693738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switch cells through the fabric, reassemble datagram at exit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="" xmlns:a16="http://schemas.microsoft.com/office/drawing/2014/main" id="{2ACE683F-C3E3-E542-87F3-26A8CC51B32B}"/>
              </a:ext>
            </a:extLst>
          </p:cNvPr>
          <p:cNvSpPr txBox="1"/>
          <p:nvPr/>
        </p:nvSpPr>
        <p:spPr>
          <a:xfrm>
            <a:off x="9006580" y="3438940"/>
            <a:ext cx="1359155" cy="3298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3x3 crossbar</a:t>
            </a:r>
          </a:p>
        </p:txBody>
      </p:sp>
      <p:sp>
        <p:nvSpPr>
          <p:cNvPr id="135" name="Rectangle 46">
            <a:extLst>
              <a:ext uri="{FF2B5EF4-FFF2-40B4-BE49-F238E27FC236}">
                <a16:creationId xmlns="" xmlns:a16="http://schemas.microsoft.com/office/drawing/2014/main" id="{CADDF9A1-F510-0A48-A5C8-B604DC721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457" y="4508938"/>
            <a:ext cx="290819" cy="19018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6" name="Rectangle 46">
            <a:extLst>
              <a:ext uri="{FF2B5EF4-FFF2-40B4-BE49-F238E27FC236}">
                <a16:creationId xmlns="" xmlns:a16="http://schemas.microsoft.com/office/drawing/2014/main" id="{EF37199A-A67A-4242-ABE8-2B6C3B2BE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1262" y="4508366"/>
            <a:ext cx="290819" cy="19018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7" name="Rectangle 46">
            <a:extLst>
              <a:ext uri="{FF2B5EF4-FFF2-40B4-BE49-F238E27FC236}">
                <a16:creationId xmlns="" xmlns:a16="http://schemas.microsoft.com/office/drawing/2014/main" id="{2A43E4D0-9761-694D-909E-DDC6673E3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2810" y="4508366"/>
            <a:ext cx="290819" cy="190180"/>
          </a:xfrm>
          <a:prstGeom prst="rect">
            <a:avLst/>
          </a:prstGeom>
          <a:solidFill>
            <a:srgbClr val="00CC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5" name="Slide Number Placeholder 4">
            <a:extLst>
              <a:ext uri="{FF2B5EF4-FFF2-40B4-BE49-F238E27FC236}">
                <a16:creationId xmlns="" xmlns:a16="http://schemas.microsoft.com/office/drawing/2014/main" id="{4F8C5248-5115-F748-B1EF-FF98DE1ECE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58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6 L 0.06537 0.00023 L 0.0974 -0.06899 L 0.14805 -0.06899 C 0.15925 -0.0463 0.17018 -0.02385 0.18164 -0.00093 C 0.19596 -0.00186 0.28151 -0.00047 0.29662 -0.00116 " pathEditMode="relative" rAng="0" ptsTypes="AAAAAA">
                                      <p:cBhvr>
                                        <p:cTn id="30" dur="3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31" y="-3449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0.00024 L 0.06407 0.00069 C 0.06914 0.00949 0.07409 0.01851 0.07904 0.02731 L 0.08867 0.02592 L 0.12214 0.08842 L 0.17136 0.08842 L 0.20482 0.02453 L 0.22982 0.02453 L 0.23477 -0.00116 C 0.25508 -0.00116 0.28073 -0.0007 0.30104 -0.0007 " pathEditMode="relative" rAng="0" ptsTypes="AAAAAAAAAA">
                                      <p:cBhvr>
                                        <p:cTn id="32" dur="3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52" y="4375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8685 0.00139 L 0.10339 0.03912 L 0.11342 0.03842 L 0.14688 0.16365 L 0.19649 0.16296 L 0.23073 0.03634 L 0.25339 0.03564 L 0.26029 -0.00116 L 0.30495 -0.00116 " pathEditMode="relative" ptsTypes="AAAAAAAAAA">
                                      <p:cBhvr>
                                        <p:cTn id="34" dur="3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114" grpId="0"/>
      <p:bldP spid="135" grpId="0" animBg="1"/>
      <p:bldP spid="135" grpId="1" animBg="1"/>
      <p:bldP spid="136" grpId="0" animBg="1"/>
      <p:bldP spid="136" grpId="1" animBg="1"/>
      <p:bldP spid="137" grpId="0" animBg="1"/>
      <p:bldP spid="13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19673C0F-EEA6-3549-BFCE-D83173D8E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267" y="1386402"/>
            <a:ext cx="10515600" cy="135679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If switch fabric slower than input ports combined -&gt; queueing may occur at input queues </a:t>
            </a:r>
          </a:p>
          <a:p>
            <a:pPr lvl="1"/>
            <a:r>
              <a:rPr lang="en-US" altLang="en-US" sz="2800" dirty="0">
                <a:ea typeface="ＭＳ Ｐゴシック" panose="020B0600070205080204" pitchFamily="34" charset="-128"/>
              </a:rPr>
              <a:t>queueing delay and loss due to input buffer overflow!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Input port queuing</a:t>
            </a:r>
            <a:endParaRPr lang="en-US" dirty="0"/>
          </a:p>
        </p:txBody>
      </p:sp>
      <p:sp>
        <p:nvSpPr>
          <p:cNvPr id="104" name="Text Box 62">
            <a:extLst>
              <a:ext uri="{FF2B5EF4-FFF2-40B4-BE49-F238E27FC236}">
                <a16:creationId xmlns="" xmlns:a16="http://schemas.microsoft.com/office/drawing/2014/main" id="{A61D6C7D-A6A0-2949-A958-E9C2A14B3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666" y="5728188"/>
            <a:ext cx="445945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output port contention: only one red datagram can be transferred. lower red packet is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blocked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="" xmlns:a16="http://schemas.microsoft.com/office/drawing/2014/main" id="{A8B7A346-0262-A945-984D-C0F97E764874}"/>
              </a:ext>
            </a:extLst>
          </p:cNvPr>
          <p:cNvGrpSpPr/>
          <p:nvPr/>
        </p:nvGrpSpPr>
        <p:grpSpPr>
          <a:xfrm>
            <a:off x="2528548" y="3841801"/>
            <a:ext cx="3027362" cy="1817687"/>
            <a:chOff x="2908374" y="3743325"/>
            <a:chExt cx="3027362" cy="1817687"/>
          </a:xfrm>
        </p:grpSpPr>
        <p:grpSp>
          <p:nvGrpSpPr>
            <p:cNvPr id="73" name="Group 7">
              <a:extLst>
                <a:ext uri="{FF2B5EF4-FFF2-40B4-BE49-F238E27FC236}">
                  <a16:creationId xmlns="" xmlns:a16="http://schemas.microsoft.com/office/drawing/2014/main" id="{D164F740-85C3-9A46-A495-5762FFD544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8374" y="3751262"/>
              <a:ext cx="3027362" cy="1809750"/>
              <a:chOff x="523" y="976"/>
              <a:chExt cx="2099" cy="1356"/>
            </a:xfrm>
          </p:grpSpPr>
          <p:sp>
            <p:nvSpPr>
              <p:cNvPr id="74" name="Rectangle 8">
                <a:extLst>
                  <a:ext uri="{FF2B5EF4-FFF2-40B4-BE49-F238E27FC236}">
                    <a16:creationId xmlns="" xmlns:a16="http://schemas.microsoft.com/office/drawing/2014/main" id="{3D3FDDE5-E1D2-4741-B9DB-0E91DB81E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8" y="976"/>
                <a:ext cx="745" cy="13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75" name="Group 9">
                <a:extLst>
                  <a:ext uri="{FF2B5EF4-FFF2-40B4-BE49-F238E27FC236}">
                    <a16:creationId xmlns="" xmlns:a16="http://schemas.microsoft.com/office/drawing/2014/main" id="{E04796AD-83ED-2C40-B3DD-6EE81FAF76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4" y="997"/>
                <a:ext cx="249" cy="1295"/>
                <a:chOff x="748" y="997"/>
                <a:chExt cx="249" cy="1295"/>
              </a:xfrm>
            </p:grpSpPr>
            <p:sp>
              <p:nvSpPr>
                <p:cNvPr id="94" name="Rectangle 10">
                  <a:extLst>
                    <a:ext uri="{FF2B5EF4-FFF2-40B4-BE49-F238E27FC236}">
                      <a16:creationId xmlns="" xmlns:a16="http://schemas.microsoft.com/office/drawing/2014/main" id="{43ED5184-D575-0248-A3F3-81B5349D97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40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5" name="Rectangle 11">
                  <a:extLst>
                    <a:ext uri="{FF2B5EF4-FFF2-40B4-BE49-F238E27FC236}">
                      <a16:creationId xmlns="" xmlns:a16="http://schemas.microsoft.com/office/drawing/2014/main" id="{2FA9BAD8-AE3E-DB45-B0FD-7FDA2BE93B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40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" name="Rectangle 12">
                  <a:extLst>
                    <a:ext uri="{FF2B5EF4-FFF2-40B4-BE49-F238E27FC236}">
                      <a16:creationId xmlns="" xmlns:a16="http://schemas.microsoft.com/office/drawing/2014/main" id="{9F580657-7B0A-D44A-A81D-E4A1D6379E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38"/>
                  <a:ext cx="240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76" name="Group 13">
                <a:extLst>
                  <a:ext uri="{FF2B5EF4-FFF2-40B4-BE49-F238E27FC236}">
                    <a16:creationId xmlns="" xmlns:a16="http://schemas.microsoft.com/office/drawing/2014/main" id="{056EE82A-FAB8-7249-BC14-6FFA66DA07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9" y="1002"/>
                <a:ext cx="249" cy="1295"/>
                <a:chOff x="748" y="997"/>
                <a:chExt cx="249" cy="1295"/>
              </a:xfrm>
            </p:grpSpPr>
            <p:sp>
              <p:nvSpPr>
                <p:cNvPr id="91" name="Rectangle 14">
                  <a:extLst>
                    <a:ext uri="{FF2B5EF4-FFF2-40B4-BE49-F238E27FC236}">
                      <a16:creationId xmlns="" xmlns:a16="http://schemas.microsoft.com/office/drawing/2014/main" id="{E5CA9310-6AD6-2146-9776-7012072315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2" name="Rectangle 15">
                  <a:extLst>
                    <a:ext uri="{FF2B5EF4-FFF2-40B4-BE49-F238E27FC236}">
                      <a16:creationId xmlns="" xmlns:a16="http://schemas.microsoft.com/office/drawing/2014/main" id="{8D066A34-9935-0949-9FF4-6C93094CBF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3" name="Rectangle 16">
                  <a:extLst>
                    <a:ext uri="{FF2B5EF4-FFF2-40B4-BE49-F238E27FC236}">
                      <a16:creationId xmlns="" xmlns:a16="http://schemas.microsoft.com/office/drawing/2014/main" id="{AEE24D80-D9B2-5E43-BE37-0732E26D5A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8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77" name="Line 17">
                <a:extLst>
                  <a:ext uri="{FF2B5EF4-FFF2-40B4-BE49-F238E27FC236}">
                    <a16:creationId xmlns="" xmlns:a16="http://schemas.microsoft.com/office/drawing/2014/main" id="{E7EAA4E2-487B-894A-934C-8BED5D29A0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6" y="1181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8" name="Line 18">
                <a:extLst>
                  <a:ext uri="{FF2B5EF4-FFF2-40B4-BE49-F238E27FC236}">
                    <a16:creationId xmlns="" xmlns:a16="http://schemas.microsoft.com/office/drawing/2014/main" id="{F056DF5E-0636-A74F-AFC5-06DA708CC8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1644"/>
                <a:ext cx="16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9" name="Line 19">
                <a:extLst>
                  <a:ext uri="{FF2B5EF4-FFF2-40B4-BE49-F238E27FC236}">
                    <a16:creationId xmlns="" xmlns:a16="http://schemas.microsoft.com/office/drawing/2014/main" id="{1A5F3287-940C-9740-86D0-1AB977CAFF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2119"/>
                <a:ext cx="16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0" name="Line 20">
                <a:extLst>
                  <a:ext uri="{FF2B5EF4-FFF2-40B4-BE49-F238E27FC236}">
                    <a16:creationId xmlns="" xmlns:a16="http://schemas.microsoft.com/office/drawing/2014/main" id="{F520F608-8F8B-EE4D-AB7D-4587DC70B4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4" y="1164"/>
                <a:ext cx="16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1" name="Line 21">
                <a:extLst>
                  <a:ext uri="{FF2B5EF4-FFF2-40B4-BE49-F238E27FC236}">
                    <a16:creationId xmlns="" xmlns:a16="http://schemas.microsoft.com/office/drawing/2014/main" id="{5D5075D4-1165-4C4C-AF51-B90ABAD1F9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1629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" name="Line 22">
                <a:extLst>
                  <a:ext uri="{FF2B5EF4-FFF2-40B4-BE49-F238E27FC236}">
                    <a16:creationId xmlns="" xmlns:a16="http://schemas.microsoft.com/office/drawing/2014/main" id="{C10787ED-2529-B644-9C51-F8157D8A6B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2102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" name="Group 23">
                <a:extLst>
                  <a:ext uri="{FF2B5EF4-FFF2-40B4-BE49-F238E27FC236}">
                    <a16:creationId xmlns="" xmlns:a16="http://schemas.microsoft.com/office/drawing/2014/main" id="{971E0D16-1F7C-F048-8258-EDA2CB10DD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3" y="1169"/>
                <a:ext cx="288" cy="939"/>
                <a:chOff x="-60" y="1148"/>
                <a:chExt cx="168" cy="939"/>
              </a:xfrm>
            </p:grpSpPr>
            <p:sp>
              <p:nvSpPr>
                <p:cNvPr id="88" name="Line 24">
                  <a:extLst>
                    <a:ext uri="{FF2B5EF4-FFF2-40B4-BE49-F238E27FC236}">
                      <a16:creationId xmlns="" xmlns:a16="http://schemas.microsoft.com/office/drawing/2014/main" id="{A7F9F178-4046-3247-B2E2-AE134DC9BB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9" name="Line 25">
                  <a:extLst>
                    <a:ext uri="{FF2B5EF4-FFF2-40B4-BE49-F238E27FC236}">
                      <a16:creationId xmlns="" xmlns:a16="http://schemas.microsoft.com/office/drawing/2014/main" id="{C8CD8FEE-FC96-3A43-8409-D693193AE5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3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0" name="Line 26">
                  <a:extLst>
                    <a:ext uri="{FF2B5EF4-FFF2-40B4-BE49-F238E27FC236}">
                      <a16:creationId xmlns="" xmlns:a16="http://schemas.microsoft.com/office/drawing/2014/main" id="{4CBECCBD-CFD3-764F-887C-FED5405A0A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84" name="Group 27">
                <a:extLst>
                  <a:ext uri="{FF2B5EF4-FFF2-40B4-BE49-F238E27FC236}">
                    <a16:creationId xmlns="" xmlns:a16="http://schemas.microsoft.com/office/drawing/2014/main" id="{1DA00A78-49E3-534E-A704-59927A7641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4" y="1173"/>
                <a:ext cx="288" cy="939"/>
                <a:chOff x="-60" y="1148"/>
                <a:chExt cx="168" cy="939"/>
              </a:xfrm>
            </p:grpSpPr>
            <p:sp>
              <p:nvSpPr>
                <p:cNvPr id="85" name="Line 28">
                  <a:extLst>
                    <a:ext uri="{FF2B5EF4-FFF2-40B4-BE49-F238E27FC236}">
                      <a16:creationId xmlns="" xmlns:a16="http://schemas.microsoft.com/office/drawing/2014/main" id="{61838874-A5DC-7947-8DA7-12A88836EA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6" name="Line 29">
                  <a:extLst>
                    <a:ext uri="{FF2B5EF4-FFF2-40B4-BE49-F238E27FC236}">
                      <a16:creationId xmlns="" xmlns:a16="http://schemas.microsoft.com/office/drawing/2014/main" id="{5372ECE9-A44D-9040-8B03-CA9D88C7D7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5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" name="Line 30">
                  <a:extLst>
                    <a:ext uri="{FF2B5EF4-FFF2-40B4-BE49-F238E27FC236}">
                      <a16:creationId xmlns="" xmlns:a16="http://schemas.microsoft.com/office/drawing/2014/main" id="{FA2DA940-73AA-D447-84F1-95C932F532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97" name="Rectangle 55">
              <a:extLst>
                <a:ext uri="{FF2B5EF4-FFF2-40B4-BE49-F238E27FC236}">
                  <a16:creationId xmlns="" xmlns:a16="http://schemas.microsoft.com/office/drawing/2014/main" id="{DC8735CA-28A8-9844-8915-2B52D5644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811" y="3748087"/>
              <a:ext cx="252413" cy="1301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" name="Rectangle 56">
              <a:extLst>
                <a:ext uri="{FF2B5EF4-FFF2-40B4-BE49-F238E27FC236}">
                  <a16:creationId xmlns="" xmlns:a16="http://schemas.microsoft.com/office/drawing/2014/main" id="{583B70AF-74AA-594D-B7DD-CD3587045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524" y="4479925"/>
              <a:ext cx="252412" cy="131762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Rectangle 57">
              <a:extLst>
                <a:ext uri="{FF2B5EF4-FFF2-40B4-BE49-F238E27FC236}">
                  <a16:creationId xmlns="" xmlns:a16="http://schemas.microsoft.com/office/drawing/2014/main" id="{7B6BE014-EC1B-4245-8E39-262F9C155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4936" y="5114925"/>
              <a:ext cx="252413" cy="1301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0" name="Rectangle 58">
              <a:extLst>
                <a:ext uri="{FF2B5EF4-FFF2-40B4-BE49-F238E27FC236}">
                  <a16:creationId xmlns="" xmlns:a16="http://schemas.microsoft.com/office/drawing/2014/main" id="{5727D261-4FAD-9C40-8357-59F2BB7AE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036" y="3743325"/>
              <a:ext cx="252413" cy="131762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1" name="Rectangle 59">
              <a:extLst>
                <a:ext uri="{FF2B5EF4-FFF2-40B4-BE49-F238E27FC236}">
                  <a16:creationId xmlns="" xmlns:a16="http://schemas.microsoft.com/office/drawing/2014/main" id="{1194EC16-CE8F-8D4B-A795-C4A17F3FE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7274" y="5103812"/>
              <a:ext cx="252412" cy="131763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Line 60">
              <a:extLst>
                <a:ext uri="{FF2B5EF4-FFF2-40B4-BE49-F238E27FC236}">
                  <a16:creationId xmlns="" xmlns:a16="http://schemas.microsoft.com/office/drawing/2014/main" id="{67621AA8-BE0E-7F4B-BC70-5D6A01E48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2911" y="3803650"/>
              <a:ext cx="1479550" cy="158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" name="Freeform 61">
              <a:extLst>
                <a:ext uri="{FF2B5EF4-FFF2-40B4-BE49-F238E27FC236}">
                  <a16:creationId xmlns="" xmlns:a16="http://schemas.microsoft.com/office/drawing/2014/main" id="{63B03E4B-DC34-6549-9693-9E2101F3E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7361" y="4202112"/>
              <a:ext cx="1395413" cy="979488"/>
            </a:xfrm>
            <a:custGeom>
              <a:avLst/>
              <a:gdLst>
                <a:gd name="T0" fmla="*/ 0 w 967"/>
                <a:gd name="T1" fmla="*/ 2147483647 h 735"/>
                <a:gd name="T2" fmla="*/ 2147483647 w 967"/>
                <a:gd name="T3" fmla="*/ 2147483647 h 735"/>
                <a:gd name="T4" fmla="*/ 2147483647 w 967"/>
                <a:gd name="T5" fmla="*/ 0 h 735"/>
                <a:gd name="T6" fmla="*/ 0 60000 65536"/>
                <a:gd name="T7" fmla="*/ 0 60000 65536"/>
                <a:gd name="T8" fmla="*/ 0 60000 65536"/>
                <a:gd name="T9" fmla="*/ 0 w 967"/>
                <a:gd name="T10" fmla="*/ 0 h 735"/>
                <a:gd name="T11" fmla="*/ 967 w 967"/>
                <a:gd name="T12" fmla="*/ 735 h 7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7" h="735">
                  <a:moveTo>
                    <a:pt x="0" y="733"/>
                  </a:moveTo>
                  <a:lnTo>
                    <a:pt x="522" y="735"/>
                  </a:lnTo>
                  <a:lnTo>
                    <a:pt x="967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" name="Text Box 64">
              <a:extLst>
                <a:ext uri="{FF2B5EF4-FFF2-40B4-BE49-F238E27FC236}">
                  <a16:creationId xmlns="" xmlns:a16="http://schemas.microsoft.com/office/drawing/2014/main" id="{CB734319-6832-8C4E-B16D-A545895BC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6611" y="4548187"/>
              <a:ext cx="747713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switch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</p:txBody>
        </p:sp>
        <p:sp>
          <p:nvSpPr>
            <p:cNvPr id="106" name="Line 73">
              <a:extLst>
                <a:ext uri="{FF2B5EF4-FFF2-40B4-BE49-F238E27FC236}">
                  <a16:creationId xmlns="" xmlns:a16="http://schemas.microsoft.com/office/drawing/2014/main" id="{5550252A-B930-0747-B713-DACF5B30A8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3386" y="4548187"/>
              <a:ext cx="1458913" cy="1905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7" name="Group 79">
            <a:extLst>
              <a:ext uri="{FF2B5EF4-FFF2-40B4-BE49-F238E27FC236}">
                <a16:creationId xmlns="" xmlns:a16="http://schemas.microsoft.com/office/drawing/2014/main" id="{C5196E2D-6A1D-9849-8A2B-31C0EF009838}"/>
              </a:ext>
            </a:extLst>
          </p:cNvPr>
          <p:cNvGrpSpPr>
            <a:grpSpLocks/>
          </p:cNvGrpSpPr>
          <p:nvPr/>
        </p:nvGrpSpPr>
        <p:grpSpPr bwMode="auto">
          <a:xfrm>
            <a:off x="7144970" y="3842241"/>
            <a:ext cx="3587750" cy="2570163"/>
            <a:chOff x="2950" y="2025"/>
            <a:chExt cx="2260" cy="1619"/>
          </a:xfrm>
        </p:grpSpPr>
        <p:grpSp>
          <p:nvGrpSpPr>
            <p:cNvPr id="108" name="Group 31">
              <a:extLst>
                <a:ext uri="{FF2B5EF4-FFF2-40B4-BE49-F238E27FC236}">
                  <a16:creationId xmlns="" xmlns:a16="http://schemas.microsoft.com/office/drawing/2014/main" id="{961F130E-3A11-5044-A5C6-98D394F90B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4" y="2047"/>
              <a:ext cx="1907" cy="1140"/>
              <a:chOff x="523" y="976"/>
              <a:chExt cx="2099" cy="1356"/>
            </a:xfrm>
          </p:grpSpPr>
          <p:sp>
            <p:nvSpPr>
              <p:cNvPr id="118" name="Rectangle 32">
                <a:extLst>
                  <a:ext uri="{FF2B5EF4-FFF2-40B4-BE49-F238E27FC236}">
                    <a16:creationId xmlns="" xmlns:a16="http://schemas.microsoft.com/office/drawing/2014/main" id="{72F70161-3D6F-B147-8A8F-41A13F54E1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8" y="976"/>
                <a:ext cx="745" cy="13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19" name="Group 33">
                <a:extLst>
                  <a:ext uri="{FF2B5EF4-FFF2-40B4-BE49-F238E27FC236}">
                    <a16:creationId xmlns="" xmlns:a16="http://schemas.microsoft.com/office/drawing/2014/main" id="{E1D22FF4-168D-4C4A-9242-A4710729BB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4" y="997"/>
                <a:ext cx="249" cy="1295"/>
                <a:chOff x="748" y="997"/>
                <a:chExt cx="249" cy="1295"/>
              </a:xfrm>
            </p:grpSpPr>
            <p:sp>
              <p:nvSpPr>
                <p:cNvPr id="138" name="Rectangle 34">
                  <a:extLst>
                    <a:ext uri="{FF2B5EF4-FFF2-40B4-BE49-F238E27FC236}">
                      <a16:creationId xmlns="" xmlns:a16="http://schemas.microsoft.com/office/drawing/2014/main" id="{90EE215A-C3AE-254D-88D8-6E5E1C6253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40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9" name="Rectangle 35">
                  <a:extLst>
                    <a:ext uri="{FF2B5EF4-FFF2-40B4-BE49-F238E27FC236}">
                      <a16:creationId xmlns="" xmlns:a16="http://schemas.microsoft.com/office/drawing/2014/main" id="{B87EB84E-1DCB-6747-983D-A91A87C6BA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40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0" name="Rectangle 36">
                  <a:extLst>
                    <a:ext uri="{FF2B5EF4-FFF2-40B4-BE49-F238E27FC236}">
                      <a16:creationId xmlns="" xmlns:a16="http://schemas.microsoft.com/office/drawing/2014/main" id="{13842296-C860-1A4C-94BA-0C09F8E543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38"/>
                  <a:ext cx="240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20" name="Group 37">
                <a:extLst>
                  <a:ext uri="{FF2B5EF4-FFF2-40B4-BE49-F238E27FC236}">
                    <a16:creationId xmlns="" xmlns:a16="http://schemas.microsoft.com/office/drawing/2014/main" id="{20C7A379-A501-F04B-A31A-66AAB7D4AB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9" y="1002"/>
                <a:ext cx="249" cy="1295"/>
                <a:chOff x="748" y="997"/>
                <a:chExt cx="249" cy="1295"/>
              </a:xfrm>
            </p:grpSpPr>
            <p:sp>
              <p:nvSpPr>
                <p:cNvPr id="135" name="Rectangle 38">
                  <a:extLst>
                    <a:ext uri="{FF2B5EF4-FFF2-40B4-BE49-F238E27FC236}">
                      <a16:creationId xmlns="" xmlns:a16="http://schemas.microsoft.com/office/drawing/2014/main" id="{9AE46CFA-B305-FE44-AB5C-0CCBC6BAF9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6" name="Rectangle 39">
                  <a:extLst>
                    <a:ext uri="{FF2B5EF4-FFF2-40B4-BE49-F238E27FC236}">
                      <a16:creationId xmlns="" xmlns:a16="http://schemas.microsoft.com/office/drawing/2014/main" id="{06D7163C-5A06-6144-AF1D-9BE7DECCB8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7" name="Rectangle 40">
                  <a:extLst>
                    <a:ext uri="{FF2B5EF4-FFF2-40B4-BE49-F238E27FC236}">
                      <a16:creationId xmlns="" xmlns:a16="http://schemas.microsoft.com/office/drawing/2014/main" id="{06F54AE9-52AF-6E46-8BE7-EDEF5EBD71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8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21" name="Line 41">
                <a:extLst>
                  <a:ext uri="{FF2B5EF4-FFF2-40B4-BE49-F238E27FC236}">
                    <a16:creationId xmlns="" xmlns:a16="http://schemas.microsoft.com/office/drawing/2014/main" id="{DBC39202-C178-0345-82BD-7B039DC4DA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6" y="1181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2" name="Line 42">
                <a:extLst>
                  <a:ext uri="{FF2B5EF4-FFF2-40B4-BE49-F238E27FC236}">
                    <a16:creationId xmlns="" xmlns:a16="http://schemas.microsoft.com/office/drawing/2014/main" id="{7204CF78-4E3E-4646-91B1-ADD2AF615C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1644"/>
                <a:ext cx="16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3" name="Line 43">
                <a:extLst>
                  <a:ext uri="{FF2B5EF4-FFF2-40B4-BE49-F238E27FC236}">
                    <a16:creationId xmlns="" xmlns:a16="http://schemas.microsoft.com/office/drawing/2014/main" id="{1055BDC1-D40C-E34D-8FC0-FEC34E65B7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2119"/>
                <a:ext cx="16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4" name="Line 44">
                <a:extLst>
                  <a:ext uri="{FF2B5EF4-FFF2-40B4-BE49-F238E27FC236}">
                    <a16:creationId xmlns="" xmlns:a16="http://schemas.microsoft.com/office/drawing/2014/main" id="{ED714F6D-8C7C-B141-9C39-2A02E5F58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4" y="1164"/>
                <a:ext cx="16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5" name="Line 45">
                <a:extLst>
                  <a:ext uri="{FF2B5EF4-FFF2-40B4-BE49-F238E27FC236}">
                    <a16:creationId xmlns="" xmlns:a16="http://schemas.microsoft.com/office/drawing/2014/main" id="{933F11AA-9C89-1D46-94C9-F6A2C2D75F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1629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6" name="Line 46">
                <a:extLst>
                  <a:ext uri="{FF2B5EF4-FFF2-40B4-BE49-F238E27FC236}">
                    <a16:creationId xmlns="" xmlns:a16="http://schemas.microsoft.com/office/drawing/2014/main" id="{24DAFD3A-BCAA-494F-BFF3-4DD6E41FE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2102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27" name="Group 47">
                <a:extLst>
                  <a:ext uri="{FF2B5EF4-FFF2-40B4-BE49-F238E27FC236}">
                    <a16:creationId xmlns="" xmlns:a16="http://schemas.microsoft.com/office/drawing/2014/main" id="{727F9349-D858-B041-AFEF-0AA1923906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3" y="1169"/>
                <a:ext cx="288" cy="939"/>
                <a:chOff x="-60" y="1148"/>
                <a:chExt cx="168" cy="939"/>
              </a:xfrm>
            </p:grpSpPr>
            <p:sp>
              <p:nvSpPr>
                <p:cNvPr id="132" name="Line 48">
                  <a:extLst>
                    <a:ext uri="{FF2B5EF4-FFF2-40B4-BE49-F238E27FC236}">
                      <a16:creationId xmlns="" xmlns:a16="http://schemas.microsoft.com/office/drawing/2014/main" id="{92DDAA32-1BC7-F341-9DF3-8F292F94E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3" name="Line 49">
                  <a:extLst>
                    <a:ext uri="{FF2B5EF4-FFF2-40B4-BE49-F238E27FC236}">
                      <a16:creationId xmlns="" xmlns:a16="http://schemas.microsoft.com/office/drawing/2014/main" id="{E1CF388A-0B46-9045-8B1B-9EFE86E926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3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4" name="Line 50">
                  <a:extLst>
                    <a:ext uri="{FF2B5EF4-FFF2-40B4-BE49-F238E27FC236}">
                      <a16:creationId xmlns="" xmlns:a16="http://schemas.microsoft.com/office/drawing/2014/main" id="{8098E830-FF85-B942-A58C-7073F1ABDA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28" name="Group 51">
                <a:extLst>
                  <a:ext uri="{FF2B5EF4-FFF2-40B4-BE49-F238E27FC236}">
                    <a16:creationId xmlns="" xmlns:a16="http://schemas.microsoft.com/office/drawing/2014/main" id="{3BE0EB8F-2722-8840-9E9E-42692DC4EC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4" y="1173"/>
                <a:ext cx="288" cy="939"/>
                <a:chOff x="-60" y="1148"/>
                <a:chExt cx="168" cy="939"/>
              </a:xfrm>
            </p:grpSpPr>
            <p:sp>
              <p:nvSpPr>
                <p:cNvPr id="129" name="Line 52">
                  <a:extLst>
                    <a:ext uri="{FF2B5EF4-FFF2-40B4-BE49-F238E27FC236}">
                      <a16:creationId xmlns="" xmlns:a16="http://schemas.microsoft.com/office/drawing/2014/main" id="{1471ECA8-52E2-7B48-B1D0-0E3A3FC8CC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0" name="Line 53">
                  <a:extLst>
                    <a:ext uri="{FF2B5EF4-FFF2-40B4-BE49-F238E27FC236}">
                      <a16:creationId xmlns="" xmlns:a16="http://schemas.microsoft.com/office/drawing/2014/main" id="{5E4485D6-A44E-9F41-A60B-F118E84451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5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1" name="Line 54">
                  <a:extLst>
                    <a:ext uri="{FF2B5EF4-FFF2-40B4-BE49-F238E27FC236}">
                      <a16:creationId xmlns="" xmlns:a16="http://schemas.microsoft.com/office/drawing/2014/main" id="{76683E62-74AF-A340-8049-71651532D7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09" name="Text Box 63">
              <a:extLst>
                <a:ext uri="{FF2B5EF4-FFF2-40B4-BE49-F238E27FC236}">
                  <a16:creationId xmlns="" xmlns:a16="http://schemas.microsoft.com/office/drawing/2014/main" id="{BB81457D-DD34-A44B-8BDA-064DBFE04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0" y="3237"/>
              <a:ext cx="226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one packet time later: green packet experiences HOL blocking</a:t>
              </a:r>
              <a:endPara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" name="Text Box 65">
              <a:extLst>
                <a:ext uri="{FF2B5EF4-FFF2-40B4-BE49-F238E27FC236}">
                  <a16:creationId xmlns="" xmlns:a16="http://schemas.microsoft.com/office/drawing/2014/main" id="{07D40F57-D66B-F444-8FCA-AFEAF69F0D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" y="2507"/>
              <a:ext cx="47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switch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</p:txBody>
        </p:sp>
        <p:sp>
          <p:nvSpPr>
            <p:cNvPr id="111" name="Rectangle 66">
              <a:extLst>
                <a:ext uri="{FF2B5EF4-FFF2-40B4-BE49-F238E27FC236}">
                  <a16:creationId xmlns="" xmlns:a16="http://schemas.microsoft.com/office/drawing/2014/main" id="{CF7111F1-74EA-1F48-AF61-C3DDC0EAC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" y="2025"/>
              <a:ext cx="159" cy="83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2" name="Rectangle 69">
              <a:extLst>
                <a:ext uri="{FF2B5EF4-FFF2-40B4-BE49-F238E27FC236}">
                  <a16:creationId xmlns="" xmlns:a16="http://schemas.microsoft.com/office/drawing/2014/main" id="{C338CC7B-B194-3243-B60D-75BEFA01C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3" y="2050"/>
              <a:ext cx="159" cy="82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3" name="Rectangle 70">
              <a:extLst>
                <a:ext uri="{FF2B5EF4-FFF2-40B4-BE49-F238E27FC236}">
                  <a16:creationId xmlns="" xmlns:a16="http://schemas.microsoft.com/office/drawing/2014/main" id="{CD0DF6A5-8591-FF4A-B8B0-1D6E21620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916"/>
              <a:ext cx="159" cy="83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4" name="Freeform 71">
              <a:extLst>
                <a:ext uri="{FF2B5EF4-FFF2-40B4-BE49-F238E27FC236}">
                  <a16:creationId xmlns="" xmlns:a16="http://schemas.microsoft.com/office/drawing/2014/main" id="{D86522CF-FBA5-EA4F-A7F3-97C45B0DB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5" y="2324"/>
              <a:ext cx="878" cy="618"/>
            </a:xfrm>
            <a:custGeom>
              <a:avLst/>
              <a:gdLst>
                <a:gd name="T0" fmla="*/ 0 w 967"/>
                <a:gd name="T1" fmla="*/ 65 h 735"/>
                <a:gd name="T2" fmla="*/ 134 w 967"/>
                <a:gd name="T3" fmla="*/ 65 h 735"/>
                <a:gd name="T4" fmla="*/ 251 w 967"/>
                <a:gd name="T5" fmla="*/ 0 h 735"/>
                <a:gd name="T6" fmla="*/ 0 60000 65536"/>
                <a:gd name="T7" fmla="*/ 0 60000 65536"/>
                <a:gd name="T8" fmla="*/ 0 60000 65536"/>
                <a:gd name="T9" fmla="*/ 0 w 967"/>
                <a:gd name="T10" fmla="*/ 0 h 735"/>
                <a:gd name="T11" fmla="*/ 967 w 967"/>
                <a:gd name="T12" fmla="*/ 735 h 7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7" h="735">
                  <a:moveTo>
                    <a:pt x="0" y="733"/>
                  </a:moveTo>
                  <a:lnTo>
                    <a:pt x="522" y="735"/>
                  </a:lnTo>
                  <a:lnTo>
                    <a:pt x="967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5" name="Freeform 72">
              <a:extLst>
                <a:ext uri="{FF2B5EF4-FFF2-40B4-BE49-F238E27FC236}">
                  <a16:creationId xmlns="" xmlns:a16="http://schemas.microsoft.com/office/drawing/2014/main" id="{F3DEE41D-FD9A-D049-8B83-8B6A31265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2134"/>
              <a:ext cx="860" cy="437"/>
            </a:xfrm>
            <a:custGeom>
              <a:avLst/>
              <a:gdLst>
                <a:gd name="T0" fmla="*/ 0 w 860"/>
                <a:gd name="T1" fmla="*/ 3 h 437"/>
                <a:gd name="T2" fmla="*/ 468 w 860"/>
                <a:gd name="T3" fmla="*/ 0 h 437"/>
                <a:gd name="T4" fmla="*/ 860 w 860"/>
                <a:gd name="T5" fmla="*/ 437 h 437"/>
                <a:gd name="T6" fmla="*/ 0 60000 65536"/>
                <a:gd name="T7" fmla="*/ 0 60000 65536"/>
                <a:gd name="T8" fmla="*/ 0 60000 65536"/>
                <a:gd name="T9" fmla="*/ 0 w 860"/>
                <a:gd name="T10" fmla="*/ 0 h 437"/>
                <a:gd name="T11" fmla="*/ 860 w 860"/>
                <a:gd name="T12" fmla="*/ 437 h 4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0" h="437">
                  <a:moveTo>
                    <a:pt x="0" y="3"/>
                  </a:moveTo>
                  <a:lnTo>
                    <a:pt x="468" y="0"/>
                  </a:lnTo>
                  <a:lnTo>
                    <a:pt x="860" y="437"/>
                  </a:ln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6" name="Rectangle 76">
              <a:extLst>
                <a:ext uri="{FF2B5EF4-FFF2-40B4-BE49-F238E27FC236}">
                  <a16:creationId xmlns="" xmlns:a16="http://schemas.microsoft.com/office/drawing/2014/main" id="{CC9EB8FA-449A-AD48-B0D0-F22B0CB1D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1" y="2890"/>
              <a:ext cx="159" cy="83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7" name="Rectangle 77">
              <a:extLst>
                <a:ext uri="{FF2B5EF4-FFF2-40B4-BE49-F238E27FC236}">
                  <a16:creationId xmlns="" xmlns:a16="http://schemas.microsoft.com/office/drawing/2014/main" id="{ED96AE20-CFC4-C449-96F2-A1836A8AD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2518"/>
              <a:ext cx="159" cy="83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42" name="Content Placeholder 1">
            <a:extLst>
              <a:ext uri="{FF2B5EF4-FFF2-40B4-BE49-F238E27FC236}">
                <a16:creationId xmlns="" xmlns:a16="http://schemas.microsoft.com/office/drawing/2014/main" id="{427FA225-82DF-964C-86B6-E9C527239F0C}"/>
              </a:ext>
            </a:extLst>
          </p:cNvPr>
          <p:cNvSpPr txBox="1">
            <a:spLocks/>
          </p:cNvSpPr>
          <p:nvPr/>
        </p:nvSpPr>
        <p:spPr>
          <a:xfrm>
            <a:off x="835334" y="2690269"/>
            <a:ext cx="10515600" cy="984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Head-of-the-Line (HOL) blocking: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queued datagram at front of queue prevents others in queue from moving forward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Slide Number Placeholder 4">
            <a:extLst>
              <a:ext uri="{FF2B5EF4-FFF2-40B4-BE49-F238E27FC236}">
                <a16:creationId xmlns="" xmlns:a16="http://schemas.microsoft.com/office/drawing/2014/main" id="{27DA9828-E8AA-634F-A5D6-E2BC44AAFB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Output port queuing</a:t>
            </a:r>
            <a:endParaRPr lang="en-US" dirty="0"/>
          </a:p>
        </p:txBody>
      </p:sp>
      <p:sp>
        <p:nvSpPr>
          <p:cNvPr id="142" name="Rectangle 3">
            <a:extLst>
              <a:ext uri="{FF2B5EF4-FFF2-40B4-BE49-F238E27FC236}">
                <a16:creationId xmlns="" xmlns:a16="http://schemas.microsoft.com/office/drawing/2014/main" id="{913FC5A4-1E19-7B47-9F20-2A2FD0E7A215}"/>
              </a:ext>
            </a:extLst>
          </p:cNvPr>
          <p:cNvSpPr txBox="1">
            <a:spLocks noChangeArrowheads="1"/>
          </p:cNvSpPr>
          <p:nvPr/>
        </p:nvSpPr>
        <p:spPr>
          <a:xfrm>
            <a:off x="888773" y="3417068"/>
            <a:ext cx="5977544" cy="1413266"/>
          </a:xfrm>
          <a:prstGeom prst="rect">
            <a:avLst/>
          </a:prstGeom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Buffering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required when datagrams arrive from fabric faster than link transmission rate.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Drop policy: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which datagrams to drop if no free buffers?</a:t>
            </a:r>
          </a:p>
        </p:txBody>
      </p:sp>
      <p:sp>
        <p:nvSpPr>
          <p:cNvPr id="191" name="Rectangle 3">
            <a:extLst>
              <a:ext uri="{FF2B5EF4-FFF2-40B4-BE49-F238E27FC236}">
                <a16:creationId xmlns="" xmlns:a16="http://schemas.microsoft.com/office/drawing/2014/main" id="{655E40F4-C569-5647-83A5-4E4AC0D12CE4}"/>
              </a:ext>
            </a:extLst>
          </p:cNvPr>
          <p:cNvSpPr txBox="1">
            <a:spLocks noChangeArrowheads="1"/>
          </p:cNvSpPr>
          <p:nvPr/>
        </p:nvSpPr>
        <p:spPr>
          <a:xfrm>
            <a:off x="938650" y="5182135"/>
            <a:ext cx="5131875" cy="1289003"/>
          </a:xfrm>
          <a:prstGeom prst="rect">
            <a:avLst/>
          </a:prstGeom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Scheduling discipline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chooses among queued datagrams for transmission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CEACDE6A-9FE9-BD4D-9835-19E2A389BF2D}"/>
              </a:ext>
            </a:extLst>
          </p:cNvPr>
          <p:cNvGrpSpPr/>
          <p:nvPr/>
        </p:nvGrpSpPr>
        <p:grpSpPr>
          <a:xfrm>
            <a:off x="6900841" y="3768360"/>
            <a:ext cx="5036234" cy="1255728"/>
            <a:chOff x="6302327" y="3768360"/>
            <a:chExt cx="5036234" cy="1255728"/>
          </a:xfrm>
        </p:grpSpPr>
        <p:sp>
          <p:nvSpPr>
            <p:cNvPr id="143" name="TextBox 142">
              <a:extLst>
                <a:ext uri="{FF2B5EF4-FFF2-40B4-BE49-F238E27FC236}">
                  <a16:creationId xmlns="" xmlns:a16="http://schemas.microsoft.com/office/drawing/2014/main" id="{30FDEEE0-B9AF-9D4C-ACC2-98B5C1037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5539" y="3768360"/>
              <a:ext cx="3953022" cy="125572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Datagrams can be lost due to congestion, lack of buffers</a:t>
              </a:r>
            </a:p>
          </p:txBody>
        </p:sp>
        <p:sp>
          <p:nvSpPr>
            <p:cNvPr id="7" name="Right Arrow 6">
              <a:extLst>
                <a:ext uri="{FF2B5EF4-FFF2-40B4-BE49-F238E27FC236}">
                  <a16:creationId xmlns="" xmlns:a16="http://schemas.microsoft.com/office/drawing/2014/main" id="{2B8D69F4-7226-5D4D-A695-DB1CC7F30950}"/>
                </a:ext>
              </a:extLst>
            </p:cNvPr>
            <p:cNvSpPr/>
            <p:nvPr/>
          </p:nvSpPr>
          <p:spPr>
            <a:xfrm>
              <a:off x="6302327" y="4135902"/>
              <a:ext cx="978408" cy="484632"/>
            </a:xfrm>
            <a:prstGeom prst="rightArrow">
              <a:avLst/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F388476A-12F9-364B-B461-B0624DF38E97}"/>
              </a:ext>
            </a:extLst>
          </p:cNvPr>
          <p:cNvGrpSpPr/>
          <p:nvPr/>
        </p:nvGrpSpPr>
        <p:grpSpPr>
          <a:xfrm>
            <a:off x="6875475" y="5201260"/>
            <a:ext cx="5319932" cy="1255728"/>
            <a:chOff x="6243711" y="5201260"/>
            <a:chExt cx="5319932" cy="1255728"/>
          </a:xfrm>
        </p:grpSpPr>
        <p:sp>
          <p:nvSpPr>
            <p:cNvPr id="144" name="TextBox 143">
              <a:extLst>
                <a:ext uri="{FF2B5EF4-FFF2-40B4-BE49-F238E27FC236}">
                  <a16:creationId xmlns="" xmlns:a16="http://schemas.microsoft.com/office/drawing/2014/main" id="{5EC532F3-AD2F-834B-A210-0023284DA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1470" y="5201260"/>
              <a:ext cx="4192173" cy="125572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Priority scheduling – who gets best performance, network neutrality</a:t>
              </a:r>
            </a:p>
          </p:txBody>
        </p:sp>
        <p:sp>
          <p:nvSpPr>
            <p:cNvPr id="192" name="Right Arrow 191">
              <a:extLst>
                <a:ext uri="{FF2B5EF4-FFF2-40B4-BE49-F238E27FC236}">
                  <a16:creationId xmlns="" xmlns:a16="http://schemas.microsoft.com/office/drawing/2014/main" id="{0BB35D2A-3275-9A47-BFA6-3685C1F9CA7F}"/>
                </a:ext>
              </a:extLst>
            </p:cNvPr>
            <p:cNvSpPr/>
            <p:nvPr/>
          </p:nvSpPr>
          <p:spPr>
            <a:xfrm>
              <a:off x="6243711" y="5512190"/>
              <a:ext cx="978408" cy="484632"/>
            </a:xfrm>
            <a:prstGeom prst="rightArrow">
              <a:avLst/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A53CB450-3600-DF45-8C8B-A1E7209621EE}"/>
              </a:ext>
            </a:extLst>
          </p:cNvPr>
          <p:cNvGrpSpPr/>
          <p:nvPr/>
        </p:nvGrpSpPr>
        <p:grpSpPr>
          <a:xfrm>
            <a:off x="8496886" y="307717"/>
            <a:ext cx="2967544" cy="1552790"/>
            <a:chOff x="8496886" y="307717"/>
            <a:chExt cx="2967544" cy="1552790"/>
          </a:xfrm>
        </p:grpSpPr>
        <p:pic>
          <p:nvPicPr>
            <p:cNvPr id="69634" name="Picture 2">
              <a:extLst>
                <a:ext uri="{FF2B5EF4-FFF2-40B4-BE49-F238E27FC236}">
                  <a16:creationId xmlns="" xmlns:a16="http://schemas.microsoft.com/office/drawing/2014/main" id="{D370C23A-8A5C-F640-8169-0F65AF0A8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4340" y="307717"/>
              <a:ext cx="1359144" cy="11904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96589BDD-BACE-1743-A635-00D64D17E14C}"/>
                </a:ext>
              </a:extLst>
            </p:cNvPr>
            <p:cNvSpPr txBox="1"/>
            <p:nvPr/>
          </p:nvSpPr>
          <p:spPr>
            <a:xfrm>
              <a:off x="8496886" y="1491175"/>
              <a:ext cx="2967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This is a really important slide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89D5CAC8-4273-BF4C-A720-130BA9B77F38}"/>
              </a:ext>
            </a:extLst>
          </p:cNvPr>
          <p:cNvGrpSpPr/>
          <p:nvPr/>
        </p:nvGrpSpPr>
        <p:grpSpPr>
          <a:xfrm>
            <a:off x="1178949" y="1396538"/>
            <a:ext cx="7113685" cy="1695796"/>
            <a:chOff x="763318" y="1529542"/>
            <a:chExt cx="7113685" cy="1695796"/>
          </a:xfrm>
        </p:grpSpPr>
        <p:sp>
          <p:nvSpPr>
            <p:cNvPr id="168" name="Rectangle 5">
              <a:extLst>
                <a:ext uri="{FF2B5EF4-FFF2-40B4-BE49-F238E27FC236}">
                  <a16:creationId xmlns="" xmlns:a16="http://schemas.microsoft.com/office/drawing/2014/main" id="{9B163D0F-CA1A-3E4C-BF5C-777B168A4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123" y="1529542"/>
              <a:ext cx="4568825" cy="167917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9" name="Rectangle 6">
              <a:extLst>
                <a:ext uri="{FF2B5EF4-FFF2-40B4-BE49-F238E27FC236}">
                  <a16:creationId xmlns="" xmlns:a16="http://schemas.microsoft.com/office/drawing/2014/main" id="{D9ABA473-56A4-9140-B810-39DA1BF9A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7711" y="1946056"/>
              <a:ext cx="1417637" cy="8286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termination</a:t>
              </a:r>
            </a:p>
          </p:txBody>
        </p:sp>
        <p:sp>
          <p:nvSpPr>
            <p:cNvPr id="170" name="Rectangle 7">
              <a:extLst>
                <a:ext uri="{FF2B5EF4-FFF2-40B4-BE49-F238E27FC236}">
                  <a16:creationId xmlns="" xmlns:a16="http://schemas.microsoft.com/office/drawing/2014/main" id="{A93445FD-0A38-824D-AD5C-D69A392C9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8023" y="1673006"/>
              <a:ext cx="1152525" cy="14097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Line 10">
              <a:extLst>
                <a:ext uri="{FF2B5EF4-FFF2-40B4-BE49-F238E27FC236}">
                  <a16:creationId xmlns="" xmlns:a16="http://schemas.microsoft.com/office/drawing/2014/main" id="{F251D37A-1EA2-C048-A7C5-11851E554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0223" y="2392143"/>
              <a:ext cx="190500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Line 11">
              <a:extLst>
                <a:ext uri="{FF2B5EF4-FFF2-40B4-BE49-F238E27FC236}">
                  <a16:creationId xmlns="" xmlns:a16="http://schemas.microsoft.com/office/drawing/2014/main" id="{E70C16AE-A78C-2644-ACA1-5A2B601BF1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3723" y="2349281"/>
              <a:ext cx="190500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4" name="Rectangle 13">
              <a:extLst>
                <a:ext uri="{FF2B5EF4-FFF2-40B4-BE49-F238E27FC236}">
                  <a16:creationId xmlns="" xmlns:a16="http://schemas.microsoft.com/office/drawing/2014/main" id="{A66255F7-4CD5-DF46-8B83-7D17A0565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361" y="1982568"/>
              <a:ext cx="1055687" cy="8286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layer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protocol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(send)</a:t>
              </a:r>
            </a:p>
          </p:txBody>
        </p:sp>
        <p:sp>
          <p:nvSpPr>
            <p:cNvPr id="175" name="Rectangle 16">
              <a:extLst>
                <a:ext uri="{FF2B5EF4-FFF2-40B4-BE49-F238E27FC236}">
                  <a16:creationId xmlns="" xmlns:a16="http://schemas.microsoft.com/office/drawing/2014/main" id="{DDB93494-97A6-8A4A-91E9-BC29A5AE3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318" y="1925822"/>
              <a:ext cx="1055688" cy="8286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switch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rate: 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NR)</a:t>
              </a:r>
            </a:p>
          </p:txBody>
        </p:sp>
        <p:grpSp>
          <p:nvGrpSpPr>
            <p:cNvPr id="176" name="Group 28">
              <a:extLst>
                <a:ext uri="{FF2B5EF4-FFF2-40B4-BE49-F238E27FC236}">
                  <a16:creationId xmlns="" xmlns:a16="http://schemas.microsoft.com/office/drawing/2014/main" id="{D9BF0A2B-C5F9-A740-8460-7E12116245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7523" y="1623793"/>
              <a:ext cx="1247775" cy="1504950"/>
              <a:chOff x="3180" y="909"/>
              <a:chExt cx="786" cy="948"/>
            </a:xfrm>
          </p:grpSpPr>
          <p:sp>
            <p:nvSpPr>
              <p:cNvPr id="177" name="Rectangle 8">
                <a:extLst>
                  <a:ext uri="{FF2B5EF4-FFF2-40B4-BE49-F238E27FC236}">
                    <a16:creationId xmlns="" xmlns:a16="http://schemas.microsoft.com/office/drawing/2014/main" id="{DD4D9539-6E74-FE4C-939B-205C9E71D4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0" y="909"/>
                <a:ext cx="786" cy="94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8" name="Text Box 14">
                <a:extLst>
                  <a:ext uri="{FF2B5EF4-FFF2-40B4-BE49-F238E27FC236}">
                    <a16:creationId xmlns="" xmlns:a16="http://schemas.microsoft.com/office/drawing/2014/main" id="{AE54DBDF-A7F9-704B-B392-E2740194AA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2" y="917"/>
                <a:ext cx="724" cy="9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datagram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buffer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queueing</a:t>
                </a:r>
              </a:p>
            </p:txBody>
          </p:sp>
          <p:grpSp>
            <p:nvGrpSpPr>
              <p:cNvPr id="179" name="Group 17">
                <a:extLst>
                  <a:ext uri="{FF2B5EF4-FFF2-40B4-BE49-F238E27FC236}">
                    <a16:creationId xmlns="" xmlns:a16="http://schemas.microsoft.com/office/drawing/2014/main" id="{06F8403D-BA10-5144-A155-19FE3754BE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0" y="1299"/>
                <a:ext cx="626" cy="295"/>
                <a:chOff x="310" y="3526"/>
                <a:chExt cx="1040" cy="457"/>
              </a:xfrm>
            </p:grpSpPr>
            <p:sp>
              <p:nvSpPr>
                <p:cNvPr id="180" name="Rectangle 18">
                  <a:extLst>
                    <a:ext uri="{FF2B5EF4-FFF2-40B4-BE49-F238E27FC236}">
                      <a16:creationId xmlns="" xmlns:a16="http://schemas.microsoft.com/office/drawing/2014/main" id="{9A795CC1-826F-4C44-9993-319F64F49F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" y="3526"/>
                  <a:ext cx="1040" cy="457"/>
                </a:xfrm>
                <a:prstGeom prst="rect">
                  <a:avLst/>
                </a:prstGeom>
                <a:solidFill>
                  <a:srgbClr val="FF0000"/>
                </a:solidFill>
                <a:ln w="38100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1" name="Line 19">
                  <a:extLst>
                    <a:ext uri="{FF2B5EF4-FFF2-40B4-BE49-F238E27FC236}">
                      <a16:creationId xmlns="" xmlns:a16="http://schemas.microsoft.com/office/drawing/2014/main" id="{4731A973-BD75-D041-B879-015ABFDDD7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6" y="3535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2" name="Line 20">
                  <a:extLst>
                    <a:ext uri="{FF2B5EF4-FFF2-40B4-BE49-F238E27FC236}">
                      <a16:creationId xmlns="" xmlns:a16="http://schemas.microsoft.com/office/drawing/2014/main" id="{E25B9F25-22CB-0447-9AC4-9FC92218F4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8" y="3538"/>
                  <a:ext cx="2" cy="435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3" name="Line 21">
                  <a:extLst>
                    <a:ext uri="{FF2B5EF4-FFF2-40B4-BE49-F238E27FC236}">
                      <a16:creationId xmlns="" xmlns:a16="http://schemas.microsoft.com/office/drawing/2014/main" id="{91851468-4893-D34C-9AE7-1771C894A6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1" y="3534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4" name="Line 22">
                  <a:extLst>
                    <a:ext uri="{FF2B5EF4-FFF2-40B4-BE49-F238E27FC236}">
                      <a16:creationId xmlns="" xmlns:a16="http://schemas.microsoft.com/office/drawing/2014/main" id="{24979CFA-E6E8-6443-8031-1C8E87B15C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82" y="3535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5" name="Line 23">
                  <a:extLst>
                    <a:ext uri="{FF2B5EF4-FFF2-40B4-BE49-F238E27FC236}">
                      <a16:creationId xmlns="" xmlns:a16="http://schemas.microsoft.com/office/drawing/2014/main" id="{DD3375EE-F46C-7845-8A16-1C39FA3943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5" y="3534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6" name="Line 24">
                  <a:extLst>
                    <a:ext uri="{FF2B5EF4-FFF2-40B4-BE49-F238E27FC236}">
                      <a16:creationId xmlns="" xmlns:a16="http://schemas.microsoft.com/office/drawing/2014/main" id="{2CF7F543-916F-574B-9CF5-E75F82B8E6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6" y="3534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7" name="Line 25">
                  <a:extLst>
                    <a:ext uri="{FF2B5EF4-FFF2-40B4-BE49-F238E27FC236}">
                      <a16:creationId xmlns="" xmlns:a16="http://schemas.microsoft.com/office/drawing/2014/main" id="{5571B680-4F31-6A43-B505-CB421081C0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21" y="3535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8" name="Line 26">
                  <a:extLst>
                    <a:ext uri="{FF2B5EF4-FFF2-40B4-BE49-F238E27FC236}">
                      <a16:creationId xmlns="" xmlns:a16="http://schemas.microsoft.com/office/drawing/2014/main" id="{87E5063B-F80B-F542-9BC3-D9BE9AAED9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9" y="3538"/>
                  <a:ext cx="2" cy="435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89" name="Line 27">
              <a:extLst>
                <a:ext uri="{FF2B5EF4-FFF2-40B4-BE49-F238E27FC236}">
                  <a16:creationId xmlns="" xmlns:a16="http://schemas.microsoft.com/office/drawing/2014/main" id="{AC914BE7-EF9D-D444-B3B1-4333D5182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8016" y="1579418"/>
              <a:ext cx="0" cy="16459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9">
              <a:extLst>
                <a:ext uri="{FF2B5EF4-FFF2-40B4-BE49-F238E27FC236}">
                  <a16:creationId xmlns="" xmlns:a16="http://schemas.microsoft.com/office/drawing/2014/main" id="{CBD25FB7-BD31-354A-B607-0A105E81B2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0598" y="2435006"/>
              <a:ext cx="92551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12077A03-5191-4C4E-9229-0F4C5ED20B83}"/>
                </a:ext>
              </a:extLst>
            </p:cNvPr>
            <p:cNvCxnSpPr/>
            <p:nvPr/>
          </p:nvCxnSpPr>
          <p:spPr>
            <a:xfrm>
              <a:off x="6846225" y="2394066"/>
              <a:ext cx="1030778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4C49EDB8-5525-2E4A-8DBC-6D03E6692746}"/>
                </a:ext>
              </a:extLst>
            </p:cNvPr>
            <p:cNvSpPr txBox="1"/>
            <p:nvPr/>
          </p:nvSpPr>
          <p:spPr>
            <a:xfrm flipH="1">
              <a:off x="7215448" y="2377441"/>
              <a:ext cx="3158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39" name="Slide Number Placeholder 4">
            <a:extLst>
              <a:ext uri="{FF2B5EF4-FFF2-40B4-BE49-F238E27FC236}">
                <a16:creationId xmlns="" xmlns:a16="http://schemas.microsoft.com/office/drawing/2014/main" id="{00A3717F-1F0F-FC43-A1DA-5E87871F059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86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Output port queuing</a:t>
            </a:r>
            <a:endParaRPr lang="en-US" dirty="0"/>
          </a:p>
        </p:txBody>
      </p:sp>
      <p:grpSp>
        <p:nvGrpSpPr>
          <p:cNvPr id="109" name="Group 78">
            <a:extLst>
              <a:ext uri="{FF2B5EF4-FFF2-40B4-BE49-F238E27FC236}">
                <a16:creationId xmlns="" xmlns:a16="http://schemas.microsoft.com/office/drawing/2014/main" id="{082D51D0-D1D3-A942-9BB2-2D4682B56DD8}"/>
              </a:ext>
            </a:extLst>
          </p:cNvPr>
          <p:cNvGrpSpPr>
            <a:grpSpLocks/>
          </p:cNvGrpSpPr>
          <p:nvPr/>
        </p:nvGrpSpPr>
        <p:grpSpPr bwMode="auto">
          <a:xfrm>
            <a:off x="2375414" y="1576437"/>
            <a:ext cx="7412037" cy="2870200"/>
            <a:chOff x="550" y="931"/>
            <a:chExt cx="4669" cy="1808"/>
          </a:xfrm>
        </p:grpSpPr>
        <p:grpSp>
          <p:nvGrpSpPr>
            <p:cNvPr id="110" name="Group 29">
              <a:extLst>
                <a:ext uri="{FF2B5EF4-FFF2-40B4-BE49-F238E27FC236}">
                  <a16:creationId xmlns="" xmlns:a16="http://schemas.microsoft.com/office/drawing/2014/main" id="{A3EB5D9E-72A3-7745-8A3E-36D91FF392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9" y="948"/>
              <a:ext cx="2099" cy="1356"/>
              <a:chOff x="523" y="976"/>
              <a:chExt cx="2099" cy="1356"/>
            </a:xfrm>
          </p:grpSpPr>
          <p:sp>
            <p:nvSpPr>
              <p:cNvPr id="159" name="Rectangle 6">
                <a:extLst>
                  <a:ext uri="{FF2B5EF4-FFF2-40B4-BE49-F238E27FC236}">
                    <a16:creationId xmlns="" xmlns:a16="http://schemas.microsoft.com/office/drawing/2014/main" id="{D8B6A1DB-471C-CC4C-A15D-8F1744B849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8" y="976"/>
                <a:ext cx="745" cy="13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60" name="Group 10">
                <a:extLst>
                  <a:ext uri="{FF2B5EF4-FFF2-40B4-BE49-F238E27FC236}">
                    <a16:creationId xmlns="" xmlns:a16="http://schemas.microsoft.com/office/drawing/2014/main" id="{CF011BEC-3BD8-724A-930F-DF1BD144E0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4" y="997"/>
                <a:ext cx="249" cy="1295"/>
                <a:chOff x="748" y="997"/>
                <a:chExt cx="249" cy="1295"/>
              </a:xfrm>
            </p:grpSpPr>
            <p:sp>
              <p:nvSpPr>
                <p:cNvPr id="204" name="Rectangle 7">
                  <a:extLst>
                    <a:ext uri="{FF2B5EF4-FFF2-40B4-BE49-F238E27FC236}">
                      <a16:creationId xmlns="" xmlns:a16="http://schemas.microsoft.com/office/drawing/2014/main" id="{0ECFBAAE-DF3A-A940-A3AE-05CA1F501F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05" name="Rectangle 8">
                  <a:extLst>
                    <a:ext uri="{FF2B5EF4-FFF2-40B4-BE49-F238E27FC236}">
                      <a16:creationId xmlns="" xmlns:a16="http://schemas.microsoft.com/office/drawing/2014/main" id="{E7A662AD-6DCF-F34A-A047-07F4B580C1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06" name="Rectangle 9">
                  <a:extLst>
                    <a:ext uri="{FF2B5EF4-FFF2-40B4-BE49-F238E27FC236}">
                      <a16:creationId xmlns="" xmlns:a16="http://schemas.microsoft.com/office/drawing/2014/main" id="{9926E030-FA12-C74C-949A-473AE1056F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61" name="Group 11">
                <a:extLst>
                  <a:ext uri="{FF2B5EF4-FFF2-40B4-BE49-F238E27FC236}">
                    <a16:creationId xmlns="" xmlns:a16="http://schemas.microsoft.com/office/drawing/2014/main" id="{2DAF4907-42BF-A548-B33A-D2FBEF2C97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9" y="1002"/>
                <a:ext cx="249" cy="1295"/>
                <a:chOff x="748" y="997"/>
                <a:chExt cx="249" cy="1295"/>
              </a:xfrm>
            </p:grpSpPr>
            <p:sp>
              <p:nvSpPr>
                <p:cNvPr id="201" name="Rectangle 12">
                  <a:extLst>
                    <a:ext uri="{FF2B5EF4-FFF2-40B4-BE49-F238E27FC236}">
                      <a16:creationId xmlns="" xmlns:a16="http://schemas.microsoft.com/office/drawing/2014/main" id="{CD600951-D32E-2F4A-8B8D-2BC1898E47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02" name="Rectangle 13">
                  <a:extLst>
                    <a:ext uri="{FF2B5EF4-FFF2-40B4-BE49-F238E27FC236}">
                      <a16:creationId xmlns="" xmlns:a16="http://schemas.microsoft.com/office/drawing/2014/main" id="{349846DD-5315-9F46-A3D4-630D59325A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03" name="Rectangle 14">
                  <a:extLst>
                    <a:ext uri="{FF2B5EF4-FFF2-40B4-BE49-F238E27FC236}">
                      <a16:creationId xmlns="" xmlns:a16="http://schemas.microsoft.com/office/drawing/2014/main" id="{AE0A909B-B320-604A-89A1-1760A69BDA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8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62" name="Line 15">
                <a:extLst>
                  <a:ext uri="{FF2B5EF4-FFF2-40B4-BE49-F238E27FC236}">
                    <a16:creationId xmlns="" xmlns:a16="http://schemas.microsoft.com/office/drawing/2014/main" id="{B4E57E31-441A-7241-9895-1E601460DF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6" y="1180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3" name="Line 16">
                <a:extLst>
                  <a:ext uri="{FF2B5EF4-FFF2-40B4-BE49-F238E27FC236}">
                    <a16:creationId xmlns="" xmlns:a16="http://schemas.microsoft.com/office/drawing/2014/main" id="{51B07D47-E6CB-8D41-85B6-448EE5F8FF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1645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4" name="Line 17">
                <a:extLst>
                  <a:ext uri="{FF2B5EF4-FFF2-40B4-BE49-F238E27FC236}">
                    <a16:creationId xmlns="" xmlns:a16="http://schemas.microsoft.com/office/drawing/2014/main" id="{1BA71812-14CA-334D-B6DE-FC0BBC850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2119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5" name="Line 18">
                <a:extLst>
                  <a:ext uri="{FF2B5EF4-FFF2-40B4-BE49-F238E27FC236}">
                    <a16:creationId xmlns="" xmlns:a16="http://schemas.microsoft.com/office/drawing/2014/main" id="{87EC818D-2CED-6445-96A3-B864E22C9C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4" y="1164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6" name="Line 19">
                <a:extLst>
                  <a:ext uri="{FF2B5EF4-FFF2-40B4-BE49-F238E27FC236}">
                    <a16:creationId xmlns="" xmlns:a16="http://schemas.microsoft.com/office/drawing/2014/main" id="{3FC82DB6-CD3B-1043-B270-4880E4F38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1629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7" name="Line 20">
                <a:extLst>
                  <a:ext uri="{FF2B5EF4-FFF2-40B4-BE49-F238E27FC236}">
                    <a16:creationId xmlns="" xmlns:a16="http://schemas.microsoft.com/office/drawing/2014/main" id="{291916CC-CF8D-0C43-904A-57618DC52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2103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93" name="Group 24">
                <a:extLst>
                  <a:ext uri="{FF2B5EF4-FFF2-40B4-BE49-F238E27FC236}">
                    <a16:creationId xmlns="" xmlns:a16="http://schemas.microsoft.com/office/drawing/2014/main" id="{8685B4BD-95B3-D548-8A50-02AB19D73F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3" y="1169"/>
                <a:ext cx="288" cy="939"/>
                <a:chOff x="-60" y="1148"/>
                <a:chExt cx="168" cy="939"/>
              </a:xfrm>
            </p:grpSpPr>
            <p:sp>
              <p:nvSpPr>
                <p:cNvPr id="198" name="Line 21">
                  <a:extLst>
                    <a:ext uri="{FF2B5EF4-FFF2-40B4-BE49-F238E27FC236}">
                      <a16:creationId xmlns="" xmlns:a16="http://schemas.microsoft.com/office/drawing/2014/main" id="{695AD499-8E12-5F4D-B492-77637F16E7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99" name="Line 22">
                  <a:extLst>
                    <a:ext uri="{FF2B5EF4-FFF2-40B4-BE49-F238E27FC236}">
                      <a16:creationId xmlns="" xmlns:a16="http://schemas.microsoft.com/office/drawing/2014/main" id="{6D509BF4-A289-5848-B0EC-FF37900D68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3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00" name="Line 23">
                  <a:extLst>
                    <a:ext uri="{FF2B5EF4-FFF2-40B4-BE49-F238E27FC236}">
                      <a16:creationId xmlns="" xmlns:a16="http://schemas.microsoft.com/office/drawing/2014/main" id="{77D1F46B-8487-0443-B204-6D39A32CAC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94" name="Group 25">
                <a:extLst>
                  <a:ext uri="{FF2B5EF4-FFF2-40B4-BE49-F238E27FC236}">
                    <a16:creationId xmlns="" xmlns:a16="http://schemas.microsoft.com/office/drawing/2014/main" id="{8CC26DE9-2259-C249-BCBA-49FB43CFAD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4" y="1173"/>
                <a:ext cx="288" cy="939"/>
                <a:chOff x="-60" y="1148"/>
                <a:chExt cx="168" cy="939"/>
              </a:xfrm>
            </p:grpSpPr>
            <p:sp>
              <p:nvSpPr>
                <p:cNvPr id="195" name="Line 26">
                  <a:extLst>
                    <a:ext uri="{FF2B5EF4-FFF2-40B4-BE49-F238E27FC236}">
                      <a16:creationId xmlns="" xmlns:a16="http://schemas.microsoft.com/office/drawing/2014/main" id="{CAC9505F-8DFC-D849-A39D-F3F19EF2D5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96" name="Line 27">
                  <a:extLst>
                    <a:ext uri="{FF2B5EF4-FFF2-40B4-BE49-F238E27FC236}">
                      <a16:creationId xmlns="" xmlns:a16="http://schemas.microsoft.com/office/drawing/2014/main" id="{55359C2D-B6B3-3344-987F-A1ADCD12D9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3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97" name="Line 28">
                  <a:extLst>
                    <a:ext uri="{FF2B5EF4-FFF2-40B4-BE49-F238E27FC236}">
                      <a16:creationId xmlns="" xmlns:a16="http://schemas.microsoft.com/office/drawing/2014/main" id="{5F30395D-D362-F345-A3BD-DBCBEAE6AE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111" name="Group 30">
              <a:extLst>
                <a:ext uri="{FF2B5EF4-FFF2-40B4-BE49-F238E27FC236}">
                  <a16:creationId xmlns="" xmlns:a16="http://schemas.microsoft.com/office/drawing/2014/main" id="{87B52D43-752A-3147-8555-38567E7FAD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931"/>
              <a:ext cx="2099" cy="1356"/>
              <a:chOff x="523" y="976"/>
              <a:chExt cx="2099" cy="1356"/>
            </a:xfrm>
          </p:grpSpPr>
          <p:sp>
            <p:nvSpPr>
              <p:cNvPr id="133" name="Rectangle 31">
                <a:extLst>
                  <a:ext uri="{FF2B5EF4-FFF2-40B4-BE49-F238E27FC236}">
                    <a16:creationId xmlns="" xmlns:a16="http://schemas.microsoft.com/office/drawing/2014/main" id="{01131CB9-416C-BC46-84D2-855A2BA95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8" y="976"/>
                <a:ext cx="745" cy="13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34" name="Group 32">
                <a:extLst>
                  <a:ext uri="{FF2B5EF4-FFF2-40B4-BE49-F238E27FC236}">
                    <a16:creationId xmlns="" xmlns:a16="http://schemas.microsoft.com/office/drawing/2014/main" id="{A51BEB8E-CB78-6343-AB5B-0FAAD83DDB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4" y="997"/>
                <a:ext cx="249" cy="1295"/>
                <a:chOff x="748" y="997"/>
                <a:chExt cx="249" cy="1295"/>
              </a:xfrm>
            </p:grpSpPr>
            <p:sp>
              <p:nvSpPr>
                <p:cNvPr id="156" name="Rectangle 33">
                  <a:extLst>
                    <a:ext uri="{FF2B5EF4-FFF2-40B4-BE49-F238E27FC236}">
                      <a16:creationId xmlns="" xmlns:a16="http://schemas.microsoft.com/office/drawing/2014/main" id="{1D2E2A7A-D30D-664E-A612-0857B3D0E4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57" name="Rectangle 34">
                  <a:extLst>
                    <a:ext uri="{FF2B5EF4-FFF2-40B4-BE49-F238E27FC236}">
                      <a16:creationId xmlns="" xmlns:a16="http://schemas.microsoft.com/office/drawing/2014/main" id="{8E72E2CC-79B7-6543-BC67-FF039A8E2F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58" name="Rectangle 35">
                  <a:extLst>
                    <a:ext uri="{FF2B5EF4-FFF2-40B4-BE49-F238E27FC236}">
                      <a16:creationId xmlns="" xmlns:a16="http://schemas.microsoft.com/office/drawing/2014/main" id="{30FE5ACD-D95D-574F-9366-5EFC8A7E18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35" name="Group 36">
                <a:extLst>
                  <a:ext uri="{FF2B5EF4-FFF2-40B4-BE49-F238E27FC236}">
                    <a16:creationId xmlns="" xmlns:a16="http://schemas.microsoft.com/office/drawing/2014/main" id="{5C3DD79B-12CD-B541-8D50-5DBDCC7A60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9" y="1002"/>
                <a:ext cx="249" cy="1295"/>
                <a:chOff x="748" y="997"/>
                <a:chExt cx="249" cy="1295"/>
              </a:xfrm>
            </p:grpSpPr>
            <p:sp>
              <p:nvSpPr>
                <p:cNvPr id="153" name="Rectangle 37">
                  <a:extLst>
                    <a:ext uri="{FF2B5EF4-FFF2-40B4-BE49-F238E27FC236}">
                      <a16:creationId xmlns="" xmlns:a16="http://schemas.microsoft.com/office/drawing/2014/main" id="{0D165B5C-42F0-7146-AA7F-E468E41E99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54" name="Rectangle 38">
                  <a:extLst>
                    <a:ext uri="{FF2B5EF4-FFF2-40B4-BE49-F238E27FC236}">
                      <a16:creationId xmlns="" xmlns:a16="http://schemas.microsoft.com/office/drawing/2014/main" id="{75AA2AC8-0434-1D42-B745-912205EEB8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55" name="Rectangle 39">
                  <a:extLst>
                    <a:ext uri="{FF2B5EF4-FFF2-40B4-BE49-F238E27FC236}">
                      <a16:creationId xmlns="" xmlns:a16="http://schemas.microsoft.com/office/drawing/2014/main" id="{53CBA0BE-8E05-424B-B90D-1C4E2ED729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8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36" name="Line 40">
                <a:extLst>
                  <a:ext uri="{FF2B5EF4-FFF2-40B4-BE49-F238E27FC236}">
                    <a16:creationId xmlns="" xmlns:a16="http://schemas.microsoft.com/office/drawing/2014/main" id="{414D90B8-DEBE-B84E-92C6-CBB94C405F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6" y="1180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7" name="Line 41">
                <a:extLst>
                  <a:ext uri="{FF2B5EF4-FFF2-40B4-BE49-F238E27FC236}">
                    <a16:creationId xmlns="" xmlns:a16="http://schemas.microsoft.com/office/drawing/2014/main" id="{193F439E-A0CB-BE4E-A767-399A338483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1645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8" name="Line 42">
                <a:extLst>
                  <a:ext uri="{FF2B5EF4-FFF2-40B4-BE49-F238E27FC236}">
                    <a16:creationId xmlns="" xmlns:a16="http://schemas.microsoft.com/office/drawing/2014/main" id="{07DC5438-65CD-8040-9C95-EB788FCACA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2119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9" name="Line 43">
                <a:extLst>
                  <a:ext uri="{FF2B5EF4-FFF2-40B4-BE49-F238E27FC236}">
                    <a16:creationId xmlns="" xmlns:a16="http://schemas.microsoft.com/office/drawing/2014/main" id="{EC6AC95C-A7B2-8D45-BDD7-51C70380F2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4" y="1164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0" name="Line 44">
                <a:extLst>
                  <a:ext uri="{FF2B5EF4-FFF2-40B4-BE49-F238E27FC236}">
                    <a16:creationId xmlns="" xmlns:a16="http://schemas.microsoft.com/office/drawing/2014/main" id="{391784A2-88F1-CF43-B836-438D26F35D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1629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1" name="Line 45">
                <a:extLst>
                  <a:ext uri="{FF2B5EF4-FFF2-40B4-BE49-F238E27FC236}">
                    <a16:creationId xmlns="" xmlns:a16="http://schemas.microsoft.com/office/drawing/2014/main" id="{E4BF36D2-171F-B148-8431-04035400B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2103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45" name="Group 46">
                <a:extLst>
                  <a:ext uri="{FF2B5EF4-FFF2-40B4-BE49-F238E27FC236}">
                    <a16:creationId xmlns="" xmlns:a16="http://schemas.microsoft.com/office/drawing/2014/main" id="{6A23E468-2FC0-D842-99E6-C85245510E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3" y="1169"/>
                <a:ext cx="288" cy="939"/>
                <a:chOff x="-60" y="1148"/>
                <a:chExt cx="168" cy="939"/>
              </a:xfrm>
            </p:grpSpPr>
            <p:sp>
              <p:nvSpPr>
                <p:cNvPr id="150" name="Line 47">
                  <a:extLst>
                    <a:ext uri="{FF2B5EF4-FFF2-40B4-BE49-F238E27FC236}">
                      <a16:creationId xmlns="" xmlns:a16="http://schemas.microsoft.com/office/drawing/2014/main" id="{46B8DCC8-C78E-5946-97FA-DF37A5D122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51" name="Line 48">
                  <a:extLst>
                    <a:ext uri="{FF2B5EF4-FFF2-40B4-BE49-F238E27FC236}">
                      <a16:creationId xmlns="" xmlns:a16="http://schemas.microsoft.com/office/drawing/2014/main" id="{CDDE8C10-BFA8-D045-BFE9-3D6F6089A7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3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52" name="Line 49">
                  <a:extLst>
                    <a:ext uri="{FF2B5EF4-FFF2-40B4-BE49-F238E27FC236}">
                      <a16:creationId xmlns="" xmlns:a16="http://schemas.microsoft.com/office/drawing/2014/main" id="{39539C18-A10C-DB44-A87D-DDBFE4B9A7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46" name="Group 50">
                <a:extLst>
                  <a:ext uri="{FF2B5EF4-FFF2-40B4-BE49-F238E27FC236}">
                    <a16:creationId xmlns="" xmlns:a16="http://schemas.microsoft.com/office/drawing/2014/main" id="{C5C5F675-53F5-C345-BF7D-D175E0816F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4" y="1173"/>
                <a:ext cx="288" cy="939"/>
                <a:chOff x="-60" y="1148"/>
                <a:chExt cx="168" cy="939"/>
              </a:xfrm>
            </p:grpSpPr>
            <p:sp>
              <p:nvSpPr>
                <p:cNvPr id="147" name="Line 51">
                  <a:extLst>
                    <a:ext uri="{FF2B5EF4-FFF2-40B4-BE49-F238E27FC236}">
                      <a16:creationId xmlns="" xmlns:a16="http://schemas.microsoft.com/office/drawing/2014/main" id="{98C13E3B-D516-B947-BE59-93C8B104F3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8" name="Line 52">
                  <a:extLst>
                    <a:ext uri="{FF2B5EF4-FFF2-40B4-BE49-F238E27FC236}">
                      <a16:creationId xmlns="" xmlns:a16="http://schemas.microsoft.com/office/drawing/2014/main" id="{CE252363-458C-C941-BAB9-6BC53DD18A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3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9" name="Line 53">
                  <a:extLst>
                    <a:ext uri="{FF2B5EF4-FFF2-40B4-BE49-F238E27FC236}">
                      <a16:creationId xmlns="" xmlns:a16="http://schemas.microsoft.com/office/drawing/2014/main" id="{D9F4BF94-F778-5040-8CC6-996F2BF703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12" name="Rectangle 54">
              <a:extLst>
                <a:ext uri="{FF2B5EF4-FFF2-40B4-BE49-F238E27FC236}">
                  <a16:creationId xmlns="" xmlns:a16="http://schemas.microsoft.com/office/drawing/2014/main" id="{6533D250-EDC5-4146-A678-D8717156F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" y="1012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3" name="Rectangle 55">
              <a:extLst>
                <a:ext uri="{FF2B5EF4-FFF2-40B4-BE49-F238E27FC236}">
                  <a16:creationId xmlns="" xmlns:a16="http://schemas.microsoft.com/office/drawing/2014/main" id="{733150BE-256C-9945-B7EB-CAF89F9D7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" y="1494"/>
              <a:ext cx="175" cy="98"/>
            </a:xfrm>
            <a:prstGeom prst="rect">
              <a:avLst/>
            </a:prstGeom>
            <a:solidFill>
              <a:srgbClr val="0000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4" name="Rectangle 56">
              <a:extLst>
                <a:ext uri="{FF2B5EF4-FFF2-40B4-BE49-F238E27FC236}">
                  <a16:creationId xmlns="" xmlns:a16="http://schemas.microsoft.com/office/drawing/2014/main" id="{DCF223E2-6636-B042-B0AB-7F418AF1C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" y="1969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5" name="Rectangle 57">
              <a:extLst>
                <a:ext uri="{FF2B5EF4-FFF2-40B4-BE49-F238E27FC236}">
                  <a16:creationId xmlns="" xmlns:a16="http://schemas.microsoft.com/office/drawing/2014/main" id="{42A5E003-C01F-464E-BA40-0D2180E7A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" y="1017"/>
              <a:ext cx="175" cy="98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6" name="Rectangle 58">
              <a:extLst>
                <a:ext uri="{FF2B5EF4-FFF2-40B4-BE49-F238E27FC236}">
                  <a16:creationId xmlns="" xmlns:a16="http://schemas.microsoft.com/office/drawing/2014/main" id="{AF8A4BDE-7DE0-5D4B-BAF3-25D6FE49F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" y="1953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7" name="Line 60">
              <a:extLst>
                <a:ext uri="{FF2B5EF4-FFF2-40B4-BE49-F238E27FC236}">
                  <a16:creationId xmlns="" xmlns:a16="http://schemas.microsoft.com/office/drawing/2014/main" id="{96A833D6-A794-2B49-A8B8-2E8C1DECA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5" y="1054"/>
              <a:ext cx="1026" cy="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8" name="Freeform 62">
              <a:extLst>
                <a:ext uri="{FF2B5EF4-FFF2-40B4-BE49-F238E27FC236}">
                  <a16:creationId xmlns="" xmlns:a16="http://schemas.microsoft.com/office/drawing/2014/main" id="{7BD68626-6CAA-5243-9905-C91EECAD0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6" y="1285"/>
              <a:ext cx="967" cy="735"/>
            </a:xfrm>
            <a:custGeom>
              <a:avLst/>
              <a:gdLst>
                <a:gd name="T0" fmla="*/ 0 w 967"/>
                <a:gd name="T1" fmla="*/ 733 h 735"/>
                <a:gd name="T2" fmla="*/ 522 w 967"/>
                <a:gd name="T3" fmla="*/ 735 h 735"/>
                <a:gd name="T4" fmla="*/ 967 w 967"/>
                <a:gd name="T5" fmla="*/ 0 h 735"/>
                <a:gd name="T6" fmla="*/ 0 60000 65536"/>
                <a:gd name="T7" fmla="*/ 0 60000 65536"/>
                <a:gd name="T8" fmla="*/ 0 60000 65536"/>
                <a:gd name="T9" fmla="*/ 0 w 967"/>
                <a:gd name="T10" fmla="*/ 0 h 735"/>
                <a:gd name="T11" fmla="*/ 967 w 967"/>
                <a:gd name="T12" fmla="*/ 735 h 7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7" h="735">
                  <a:moveTo>
                    <a:pt x="0" y="733"/>
                  </a:moveTo>
                  <a:lnTo>
                    <a:pt x="522" y="735"/>
                  </a:lnTo>
                  <a:lnTo>
                    <a:pt x="967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9" name="Text Box 63">
              <a:extLst>
                <a:ext uri="{FF2B5EF4-FFF2-40B4-BE49-F238E27FC236}">
                  <a16:creationId xmlns="" xmlns:a16="http://schemas.microsoft.com/office/drawing/2014/main" id="{604F0A70-4585-C940-BDA5-31DD439A5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3" y="2335"/>
              <a:ext cx="1549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at </a:t>
              </a:r>
              <a:r>
                <a:rPr kumimoji="0" lang="en-US" alt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t,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packets more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from input to output</a:t>
              </a:r>
              <a:endPara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0" name="Text Box 64">
              <a:extLst>
                <a:ext uri="{FF2B5EF4-FFF2-40B4-BE49-F238E27FC236}">
                  <a16:creationId xmlns="" xmlns:a16="http://schemas.microsoft.com/office/drawing/2014/main" id="{96BB623D-5AC2-324A-9F19-41604686D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4" y="2325"/>
              <a:ext cx="15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one packet time later</a:t>
              </a:r>
              <a:endPara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1" name="Text Box 66">
              <a:extLst>
                <a:ext uri="{FF2B5EF4-FFF2-40B4-BE49-F238E27FC236}">
                  <a16:creationId xmlns="" xmlns:a16="http://schemas.microsoft.com/office/drawing/2014/main" id="{7BEE8A84-29FF-8A46-80DB-4C86D5CED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545"/>
              <a:ext cx="47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switch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</p:txBody>
        </p:sp>
        <p:sp>
          <p:nvSpPr>
            <p:cNvPr id="122" name="Text Box 67">
              <a:extLst>
                <a:ext uri="{FF2B5EF4-FFF2-40B4-BE49-F238E27FC236}">
                  <a16:creationId xmlns="" xmlns:a16="http://schemas.microsoft.com/office/drawing/2014/main" id="{E29AC416-78AA-EF47-B951-CE10628CE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5" y="1479"/>
              <a:ext cx="47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switch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</p:txBody>
        </p:sp>
        <p:sp>
          <p:nvSpPr>
            <p:cNvPr id="123" name="Rectangle 68">
              <a:extLst>
                <a:ext uri="{FF2B5EF4-FFF2-40B4-BE49-F238E27FC236}">
                  <a16:creationId xmlns="" xmlns:a16="http://schemas.microsoft.com/office/drawing/2014/main" id="{EBBED845-CC7D-A448-A26A-9D83004FB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" y="972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" name="Rectangle 69">
              <a:extLst>
                <a:ext uri="{FF2B5EF4-FFF2-40B4-BE49-F238E27FC236}">
                  <a16:creationId xmlns="" xmlns:a16="http://schemas.microsoft.com/office/drawing/2014/main" id="{B9035B93-B30D-CE44-9DA1-9C70506C0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" y="1497"/>
              <a:ext cx="175" cy="98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5" name="Rectangle 70">
              <a:extLst>
                <a:ext uri="{FF2B5EF4-FFF2-40B4-BE49-F238E27FC236}">
                  <a16:creationId xmlns="" xmlns:a16="http://schemas.microsoft.com/office/drawing/2014/main" id="{5810B19B-3BE7-A24D-B82A-414C00ADC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" y="1099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6" name="Rectangle 71">
              <a:extLst>
                <a:ext uri="{FF2B5EF4-FFF2-40B4-BE49-F238E27FC236}">
                  <a16:creationId xmlns="" xmlns:a16="http://schemas.microsoft.com/office/drawing/2014/main" id="{6B5B1987-5B94-E443-9D49-E20CCF048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5" y="1001"/>
              <a:ext cx="175" cy="98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7" name="Rectangle 72">
              <a:extLst>
                <a:ext uri="{FF2B5EF4-FFF2-40B4-BE49-F238E27FC236}">
                  <a16:creationId xmlns="" xmlns:a16="http://schemas.microsoft.com/office/drawing/2014/main" id="{6534AE61-2C02-FF40-9B6B-178907698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4" y="1965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8" name="Freeform 73">
              <a:extLst>
                <a:ext uri="{FF2B5EF4-FFF2-40B4-BE49-F238E27FC236}">
                  <a16:creationId xmlns="" xmlns:a16="http://schemas.microsoft.com/office/drawing/2014/main" id="{1E7AE224-FE87-FB4E-B36B-C15E6C5CA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" y="1261"/>
              <a:ext cx="967" cy="735"/>
            </a:xfrm>
            <a:custGeom>
              <a:avLst/>
              <a:gdLst>
                <a:gd name="T0" fmla="*/ 0 w 967"/>
                <a:gd name="T1" fmla="*/ 733 h 735"/>
                <a:gd name="T2" fmla="*/ 522 w 967"/>
                <a:gd name="T3" fmla="*/ 735 h 735"/>
                <a:gd name="T4" fmla="*/ 967 w 967"/>
                <a:gd name="T5" fmla="*/ 0 h 735"/>
                <a:gd name="T6" fmla="*/ 0 60000 65536"/>
                <a:gd name="T7" fmla="*/ 0 60000 65536"/>
                <a:gd name="T8" fmla="*/ 0 60000 65536"/>
                <a:gd name="T9" fmla="*/ 0 w 967"/>
                <a:gd name="T10" fmla="*/ 0 h 735"/>
                <a:gd name="T11" fmla="*/ 967 w 967"/>
                <a:gd name="T12" fmla="*/ 735 h 7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7" h="735">
                  <a:moveTo>
                    <a:pt x="0" y="733"/>
                  </a:moveTo>
                  <a:lnTo>
                    <a:pt x="522" y="735"/>
                  </a:lnTo>
                  <a:lnTo>
                    <a:pt x="967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9" name="Freeform 74">
              <a:extLst>
                <a:ext uri="{FF2B5EF4-FFF2-40B4-BE49-F238E27FC236}">
                  <a16:creationId xmlns="" xmlns:a16="http://schemas.microsoft.com/office/drawing/2014/main" id="{2CC15758-62B6-7548-9E59-821BE4E8E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1051"/>
              <a:ext cx="988" cy="951"/>
            </a:xfrm>
            <a:custGeom>
              <a:avLst/>
              <a:gdLst>
                <a:gd name="T0" fmla="*/ 0 w 1002"/>
                <a:gd name="T1" fmla="*/ 29707 h 480"/>
                <a:gd name="T2" fmla="*/ 429 w 1002"/>
                <a:gd name="T3" fmla="*/ 0 h 480"/>
                <a:gd name="T4" fmla="*/ 822 w 1002"/>
                <a:gd name="T5" fmla="*/ 6892561 h 480"/>
                <a:gd name="T6" fmla="*/ 0 60000 65536"/>
                <a:gd name="T7" fmla="*/ 0 60000 65536"/>
                <a:gd name="T8" fmla="*/ 0 60000 65536"/>
                <a:gd name="T9" fmla="*/ 0 w 1002"/>
                <a:gd name="T10" fmla="*/ 0 h 480"/>
                <a:gd name="T11" fmla="*/ 1002 w 1002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2" h="480">
                  <a:moveTo>
                    <a:pt x="0" y="2"/>
                  </a:moveTo>
                  <a:lnTo>
                    <a:pt x="522" y="0"/>
                  </a:lnTo>
                  <a:lnTo>
                    <a:pt x="1002" y="480"/>
                  </a:lnTo>
                </a:path>
              </a:pathLst>
            </a:custGeom>
            <a:noFill/>
            <a:ln w="28575" cap="flat" cmpd="sng">
              <a:solidFill>
                <a:srgbClr val="00800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0" name="Line 75">
              <a:extLst>
                <a:ext uri="{FF2B5EF4-FFF2-40B4-BE49-F238E27FC236}">
                  <a16:creationId xmlns="" xmlns:a16="http://schemas.microsoft.com/office/drawing/2014/main" id="{44597880-5DB3-2847-9281-A57CE0DEB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8" y="1545"/>
              <a:ext cx="1012" cy="14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" name="Rectangle 76">
              <a:extLst>
                <a:ext uri="{FF2B5EF4-FFF2-40B4-BE49-F238E27FC236}">
                  <a16:creationId xmlns="" xmlns:a16="http://schemas.microsoft.com/office/drawing/2014/main" id="{55AA31C1-E06E-3A4D-9D65-59BD27F99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1010"/>
              <a:ext cx="175" cy="98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" name="Rectangle 77">
              <a:extLst>
                <a:ext uri="{FF2B5EF4-FFF2-40B4-BE49-F238E27FC236}">
                  <a16:creationId xmlns="" xmlns:a16="http://schemas.microsoft.com/office/drawing/2014/main" id="{57ED66FB-7C4E-D94C-9C1E-E868CE831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4" y="997"/>
              <a:ext cx="175" cy="98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07" name="Rectangle 3">
            <a:extLst>
              <a:ext uri="{FF2B5EF4-FFF2-40B4-BE49-F238E27FC236}">
                <a16:creationId xmlns="" xmlns:a16="http://schemas.microsoft.com/office/drawing/2014/main" id="{58037103-EAF8-5B49-9CFE-A0E92B794745}"/>
              </a:ext>
            </a:extLst>
          </p:cNvPr>
          <p:cNvSpPr txBox="1">
            <a:spLocks noChangeArrowheads="1"/>
          </p:cNvSpPr>
          <p:nvPr/>
        </p:nvSpPr>
        <p:spPr>
          <a:xfrm>
            <a:off x="900868" y="4672501"/>
            <a:ext cx="10057863" cy="1756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buffering when arrival rate via switch exceeds output line speed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queueing (delay) and loss due to output port buffer overflow!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74" name="Slide Number Placeholder 4">
            <a:extLst>
              <a:ext uri="{FF2B5EF4-FFF2-40B4-BE49-F238E27FC236}">
                <a16:creationId xmlns="" xmlns:a16="http://schemas.microsoft.com/office/drawing/2014/main" id="{099ED71D-C4B2-544C-BD35-62F10A59E7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739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Network Layer: Internet</a:t>
            </a:r>
            <a:endParaRPr lang="en-US" dirty="0"/>
          </a:p>
        </p:txBody>
      </p:sp>
      <p:sp>
        <p:nvSpPr>
          <p:cNvPr id="42" name="Rectangle 3">
            <a:extLst>
              <a:ext uri="{FF2B5EF4-FFF2-40B4-BE49-F238E27FC236}">
                <a16:creationId xmlns="" xmlns:a16="http://schemas.microsoft.com/office/drawing/2014/main" id="{54249E09-2CB1-514A-AC5F-40ADE00A2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7317" y="2215552"/>
            <a:ext cx="7370788" cy="4076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blurRad="1651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="" xmlns:a16="http://schemas.microsoft.com/office/drawing/2014/main" id="{B180F0D6-1F8C-804C-9B7D-8CC6486CA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584" y="1413891"/>
            <a:ext cx="75342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/>
                <a:ea typeface="ＭＳ Ｐゴシック" charset="0"/>
                <a:cs typeface="Gill Sans M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/>
                <a:ea typeface="Gill Sans MT" charset="0"/>
                <a:cs typeface="Gill Sans M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host, router network layer functions:</a:t>
            </a:r>
          </a:p>
        </p:txBody>
      </p:sp>
      <p:sp>
        <p:nvSpPr>
          <p:cNvPr id="54" name="Line 17">
            <a:extLst>
              <a:ext uri="{FF2B5EF4-FFF2-40B4-BE49-F238E27FC236}">
                <a16:creationId xmlns="" xmlns:a16="http://schemas.microsoft.com/office/drawing/2014/main" id="{C662B522-B91B-764B-B1C6-707D227F7B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7792" y="5768661"/>
            <a:ext cx="7395303" cy="1082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" name="Line 18">
            <a:extLst>
              <a:ext uri="{FF2B5EF4-FFF2-40B4-BE49-F238E27FC236}">
                <a16:creationId xmlns="" xmlns:a16="http://schemas.microsoft.com/office/drawing/2014/main" id="{FF84D1AE-B7A3-194D-8C60-F608940715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56367" y="5244860"/>
            <a:ext cx="7366728" cy="1075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0" name="Group 24">
            <a:extLst>
              <a:ext uri="{FF2B5EF4-FFF2-40B4-BE49-F238E27FC236}">
                <a16:creationId xmlns="" xmlns:a16="http://schemas.microsoft.com/office/drawing/2014/main" id="{5EB605D2-4BE6-F84E-ADE0-AB4D2A7BF140}"/>
              </a:ext>
            </a:extLst>
          </p:cNvPr>
          <p:cNvGrpSpPr>
            <a:grpSpLocks/>
          </p:cNvGrpSpPr>
          <p:nvPr/>
        </p:nvGrpSpPr>
        <p:grpSpPr bwMode="auto">
          <a:xfrm>
            <a:off x="7184669" y="2927915"/>
            <a:ext cx="3136903" cy="1276350"/>
            <a:chOff x="102" y="1294"/>
            <a:chExt cx="1976" cy="804"/>
          </a:xfrm>
        </p:grpSpPr>
        <p:sp>
          <p:nvSpPr>
            <p:cNvPr id="62" name="Rectangle 26">
              <a:extLst>
                <a:ext uri="{FF2B5EF4-FFF2-40B4-BE49-F238E27FC236}">
                  <a16:creationId xmlns="" xmlns:a16="http://schemas.microsoft.com/office/drawing/2014/main" id="{2EDD264A-A709-3A4C-A00D-67F984963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" y="1314"/>
              <a:ext cx="1976" cy="78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Text Box 27">
              <a:extLst>
                <a:ext uri="{FF2B5EF4-FFF2-40B4-BE49-F238E27FC236}">
                  <a16:creationId xmlns="" xmlns:a16="http://schemas.microsoft.com/office/drawing/2014/main" id="{0296BAAF-C3F3-6D4C-8BEA-A71228A41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" y="1294"/>
              <a:ext cx="1918" cy="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IP protocol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3"/>
                </a:buClr>
                <a:buSzTx/>
                <a:buFontTx/>
                <a:buChar char="•"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datagram format</a:t>
              </a:r>
            </a:p>
            <a:p>
              <a:pPr marL="0" marR="0" lvl="0" indent="0" algn="l" defTabSz="914400" rtl="0" eaLnBrk="0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3"/>
                </a:buClr>
                <a:buSzTx/>
                <a:buFontTx/>
                <a:buChar char="•"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addressing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3"/>
                </a:buClr>
                <a:buSzTx/>
                <a:buFontTx/>
                <a:buChar char="•"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packet handling conventions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5" name="Rectangle 30">
            <a:extLst>
              <a:ext uri="{FF2B5EF4-FFF2-40B4-BE49-F238E27FC236}">
                <a16:creationId xmlns="" xmlns:a16="http://schemas.microsoft.com/office/drawing/2014/main" id="{D53E8097-7EF9-9F40-A258-C7BAC9FB0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3368" y="4279825"/>
            <a:ext cx="2376099" cy="885011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srgbClr val="0000A3">
                <a:alpha val="40000"/>
              </a:srgb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6" name="Text Box 31">
            <a:extLst>
              <a:ext uri="{FF2B5EF4-FFF2-40B4-BE49-F238E27FC236}">
                <a16:creationId xmlns="" xmlns:a16="http://schemas.microsoft.com/office/drawing/2014/main" id="{CA5FE275-A1EE-6149-A25B-AB47FE13C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9352" y="4233489"/>
            <a:ext cx="245538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ICMP protocol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error reporting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router “</a:t>
            </a:r>
            <a:r>
              <a:rPr kumimoji="0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signaling”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7" name="Line 32">
            <a:extLst>
              <a:ext uri="{FF2B5EF4-FFF2-40B4-BE49-F238E27FC236}">
                <a16:creationId xmlns="" xmlns:a16="http://schemas.microsoft.com/office/drawing/2014/main" id="{83D8B023-CCE3-A545-A900-2FBC5363CB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56367" y="2825510"/>
            <a:ext cx="7366728" cy="1075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8" name="Text Box 33">
            <a:extLst>
              <a:ext uri="{FF2B5EF4-FFF2-40B4-BE49-F238E27FC236}">
                <a16:creationId xmlns="" xmlns:a16="http://schemas.microsoft.com/office/drawing/2014/main" id="{0FCECF46-65B8-9744-948E-304AC0DAC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7325" y="2318922"/>
            <a:ext cx="28376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transport layer: TCP, UDP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" name="Text Box 34">
            <a:extLst>
              <a:ext uri="{FF2B5EF4-FFF2-40B4-BE49-F238E27FC236}">
                <a16:creationId xmlns="" xmlns:a16="http://schemas.microsoft.com/office/drawing/2014/main" id="{F0EDF1E8-9470-B34D-B8BA-67D4C3858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1947" y="5335692"/>
            <a:ext cx="11288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link layer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0" name="Text Box 35">
            <a:extLst>
              <a:ext uri="{FF2B5EF4-FFF2-40B4-BE49-F238E27FC236}">
                <a16:creationId xmlns="" xmlns:a16="http://schemas.microsoft.com/office/drawing/2014/main" id="{DC66EFC2-D14F-D54B-94E4-C02AED9BE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9527" y="5844577"/>
            <a:ext cx="15953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physical layer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Text Box 36">
            <a:extLst>
              <a:ext uri="{FF2B5EF4-FFF2-40B4-BE49-F238E27FC236}">
                <a16:creationId xmlns="" xmlns:a16="http://schemas.microsoft.com/office/drawing/2014/main" id="{443CA5C2-E267-9843-988A-10AA069D7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4488" y="3618902"/>
            <a:ext cx="14061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layer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" name="Line 37">
            <a:extLst>
              <a:ext uri="{FF2B5EF4-FFF2-40B4-BE49-F238E27FC236}">
                <a16:creationId xmlns="" xmlns:a16="http://schemas.microsoft.com/office/drawing/2014/main" id="{3FA09A96-5FBE-6E4C-B57D-75ADA05520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0142" y="2845789"/>
            <a:ext cx="0" cy="7429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Line 38">
            <a:extLst>
              <a:ext uri="{FF2B5EF4-FFF2-40B4-BE49-F238E27FC236}">
                <a16:creationId xmlns="" xmlns:a16="http://schemas.microsoft.com/office/drawing/2014/main" id="{F1A87A3C-ABBA-1445-B932-9F07DDB1DC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578" y="4512664"/>
            <a:ext cx="0" cy="7429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C8E5DB8E-5758-7A40-B6B5-7D4AF5690956}"/>
              </a:ext>
            </a:extLst>
          </p:cNvPr>
          <p:cNvGrpSpPr/>
          <p:nvPr/>
        </p:nvGrpSpPr>
        <p:grpSpPr>
          <a:xfrm>
            <a:off x="3407866" y="3093438"/>
            <a:ext cx="3656521" cy="1988228"/>
            <a:chOff x="3407866" y="3093438"/>
            <a:chExt cx="3656521" cy="1988228"/>
          </a:xfrm>
        </p:grpSpPr>
        <p:grpSp>
          <p:nvGrpSpPr>
            <p:cNvPr id="43" name="Group 6">
              <a:extLst>
                <a:ext uri="{FF2B5EF4-FFF2-40B4-BE49-F238E27FC236}">
                  <a16:creationId xmlns="" xmlns:a16="http://schemas.microsoft.com/office/drawing/2014/main" id="{871F3AA1-3276-FB48-99A0-4DB2EA4E12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31569" y="3657572"/>
              <a:ext cx="1332818" cy="1171575"/>
              <a:chOff x="3972" y="2910"/>
              <a:chExt cx="649" cy="738"/>
            </a:xfrm>
          </p:grpSpPr>
          <p:sp>
            <p:nvSpPr>
              <p:cNvPr id="45" name="Rectangle 8">
                <a:extLst>
                  <a:ext uri="{FF2B5EF4-FFF2-40B4-BE49-F238E27FC236}">
                    <a16:creationId xmlns="" xmlns:a16="http://schemas.microsoft.com/office/drawing/2014/main" id="{BA7260F4-B2A7-AF47-BF92-9B85CFE6FC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2910"/>
                <a:ext cx="582" cy="73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srgbClr val="0000A3">
                    <a:alpha val="40000"/>
                  </a:srgb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" name="Text Box 9">
                <a:extLst>
                  <a:ext uri="{FF2B5EF4-FFF2-40B4-BE49-F238E27FC236}">
                    <a16:creationId xmlns="" xmlns:a16="http://schemas.microsoft.com/office/drawing/2014/main" id="{C24F447E-295B-5343-A770-64A4288623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2" y="3071"/>
                <a:ext cx="649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forwarding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table</a:t>
                </a:r>
              </a:p>
            </p:txBody>
          </p:sp>
          <p:sp>
            <p:nvSpPr>
              <p:cNvPr id="47" name="Line 10">
                <a:extLst>
                  <a:ext uri="{FF2B5EF4-FFF2-40B4-BE49-F238E27FC236}">
                    <a16:creationId xmlns="" xmlns:a16="http://schemas.microsoft.com/office/drawing/2014/main" id="{A1A6378B-7AD4-9543-A13E-9D075DF319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5" y="2994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Line 11">
                <a:extLst>
                  <a:ext uri="{FF2B5EF4-FFF2-40B4-BE49-F238E27FC236}">
                    <a16:creationId xmlns="" xmlns:a16="http://schemas.microsoft.com/office/drawing/2014/main" id="{AFF84EEF-BF82-EE46-A8CD-990D38D7B8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1" y="3048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9" name="Line 12">
                <a:extLst>
                  <a:ext uri="{FF2B5EF4-FFF2-40B4-BE49-F238E27FC236}">
                    <a16:creationId xmlns="" xmlns:a16="http://schemas.microsoft.com/office/drawing/2014/main" id="{F9BAE992-9BF7-104C-8ECA-81D34B658B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4" y="3102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" name="Line 13">
                <a:extLst>
                  <a:ext uri="{FF2B5EF4-FFF2-40B4-BE49-F238E27FC236}">
                    <a16:creationId xmlns="" xmlns:a16="http://schemas.microsoft.com/office/drawing/2014/main" id="{3429694D-F679-004A-9DBC-A3A9033DE1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5" y="3477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" name="Line 14">
                <a:extLst>
                  <a:ext uri="{FF2B5EF4-FFF2-40B4-BE49-F238E27FC236}">
                    <a16:creationId xmlns="" xmlns:a16="http://schemas.microsoft.com/office/drawing/2014/main" id="{76EE42B6-BAC1-4944-9196-448650DA21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8" y="3528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Line 15">
                <a:extLst>
                  <a:ext uri="{FF2B5EF4-FFF2-40B4-BE49-F238E27FC236}">
                    <a16:creationId xmlns="" xmlns:a16="http://schemas.microsoft.com/office/drawing/2014/main" id="{F59AD1B5-E124-0149-BDFB-A6D75F8BE6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1" y="3579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7" name="Rectangle 21">
              <a:extLst>
                <a:ext uri="{FF2B5EF4-FFF2-40B4-BE49-F238E27FC236}">
                  <a16:creationId xmlns="" xmlns:a16="http://schemas.microsoft.com/office/drawing/2014/main" id="{D79EAD81-D7BF-7740-89CA-28286122F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7866" y="3093438"/>
              <a:ext cx="2048551" cy="198822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Text Box 22">
              <a:extLst>
                <a:ext uri="{FF2B5EF4-FFF2-40B4-BE49-F238E27FC236}">
                  <a16:creationId xmlns="" xmlns:a16="http://schemas.microsoft.com/office/drawing/2014/main" id="{468D56E5-617A-EB4B-A291-7109B25CF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6596" y="3128879"/>
              <a:ext cx="2125210" cy="1846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Path-selection  algorithms: 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implemented in </a:t>
              </a:r>
            </a:p>
            <a:p>
              <a:pPr marL="22860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3"/>
                </a:buClr>
                <a:buSzTx/>
                <a:buFont typeface="Arial" panose="020B0604020202020204" pitchFamily="34" charset="0"/>
                <a:buChar char="•"/>
                <a:tabLst>
                  <a:tab pos="53975" algn="l"/>
                  <a:tab pos="111125" algn="l"/>
                </a:tabLst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routing protocols (OSPF, BGP)</a:t>
              </a:r>
            </a:p>
            <a:p>
              <a:pPr marL="22860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3"/>
                </a:buClr>
                <a:buSzTx/>
                <a:buFont typeface="Arial" panose="020B0604020202020204" pitchFamily="34" charset="0"/>
                <a:buChar char="•"/>
                <a:tabLst>
                  <a:tab pos="53975" algn="l"/>
                  <a:tab pos="111125" algn="l"/>
                </a:tabLst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SDN controller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Bent Arrow 73">
              <a:extLst>
                <a:ext uri="{FF2B5EF4-FFF2-40B4-BE49-F238E27FC236}">
                  <a16:creationId xmlns="" xmlns:a16="http://schemas.microsoft.com/office/drawing/2014/main" id="{0C3DF2E4-3C65-BB46-9EC4-94CCFD39934B}"/>
                </a:ext>
              </a:extLst>
            </p:cNvPr>
            <p:cNvSpPr/>
            <p:nvPr/>
          </p:nvSpPr>
          <p:spPr>
            <a:xfrm rot="5400000">
              <a:off x="5728412" y="2923460"/>
              <a:ext cx="479687" cy="868680"/>
            </a:xfrm>
            <a:prstGeom prst="ben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2" name="Slide Number Placeholder 3">
            <a:extLst>
              <a:ext uri="{FF2B5EF4-FFF2-40B4-BE49-F238E27FC236}">
                <a16:creationId xmlns="" xmlns:a16="http://schemas.microsoft.com/office/drawing/2014/main" id="{2ED44C56-FED1-2249-B378-3FF1836635D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92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IP Datagram format</a:t>
            </a:r>
            <a:endParaRPr lang="en-US" dirty="0"/>
          </a:p>
        </p:txBody>
      </p:sp>
      <p:grpSp>
        <p:nvGrpSpPr>
          <p:cNvPr id="120" name="Group 55">
            <a:extLst>
              <a:ext uri="{FF2B5EF4-FFF2-40B4-BE49-F238E27FC236}">
                <a16:creationId xmlns="" xmlns:a16="http://schemas.microsoft.com/office/drawing/2014/main" id="{096C3C5A-67A4-3541-9E14-6812D63272DC}"/>
              </a:ext>
            </a:extLst>
          </p:cNvPr>
          <p:cNvGrpSpPr>
            <a:grpSpLocks/>
          </p:cNvGrpSpPr>
          <p:nvPr/>
        </p:nvGrpSpPr>
        <p:grpSpPr bwMode="auto">
          <a:xfrm>
            <a:off x="4441383" y="1263416"/>
            <a:ext cx="4040188" cy="5326062"/>
            <a:chOff x="1929" y="607"/>
            <a:chExt cx="2545" cy="3355"/>
          </a:xfrm>
        </p:grpSpPr>
        <p:sp>
          <p:nvSpPr>
            <p:cNvPr id="122" name="Rectangle 5">
              <a:extLst>
                <a:ext uri="{FF2B5EF4-FFF2-40B4-BE49-F238E27FC236}">
                  <a16:creationId xmlns="" xmlns:a16="http://schemas.microsoft.com/office/drawing/2014/main" id="{7B516688-96C2-8349-A69E-D6A9EC6BB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935"/>
              <a:ext cx="2489" cy="302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blurRad="139700" dist="38100" dir="18900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Text Box 6">
              <a:extLst>
                <a:ext uri="{FF2B5EF4-FFF2-40B4-BE49-F238E27FC236}">
                  <a16:creationId xmlns="" xmlns:a16="http://schemas.microsoft.com/office/drawing/2014/main" id="{DF4EC220-193E-8947-9E07-CECD76B72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4" y="973"/>
              <a:ext cx="3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ver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" name="Text Box 7">
              <a:extLst>
                <a:ext uri="{FF2B5EF4-FFF2-40B4-BE49-F238E27FC236}">
                  <a16:creationId xmlns="" xmlns:a16="http://schemas.microsoft.com/office/drawing/2014/main" id="{3EE9E625-9218-0244-9694-F71E2BAA46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9" y="1012"/>
              <a:ext cx="5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length</a:t>
              </a:r>
            </a:p>
          </p:txBody>
        </p:sp>
        <p:sp>
          <p:nvSpPr>
            <p:cNvPr id="125" name="Line 8">
              <a:extLst>
                <a:ext uri="{FF2B5EF4-FFF2-40B4-BE49-F238E27FC236}">
                  <a16:creationId xmlns="" xmlns:a16="http://schemas.microsoft.com/office/drawing/2014/main" id="{F817320A-8485-D045-8632-7F84A094CE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8" y="1261"/>
              <a:ext cx="2486" cy="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6" name="Line 9">
              <a:extLst>
                <a:ext uri="{FF2B5EF4-FFF2-40B4-BE49-F238E27FC236}">
                  <a16:creationId xmlns="" xmlns:a16="http://schemas.microsoft.com/office/drawing/2014/main" id="{4A7FCA27-B9B4-7C40-B61E-66830D6E54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0" y="941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7" name="Text Box 10">
              <a:extLst>
                <a:ext uri="{FF2B5EF4-FFF2-40B4-BE49-F238E27FC236}">
                  <a16:creationId xmlns="" xmlns:a16="http://schemas.microsoft.com/office/drawing/2014/main" id="{4C789F02-EAB2-A242-BBE2-FBDC34528E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2" y="607"/>
              <a:ext cx="5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32 bits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8" name="Line 11">
              <a:extLst>
                <a:ext uri="{FF2B5EF4-FFF2-40B4-BE49-F238E27FC236}">
                  <a16:creationId xmlns="" xmlns:a16="http://schemas.microsoft.com/office/drawing/2014/main" id="{95360C57-2C57-0544-9320-4650E66A99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762"/>
              <a:ext cx="899" cy="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9" name="Line 12">
              <a:extLst>
                <a:ext uri="{FF2B5EF4-FFF2-40B4-BE49-F238E27FC236}">
                  <a16:creationId xmlns="" xmlns:a16="http://schemas.microsoft.com/office/drawing/2014/main" id="{5C078034-561A-DD4E-8E06-3CE9768E71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972" y="769"/>
              <a:ext cx="8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0" name="Text Box 13">
              <a:extLst>
                <a:ext uri="{FF2B5EF4-FFF2-40B4-BE49-F238E27FC236}">
                  <a16:creationId xmlns="" xmlns:a16="http://schemas.microsoft.com/office/drawing/2014/main" id="{EAAA5B1E-960B-444D-BC67-196606CFF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8" y="2943"/>
              <a:ext cx="1351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payload data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(variable length,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typically a TCP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 UDP segment)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" name="Text Box 14">
              <a:extLst>
                <a:ext uri="{FF2B5EF4-FFF2-40B4-BE49-F238E27FC236}">
                  <a16:creationId xmlns="" xmlns:a16="http://schemas.microsoft.com/office/drawing/2014/main" id="{B7C5120C-457F-DD46-9E43-405DD41CB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9" y="1320"/>
              <a:ext cx="13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16-bit identifier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" name="Line 15">
              <a:extLst>
                <a:ext uri="{FF2B5EF4-FFF2-40B4-BE49-F238E27FC236}">
                  <a16:creationId xmlns="" xmlns:a16="http://schemas.microsoft.com/office/drawing/2014/main" id="{6E8EDA64-4D72-E644-A7A2-C624035759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4" y="2205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3" name="Line 16">
              <a:extLst>
                <a:ext uri="{FF2B5EF4-FFF2-40B4-BE49-F238E27FC236}">
                  <a16:creationId xmlns="" xmlns:a16="http://schemas.microsoft.com/office/drawing/2014/main" id="{27C58B80-F7F3-2B47-A794-308A73EF26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4" y="2505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4" name="Text Box 17">
              <a:extLst>
                <a:ext uri="{FF2B5EF4-FFF2-40B4-BE49-F238E27FC236}">
                  <a16:creationId xmlns="" xmlns:a16="http://schemas.microsoft.com/office/drawing/2014/main" id="{C16AB973-194F-5A45-BFDC-8BC3E836A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4" y="1549"/>
              <a:ext cx="8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checksum</a:t>
              </a:r>
            </a:p>
          </p:txBody>
        </p:sp>
        <p:sp>
          <p:nvSpPr>
            <p:cNvPr id="135" name="Text Box 18">
              <a:extLst>
                <a:ext uri="{FF2B5EF4-FFF2-40B4-BE49-F238E27FC236}">
                  <a16:creationId xmlns="" xmlns:a16="http://schemas.microsoft.com/office/drawing/2014/main" id="{73F144F0-D722-DD4E-913A-9D1C13A3A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8" y="1531"/>
              <a:ext cx="54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time to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live</a:t>
              </a:r>
            </a:p>
          </p:txBody>
        </p:sp>
        <p:sp>
          <p:nvSpPr>
            <p:cNvPr id="136" name="Text Box 19">
              <a:extLst>
                <a:ext uri="{FF2B5EF4-FFF2-40B4-BE49-F238E27FC236}">
                  <a16:creationId xmlns="" xmlns:a16="http://schemas.microsoft.com/office/drawing/2014/main" id="{24E2CAED-6A31-D148-BAF3-804A52CDFB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9" y="1959"/>
              <a:ext cx="132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source IP address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7" name="Text Box 31">
              <a:extLst>
                <a:ext uri="{FF2B5EF4-FFF2-40B4-BE49-F238E27FC236}">
                  <a16:creationId xmlns="" xmlns:a16="http://schemas.microsoft.com/office/drawing/2014/main" id="{BEE296DD-3F61-ED40-BC79-F3A9021AB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907"/>
              <a:ext cx="47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head.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len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8" name="Text Box 32">
              <a:extLst>
                <a:ext uri="{FF2B5EF4-FFF2-40B4-BE49-F238E27FC236}">
                  <a16:creationId xmlns="" xmlns:a16="http://schemas.microsoft.com/office/drawing/2014/main" id="{F97B56F5-767E-B842-B667-C862E3D38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" y="901"/>
              <a:ext cx="57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type of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service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9" name="Line 33">
              <a:extLst>
                <a:ext uri="{FF2B5EF4-FFF2-40B4-BE49-F238E27FC236}">
                  <a16:creationId xmlns="" xmlns:a16="http://schemas.microsoft.com/office/drawing/2014/main" id="{BDD076AF-08C4-4F47-9082-FD95A3AE88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46" y="938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0" name="Line 34">
              <a:extLst>
                <a:ext uri="{FF2B5EF4-FFF2-40B4-BE49-F238E27FC236}">
                  <a16:creationId xmlns="" xmlns:a16="http://schemas.microsoft.com/office/drawing/2014/main" id="{ED69820A-98A8-C448-9306-B016D7131F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59" y="944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1" name="Line 37">
              <a:extLst>
                <a:ext uri="{FF2B5EF4-FFF2-40B4-BE49-F238E27FC236}">
                  <a16:creationId xmlns="" xmlns:a16="http://schemas.microsoft.com/office/drawing/2014/main" id="{4C39789B-1352-C348-9751-652C9E9F84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0" y="1265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2" name="Text Box 38">
              <a:extLst>
                <a:ext uri="{FF2B5EF4-FFF2-40B4-BE49-F238E27FC236}">
                  <a16:creationId xmlns="" xmlns:a16="http://schemas.microsoft.com/office/drawing/2014/main" id="{D17766F8-1604-7844-AF12-5526BB719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7" y="1314"/>
              <a:ext cx="4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flgs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3" name="Line 39">
              <a:extLst>
                <a:ext uri="{FF2B5EF4-FFF2-40B4-BE49-F238E27FC236}">
                  <a16:creationId xmlns="" xmlns:a16="http://schemas.microsoft.com/office/drawing/2014/main" id="{347B244D-DD5B-7D4F-94F4-91C0A285AF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04" y="1259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4" name="Text Box 40">
              <a:extLst>
                <a:ext uri="{FF2B5EF4-FFF2-40B4-BE49-F238E27FC236}">
                  <a16:creationId xmlns="" xmlns:a16="http://schemas.microsoft.com/office/drawing/2014/main" id="{7247D566-AB42-3841-994B-E294C06DAB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1" y="1230"/>
              <a:ext cx="90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fragment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offset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5" name="Line 43">
              <a:extLst>
                <a:ext uri="{FF2B5EF4-FFF2-40B4-BE49-F238E27FC236}">
                  <a16:creationId xmlns="" xmlns:a16="http://schemas.microsoft.com/office/drawing/2014/main" id="{3AA0ABEC-0F0D-104F-A9E5-4BBC9A6A42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4" y="1581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Line 44">
              <a:extLst>
                <a:ext uri="{FF2B5EF4-FFF2-40B4-BE49-F238E27FC236}">
                  <a16:creationId xmlns="" xmlns:a16="http://schemas.microsoft.com/office/drawing/2014/main" id="{3BCAABB0-D26C-C443-A64A-9B2F129C9C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0" y="1583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45">
              <a:extLst>
                <a:ext uri="{FF2B5EF4-FFF2-40B4-BE49-F238E27FC236}">
                  <a16:creationId xmlns="" xmlns:a16="http://schemas.microsoft.com/office/drawing/2014/main" id="{E866F42A-10BE-C449-97E1-04B252E830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2" y="1905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46">
              <a:extLst>
                <a:ext uri="{FF2B5EF4-FFF2-40B4-BE49-F238E27FC236}">
                  <a16:creationId xmlns="" xmlns:a16="http://schemas.microsoft.com/office/drawing/2014/main" id="{E683D402-CA7F-9F47-849F-2224DC3DE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8" y="1525"/>
              <a:ext cx="48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upper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layer</a:t>
              </a:r>
            </a:p>
          </p:txBody>
        </p:sp>
        <p:sp>
          <p:nvSpPr>
            <p:cNvPr id="149" name="Line 47">
              <a:extLst>
                <a:ext uri="{FF2B5EF4-FFF2-40B4-BE49-F238E27FC236}">
                  <a16:creationId xmlns="" xmlns:a16="http://schemas.microsoft.com/office/drawing/2014/main" id="{0E531E3C-4F5A-D941-83E8-AE1464B5A3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10" y="1589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0" name="Text Box 49">
              <a:extLst>
                <a:ext uri="{FF2B5EF4-FFF2-40B4-BE49-F238E27FC236}">
                  <a16:creationId xmlns="" xmlns:a16="http://schemas.microsoft.com/office/drawing/2014/main" id="{0D207251-C799-F041-9618-AD88DBAA8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0" y="2235"/>
              <a:ext cx="15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destination IP address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Line 50">
              <a:extLst>
                <a:ext uri="{FF2B5EF4-FFF2-40B4-BE49-F238E27FC236}">
                  <a16:creationId xmlns="" xmlns:a16="http://schemas.microsoft.com/office/drawing/2014/main" id="{3D7847B5-06DC-744F-AFA4-710C1C3AAC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4" y="2787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2" name="Text Box 51">
              <a:extLst>
                <a:ext uri="{FF2B5EF4-FFF2-40B4-BE49-F238E27FC236}">
                  <a16:creationId xmlns="" xmlns:a16="http://schemas.microsoft.com/office/drawing/2014/main" id="{DDCF4509-5098-514D-8D40-9FA4EA417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3" y="2529"/>
              <a:ext cx="10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options (if any)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3" name="Group 56">
            <a:extLst>
              <a:ext uri="{FF2B5EF4-FFF2-40B4-BE49-F238E27FC236}">
                <a16:creationId xmlns="" xmlns:a16="http://schemas.microsoft.com/office/drawing/2014/main" id="{F46ED7D0-3A4C-C74F-A2AF-2F28546928AE}"/>
              </a:ext>
            </a:extLst>
          </p:cNvPr>
          <p:cNvGrpSpPr>
            <a:grpSpLocks/>
          </p:cNvGrpSpPr>
          <p:nvPr/>
        </p:nvGrpSpPr>
        <p:grpSpPr bwMode="auto">
          <a:xfrm>
            <a:off x="1064770" y="1650761"/>
            <a:ext cx="3598863" cy="369886"/>
            <a:chOff x="-198" y="851"/>
            <a:chExt cx="2267" cy="233"/>
          </a:xfrm>
        </p:grpSpPr>
        <p:sp>
          <p:nvSpPr>
            <p:cNvPr id="154" name="Text Box 20">
              <a:extLst>
                <a:ext uri="{FF2B5EF4-FFF2-40B4-BE49-F238E27FC236}">
                  <a16:creationId xmlns="" xmlns:a16="http://schemas.microsoft.com/office/drawing/2014/main" id="{DD501FF6-E28D-E740-B77A-CD4A3210C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98" y="851"/>
              <a:ext cx="196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 protocol version number</a:t>
              </a:r>
              <a:endPara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5" name="Line 23">
              <a:extLst>
                <a:ext uri="{FF2B5EF4-FFF2-40B4-BE49-F238E27FC236}">
                  <a16:creationId xmlns="" xmlns:a16="http://schemas.microsoft.com/office/drawing/2014/main" id="{F85B0816-D21B-CB47-8C66-E05D0680E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0" y="996"/>
              <a:ext cx="329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6" name="Group 57">
            <a:extLst>
              <a:ext uri="{FF2B5EF4-FFF2-40B4-BE49-F238E27FC236}">
                <a16:creationId xmlns="" xmlns:a16="http://schemas.microsoft.com/office/drawing/2014/main" id="{09D76537-7447-BC4F-803B-D699F93DFDEB}"/>
              </a:ext>
            </a:extLst>
          </p:cNvPr>
          <p:cNvGrpSpPr>
            <a:grpSpLocks/>
          </p:cNvGrpSpPr>
          <p:nvPr/>
        </p:nvGrpSpPr>
        <p:grpSpPr bwMode="auto">
          <a:xfrm>
            <a:off x="1228282" y="2004782"/>
            <a:ext cx="3817939" cy="369888"/>
            <a:chOff x="-95" y="1074"/>
            <a:chExt cx="2405" cy="233"/>
          </a:xfrm>
        </p:grpSpPr>
        <p:sp>
          <p:nvSpPr>
            <p:cNvPr id="157" name="Text Box 21">
              <a:extLst>
                <a:ext uri="{FF2B5EF4-FFF2-40B4-BE49-F238E27FC236}">
                  <a16:creationId xmlns="" xmlns:a16="http://schemas.microsoft.com/office/drawing/2014/main" id="{6BB3B2E4-B494-8F48-ADC1-00DA5E9C5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95" y="1074"/>
              <a:ext cx="18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 length(bytes)</a:t>
              </a:r>
              <a:endPara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8" name="Line 24">
              <a:extLst>
                <a:ext uri="{FF2B5EF4-FFF2-40B4-BE49-F238E27FC236}">
                  <a16:creationId xmlns="" xmlns:a16="http://schemas.microsoft.com/office/drawing/2014/main" id="{706E58AF-5939-4644-8ECF-E13603BC22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1184"/>
              <a:ext cx="562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9" name="Group 60">
            <a:extLst>
              <a:ext uri="{FF2B5EF4-FFF2-40B4-BE49-F238E27FC236}">
                <a16:creationId xmlns="" xmlns:a16="http://schemas.microsoft.com/office/drawing/2014/main" id="{4258D741-EF03-AB43-8674-1FF314406AE4}"/>
              </a:ext>
            </a:extLst>
          </p:cNvPr>
          <p:cNvGrpSpPr>
            <a:grpSpLocks/>
          </p:cNvGrpSpPr>
          <p:nvPr/>
        </p:nvGrpSpPr>
        <p:grpSpPr bwMode="auto">
          <a:xfrm>
            <a:off x="151955" y="3111541"/>
            <a:ext cx="5535615" cy="1247776"/>
            <a:chOff x="-773" y="1434"/>
            <a:chExt cx="3487" cy="786"/>
          </a:xfrm>
        </p:grpSpPr>
        <p:sp>
          <p:nvSpPr>
            <p:cNvPr id="160" name="Text Box 27">
              <a:extLst>
                <a:ext uri="{FF2B5EF4-FFF2-40B4-BE49-F238E27FC236}">
                  <a16:creationId xmlns="" xmlns:a16="http://schemas.microsoft.com/office/drawing/2014/main" id="{2ABE1009-3567-E94C-9ECA-3B9CCF763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73" y="1987"/>
              <a:ext cx="25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upper layer protocol </a:t>
              </a: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(e.g., TCP or UDP)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1" name="Line 28">
              <a:extLst>
                <a:ext uri="{FF2B5EF4-FFF2-40B4-BE49-F238E27FC236}">
                  <a16:creationId xmlns="" xmlns:a16="http://schemas.microsoft.com/office/drawing/2014/main" id="{5458F48E-33B1-F14C-AC20-E862C95269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6" y="1434"/>
              <a:ext cx="948" cy="672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2" name="Group 61">
            <a:extLst>
              <a:ext uri="{FF2B5EF4-FFF2-40B4-BE49-F238E27FC236}">
                <a16:creationId xmlns="" xmlns:a16="http://schemas.microsoft.com/office/drawing/2014/main" id="{CACE9B0D-62D6-B34E-89A0-4E0AFCF2C3B2}"/>
              </a:ext>
            </a:extLst>
          </p:cNvPr>
          <p:cNvGrpSpPr>
            <a:grpSpLocks/>
          </p:cNvGrpSpPr>
          <p:nvPr/>
        </p:nvGrpSpPr>
        <p:grpSpPr bwMode="auto">
          <a:xfrm>
            <a:off x="8102158" y="1652352"/>
            <a:ext cx="2322512" cy="641350"/>
            <a:chOff x="4235" y="852"/>
            <a:chExt cx="1463" cy="404"/>
          </a:xfrm>
        </p:grpSpPr>
        <p:sp>
          <p:nvSpPr>
            <p:cNvPr id="163" name="Text Box 26">
              <a:extLst>
                <a:ext uri="{FF2B5EF4-FFF2-40B4-BE49-F238E27FC236}">
                  <a16:creationId xmlns="" xmlns:a16="http://schemas.microsoft.com/office/drawing/2014/main" id="{30E427B3-A5A5-4D4F-B92F-565A16BD6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2" y="852"/>
              <a:ext cx="103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total datagram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length (bytes)</a:t>
              </a:r>
            </a:p>
          </p:txBody>
        </p:sp>
        <p:sp>
          <p:nvSpPr>
            <p:cNvPr id="164" name="Line 30">
              <a:extLst>
                <a:ext uri="{FF2B5EF4-FFF2-40B4-BE49-F238E27FC236}">
                  <a16:creationId xmlns="" xmlns:a16="http://schemas.microsoft.com/office/drawing/2014/main" id="{3AF47488-1011-A848-99D2-FC6016C55C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1149"/>
              <a:ext cx="429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5" name="Group 58">
            <a:extLst>
              <a:ext uri="{FF2B5EF4-FFF2-40B4-BE49-F238E27FC236}">
                <a16:creationId xmlns="" xmlns:a16="http://schemas.microsoft.com/office/drawing/2014/main" id="{48A836F1-05EC-DE4D-B1B8-1C5131E8EA97}"/>
              </a:ext>
            </a:extLst>
          </p:cNvPr>
          <p:cNvGrpSpPr>
            <a:grpSpLocks/>
          </p:cNvGrpSpPr>
          <p:nvPr/>
        </p:nvGrpSpPr>
        <p:grpSpPr bwMode="auto">
          <a:xfrm>
            <a:off x="2323661" y="2060348"/>
            <a:ext cx="3378202" cy="1452568"/>
            <a:chOff x="595" y="1109"/>
            <a:chExt cx="2128" cy="915"/>
          </a:xfrm>
        </p:grpSpPr>
        <p:sp>
          <p:nvSpPr>
            <p:cNvPr id="166" name="Text Box 35">
              <a:extLst>
                <a:ext uri="{FF2B5EF4-FFF2-40B4-BE49-F238E27FC236}">
                  <a16:creationId xmlns="" xmlns:a16="http://schemas.microsoft.com/office/drawing/2014/main" id="{30EE02F6-A328-8D46-8C08-639ED0208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" y="1307"/>
              <a:ext cx="1202" cy="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“type” of service:</a:t>
              </a:r>
            </a:p>
            <a:p>
              <a:pPr marL="285750" marR="0" lvl="0" indent="-1651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diffserv (0:5)</a:t>
              </a:r>
            </a:p>
            <a:p>
              <a:pPr marL="285750" marR="0" lvl="0" indent="-1651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ECN (6:7)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7" name="Line 36">
              <a:extLst>
                <a:ext uri="{FF2B5EF4-FFF2-40B4-BE49-F238E27FC236}">
                  <a16:creationId xmlns="" xmlns:a16="http://schemas.microsoft.com/office/drawing/2014/main" id="{F3ABE1B3-92EF-EE40-8416-0B8D319EE9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6" y="1109"/>
              <a:ext cx="977" cy="32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8" name="Group 62">
            <a:extLst>
              <a:ext uri="{FF2B5EF4-FFF2-40B4-BE49-F238E27FC236}">
                <a16:creationId xmlns="" xmlns:a16="http://schemas.microsoft.com/office/drawing/2014/main" id="{4087126E-9476-2B47-BE4F-7A42B99BC7FE}"/>
              </a:ext>
            </a:extLst>
          </p:cNvPr>
          <p:cNvGrpSpPr>
            <a:grpSpLocks/>
          </p:cNvGrpSpPr>
          <p:nvPr/>
        </p:nvGrpSpPr>
        <p:grpSpPr bwMode="auto">
          <a:xfrm>
            <a:off x="6330509" y="2273066"/>
            <a:ext cx="4110038" cy="646113"/>
            <a:chOff x="3119" y="1243"/>
            <a:chExt cx="2589" cy="407"/>
          </a:xfrm>
        </p:grpSpPr>
        <p:sp>
          <p:nvSpPr>
            <p:cNvPr id="169" name="Text Box 25">
              <a:extLst>
                <a:ext uri="{FF2B5EF4-FFF2-40B4-BE49-F238E27FC236}">
                  <a16:creationId xmlns="" xmlns:a16="http://schemas.microsoft.com/office/drawing/2014/main" id="{512E3B71-E3FC-D34A-9DEC-E65FCBAE3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1243"/>
              <a:ext cx="1045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fragmentation/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reassembly</a:t>
              </a:r>
            </a:p>
          </p:txBody>
        </p:sp>
        <p:sp>
          <p:nvSpPr>
            <p:cNvPr id="170" name="Line 29">
              <a:extLst>
                <a:ext uri="{FF2B5EF4-FFF2-40B4-BE49-F238E27FC236}">
                  <a16:creationId xmlns="" xmlns:a16="http://schemas.microsoft.com/office/drawing/2014/main" id="{82BB5C8E-99D8-AB4F-812C-C8887D1E1E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3" y="1358"/>
              <a:ext cx="1228" cy="177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Line 41">
              <a:extLst>
                <a:ext uri="{FF2B5EF4-FFF2-40B4-BE49-F238E27FC236}">
                  <a16:creationId xmlns="" xmlns:a16="http://schemas.microsoft.com/office/drawing/2014/main" id="{179D4ED7-D84C-2F4C-8903-32B5F0AEEC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01" y="1349"/>
              <a:ext cx="381" cy="2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Line 42">
              <a:extLst>
                <a:ext uri="{FF2B5EF4-FFF2-40B4-BE49-F238E27FC236}">
                  <a16:creationId xmlns="" xmlns:a16="http://schemas.microsoft.com/office/drawing/2014/main" id="{E9410A24-EBCE-C541-89FB-7277C9EF1B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9" y="1354"/>
              <a:ext cx="1555" cy="103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3" name="Group 59">
            <a:extLst>
              <a:ext uri="{FF2B5EF4-FFF2-40B4-BE49-F238E27FC236}">
                <a16:creationId xmlns="" xmlns:a16="http://schemas.microsoft.com/office/drawing/2014/main" id="{F3E5E860-E3FA-1043-A7CA-31E59409DB3B}"/>
              </a:ext>
            </a:extLst>
          </p:cNvPr>
          <p:cNvGrpSpPr>
            <a:grpSpLocks/>
          </p:cNvGrpSpPr>
          <p:nvPr/>
        </p:nvGrpSpPr>
        <p:grpSpPr bwMode="auto">
          <a:xfrm>
            <a:off x="786919" y="3200477"/>
            <a:ext cx="3975103" cy="723900"/>
            <a:chOff x="-366" y="1483"/>
            <a:chExt cx="2504" cy="456"/>
          </a:xfrm>
        </p:grpSpPr>
        <p:sp>
          <p:nvSpPr>
            <p:cNvPr id="174" name="Text Box 22">
              <a:extLst>
                <a:ext uri="{FF2B5EF4-FFF2-40B4-BE49-F238E27FC236}">
                  <a16:creationId xmlns="" xmlns:a16="http://schemas.microsoft.com/office/drawing/2014/main" id="{F3BCF68C-C9A4-A848-9F65-D9DA862AA8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66" y="1551"/>
              <a:ext cx="2144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TTL: remaining  max hops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(decremented at each router)</a:t>
              </a:r>
            </a:p>
          </p:txBody>
        </p:sp>
        <p:sp>
          <p:nvSpPr>
            <p:cNvPr id="175" name="Line 48">
              <a:extLst>
                <a:ext uri="{FF2B5EF4-FFF2-40B4-BE49-F238E27FC236}">
                  <a16:creationId xmlns="" xmlns:a16="http://schemas.microsoft.com/office/drawing/2014/main" id="{E8C2FC41-FC21-EB4A-81CC-6A4E388FF3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3" y="1483"/>
              <a:ext cx="385" cy="277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10A5FB9C-8877-CF48-9B4B-0001510B0996}"/>
              </a:ext>
            </a:extLst>
          </p:cNvPr>
          <p:cNvGrpSpPr/>
          <p:nvPr/>
        </p:nvGrpSpPr>
        <p:grpSpPr>
          <a:xfrm>
            <a:off x="1134317" y="4446414"/>
            <a:ext cx="2823045" cy="2083632"/>
            <a:chOff x="419725" y="4467070"/>
            <a:chExt cx="2823045" cy="2083632"/>
          </a:xfrm>
        </p:grpSpPr>
        <p:sp>
          <p:nvSpPr>
            <p:cNvPr id="179" name="Rectangle 54">
              <a:extLst>
                <a:ext uri="{FF2B5EF4-FFF2-40B4-BE49-F238E27FC236}">
                  <a16:creationId xmlns="" xmlns:a16="http://schemas.microsoft.com/office/drawing/2014/main" id="{F3422680-BA18-B141-8049-75179551B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293" y="4954788"/>
              <a:ext cx="2805477" cy="1465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223838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A3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 bytes of TCP</a:t>
              </a:r>
            </a:p>
            <a:p>
              <a:pPr marL="342900" marR="0" lvl="0" indent="-223838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A3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 bytes of IP</a:t>
              </a:r>
            </a:p>
            <a:p>
              <a:pPr marL="342900" marR="0" lvl="0" indent="-223838" algn="l" defTabSz="914400" rtl="0" eaLnBrk="0" fontAlgn="base" latinLnBrk="0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A3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= 40 bytes + app layer overhead for TCP+IP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="" xmlns:a16="http://schemas.microsoft.com/office/drawing/2014/main" id="{A5B2B29C-1437-FE43-B7BB-737B9DE7CB08}"/>
                </a:ext>
              </a:extLst>
            </p:cNvPr>
            <p:cNvSpPr/>
            <p:nvPr/>
          </p:nvSpPr>
          <p:spPr>
            <a:xfrm>
              <a:off x="419725" y="4751882"/>
              <a:ext cx="2683239" cy="1798820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A07067E8-C930-4E4E-82B1-DB76C7299991}"/>
                </a:ext>
              </a:extLst>
            </p:cNvPr>
            <p:cNvSpPr txBox="1"/>
            <p:nvPr/>
          </p:nvSpPr>
          <p:spPr>
            <a:xfrm>
              <a:off x="599607" y="4467070"/>
              <a:ext cx="1561325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overhead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B25CB83E-CD83-0142-A8BA-DD13CD2B40A6}"/>
              </a:ext>
            </a:extLst>
          </p:cNvPr>
          <p:cNvGrpSpPr/>
          <p:nvPr/>
        </p:nvGrpSpPr>
        <p:grpSpPr>
          <a:xfrm>
            <a:off x="7719934" y="4348085"/>
            <a:ext cx="3971903" cy="646113"/>
            <a:chOff x="7719934" y="4348085"/>
            <a:chExt cx="3971903" cy="646113"/>
          </a:xfrm>
        </p:grpSpPr>
        <p:sp>
          <p:nvSpPr>
            <p:cNvPr id="177" name="Text Box 52">
              <a:extLst>
                <a:ext uri="{FF2B5EF4-FFF2-40B4-BE49-F238E27FC236}">
                  <a16:creationId xmlns="" xmlns:a16="http://schemas.microsoft.com/office/drawing/2014/main" id="{BF8FA8D1-8EB5-EC42-B60C-8F8686E92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8774" y="4348085"/>
              <a:ext cx="2913063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e.g., timestamp, record route taken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="" xmlns:a16="http://schemas.microsoft.com/office/drawing/2014/main" id="{A07119CE-E347-CD4F-96FC-B870BFBD3116}"/>
                </a:ext>
              </a:extLst>
            </p:cNvPr>
            <p:cNvCxnSpPr/>
            <p:nvPr/>
          </p:nvCxnSpPr>
          <p:spPr>
            <a:xfrm>
              <a:off x="7719934" y="4542020"/>
              <a:ext cx="98935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="" xmlns:a16="http://schemas.microsoft.com/office/drawing/2014/main" id="{DE02EBEC-D750-1C46-BDD3-4EC55628DEFF}"/>
              </a:ext>
            </a:extLst>
          </p:cNvPr>
          <p:cNvGrpSpPr/>
          <p:nvPr/>
        </p:nvGrpSpPr>
        <p:grpSpPr>
          <a:xfrm>
            <a:off x="7739650" y="3384606"/>
            <a:ext cx="3971903" cy="369332"/>
            <a:chOff x="7719934" y="4348085"/>
            <a:chExt cx="3971903" cy="369332"/>
          </a:xfrm>
        </p:grpSpPr>
        <p:sp>
          <p:nvSpPr>
            <p:cNvPr id="67" name="Text Box 52">
              <a:extLst>
                <a:ext uri="{FF2B5EF4-FFF2-40B4-BE49-F238E27FC236}">
                  <a16:creationId xmlns="" xmlns:a16="http://schemas.microsoft.com/office/drawing/2014/main" id="{3CBC8EE1-4E86-AC49-A4AC-FB712E2BE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8774" y="4348085"/>
              <a:ext cx="29130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32-bit source IP address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="" xmlns:a16="http://schemas.microsoft.com/office/drawing/2014/main" id="{8DD646F6-F588-FB47-AA50-B7AAB81C8AE9}"/>
                </a:ext>
              </a:extLst>
            </p:cNvPr>
            <p:cNvCxnSpPr/>
            <p:nvPr/>
          </p:nvCxnSpPr>
          <p:spPr>
            <a:xfrm>
              <a:off x="7719934" y="4542020"/>
              <a:ext cx="98935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="" xmlns:a16="http://schemas.microsoft.com/office/drawing/2014/main" id="{9D96639F-797D-284B-91E2-801FDB799E1D}"/>
              </a:ext>
            </a:extLst>
          </p:cNvPr>
          <p:cNvGrpSpPr/>
          <p:nvPr/>
        </p:nvGrpSpPr>
        <p:grpSpPr>
          <a:xfrm>
            <a:off x="7721569" y="3862471"/>
            <a:ext cx="4181130" cy="369332"/>
            <a:chOff x="7719934" y="4348085"/>
            <a:chExt cx="4181130" cy="369332"/>
          </a:xfrm>
        </p:grpSpPr>
        <p:sp>
          <p:nvSpPr>
            <p:cNvPr id="70" name="Text Box 52">
              <a:extLst>
                <a:ext uri="{FF2B5EF4-FFF2-40B4-BE49-F238E27FC236}">
                  <a16:creationId xmlns="" xmlns:a16="http://schemas.microsoft.com/office/drawing/2014/main" id="{E0B8AC9F-9175-CD46-93B6-7B6E6B487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8774" y="4348085"/>
              <a:ext cx="312229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32-bit destination IP address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="" xmlns:a16="http://schemas.microsoft.com/office/drawing/2014/main" id="{4120CCDA-7A8F-1344-9A9B-52EEE045034B}"/>
                </a:ext>
              </a:extLst>
            </p:cNvPr>
            <p:cNvCxnSpPr/>
            <p:nvPr/>
          </p:nvCxnSpPr>
          <p:spPr>
            <a:xfrm>
              <a:off x="7719934" y="4542020"/>
              <a:ext cx="98935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="" xmlns:a16="http://schemas.microsoft.com/office/drawing/2014/main" id="{9E74BE6E-3A51-9848-A524-4B01A8AE7030}"/>
              </a:ext>
            </a:extLst>
          </p:cNvPr>
          <p:cNvGrpSpPr/>
          <p:nvPr/>
        </p:nvGrpSpPr>
        <p:grpSpPr>
          <a:xfrm>
            <a:off x="7737066" y="2920899"/>
            <a:ext cx="3971903" cy="369332"/>
            <a:chOff x="7719934" y="4348085"/>
            <a:chExt cx="3971903" cy="369332"/>
          </a:xfrm>
        </p:grpSpPr>
        <p:sp>
          <p:nvSpPr>
            <p:cNvPr id="73" name="Text Box 52">
              <a:extLst>
                <a:ext uri="{FF2B5EF4-FFF2-40B4-BE49-F238E27FC236}">
                  <a16:creationId xmlns="" xmlns:a16="http://schemas.microsoft.com/office/drawing/2014/main" id="{A7B0ED1A-7B94-1F43-8F94-529E2D993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8774" y="4348085"/>
              <a:ext cx="29130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 checksum</a:t>
              </a: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="" xmlns:a16="http://schemas.microsoft.com/office/drawing/2014/main" id="{FD6BF316-20F5-9D47-88E4-912E1DFB3A16}"/>
                </a:ext>
              </a:extLst>
            </p:cNvPr>
            <p:cNvCxnSpPr/>
            <p:nvPr/>
          </p:nvCxnSpPr>
          <p:spPr>
            <a:xfrm>
              <a:off x="7719934" y="4542020"/>
              <a:ext cx="98935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1FEAE828-7047-3147-A47C-B181088247F3}"/>
              </a:ext>
            </a:extLst>
          </p:cNvPr>
          <p:cNvGrpSpPr/>
          <p:nvPr/>
        </p:nvGrpSpPr>
        <p:grpSpPr>
          <a:xfrm>
            <a:off x="8948060" y="1758043"/>
            <a:ext cx="2808718" cy="4833257"/>
            <a:chOff x="9209324" y="1834243"/>
            <a:chExt cx="2808718" cy="4833257"/>
          </a:xfrm>
        </p:grpSpPr>
        <p:cxnSp>
          <p:nvCxnSpPr>
            <p:cNvPr id="75" name="Straight Arrow Connector 74">
              <a:extLst>
                <a:ext uri="{FF2B5EF4-FFF2-40B4-BE49-F238E27FC236}">
                  <a16:creationId xmlns="" xmlns:a16="http://schemas.microsoft.com/office/drawing/2014/main" id="{A63DAC61-3FDE-8840-9F16-FD8E18BF0966}"/>
                </a:ext>
              </a:extLst>
            </p:cNvPr>
            <p:cNvCxnSpPr/>
            <p:nvPr/>
          </p:nvCxnSpPr>
          <p:spPr>
            <a:xfrm>
              <a:off x="11097988" y="1834243"/>
              <a:ext cx="0" cy="4833257"/>
            </a:xfrm>
            <a:prstGeom prst="straightConnector1">
              <a:avLst/>
            </a:prstGeom>
            <a:ln w="44450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="" xmlns:a16="http://schemas.microsoft.com/office/drawing/2014/main" id="{3D5FB8E8-CA23-894F-92FD-40ED972CF645}"/>
                </a:ext>
              </a:extLst>
            </p:cNvPr>
            <p:cNvCxnSpPr/>
            <p:nvPr/>
          </p:nvCxnSpPr>
          <p:spPr>
            <a:xfrm>
              <a:off x="10823536" y="1839686"/>
              <a:ext cx="600364" cy="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="" xmlns:a16="http://schemas.microsoft.com/office/drawing/2014/main" id="{8B2F5C4B-1186-4346-9A50-C9616F8D8E9F}"/>
                </a:ext>
              </a:extLst>
            </p:cNvPr>
            <p:cNvCxnSpPr/>
            <p:nvPr/>
          </p:nvCxnSpPr>
          <p:spPr>
            <a:xfrm>
              <a:off x="10828978" y="6645729"/>
              <a:ext cx="600364" cy="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="" xmlns:a16="http://schemas.microsoft.com/office/drawing/2014/main" id="{BFCABC9A-B0D4-C84D-B341-359EA25A99AD}"/>
                </a:ext>
              </a:extLst>
            </p:cNvPr>
            <p:cNvSpPr txBox="1"/>
            <p:nvPr/>
          </p:nvSpPr>
          <p:spPr>
            <a:xfrm>
              <a:off x="9209324" y="3788229"/>
              <a:ext cx="2808718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Maximum length: 64K bytes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Typically: 1500 bytes or less</a:t>
              </a:r>
            </a:p>
          </p:txBody>
        </p:sp>
      </p:grpSp>
      <p:sp>
        <p:nvSpPr>
          <p:cNvPr id="79" name="Slide Number Placeholder 3">
            <a:extLst>
              <a:ext uri="{FF2B5EF4-FFF2-40B4-BE49-F238E27FC236}">
                <a16:creationId xmlns="" xmlns:a16="http://schemas.microsoft.com/office/drawing/2014/main" id="{4475E451-EA6C-E04C-BC05-BA34B2ECE74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10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739</Words>
  <Application>Microsoft Macintosh PowerPoint</Application>
  <PresentationFormat>Widescreen</PresentationFormat>
  <Paragraphs>187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ＭＳ Ｐゴシック</vt:lpstr>
      <vt:lpstr>Tahoma</vt:lpstr>
      <vt:lpstr>Wingdings</vt:lpstr>
      <vt:lpstr>Office Theme</vt:lpstr>
      <vt:lpstr>IT694 Computer Networks</vt:lpstr>
      <vt:lpstr>Switching fabrics</vt:lpstr>
      <vt:lpstr>Switching fabrics</vt:lpstr>
      <vt:lpstr>Switching via memory</vt:lpstr>
      <vt:lpstr>Switching via a bus</vt:lpstr>
      <vt:lpstr>Switching via interconnection network</vt:lpstr>
      <vt:lpstr>Input port queuing</vt:lpstr>
      <vt:lpstr>Output port queuing</vt:lpstr>
      <vt:lpstr>Output port queuing</vt:lpstr>
      <vt:lpstr>Network Layer: Internet</vt:lpstr>
      <vt:lpstr>IP Datagram format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</dc:title>
  <dc:creator>Microsoft Office User</dc:creator>
  <cp:lastModifiedBy>Microsoft Office User</cp:lastModifiedBy>
  <cp:revision>1</cp:revision>
  <dcterms:created xsi:type="dcterms:W3CDTF">2026-03-11T04:13:43Z</dcterms:created>
  <dcterms:modified xsi:type="dcterms:W3CDTF">2026-03-11T04:14:48Z</dcterms:modified>
</cp:coreProperties>
</file>