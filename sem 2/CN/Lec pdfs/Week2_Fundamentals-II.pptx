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2" name="Google Shape;362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0" name="Google Shape;400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7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7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</a:t>
            </a:r>
            <a:endParaRPr lang="en-US"/>
          </a:p>
        </p:txBody>
      </p:sp>
      <p:sp>
        <p:nvSpPr>
          <p:cNvPr id="89" name="Google Shape;89;p1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Fundamentals-II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"/>
          <p:cNvCxnSpPr/>
          <p:nvPr/>
        </p:nvCxnSpPr>
        <p:spPr>
          <a:xfrm>
            <a:off x="5779371" y="4596717"/>
            <a:ext cx="1933575" cy="95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6" name="Google Shape;96;p2"/>
          <p:cNvGrpSpPr/>
          <p:nvPr/>
        </p:nvGrpSpPr>
        <p:grpSpPr>
          <a:xfrm>
            <a:off x="4584883" y="4186185"/>
            <a:ext cx="1511352" cy="863670"/>
            <a:chOff x="7493876" y="2774731"/>
            <a:chExt cx="1481958" cy="894622"/>
          </a:xfrm>
        </p:grpSpPr>
        <p:sp>
          <p:nvSpPr>
            <p:cNvPr id="97" name="Google Shape;97;p2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" name="Google Shape;99;p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4" name="Google Shape;104;p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How do packet delay and loss occur?</a:t>
            </a:r>
            <a:endParaRPr sz="4400"/>
          </a:p>
        </p:txBody>
      </p:sp>
      <p:sp>
        <p:nvSpPr>
          <p:cNvPr id="105" name="Google Shape;105;p2"/>
          <p:cNvSpPr txBox="1"/>
          <p:nvPr>
            <p:ph type="body" idx="1"/>
          </p:nvPr>
        </p:nvSpPr>
        <p:spPr>
          <a:xfrm>
            <a:off x="825266" y="1253331"/>
            <a:ext cx="1113754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packets </a:t>
            </a:r>
            <a:r>
              <a:rPr lang="en-US" i="1">
                <a:solidFill>
                  <a:srgbClr val="C00000"/>
                </a:solidFill>
              </a:rPr>
              <a:t>queue</a:t>
            </a:r>
            <a:r>
              <a:rPr lang="en-US"/>
              <a:t> in router buffers, waiting for turn for transmission</a:t>
            </a:r>
            <a:endParaRPr lang="en-US"/>
          </a:p>
          <a:p>
            <a:pPr marL="751205" lvl="1" indent="-2781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queue length grows when arrival rate to link (temporarily) exceeds output link capacity </a:t>
            </a:r>
            <a:endParaRPr lang="en-US"/>
          </a:p>
          <a:p>
            <a:pPr marL="408305" lvl="0" indent="-2781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packet </a:t>
            </a:r>
            <a:r>
              <a:rPr lang="en-US" i="1">
                <a:solidFill>
                  <a:srgbClr val="CC0000"/>
                </a:solidFill>
              </a:rPr>
              <a:t>loss</a:t>
            </a:r>
            <a:r>
              <a:rPr lang="en-US">
                <a:solidFill>
                  <a:srgbClr val="CC0000"/>
                </a:solidFill>
              </a:rPr>
              <a:t> </a:t>
            </a:r>
            <a:r>
              <a:rPr lang="en-US"/>
              <a:t>occurs when memory to hold queued packets fills up</a:t>
            </a:r>
            <a:endParaRPr lang="en-US"/>
          </a:p>
        </p:txBody>
      </p:sp>
      <p:cxnSp>
        <p:nvCxnSpPr>
          <p:cNvPr id="106" name="Google Shape;106;p2"/>
          <p:cNvCxnSpPr/>
          <p:nvPr/>
        </p:nvCxnSpPr>
        <p:spPr>
          <a:xfrm>
            <a:off x="3855321" y="4177617"/>
            <a:ext cx="741362" cy="35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2"/>
          <p:cNvSpPr/>
          <p:nvPr/>
        </p:nvSpPr>
        <p:spPr>
          <a:xfrm>
            <a:off x="5445996" y="4468129"/>
            <a:ext cx="147637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601571" y="4468129"/>
            <a:ext cx="147637" cy="200025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736508" y="4406217"/>
            <a:ext cx="147638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 rot="10800000" flipH="1">
            <a:off x="3853733" y="4717367"/>
            <a:ext cx="735013" cy="55086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2"/>
          <p:cNvSpPr/>
          <p:nvPr/>
        </p:nvSpPr>
        <p:spPr>
          <a:xfrm>
            <a:off x="4393483" y="4368117"/>
            <a:ext cx="147638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>
            <a:off x="4344271" y="4304617"/>
            <a:ext cx="21113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3" name="Google Shape;113;p2"/>
          <p:cNvSpPr txBox="1"/>
          <p:nvPr/>
        </p:nvSpPr>
        <p:spPr>
          <a:xfrm>
            <a:off x="3021677" y="3861704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3094654" y="4814204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3128246" y="3861704"/>
            <a:ext cx="779462" cy="679450"/>
            <a:chOff x="-44" y="1473"/>
            <a:chExt cx="981" cy="1105"/>
          </a:xfrm>
        </p:grpSpPr>
        <p:pic>
          <p:nvPicPr>
            <p:cNvPr id="116" name="Google Shape;116;p2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2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8" name="Google Shape;118;p2" descr="desktop_computer_stylized_medium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flipH="1">
            <a:off x="3223290" y="4868179"/>
            <a:ext cx="779462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/>
          <p:nvPr/>
        </p:nvSpPr>
        <p:spPr>
          <a:xfrm flipH="1">
            <a:off x="3555416" y="4933357"/>
            <a:ext cx="379004" cy="311133"/>
          </a:xfrm>
          <a:custGeom>
            <a:avLst/>
            <a:gdLst/>
            <a:ahLst/>
            <a:cxnLst/>
            <a:rect l="l" t="t" r="r" b="b"/>
            <a:pathLst>
              <a:path w="356" h="368" extrusionOk="0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956921" y="5023754"/>
            <a:ext cx="139700" cy="185738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2"/>
          <p:cNvCxnSpPr/>
          <p:nvPr/>
        </p:nvCxnSpPr>
        <p:spPr>
          <a:xfrm rot="10800000" flipH="1">
            <a:off x="4131546" y="4993592"/>
            <a:ext cx="220662" cy="1619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2"/>
          <p:cNvSpPr/>
          <p:nvPr/>
        </p:nvSpPr>
        <p:spPr>
          <a:xfrm>
            <a:off x="5293596" y="4469717"/>
            <a:ext cx="147637" cy="2000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5144371" y="4468129"/>
            <a:ext cx="147637" cy="2000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991971" y="4471304"/>
            <a:ext cx="147637" cy="2000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2"/>
          <p:cNvGrpSpPr/>
          <p:nvPr/>
        </p:nvGrpSpPr>
        <p:grpSpPr>
          <a:xfrm>
            <a:off x="4277596" y="3137806"/>
            <a:ext cx="6821490" cy="1239838"/>
            <a:chOff x="1279" y="2225"/>
            <a:chExt cx="4297" cy="781"/>
          </a:xfrm>
        </p:grpSpPr>
        <p:sp>
          <p:nvSpPr>
            <p:cNvPr id="126" name="Google Shape;126;p2"/>
            <p:cNvSpPr txBox="1"/>
            <p:nvPr/>
          </p:nvSpPr>
          <p:spPr>
            <a:xfrm>
              <a:off x="1279" y="2225"/>
              <a:ext cx="4297" cy="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being transmitted </a:t>
              </a:r>
              <a:r>
                <a:rPr lang="en-US" sz="24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(transmission delay)</a:t>
              </a:r>
              <a:endPara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7" name="Google Shape;127;p2"/>
            <p:cNvCxnSpPr/>
            <p:nvPr/>
          </p:nvCxnSpPr>
          <p:spPr>
            <a:xfrm flipH="1">
              <a:off x="2259" y="2462"/>
              <a:ext cx="836" cy="5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8" name="Google Shape;128;p2"/>
          <p:cNvGrpSpPr/>
          <p:nvPr/>
        </p:nvGrpSpPr>
        <p:grpSpPr>
          <a:xfrm>
            <a:off x="5550773" y="4742762"/>
            <a:ext cx="6056319" cy="896936"/>
            <a:chOff x="2103" y="3214"/>
            <a:chExt cx="3815" cy="565"/>
          </a:xfrm>
        </p:grpSpPr>
        <p:sp>
          <p:nvSpPr>
            <p:cNvPr id="129" name="Google Shape;129;p2"/>
            <p:cNvSpPr txBox="1"/>
            <p:nvPr/>
          </p:nvSpPr>
          <p:spPr>
            <a:xfrm>
              <a:off x="2530" y="3490"/>
              <a:ext cx="3388" cy="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packets in buffers</a:t>
              </a:r>
              <a:r>
                <a:rPr lang="en-US" sz="24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(queueing delay)</a:t>
              </a:r>
              <a:endPara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" name="Google Shape;130;p2"/>
            <p:cNvCxnSpPr/>
            <p:nvPr/>
          </p:nvCxnSpPr>
          <p:spPr>
            <a:xfrm rot="10800000">
              <a:off x="2103" y="3214"/>
              <a:ext cx="471" cy="40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1" name="Google Shape;131;p2"/>
          <p:cNvGrpSpPr/>
          <p:nvPr/>
        </p:nvGrpSpPr>
        <p:grpSpPr>
          <a:xfrm>
            <a:off x="4344035" y="4693285"/>
            <a:ext cx="5876879" cy="1947322"/>
            <a:chOff x="1421" y="3190"/>
            <a:chExt cx="3672" cy="1076"/>
          </a:xfrm>
        </p:grpSpPr>
        <p:cxnSp>
          <p:nvCxnSpPr>
            <p:cNvPr id="132" name="Google Shape;132;p2"/>
            <p:cNvCxnSpPr/>
            <p:nvPr/>
          </p:nvCxnSpPr>
          <p:spPr>
            <a:xfrm rot="10800000" flipH="1">
              <a:off x="1793" y="3190"/>
              <a:ext cx="110" cy="63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" name="Google Shape;133;p2"/>
            <p:cNvSpPr txBox="1"/>
            <p:nvPr/>
          </p:nvSpPr>
          <p:spPr>
            <a:xfrm>
              <a:off x="1421" y="3819"/>
              <a:ext cx="3672" cy="4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free (available) buffers: arriving packets 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dropped (</a:t>
              </a:r>
              <a:r>
                <a:rPr lang="en-US" sz="24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loss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if no free buffers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7723012" y="4224627"/>
            <a:ext cx="1511352" cy="863670"/>
            <a:chOff x="7493876" y="2774731"/>
            <a:chExt cx="1481958" cy="894622"/>
          </a:xfrm>
        </p:grpSpPr>
        <p:sp>
          <p:nvSpPr>
            <p:cNvPr id="135" name="Google Shape;135;p2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7" name="Google Shape;137;p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8" name="Google Shape;138;p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2"/>
          <p:cNvSpPr txBox="1"/>
          <p:nvPr>
            <p:ph type="sldNum" idx="12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Introduction: 1-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3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149" name="Google Shape;149;p3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1" name="Google Shape;151;p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2" name="Google Shape;152;p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6" name="Google Shape;156;p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sp>
        <p:nvSpPr>
          <p:cNvPr id="157" name="Google Shape;157;p3"/>
          <p:cNvSpPr txBox="1"/>
          <p:nvPr/>
        </p:nvSpPr>
        <p:spPr>
          <a:xfrm>
            <a:off x="1188085" y="4604385"/>
            <a:ext cx="4055110" cy="183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marR="0" lvl="0" indent="-295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 b="0" i="0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nodal processing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9250" marR="0" lvl="0" indent="-23304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bit errors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9250" marR="0" lvl="0" indent="-23304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output link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9250" marR="0" lvl="0" indent="-23304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 &lt; microsecs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5243195" y="4790440"/>
            <a:ext cx="5706110" cy="1652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4805" marR="0" lvl="0" indent="-34480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 b="0" i="0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queueing delay</a:t>
            </a:r>
            <a:endParaRPr lang="en-US" sz="28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waiting at output link for transmission 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depends on congestion level of router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3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" name="Google Shape;160;p3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3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" name="Google Shape;164;p3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5303520" y="1576070"/>
            <a:ext cx="1848485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3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7" name="Google Shape;167;p3"/>
          <p:cNvSpPr txBox="1"/>
          <p:nvPr/>
        </p:nvSpPr>
        <p:spPr>
          <a:xfrm>
            <a:off x="2834005" y="2729865"/>
            <a:ext cx="1789430" cy="680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3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9" name="Google Shape;169;p3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0" name="Google Shape;170;p3"/>
          <p:cNvSpPr txBox="1"/>
          <p:nvPr/>
        </p:nvSpPr>
        <p:spPr>
          <a:xfrm>
            <a:off x="4705350" y="2957195"/>
            <a:ext cx="150749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3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3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3"/>
          <p:cNvCxnSpPr/>
          <p:nvPr/>
        </p:nvCxnSpPr>
        <p:spPr>
          <a:xfrm rot="10800000" flipH="1">
            <a:off x="2619131" y="2323384"/>
            <a:ext cx="735346" cy="54993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3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3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Google Shape;176;p3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3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id="179" name="Google Shape;179;p3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3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id="182" name="Google Shape;182;p3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3"/>
          <p:cNvSpPr txBox="1"/>
          <p:nvPr/>
        </p:nvSpPr>
        <p:spPr>
          <a:xfrm>
            <a:off x="2833370" y="1146175"/>
            <a:ext cx="1972945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3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3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3"/>
          <p:cNvCxnSpPr/>
          <p:nvPr/>
        </p:nvCxnSpPr>
        <p:spPr>
          <a:xfrm rot="10800000" flipH="1">
            <a:off x="2897771" y="2599885"/>
            <a:ext cx="219680" cy="1619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3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9" name="Google Shape;189;p3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190" name="Google Shape;190;p3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2" name="Google Shape;192;p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3" name="Google Shape;193;p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7" name="Google Shape;197;p3"/>
          <p:cNvSpPr txBox="1"/>
          <p:nvPr>
            <p:ph type="sldNum" idx="12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Introduction: 1-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4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204" name="Google Shape;204;p4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6" name="Google Shape;206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7" name="Google Shape;207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1" name="Google Shape;211;p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cxnSp>
        <p:nvCxnSpPr>
          <p:cNvPr id="212" name="Google Shape;212;p4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" name="Google Shape;213;p4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4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" name="Google Shape;217;p4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4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" name="Google Shape;220;p4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4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" name="Google Shape;222;p4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3" name="Google Shape;223;p4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4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4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 b="0" i="0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4"/>
          <p:cNvCxnSpPr/>
          <p:nvPr/>
        </p:nvCxnSpPr>
        <p:spPr>
          <a:xfrm rot="10800000" flipH="1">
            <a:off x="2619131" y="2323384"/>
            <a:ext cx="735346" cy="54993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7" name="Google Shape;227;p4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4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" name="Google Shape;229;p4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p4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id="232" name="Google Shape;232;p4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4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id="235" name="Google Shape;235;p4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4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 lang="en-US" sz="24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4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" name="Google Shape;239;p4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4"/>
          <p:cNvCxnSpPr/>
          <p:nvPr/>
        </p:nvCxnSpPr>
        <p:spPr>
          <a:xfrm rot="10800000" flipH="1">
            <a:off x="2897771" y="2599885"/>
            <a:ext cx="219680" cy="1619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" name="Google Shape;241;p4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42" name="Google Shape;242;p4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243" name="Google Shape;243;p4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" name="Google Shape;245;p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6" name="Google Shape;246;p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0" name="Google Shape;250;p4"/>
          <p:cNvSpPr/>
          <p:nvPr/>
        </p:nvSpPr>
        <p:spPr>
          <a:xfrm>
            <a:off x="1231746" y="4297060"/>
            <a:ext cx="4380277" cy="207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 b="0" i="0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transmission delay:</a:t>
            </a:r>
            <a:endParaRPr lang="en-US" sz="28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packet length (bits) 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link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rate (bps)</a:t>
            </a:r>
            <a:endParaRPr lang="en-US" sz="2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400" b="0" i="1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lang="en-US" sz="24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L/R</a:t>
            </a:r>
            <a:endParaRPr lang="en-US" sz="2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6527008" y="4304008"/>
            <a:ext cx="5147743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 b="0" i="0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propagation delay:</a:t>
            </a:r>
            <a:endParaRPr sz="18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length of physical link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propagation speed (~2x10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m/sec)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400" b="0" i="0" u="none" strike="noStrike" cap="none" baseline="-25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en-US" sz="2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4"/>
          <p:cNvGrpSpPr/>
          <p:nvPr/>
        </p:nvGrpSpPr>
        <p:grpSpPr>
          <a:xfrm>
            <a:off x="1211117" y="5494308"/>
            <a:ext cx="7076415" cy="1127327"/>
            <a:chOff x="1211117" y="5568048"/>
            <a:chExt cx="7076415" cy="1127327"/>
          </a:xfrm>
        </p:grpSpPr>
        <p:sp>
          <p:nvSpPr>
            <p:cNvPr id="253" name="Google Shape;253;p4"/>
            <p:cNvSpPr txBox="1"/>
            <p:nvPr/>
          </p:nvSpPr>
          <p:spPr>
            <a:xfrm>
              <a:off x="3836662" y="5864378"/>
              <a:ext cx="210522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lang="en-US" sz="2400" b="0" i="1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lang="en-US" sz="2400" b="0" i="0" u="none" strike="noStrike" cap="none" baseline="-25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</a:t>
              </a:r>
              <a:r>
                <a:rPr lang="en-US" sz="2000" b="0" i="0" u="none" strike="noStrike" cap="none" baseline="-25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</a:t>
              </a:r>
              <a:r>
                <a:rPr lang="en-US" sz="2400" b="0" i="1" u="none" strike="noStrike" cap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lang="en-US" sz="2400" b="0" i="0" u="none" strike="noStrike" cap="none" baseline="-25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prop</a:t>
              </a:r>
              <a:endParaRPr lang="en-US" sz="2400" b="0" i="0" u="none" strike="noStrike" cap="none" baseline="-25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very 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1211117" y="5568048"/>
              <a:ext cx="1869375" cy="500634"/>
            </a:xfrm>
            <a:prstGeom prst="ellipse">
              <a:avLst/>
            </a:prstGeom>
            <a:noFill/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6418157" y="5570209"/>
              <a:ext cx="1869375" cy="500634"/>
            </a:xfrm>
            <a:prstGeom prst="ellipse">
              <a:avLst/>
            </a:prstGeom>
            <a:noFill/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6" name="Google Shape;256;p4"/>
            <p:cNvCxnSpPr>
              <a:stCxn id="255" idx="2"/>
            </p:cNvCxnSpPr>
            <p:nvPr/>
          </p:nvCxnSpPr>
          <p:spPr>
            <a:xfrm flipH="1">
              <a:off x="5393057" y="5820526"/>
              <a:ext cx="1025100" cy="248100"/>
            </a:xfrm>
            <a:prstGeom prst="straightConnector1">
              <a:avLst/>
            </a:prstGeom>
            <a:noFill/>
            <a:ln w="95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7" name="Google Shape;257;p4"/>
            <p:cNvCxnSpPr/>
            <p:nvPr/>
          </p:nvCxnSpPr>
          <p:spPr>
            <a:xfrm>
              <a:off x="3097924" y="5820526"/>
              <a:ext cx="940801" cy="248156"/>
            </a:xfrm>
            <a:prstGeom prst="straightConnector1">
              <a:avLst/>
            </a:prstGeom>
            <a:noFill/>
            <a:ln w="95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58" name="Google Shape;258;p4"/>
          <p:cNvSpPr txBox="1"/>
          <p:nvPr>
            <p:ph type="sldNum" idx="12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Introduction: 1-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Packet q</a:t>
            </a:r>
            <a:r>
              <a:rPr lang="en-US" sz="4400"/>
              <a:t>ueueing delay (revisited)</a:t>
            </a:r>
            <a:endParaRPr sz="4400"/>
          </a:p>
        </p:txBody>
      </p:sp>
      <p:sp>
        <p:nvSpPr>
          <p:cNvPr id="265" name="Google Shape;265;p5"/>
          <p:cNvSpPr txBox="1"/>
          <p:nvPr/>
        </p:nvSpPr>
        <p:spPr>
          <a:xfrm>
            <a:off x="920115" y="1385570"/>
            <a:ext cx="638429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30505" marR="0" lvl="0" indent="-23050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packet arrival rate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0505" marR="0" lvl="0" indent="-23050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L: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 length (bits)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bandwidth (bit transmission rate)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932543" y="4263423"/>
            <a:ext cx="5975117" cy="193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1775" marR="0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~ 0: avg. queueing delay small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 1: avg. queueing delay large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1775" marR="0" lvl="0" indent="-231775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1: more “work” arriving  is more than can be serviced -  average delay infinite!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7" name="Google Shape;267;p5"/>
          <p:cNvGrpSpPr/>
          <p:nvPr/>
        </p:nvGrpSpPr>
        <p:grpSpPr>
          <a:xfrm>
            <a:off x="8407167" y="4367394"/>
            <a:ext cx="2782888" cy="2261260"/>
            <a:chOff x="8407167" y="4367394"/>
            <a:chExt cx="2782888" cy="2261260"/>
          </a:xfrm>
        </p:grpSpPr>
        <p:pic>
          <p:nvPicPr>
            <p:cNvPr id="268" name="Google Shape;268;p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5"/>
            <p:cNvSpPr txBox="1"/>
            <p:nvPr/>
          </p:nvSpPr>
          <p:spPr>
            <a:xfrm>
              <a:off x="9849087" y="4367394"/>
              <a:ext cx="954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~ 0</a:t>
              </a:r>
              <a:endPara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5"/>
            <p:cNvSpPr txBox="1"/>
            <p:nvPr/>
          </p:nvSpPr>
          <p:spPr>
            <a:xfrm>
              <a:off x="9643830" y="6259322"/>
              <a:ext cx="10246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-&gt; 1</a:t>
              </a:r>
              <a:endParaRPr lang="en-US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5"/>
          <p:cNvGrpSpPr/>
          <p:nvPr/>
        </p:nvGrpSpPr>
        <p:grpSpPr>
          <a:xfrm>
            <a:off x="8001634" y="1103085"/>
            <a:ext cx="3246937" cy="2992869"/>
            <a:chOff x="7232377" y="708301"/>
            <a:chExt cx="3769920" cy="3402168"/>
          </a:xfrm>
        </p:grpSpPr>
        <p:sp>
          <p:nvSpPr>
            <p:cNvPr id="273" name="Google Shape;273;p5"/>
            <p:cNvSpPr/>
            <p:nvPr/>
          </p:nvSpPr>
          <p:spPr>
            <a:xfrm>
              <a:off x="7381311" y="3605438"/>
              <a:ext cx="2911022" cy="504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traffic intensity = </a:t>
              </a:r>
              <a:r>
                <a:rPr lang="en-US" sz="1600" b="0" i="1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La/R</a:t>
              </a:r>
              <a:endParaRPr lang="en-US" sz="1600" b="0" i="1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 rot="-5400000">
              <a:off x="6114777" y="2075824"/>
              <a:ext cx="2740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average  queueing delay</a:t>
              </a:r>
              <a:endParaRPr lang="en-US" sz="16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5" name="Google Shape;275;p5"/>
            <p:cNvCxnSpPr/>
            <p:nvPr/>
          </p:nvCxnSpPr>
          <p:spPr>
            <a:xfrm>
              <a:off x="7616120" y="3540100"/>
              <a:ext cx="3386177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6" name="Google Shape;276;p5"/>
            <p:cNvCxnSpPr/>
            <p:nvPr/>
          </p:nvCxnSpPr>
          <p:spPr>
            <a:xfrm rot="10800000">
              <a:off x="7601372" y="1041103"/>
              <a:ext cx="0" cy="250593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77" name="Google Shape;277;p5"/>
            <p:cNvSpPr/>
            <p:nvPr/>
          </p:nvSpPr>
          <p:spPr>
            <a:xfrm>
              <a:off x="7616120" y="708301"/>
              <a:ext cx="2743200" cy="2816942"/>
            </a:xfrm>
            <a:custGeom>
              <a:avLst/>
              <a:gdLst/>
              <a:ahLst/>
              <a:cxnLst/>
              <a:rect l="l" t="t" r="r" b="b"/>
              <a:pathLst>
                <a:path w="2743200" h="2816942" extrusionOk="0">
                  <a:moveTo>
                    <a:pt x="0" y="2816942"/>
                  </a:moveTo>
                  <a:cubicBezTo>
                    <a:pt x="363998" y="2816020"/>
                    <a:pt x="477171" y="2811923"/>
                    <a:pt x="663677" y="2802193"/>
                  </a:cubicBezTo>
                  <a:cubicBezTo>
                    <a:pt x="850183" y="2792463"/>
                    <a:pt x="1661652" y="2767780"/>
                    <a:pt x="1976284" y="2625212"/>
                  </a:cubicBezTo>
                  <a:cubicBezTo>
                    <a:pt x="2290916" y="2482644"/>
                    <a:pt x="2423652" y="2384322"/>
                    <a:pt x="2551471" y="1946787"/>
                  </a:cubicBezTo>
                  <a:cubicBezTo>
                    <a:pt x="2679290" y="1509252"/>
                    <a:pt x="2711245" y="754626"/>
                    <a:pt x="2743200" y="0"/>
                  </a:cubicBezTo>
                </a:path>
              </a:pathLst>
            </a:custGeom>
            <a:noFill/>
            <a:ln w="254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8" name="Google Shape;278;p5"/>
            <p:cNvCxnSpPr/>
            <p:nvPr/>
          </p:nvCxnSpPr>
          <p:spPr>
            <a:xfrm rot="10800000">
              <a:off x="10442559" y="1034169"/>
              <a:ext cx="0" cy="250593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279" name="Google Shape;279;p5"/>
            <p:cNvSpPr/>
            <p:nvPr/>
          </p:nvSpPr>
          <p:spPr>
            <a:xfrm>
              <a:off x="10214306" y="3605644"/>
              <a:ext cx="509587" cy="504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6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5"/>
          <p:cNvGrpSpPr/>
          <p:nvPr/>
        </p:nvGrpSpPr>
        <p:grpSpPr>
          <a:xfrm>
            <a:off x="1199878" y="3314700"/>
            <a:ext cx="3859530" cy="523220"/>
            <a:chOff x="1211074" y="3275230"/>
            <a:chExt cx="3859530" cy="523220"/>
          </a:xfrm>
        </p:grpSpPr>
        <p:sp>
          <p:nvSpPr>
            <p:cNvPr id="281" name="Google Shape;281;p5"/>
            <p:cNvSpPr txBox="1"/>
            <p:nvPr/>
          </p:nvSpPr>
          <p:spPr>
            <a:xfrm>
              <a:off x="2218184" y="3302535"/>
              <a:ext cx="2852420" cy="459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service rate of bits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5"/>
            <p:cNvSpPr txBox="1"/>
            <p:nvPr/>
          </p:nvSpPr>
          <p:spPr>
            <a:xfrm>
              <a:off x="1211074" y="3275230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lang="en-US" sz="2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5"/>
          <p:cNvGrpSpPr/>
          <p:nvPr/>
        </p:nvGrpSpPr>
        <p:grpSpPr>
          <a:xfrm>
            <a:off x="1066278" y="2847705"/>
            <a:ext cx="3707765" cy="523220"/>
            <a:chOff x="1066278" y="2873829"/>
            <a:chExt cx="3707765" cy="523220"/>
          </a:xfrm>
        </p:grpSpPr>
        <p:sp>
          <p:nvSpPr>
            <p:cNvPr id="284" name="Google Shape;284;p5"/>
            <p:cNvSpPr txBox="1"/>
            <p:nvPr/>
          </p:nvSpPr>
          <p:spPr>
            <a:xfrm>
              <a:off x="2169273" y="2910024"/>
              <a:ext cx="2604770" cy="4591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arrival rate of bits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5" name="Google Shape;285;p5"/>
            <p:cNvGrpSpPr/>
            <p:nvPr/>
          </p:nvGrpSpPr>
          <p:grpSpPr>
            <a:xfrm>
              <a:off x="1066278" y="2873829"/>
              <a:ext cx="681588" cy="523220"/>
              <a:chOff x="1066278" y="2873829"/>
              <a:chExt cx="681588" cy="523220"/>
            </a:xfrm>
          </p:grpSpPr>
          <p:sp>
            <p:nvSpPr>
              <p:cNvPr id="286" name="Google Shape;286;p5"/>
              <p:cNvSpPr txBox="1"/>
              <p:nvPr/>
            </p:nvSpPr>
            <p:spPr>
              <a:xfrm>
                <a:off x="1066278" y="2873829"/>
                <a:ext cx="33534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lang="en-US" sz="28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 lang="en-US" sz="2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5"/>
              <p:cNvSpPr txBox="1"/>
              <p:nvPr/>
            </p:nvSpPr>
            <p:spPr>
              <a:xfrm>
                <a:off x="1378854" y="2873829"/>
                <a:ext cx="3690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lang="en-US" sz="28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lang="en-US" sz="2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5"/>
              <p:cNvSpPr txBox="1"/>
              <p:nvPr/>
            </p:nvSpPr>
            <p:spPr>
              <a:xfrm>
                <a:off x="1278923" y="2909664"/>
                <a:ext cx="2423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US" sz="18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lang="en-US" sz="18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9" name="Google Shape;289;p5"/>
          <p:cNvGrpSpPr/>
          <p:nvPr/>
        </p:nvGrpSpPr>
        <p:grpSpPr>
          <a:xfrm>
            <a:off x="1204684" y="2981937"/>
            <a:ext cx="3323775" cy="584775"/>
            <a:chOff x="1204684" y="2981937"/>
            <a:chExt cx="3323775" cy="584775"/>
          </a:xfrm>
        </p:grpSpPr>
        <p:cxnSp>
          <p:nvCxnSpPr>
            <p:cNvPr id="290" name="Google Shape;290;p5"/>
            <p:cNvCxnSpPr/>
            <p:nvPr/>
          </p:nvCxnSpPr>
          <p:spPr>
            <a:xfrm>
              <a:off x="2300167" y="3338737"/>
              <a:ext cx="2228292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1" name="Google Shape;291;p5"/>
            <p:cNvCxnSpPr/>
            <p:nvPr/>
          </p:nvCxnSpPr>
          <p:spPr>
            <a:xfrm>
              <a:off x="1204684" y="3342018"/>
              <a:ext cx="34834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92" name="Google Shape;292;p5"/>
            <p:cNvSpPr txBox="1"/>
            <p:nvPr/>
          </p:nvSpPr>
          <p:spPr>
            <a:xfrm>
              <a:off x="1687802" y="2981937"/>
              <a:ext cx="63862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lang="en-US" sz="32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5"/>
          <p:cNvSpPr txBox="1"/>
          <p:nvPr/>
        </p:nvSpPr>
        <p:spPr>
          <a:xfrm>
            <a:off x="5025350" y="2902857"/>
            <a:ext cx="158261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lang="en-US" sz="2800" b="0" i="1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“traffic </a:t>
            </a:r>
            <a:endParaRPr lang="en-US" sz="2800" b="0" i="1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lang="en-US" sz="2800" b="0" i="1" u="none" strike="noStrike" cap="non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intensity”</a:t>
            </a:r>
            <a:endParaRPr lang="en-US" sz="2800" b="0" i="1" u="none" strike="noStrike" cap="non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5"/>
          <p:cNvSpPr txBox="1"/>
          <p:nvPr>
            <p:ph type="sldNum" idx="12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Introduction: 1-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0" name="Google Shape;300;p6"/>
          <p:cNvCxnSpPr/>
          <p:nvPr/>
        </p:nvCxnSpPr>
        <p:spPr>
          <a:xfrm>
            <a:off x="2831406" y="5366286"/>
            <a:ext cx="469144" cy="3154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" name="Google Shape;301;p6"/>
          <p:cNvCxnSpPr/>
          <p:nvPr/>
        </p:nvCxnSpPr>
        <p:spPr>
          <a:xfrm rot="10800000" flipH="1">
            <a:off x="3691311" y="5467468"/>
            <a:ext cx="639909" cy="207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2" name="Google Shape;302;p6"/>
          <p:cNvGrpSpPr/>
          <p:nvPr/>
        </p:nvGrpSpPr>
        <p:grpSpPr>
          <a:xfrm>
            <a:off x="3109054" y="5514269"/>
            <a:ext cx="860625" cy="398511"/>
            <a:chOff x="7493876" y="2774731"/>
            <a:chExt cx="1481958" cy="894622"/>
          </a:xfrm>
        </p:grpSpPr>
        <p:sp>
          <p:nvSpPr>
            <p:cNvPr id="303" name="Google Shape;303;p6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5" name="Google Shape;305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6" name="Google Shape;306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10" name="Google Shape;310;p6"/>
          <p:cNvCxnSpPr/>
          <p:nvPr/>
        </p:nvCxnSpPr>
        <p:spPr>
          <a:xfrm>
            <a:off x="4626350" y="5451593"/>
            <a:ext cx="677550" cy="207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6"/>
          <p:cNvCxnSpPr/>
          <p:nvPr/>
        </p:nvCxnSpPr>
        <p:spPr>
          <a:xfrm flipH="1">
            <a:off x="4388223" y="5062655"/>
            <a:ext cx="661222" cy="2730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" name="Google Shape;312;p6"/>
          <p:cNvCxnSpPr/>
          <p:nvPr/>
        </p:nvCxnSpPr>
        <p:spPr>
          <a:xfrm>
            <a:off x="4356474" y="5583355"/>
            <a:ext cx="318847" cy="3111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3" name="Google Shape;313;p6"/>
          <p:cNvGrpSpPr/>
          <p:nvPr/>
        </p:nvGrpSpPr>
        <p:grpSpPr>
          <a:xfrm>
            <a:off x="3957067" y="5203592"/>
            <a:ext cx="860625" cy="398511"/>
            <a:chOff x="7493876" y="2774731"/>
            <a:chExt cx="1481958" cy="894622"/>
          </a:xfrm>
        </p:grpSpPr>
        <p:sp>
          <p:nvSpPr>
            <p:cNvPr id="314" name="Google Shape;314;p6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6" name="Google Shape;316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7" name="Google Shape;317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21" name="Google Shape;321;p6"/>
          <p:cNvCxnSpPr/>
          <p:nvPr/>
        </p:nvCxnSpPr>
        <p:spPr>
          <a:xfrm flipH="1">
            <a:off x="5602660" y="5511918"/>
            <a:ext cx="865759" cy="1444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6"/>
          <p:cNvCxnSpPr/>
          <p:nvPr/>
        </p:nvCxnSpPr>
        <p:spPr>
          <a:xfrm flipH="1">
            <a:off x="4997823" y="5773855"/>
            <a:ext cx="487128" cy="152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3" name="Google Shape;323;p6"/>
          <p:cNvGrpSpPr/>
          <p:nvPr/>
        </p:nvGrpSpPr>
        <p:grpSpPr>
          <a:xfrm>
            <a:off x="4985387" y="5543879"/>
            <a:ext cx="860625" cy="398511"/>
            <a:chOff x="7493876" y="2774731"/>
            <a:chExt cx="1481958" cy="894622"/>
          </a:xfrm>
        </p:grpSpPr>
        <p:sp>
          <p:nvSpPr>
            <p:cNvPr id="324" name="Google Shape;324;p6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6" name="Google Shape;326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7" name="Google Shape;327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1" name="Google Shape;331;p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“Real” Internet delays and routes</a:t>
            </a:r>
            <a:endParaRPr sz="4400"/>
          </a:p>
        </p:txBody>
      </p:sp>
      <p:sp>
        <p:nvSpPr>
          <p:cNvPr id="332" name="Google Shape;332;p6"/>
          <p:cNvSpPr txBox="1"/>
          <p:nvPr/>
        </p:nvSpPr>
        <p:spPr>
          <a:xfrm>
            <a:off x="980180" y="1324511"/>
            <a:ext cx="10342830" cy="188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7655" marR="0" lvl="0" indent="-2876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do “real” Internet delay &amp; loss look like? 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655" marR="0" lvl="0" indent="-28765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traceroute</a:t>
            </a: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program: provides delay measurement from source to router along end-end Internet path towards destination.  For all </a:t>
            </a: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i:</a:t>
            </a:r>
            <a:endParaRPr lang="en-US" sz="32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6"/>
          <p:cNvCxnSpPr/>
          <p:nvPr/>
        </p:nvCxnSpPr>
        <p:spPr>
          <a:xfrm>
            <a:off x="6721850" y="5476993"/>
            <a:ext cx="677550" cy="2079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6"/>
          <p:cNvCxnSpPr/>
          <p:nvPr/>
        </p:nvCxnSpPr>
        <p:spPr>
          <a:xfrm flipH="1">
            <a:off x="7660060" y="5423018"/>
            <a:ext cx="777191" cy="2778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6"/>
          <p:cNvCxnSpPr/>
          <p:nvPr/>
        </p:nvCxnSpPr>
        <p:spPr>
          <a:xfrm>
            <a:off x="6280524" y="5170605"/>
            <a:ext cx="318847" cy="3111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6"/>
          <p:cNvCxnSpPr/>
          <p:nvPr/>
        </p:nvCxnSpPr>
        <p:spPr>
          <a:xfrm>
            <a:off x="5394926" y="5277473"/>
            <a:ext cx="8857" cy="2603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" name="Google Shape;337;p6"/>
          <p:cNvSpPr txBox="1"/>
          <p:nvPr/>
        </p:nvSpPr>
        <p:spPr>
          <a:xfrm>
            <a:off x="2999161" y="5135680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 lang="en-US"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 txBox="1"/>
          <p:nvPr/>
        </p:nvSpPr>
        <p:spPr>
          <a:xfrm>
            <a:off x="3613524" y="5696068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 lang="en-US"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4842700" y="5044156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 lang="en-US"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0" name="Google Shape;340;p6"/>
          <p:cNvGrpSpPr/>
          <p:nvPr/>
        </p:nvGrpSpPr>
        <p:grpSpPr>
          <a:xfrm>
            <a:off x="1934728" y="5072180"/>
            <a:ext cx="1027081" cy="688975"/>
            <a:chOff x="-44" y="1473"/>
            <a:chExt cx="981" cy="1105"/>
          </a:xfrm>
        </p:grpSpPr>
        <p:pic>
          <p:nvPicPr>
            <p:cNvPr id="341" name="Google Shape;341;p6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6"/>
          <p:cNvGrpSpPr/>
          <p:nvPr/>
        </p:nvGrpSpPr>
        <p:grpSpPr>
          <a:xfrm flipH="1">
            <a:off x="8177586" y="5110280"/>
            <a:ext cx="1051754" cy="669925"/>
            <a:chOff x="-44" y="1473"/>
            <a:chExt cx="981" cy="1105"/>
          </a:xfrm>
        </p:grpSpPr>
        <p:pic>
          <p:nvPicPr>
            <p:cNvPr id="344" name="Google Shape;344;p6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6"/>
          <p:cNvSpPr/>
          <p:nvPr/>
        </p:nvSpPr>
        <p:spPr>
          <a:xfrm>
            <a:off x="2868986" y="5356343"/>
            <a:ext cx="3135331" cy="403225"/>
          </a:xfrm>
          <a:custGeom>
            <a:avLst/>
            <a:gdLst/>
            <a:ahLst/>
            <a:cxnLst/>
            <a:rect l="l" t="t" r="r" b="b"/>
            <a:pathLst>
              <a:path w="1416" h="254" extrusionOk="0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2900736" y="5392855"/>
            <a:ext cx="584553" cy="419100"/>
          </a:xfrm>
          <a:custGeom>
            <a:avLst/>
            <a:gdLst/>
            <a:ahLst/>
            <a:cxnLst/>
            <a:rect l="l" t="t" r="r" b="b"/>
            <a:pathLst>
              <a:path w="264" h="264" extrusionOk="0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2894387" y="5307130"/>
            <a:ext cx="1877656" cy="474663"/>
          </a:xfrm>
          <a:custGeom>
            <a:avLst/>
            <a:gdLst/>
            <a:ahLst/>
            <a:cxnLst/>
            <a:rect l="l" t="t" r="r" b="b"/>
            <a:pathLst>
              <a:path w="848" h="299" extrusionOk="0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6"/>
          <p:cNvGrpSpPr/>
          <p:nvPr/>
        </p:nvGrpSpPr>
        <p:grpSpPr>
          <a:xfrm>
            <a:off x="6096000" y="5229664"/>
            <a:ext cx="860625" cy="398511"/>
            <a:chOff x="7493876" y="2774731"/>
            <a:chExt cx="1481958" cy="894622"/>
          </a:xfrm>
        </p:grpSpPr>
        <p:sp>
          <p:nvSpPr>
            <p:cNvPr id="350" name="Google Shape;350;p6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2" name="Google Shape;352;p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53" name="Google Shape;353;p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7" name="Google Shape;357;p6"/>
          <p:cNvSpPr txBox="1"/>
          <p:nvPr/>
        </p:nvSpPr>
        <p:spPr>
          <a:xfrm>
            <a:off x="909932" y="3067365"/>
            <a:ext cx="10342830" cy="172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82625" marR="0" lvl="1" indent="-2254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sends three packets that will reach router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path towards destination (with time-to-live field value of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</a:t>
            </a:r>
            <a:r>
              <a:rPr lang="en-US" sz="2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return packets to sender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2625" marR="0" lvl="1" indent="-2254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measures time interval between transmission and reply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 txBox="1"/>
          <p:nvPr>
            <p:ph type="sldNum" idx="12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Introduction: 1-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Real Internet delays and routes</a:t>
            </a:r>
            <a:endParaRPr sz="4400"/>
          </a:p>
        </p:txBody>
      </p:sp>
      <p:sp>
        <p:nvSpPr>
          <p:cNvPr id="365" name="Google Shape;365;p7"/>
          <p:cNvSpPr txBox="1"/>
          <p:nvPr/>
        </p:nvSpPr>
        <p:spPr>
          <a:xfrm>
            <a:off x="1663495" y="2282978"/>
            <a:ext cx="8229600" cy="394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  cs-gw (128.119.240.254)  1 ms  1 ms  2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  border1-rt-fa5-1-0.gw.umass.edu (128.119.3.145)  1 ms  1 ms  2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  cht-vbns.gw.umass.edu (128.119.3.130)  6 ms 5 ms 5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4  jn1-at1-0-0-19.wor.vbns.net (204.147.132.129)  16 ms 11 ms 13 ms 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5  jn1-so7-0-0-0.wae.vbns.net (204.147.136.136)  21 ms 18 ms 18 ms 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6  abilene-vbns.abilene.ucaid.edu (198.32.11.9)  22 ms  18 ms  22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7  nycm-wash.abilene.ucaid.edu (198.32.8.46)  22 ms  22 ms  22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8  62.40.103.253 (62.40.103.253)  104 ms 109 ms 106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9  de2-1.de1.de.geant.net (62.40.96.129)  109 ms 102 ms 104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10  de.fr1.fr.geant.net (62.40.96.50)  113 ms 121 ms 114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11  renater-gw.fr1.fr.geant.net (62.40.103.54)  112 ms  114 ms  112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12  nio-n2.cssi.renater.fr (193.51.206.13)  111 ms  114 ms  116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13  nice.cssi.renater.fr (195.220.98.102)  123 ms  125 ms  124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14  r3t2-nice.cssi.renater.fr (195.220.98.110)  126 ms  126 ms  124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15  eurecom-valbonne.r3t2.ft.net (193.48.50.54)  135 ms  128 ms  133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16  194.214.211.25 (194.214.211.25)  126 ms  128 ms  126 ms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17  * * *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18  * * *</a:t>
            </a:r>
            <a:endParaRPr lang="en-US" sz="16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marR="0" lvl="0" indent="-457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90204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19  fantasia.eurecom.fr (193.55.113.142)  132 ms  128 ms  136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ms</a:t>
            </a:r>
            <a:endParaRPr lang="en-US" sz="1600" b="0" i="0" u="none" strike="noStrike" cap="none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366" name="Google Shape;366;p7"/>
          <p:cNvSpPr txBox="1"/>
          <p:nvPr/>
        </p:nvSpPr>
        <p:spPr>
          <a:xfrm>
            <a:off x="1684133" y="1091177"/>
            <a:ext cx="819308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traceroute: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gaia.cs.umass.edu to www.eurecom.fr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1704770" y="6259665"/>
            <a:ext cx="65293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Do some traceroutes from exotic countries at www.traceroute.org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7"/>
          <p:cNvGrpSpPr/>
          <p:nvPr/>
        </p:nvGrpSpPr>
        <p:grpSpPr>
          <a:xfrm>
            <a:off x="2464209" y="5464534"/>
            <a:ext cx="7293694" cy="400110"/>
            <a:chOff x="2464209" y="5464534"/>
            <a:chExt cx="7293694" cy="400110"/>
          </a:xfrm>
        </p:grpSpPr>
        <p:sp>
          <p:nvSpPr>
            <p:cNvPr id="369" name="Google Shape;369;p7"/>
            <p:cNvSpPr txBox="1"/>
            <p:nvPr/>
          </p:nvSpPr>
          <p:spPr>
            <a:xfrm>
              <a:off x="3471403" y="5464534"/>
              <a:ext cx="62865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* means no response (probe lost, router not replying)</a:t>
              </a:r>
              <a:endPara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0" name="Google Shape;370;p7"/>
            <p:cNvCxnSpPr/>
            <p:nvPr/>
          </p:nvCxnSpPr>
          <p:spPr>
            <a:xfrm rot="10800000">
              <a:off x="2464209" y="5590849"/>
              <a:ext cx="1007194" cy="0"/>
            </a:xfrm>
            <a:prstGeom prst="straightConnector1">
              <a:avLst/>
            </a:prstGeom>
            <a:noFill/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371" name="Google Shape;371;p7"/>
          <p:cNvGrpSpPr/>
          <p:nvPr/>
        </p:nvGrpSpPr>
        <p:grpSpPr>
          <a:xfrm>
            <a:off x="1915886" y="1596610"/>
            <a:ext cx="9454526" cy="899847"/>
            <a:chOff x="1915886" y="1596610"/>
            <a:chExt cx="9454526" cy="899847"/>
          </a:xfrm>
        </p:grpSpPr>
        <p:sp>
          <p:nvSpPr>
            <p:cNvPr id="372" name="Google Shape;372;p7"/>
            <p:cNvSpPr txBox="1"/>
            <p:nvPr/>
          </p:nvSpPr>
          <p:spPr>
            <a:xfrm>
              <a:off x="5433162" y="1596610"/>
              <a:ext cx="5937250" cy="617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 from </a:t>
              </a:r>
              <a:endPara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gaia.cs.umass.edu </a:t>
              </a:r>
              <a:r>
                <a:rPr lang="en-US" sz="20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lang="en-US" sz="18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cs-gw.cs.umass.edu </a:t>
              </a:r>
              <a:endParaRPr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3" name="Google Shape;373;p7"/>
            <p:cNvCxnSpPr/>
            <p:nvPr/>
          </p:nvCxnSpPr>
          <p:spPr>
            <a:xfrm rot="10800000" flipH="1">
              <a:off x="4430508" y="1909915"/>
              <a:ext cx="671512" cy="412750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374" name="Google Shape;374;p7"/>
            <p:cNvCxnSpPr/>
            <p:nvPr/>
          </p:nvCxnSpPr>
          <p:spPr>
            <a:xfrm rot="10800000" flipH="1">
              <a:off x="4970258" y="1898803"/>
              <a:ext cx="139700" cy="404812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375" name="Google Shape;375;p7"/>
            <p:cNvCxnSpPr/>
            <p:nvPr/>
          </p:nvCxnSpPr>
          <p:spPr>
            <a:xfrm rot="10800000">
              <a:off x="5105195" y="1908328"/>
              <a:ext cx="366713" cy="390525"/>
            </a:xfrm>
            <a:prstGeom prst="straightConnector1">
              <a:avLst/>
            </a:prstGeom>
            <a:noFill/>
            <a:ln w="1905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376" name="Google Shape;376;p7"/>
            <p:cNvCxnSpPr/>
            <p:nvPr/>
          </p:nvCxnSpPr>
          <p:spPr>
            <a:xfrm rot="10800000">
              <a:off x="5102020" y="1908328"/>
              <a:ext cx="512012" cy="0"/>
            </a:xfrm>
            <a:prstGeom prst="straightConnector1">
              <a:avLst/>
            </a:prstGeom>
            <a:noFill/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77" name="Google Shape;377;p7"/>
            <p:cNvSpPr/>
            <p:nvPr/>
          </p:nvSpPr>
          <p:spPr>
            <a:xfrm>
              <a:off x="1915886" y="2307771"/>
              <a:ext cx="638628" cy="188686"/>
            </a:xfrm>
            <a:prstGeom prst="rect">
              <a:avLst/>
            </a:prstGeom>
            <a:solidFill>
              <a:srgbClr val="FFFF00">
                <a:alpha val="3764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7"/>
          <p:cNvGrpSpPr/>
          <p:nvPr/>
        </p:nvGrpSpPr>
        <p:grpSpPr>
          <a:xfrm>
            <a:off x="1959429" y="2305498"/>
            <a:ext cx="10306229" cy="617861"/>
            <a:chOff x="1959429" y="2305498"/>
            <a:chExt cx="10306229" cy="617861"/>
          </a:xfrm>
        </p:grpSpPr>
        <p:sp>
          <p:nvSpPr>
            <p:cNvPr id="379" name="Google Shape;379;p7"/>
            <p:cNvSpPr txBox="1"/>
            <p:nvPr/>
          </p:nvSpPr>
          <p:spPr>
            <a:xfrm>
              <a:off x="8179566" y="2305498"/>
              <a:ext cx="4086092" cy="6178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</a:t>
              </a:r>
              <a:endPara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lang="en-US" sz="18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border1-rt-fa5-1-0.gw.umass.edu </a:t>
              </a:r>
              <a:endParaRPr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0" name="Google Shape;380;p7"/>
            <p:cNvCxnSpPr/>
            <p:nvPr/>
          </p:nvCxnSpPr>
          <p:spPr>
            <a:xfrm rot="10800000">
              <a:off x="8136140" y="2591761"/>
              <a:ext cx="738960" cy="0"/>
            </a:xfrm>
            <a:prstGeom prst="straightConnector1">
              <a:avLst/>
            </a:prstGeom>
            <a:noFill/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81" name="Google Shape;381;p7"/>
            <p:cNvSpPr/>
            <p:nvPr/>
          </p:nvSpPr>
          <p:spPr>
            <a:xfrm>
              <a:off x="1959429" y="2525486"/>
              <a:ext cx="2975428" cy="1596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p7"/>
          <p:cNvGrpSpPr/>
          <p:nvPr/>
        </p:nvGrpSpPr>
        <p:grpSpPr>
          <a:xfrm>
            <a:off x="7046686" y="4088438"/>
            <a:ext cx="4427559" cy="617861"/>
            <a:chOff x="7046686" y="4088438"/>
            <a:chExt cx="4427559" cy="617861"/>
          </a:xfrm>
        </p:grpSpPr>
        <p:grpSp>
          <p:nvGrpSpPr>
            <p:cNvPr id="383" name="Google Shape;383;p7"/>
            <p:cNvGrpSpPr/>
            <p:nvPr/>
          </p:nvGrpSpPr>
          <p:grpSpPr>
            <a:xfrm>
              <a:off x="8136140" y="4088438"/>
              <a:ext cx="3338105" cy="617861"/>
              <a:chOff x="8136140" y="4088438"/>
              <a:chExt cx="3338105" cy="617861"/>
            </a:xfrm>
          </p:grpSpPr>
          <p:sp>
            <p:nvSpPr>
              <p:cNvPr id="384" name="Google Shape;384;p7"/>
              <p:cNvSpPr txBox="1"/>
              <p:nvPr/>
            </p:nvSpPr>
            <p:spPr>
              <a:xfrm>
                <a:off x="8731045" y="4088438"/>
                <a:ext cx="2743200" cy="617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looks like delays </a:t>
                </a:r>
                <a:r>
                  <a:rPr lang="en-US" sz="2000" b="0" i="1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decrease</a:t>
                </a:r>
                <a:r>
                  <a:rPr lang="en-US" sz="2000" b="0" i="0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 Why?</a:t>
                </a:r>
                <a:endParaRPr lang="en-US" sz="20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5" name="Google Shape;385;p7"/>
              <p:cNvCxnSpPr/>
              <p:nvPr/>
            </p:nvCxnSpPr>
            <p:spPr>
              <a:xfrm rot="10800000">
                <a:off x="8136140" y="4381712"/>
                <a:ext cx="73896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386" name="Google Shape;386;p7"/>
            <p:cNvSpPr/>
            <p:nvPr/>
          </p:nvSpPr>
          <p:spPr>
            <a:xfrm>
              <a:off x="7402286" y="4223657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7046686" y="4419600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7"/>
          <p:cNvGrpSpPr/>
          <p:nvPr/>
        </p:nvGrpSpPr>
        <p:grpSpPr>
          <a:xfrm>
            <a:off x="1937658" y="3381528"/>
            <a:ext cx="8901587" cy="508300"/>
            <a:chOff x="1937658" y="3381528"/>
            <a:chExt cx="8901587" cy="508300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1937658" y="3381528"/>
              <a:ext cx="8901587" cy="460375"/>
              <a:chOff x="1937658" y="3381528"/>
              <a:chExt cx="8901587" cy="460375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7051470" y="3595840"/>
                <a:ext cx="1012825" cy="246063"/>
              </a:xfrm>
              <a:custGeom>
                <a:avLst/>
                <a:gdLst/>
                <a:ahLst/>
                <a:cxnLst/>
                <a:rect l="l" t="t" r="r" b="b"/>
                <a:pathLst>
                  <a:path w="638" h="155" extrusionOk="0">
                    <a:moveTo>
                      <a:pt x="593" y="0"/>
                    </a:moveTo>
                    <a:cubicBezTo>
                      <a:pt x="607" y="9"/>
                      <a:pt x="621" y="18"/>
                      <a:pt x="623" y="38"/>
                    </a:cubicBezTo>
                    <a:cubicBezTo>
                      <a:pt x="625" y="58"/>
                      <a:pt x="638" y="104"/>
                      <a:pt x="608" y="123"/>
                    </a:cubicBezTo>
                    <a:cubicBezTo>
                      <a:pt x="578" y="142"/>
                      <a:pt x="547" y="153"/>
                      <a:pt x="446" y="154"/>
                    </a:cubicBezTo>
                    <a:cubicBezTo>
                      <a:pt x="345" y="155"/>
                      <a:pt x="72" y="133"/>
                      <a:pt x="0" y="130"/>
                    </a:cubicBezTo>
                  </a:path>
                </a:pathLst>
              </a:custGeom>
              <a:noFill/>
              <a:ln w="19050" cap="flat" cmpd="sng">
                <a:solidFill>
                  <a:srgbClr val="CC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8096045" y="3381528"/>
                <a:ext cx="27432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trans-oceanic link</a:t>
                </a:r>
                <a:endParaRPr lang="en-US" sz="20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7"/>
              <p:cNvSpPr/>
              <p:nvPr/>
            </p:nvSpPr>
            <p:spPr>
              <a:xfrm>
                <a:off x="1937658" y="3519717"/>
                <a:ext cx="2750456" cy="123370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7"/>
              <p:cNvSpPr/>
              <p:nvPr/>
            </p:nvSpPr>
            <p:spPr>
              <a:xfrm>
                <a:off x="2002973" y="3686630"/>
                <a:ext cx="1306284" cy="145141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4" name="Google Shape;394;p7"/>
            <p:cNvSpPr/>
            <p:nvPr/>
          </p:nvSpPr>
          <p:spPr>
            <a:xfrm>
              <a:off x="7315200" y="3468914"/>
              <a:ext cx="667657" cy="203200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6320972" y="3679371"/>
              <a:ext cx="776514" cy="2104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7"/>
          <p:cNvSpPr txBox="1"/>
          <p:nvPr>
            <p:ph type="sldNum" idx="12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Introduction: 1-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8"/>
          <p:cNvGrpSpPr/>
          <p:nvPr/>
        </p:nvGrpSpPr>
        <p:grpSpPr>
          <a:xfrm>
            <a:off x="4551470" y="4236503"/>
            <a:ext cx="1463604" cy="737240"/>
            <a:chOff x="7493876" y="2774731"/>
            <a:chExt cx="1481958" cy="894622"/>
          </a:xfrm>
        </p:grpSpPr>
        <p:sp>
          <p:nvSpPr>
            <p:cNvPr id="403" name="Google Shape;403;p8"/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/>
              <a:ahLst/>
              <a:cxnLst/>
              <a:rect l="l" t="t" r="r" b="b"/>
              <a:pathLst>
                <a:path w="8166683" h="3099826" extrusionOk="0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5" name="Google Shape;405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6" name="Google Shape;406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/>
                <a:ahLst/>
                <a:cxnLst/>
                <a:rect l="l" t="t" r="r" b="b"/>
                <a:pathLst>
                  <a:path w="4673016" h="1049866" extrusionOk="0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/>
                <a:ahLst/>
                <a:cxnLst/>
                <a:rect l="l" t="t" r="r" b="b"/>
                <a:pathLst>
                  <a:path w="1744718" h="903890" extrusionOk="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/>
                <a:ahLst/>
                <a:cxnLst/>
                <a:rect l="l" t="t" r="r" b="b"/>
                <a:pathLst>
                  <a:path w="1713187" h="893380" extrusionOk="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/>
                <a:ahLst/>
                <a:cxnLst/>
                <a:rect l="l" t="t" r="r" b="b"/>
                <a:pathLst>
                  <a:path w="3725019" h="1418896" extrusionOk="0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0" name="Google Shape;410;p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Packet loss</a:t>
            </a:r>
            <a:endParaRPr sz="4400"/>
          </a:p>
        </p:txBody>
      </p:sp>
      <p:sp>
        <p:nvSpPr>
          <p:cNvPr id="411" name="Google Shape;411;p8"/>
          <p:cNvSpPr txBox="1"/>
          <p:nvPr/>
        </p:nvSpPr>
        <p:spPr>
          <a:xfrm>
            <a:off x="975618" y="1391460"/>
            <a:ext cx="10214897" cy="71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7655" marR="0" lvl="0" indent="-28765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 (aka buffer) preceding link in buffer has finite capacity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4638675" y="4485753"/>
            <a:ext cx="1198563" cy="26352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413" name="Google Shape;413;p8"/>
          <p:cNvCxnSpPr/>
          <p:nvPr/>
        </p:nvCxnSpPr>
        <p:spPr>
          <a:xfrm>
            <a:off x="3946525" y="4252390"/>
            <a:ext cx="698500" cy="3333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8"/>
          <p:cNvCxnSpPr/>
          <p:nvPr/>
        </p:nvCxnSpPr>
        <p:spPr>
          <a:xfrm rot="10800000" flipH="1">
            <a:off x="4235450" y="4646090"/>
            <a:ext cx="411163" cy="52546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8"/>
          <p:cNvCxnSpPr/>
          <p:nvPr/>
        </p:nvCxnSpPr>
        <p:spPr>
          <a:xfrm>
            <a:off x="5832475" y="4649265"/>
            <a:ext cx="1933575" cy="952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6" name="Google Shape;416;p8"/>
          <p:cNvSpPr/>
          <p:nvPr/>
        </p:nvSpPr>
        <p:spPr>
          <a:xfrm>
            <a:off x="6751638" y="4449240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5499100" y="4520678"/>
            <a:ext cx="147638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5661025" y="4520678"/>
            <a:ext cx="147638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19" name="Google Shape;419;p8"/>
          <p:cNvSpPr txBox="1"/>
          <p:nvPr/>
        </p:nvSpPr>
        <p:spPr>
          <a:xfrm>
            <a:off x="2963863" y="3780903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lang="en-US" sz="2400" b="0" i="0" u="none" strike="noStrike" cap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 txBox="1"/>
          <p:nvPr/>
        </p:nvSpPr>
        <p:spPr>
          <a:xfrm>
            <a:off x="3284538" y="4766740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lang="en-US" sz="24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"/>
          <p:cNvSpPr txBox="1"/>
          <p:nvPr/>
        </p:nvSpPr>
        <p:spPr>
          <a:xfrm>
            <a:off x="6311900" y="3690415"/>
            <a:ext cx="27907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 being transmitted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8"/>
          <p:cNvCxnSpPr/>
          <p:nvPr/>
        </p:nvCxnSpPr>
        <p:spPr>
          <a:xfrm flipH="1">
            <a:off x="5875338" y="3982515"/>
            <a:ext cx="681037" cy="56515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3" name="Google Shape;423;p8"/>
          <p:cNvSpPr/>
          <p:nvPr/>
        </p:nvSpPr>
        <p:spPr>
          <a:xfrm>
            <a:off x="5335588" y="4519090"/>
            <a:ext cx="147637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5173663" y="4522265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5008563" y="4519090"/>
            <a:ext cx="147637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4845050" y="4519090"/>
            <a:ext cx="147638" cy="200025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4679950" y="4520678"/>
            <a:ext cx="147638" cy="200025"/>
          </a:xfrm>
          <a:prstGeom prst="rect">
            <a:avLst/>
          </a:prstGeom>
          <a:solidFill>
            <a:srgbClr val="00CC99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4651375" y="4496865"/>
            <a:ext cx="1171575" cy="2428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</a:pPr>
            <a:endParaRPr sz="2400" b="0" i="0" u="none" strike="noStrike" cap="none">
              <a:solidFill>
                <a:srgbClr val="CC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29" name="Google Shape;429;p8"/>
          <p:cNvSpPr txBox="1"/>
          <p:nvPr/>
        </p:nvSpPr>
        <p:spPr>
          <a:xfrm>
            <a:off x="4499629" y="3509440"/>
            <a:ext cx="162429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buffer 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(waiting area)</a:t>
            </a:r>
            <a:endParaRPr lang="en-US" sz="20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8"/>
          <p:cNvCxnSpPr/>
          <p:nvPr/>
        </p:nvCxnSpPr>
        <p:spPr>
          <a:xfrm>
            <a:off x="4784725" y="4117453"/>
            <a:ext cx="0" cy="333375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31" name="Google Shape;431;p8"/>
          <p:cNvGrpSpPr/>
          <p:nvPr/>
        </p:nvGrpSpPr>
        <p:grpSpPr>
          <a:xfrm>
            <a:off x="3140075" y="3801540"/>
            <a:ext cx="820738" cy="688975"/>
            <a:chOff x="-44" y="1473"/>
            <a:chExt cx="981" cy="1105"/>
          </a:xfrm>
        </p:grpSpPr>
        <p:pic>
          <p:nvPicPr>
            <p:cNvPr id="432" name="Google Shape;432;p8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434" name="Google Shape;434;p8"/>
          <p:cNvGrpSpPr/>
          <p:nvPr/>
        </p:nvGrpSpPr>
        <p:grpSpPr>
          <a:xfrm>
            <a:off x="3468688" y="4792140"/>
            <a:ext cx="820737" cy="688975"/>
            <a:chOff x="-44" y="1473"/>
            <a:chExt cx="981" cy="1105"/>
          </a:xfrm>
        </p:grpSpPr>
        <p:pic>
          <p:nvPicPr>
            <p:cNvPr id="435" name="Google Shape;435;p8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437" name="Google Shape;437;p8"/>
          <p:cNvSpPr txBox="1"/>
          <p:nvPr/>
        </p:nvSpPr>
        <p:spPr>
          <a:xfrm>
            <a:off x="1250140" y="6114279"/>
            <a:ext cx="95254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Check out the Java applet for an interactive animation (on publisher’s website) of queuing and loss</a:t>
            </a:r>
            <a:endParaRPr lang="en-US"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8" name="Google Shape;438;p8"/>
          <p:cNvGrpSpPr/>
          <p:nvPr/>
        </p:nvGrpSpPr>
        <p:grpSpPr>
          <a:xfrm>
            <a:off x="971989" y="1867073"/>
            <a:ext cx="10214897" cy="3871598"/>
            <a:chOff x="971989" y="1867073"/>
            <a:chExt cx="10214897" cy="3871598"/>
          </a:xfrm>
        </p:grpSpPr>
        <p:grpSp>
          <p:nvGrpSpPr>
            <p:cNvPr id="439" name="Google Shape;439;p8"/>
            <p:cNvGrpSpPr/>
            <p:nvPr/>
          </p:nvGrpSpPr>
          <p:grpSpPr>
            <a:xfrm>
              <a:off x="4381500" y="4714353"/>
              <a:ext cx="2873096" cy="1024318"/>
              <a:chOff x="4381500" y="4714353"/>
              <a:chExt cx="2873096" cy="1024318"/>
            </a:xfrm>
          </p:grpSpPr>
          <p:sp>
            <p:nvSpPr>
              <p:cNvPr id="440" name="Google Shape;440;p8"/>
              <p:cNvSpPr/>
              <p:nvPr/>
            </p:nvSpPr>
            <p:spPr>
              <a:xfrm>
                <a:off x="4411663" y="4868340"/>
                <a:ext cx="147637" cy="200025"/>
              </a:xfrm>
              <a:prstGeom prst="rect">
                <a:avLst/>
              </a:prstGeom>
              <a:solidFill>
                <a:srgbClr val="3333CC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 panose="020B0604020202090204"/>
                  <a:buNone/>
                </a:pPr>
                <a:endParaRPr sz="24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cxnSp>
            <p:nvCxnSpPr>
              <p:cNvPr id="441" name="Google Shape;441;p8"/>
              <p:cNvCxnSpPr/>
              <p:nvPr/>
            </p:nvCxnSpPr>
            <p:spPr>
              <a:xfrm rot="10800000" flipH="1">
                <a:off x="4381500" y="4714353"/>
                <a:ext cx="106363" cy="14605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42" name="Google Shape;442;p8"/>
              <p:cNvCxnSpPr/>
              <p:nvPr/>
            </p:nvCxnSpPr>
            <p:spPr>
              <a:xfrm rot="10800000">
                <a:off x="4638675" y="4988990"/>
                <a:ext cx="687388" cy="331788"/>
              </a:xfrm>
              <a:prstGeom prst="straightConnector1">
                <a:avLst/>
              </a:prstGeom>
              <a:noFill/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3" name="Google Shape;443;p8"/>
              <p:cNvSpPr txBox="1"/>
              <p:nvPr/>
            </p:nvSpPr>
            <p:spPr>
              <a:xfrm>
                <a:off x="5254625" y="5147740"/>
                <a:ext cx="1999971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packet arriving to</a:t>
                </a:r>
                <a:endParaRPr lang="en-US" sz="2000" b="0" i="0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full buffer is </a:t>
                </a:r>
                <a:r>
                  <a:rPr lang="en-US" sz="2000" b="0" i="1" u="none" strike="noStrike" cap="non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lost</a:t>
                </a:r>
                <a:endParaRPr lang="en-US" sz="2000" b="0" i="1" u="none" strike="noStrike" cap="non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4" name="Google Shape;444;p8"/>
            <p:cNvSpPr txBox="1"/>
            <p:nvPr/>
          </p:nvSpPr>
          <p:spPr>
            <a:xfrm>
              <a:off x="971989" y="1867073"/>
              <a:ext cx="10214897" cy="2117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287655" marR="0" lvl="0" indent="-287655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arriving to full queue dropped (aka lost)</a:t>
              </a:r>
              <a:endPara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7655" marR="0" lvl="0" indent="-287655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lost packet may be retransmitted by previous node, by source end system, or not at all</a:t>
              </a:r>
              <a:endPara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8"/>
          <p:cNvSpPr txBox="1"/>
          <p:nvPr>
            <p:ph type="sldNum" idx="12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Introduction: 1-</a:t>
            </a: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1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4276</Words>
  <Application>WPS Presentation</Application>
  <PresentationFormat/>
  <Paragraphs>246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Helvetica Neue</vt:lpstr>
      <vt:lpstr>Noto Sans Symbols</vt:lpstr>
      <vt:lpstr>Times New Roman</vt:lpstr>
      <vt:lpstr>Microsoft YaHei</vt:lpstr>
      <vt:lpstr>汉仪旗黑</vt:lpstr>
      <vt:lpstr>Arial Unicode MS</vt:lpstr>
      <vt:lpstr>Thonburi</vt:lpstr>
      <vt:lpstr>宋体-简</vt:lpstr>
      <vt:lpstr>Office Theme</vt:lpstr>
      <vt:lpstr>IT694 Computer Networks</vt:lpstr>
      <vt:lpstr>How do packet delay and loss occur?</vt:lpstr>
      <vt:lpstr>Packet delay: four sources</vt:lpstr>
      <vt:lpstr>Packet delay: four sources</vt:lpstr>
      <vt:lpstr>Packet queueing delay (revisited)</vt:lpstr>
      <vt:lpstr>“Real” Internet delays and routes</vt:lpstr>
      <vt:lpstr>Real Internet delays and routes</vt:lpstr>
      <vt:lpstr>Packet loss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D T</dc:creator>
  <cp:lastModifiedBy>prii</cp:lastModifiedBy>
  <cp:revision>3</cp:revision>
  <dcterms:created xsi:type="dcterms:W3CDTF">2026-02-10T12:22:46Z</dcterms:created>
  <dcterms:modified xsi:type="dcterms:W3CDTF">2026-02-10T12:22:46Z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231E961D15309CEF53378A694709B962_42</vt:lpwstr>
  </property>
  <property fmtid="{D5CDD505-2E9C-101B-9397-08002B2CF9AE}" pid="3" name="KSOProductBuildVer">
    <vt:lpwstr>1033-12.1.23155.23155</vt:lpwstr>
  </property>
</Properties>
</file>