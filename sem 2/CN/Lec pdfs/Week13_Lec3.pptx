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Tahoma"/>
      <p:regular r:id="rId23"/>
      <p:bold r:id="rId24"/>
    </p:embeddedFont>
    <p:embeddedFont>
      <p:font typeface="Gill Sans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nawEiFm1UzG5/eo7R3malDHVd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Tahoma-bold.fntdata"/><Relationship Id="rId23" Type="http://schemas.openxmlformats.org/officeDocument/2006/relationships/font" Target="fonts/Tahom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e017e1187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e017e1187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3e017e1187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0" name="Google Shape;9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0" name="Google Shape;11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1" name="Google Shape;13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5" name="Google Shape;13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4" name="Google Shape;15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hyperlink" Target="https://ipcisco.com/lesson/collision-domain-vs-broadcast-domain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IT694</a:t>
            </a:r>
            <a:br>
              <a:rPr lang="en-US"/>
            </a:br>
            <a:r>
              <a:rPr lang="en-US"/>
              <a:t>Computer Networks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Week13_Lec3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switch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46268" y="1386357"/>
            <a:ext cx="10756119" cy="490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 is a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device: takes an </a:t>
            </a:r>
            <a:r>
              <a:rPr b="0" i="1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role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store, forward Ethernet (or other type of) frames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examine incoming frame’s MAC address,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selectively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forward  frame to one-or-more outgoing links when frame is to be forwarded on segment, uses CSMA/CD to access segment</a:t>
            </a:r>
            <a:endParaRPr/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transparent: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unaware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presence of switches</a:t>
            </a:r>
            <a:endParaRPr/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plug-and-play, self-learning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 do not need to be configured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3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06" name="Google Shape;106;p3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" name="Google Shape;107;p3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/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09" name="Google Shape;109;p3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114" name="Google Shape;114;p3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15" name="Google Shape;115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" name="Google Shape;116;p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3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18" name="Google Shape;118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" name="Google Shape;119;p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" name="Google Shape;120;p3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30" name="Google Shape;130;p3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31" name="Google Shape;131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" name="Google Shape;132;p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33" name="Google Shape;13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3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5" name="Google Shape;135;p3"/>
            <p:cNvCxnSpPr>
              <a:stCxn id="126" idx="0"/>
              <a:endCxn id="129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3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7" name="Google Shape;137;p3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39" name="Google Shape;139;p3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2" name="Google Shape;142;p3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43" name="Google Shape;143;p3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3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3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3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7" name="Google Shape;147;p3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48" name="Google Shape;148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" name="Google Shape;149;p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3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51" name="Google Shape;151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" name="Google Shape;152;p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3" name="Google Shape;153;p3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927244" y="4731250"/>
            <a:ext cx="6723621" cy="1489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 rot="5400000">
            <a:off x="84175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 rot="9282253">
            <a:off x="8060403" y="3378664"/>
            <a:ext cx="1986794" cy="19927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4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65" name="Google Shape;165;p4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6" name="Google Shape;166;p4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70" name="Google Shape;170;p4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173" name="Google Shape;173;p4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74" name="Google Shape;174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" name="Google Shape;175;p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" name="Google Shape;176;p4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77" name="Google Shape;177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" name="Google Shape;178;p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9" name="Google Shape;179;p4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81" name="Google Shape;181;p4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82" name="Google Shape;182;p4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83" name="Google Shape;183;p4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89" name="Google Shape;189;p4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90" name="Google Shape;190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" name="Google Shape;191;p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92" name="Google Shape;19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4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4" name="Google Shape;194;p4"/>
            <p:cNvCxnSpPr>
              <a:stCxn id="185" idx="0"/>
              <a:endCxn id="188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" name="Google Shape;195;p4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6" name="Google Shape;196;p4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98" name="Google Shape;198;p4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1" name="Google Shape;201;p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02" name="Google Shape;202;p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6" name="Google Shape;206;p4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07" name="Google Shape;207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" name="Google Shape;208;p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9" name="Google Shape;209;p4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10" name="Google Shape;210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1" name="Google Shape;211;p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2" name="Google Shape;212;p4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927244" y="4731249"/>
            <a:ext cx="6723621" cy="175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A-to-A’ and C to A’ can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happen simultaneously 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 rot="5400000">
            <a:off x="83249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9120852" y="3472405"/>
            <a:ext cx="185194" cy="75235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4"/>
          <p:cNvCxnSpPr/>
          <p:nvPr/>
        </p:nvCxnSpPr>
        <p:spPr>
          <a:xfrm>
            <a:off x="9178725" y="3487837"/>
            <a:ext cx="717630" cy="366532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17" name="Google Shape;217;p4"/>
          <p:cNvPicPr preferRelativeResize="0"/>
          <p:nvPr/>
        </p:nvPicPr>
        <p:blipFill rotWithShape="1">
          <a:blip r:embed="rId5">
            <a:alphaModFix amt="81000"/>
          </a:blip>
          <a:srcRect b="0" l="0" r="0" t="0"/>
          <a:stretch/>
        </p:blipFill>
        <p:spPr>
          <a:xfrm>
            <a:off x="8310621" y="2697717"/>
            <a:ext cx="1577693" cy="1699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 forwarding table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p5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226" name="Google Shape;226;p5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7" name="Google Shape;227;p5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228" name="Google Shape;228;p5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30" name="Google Shape;230;p5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32" name="Google Shape;232;p5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233" name="Google Shape;233;p5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34" name="Google Shape;234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5" name="Google Shape;235;p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5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37" name="Google Shape;2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8" name="Google Shape;238;p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9" name="Google Shape;239;p5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41" name="Google Shape;241;p5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42" name="Google Shape;242;p5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43" name="Google Shape;243;p5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44" name="Google Shape;244;p5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49" name="Google Shape;249;p5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250" name="Google Shape;250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" name="Google Shape;251;p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252" name="Google Shape;25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5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4" name="Google Shape;254;p5"/>
            <p:cNvCxnSpPr>
              <a:stCxn id="245" idx="0"/>
              <a:endCxn id="248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5" name="Google Shape;255;p5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6" name="Google Shape;256;p5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58" name="Google Shape;258;p5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259" name="Google Shape;259;p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1" name="Google Shape;261;p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62" name="Google Shape;262;p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" name="Google Shape;265;p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6" name="Google Shape;266;p5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67" name="Google Shape;267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8" name="Google Shape;268;p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" name="Google Shape;269;p5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70" name="Google Shape;270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1" name="Google Shape;271;p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2" name="Google Shape;272;p5"/>
          <p:cNvSpPr txBox="1"/>
          <p:nvPr/>
        </p:nvSpPr>
        <p:spPr>
          <a:xfrm>
            <a:off x="789457" y="1563480"/>
            <a:ext cx="6960458" cy="137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0" marL="403225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switch know A’ reachable via interface 4, B’ reachable via interface 5?</a:t>
            </a:r>
            <a:endParaRPr/>
          </a:p>
        </p:txBody>
      </p:sp>
      <p:sp>
        <p:nvSpPr>
          <p:cNvPr id="273" name="Google Shape;273;p5"/>
          <p:cNvSpPr txBox="1"/>
          <p:nvPr/>
        </p:nvSpPr>
        <p:spPr>
          <a:xfrm>
            <a:off x="1152393" y="2506650"/>
            <a:ext cx="5892981" cy="213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switch has a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switch table,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entry:</a:t>
            </a:r>
            <a:endParaRPr/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(MAC address of host, interface to reach host, time stamp)</a:t>
            </a:r>
            <a:endParaRPr/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looks like a routing table!</a:t>
            </a:r>
            <a:endParaRPr/>
          </a:p>
        </p:txBody>
      </p:sp>
      <p:sp>
        <p:nvSpPr>
          <p:cNvPr id="274" name="Google Shape;274;p5"/>
          <p:cNvSpPr txBox="1"/>
          <p:nvPr/>
        </p:nvSpPr>
        <p:spPr>
          <a:xfrm>
            <a:off x="719530" y="4863228"/>
            <a:ext cx="6100996" cy="16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3225" lvl="0" marL="4619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0" i="1" lang="en-US" sz="32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are entries created, maintained in switch table? 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163" lvl="1" marL="8064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something like a routing protocol?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self-learning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" name="Google Shape;282;p6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283" name="Google Shape;283;p6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4" name="Google Shape;284;p6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285" name="Google Shape;285;p6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286" name="Google Shape;286;p6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87" name="Google Shape;287;p6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288" name="Google Shape;288;p6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89" name="Google Shape;289;p6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290" name="Google Shape;290;p6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91" name="Google Shape;291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2" name="Google Shape;292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94" name="Google Shape;294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5" name="Google Shape;295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6" name="Google Shape;296;p6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97" name="Google Shape;297;p6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98" name="Google Shape;298;p6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99" name="Google Shape;299;p6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00" name="Google Shape;300;p6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01" name="Google Shape;301;p6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06" name="Google Shape;306;p6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07" name="Google Shape;307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8" name="Google Shape;308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09" name="Google Shape;30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6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1" name="Google Shape;311;p6"/>
            <p:cNvCxnSpPr>
              <a:stCxn id="302" idx="0"/>
              <a:endCxn id="305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6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3" name="Google Shape;313;p6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15" name="Google Shape;315;p6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16" name="Google Shape;316;p6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6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8" name="Google Shape;318;p6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19" name="Google Shape;319;p6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6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6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6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23" name="Google Shape;323;p6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24" name="Google Shape;324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5" name="Google Shape;325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" name="Google Shape;326;p6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27" name="Google Shape;327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8" name="Google Shape;328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9" name="Google Shape;329;p6"/>
          <p:cNvSpPr txBox="1"/>
          <p:nvPr/>
        </p:nvSpPr>
        <p:spPr>
          <a:xfrm>
            <a:off x="976536" y="1261672"/>
            <a:ext cx="5123322" cy="495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learns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hosts can be reached through which interfaces</a:t>
            </a:r>
            <a:endParaRPr/>
          </a:p>
        </p:txBody>
      </p:sp>
      <p:grpSp>
        <p:nvGrpSpPr>
          <p:cNvPr id="330" name="Google Shape;330;p6"/>
          <p:cNvGrpSpPr/>
          <p:nvPr/>
        </p:nvGrpSpPr>
        <p:grpSpPr>
          <a:xfrm>
            <a:off x="9401904" y="1700213"/>
            <a:ext cx="1428750" cy="369887"/>
            <a:chOff x="1750" y="3514"/>
            <a:chExt cx="900" cy="233"/>
          </a:xfrm>
        </p:grpSpPr>
        <p:sp>
          <p:nvSpPr>
            <p:cNvPr id="331" name="Google Shape;331;p6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6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6"/>
            <p:cNvCxnSpPr/>
            <p:nvPr/>
          </p:nvCxnSpPr>
          <p:spPr>
            <a:xfrm>
              <a:off x="1936" y="354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" name="Google Shape;334;p6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5" name="Google Shape;335;p6"/>
          <p:cNvGrpSpPr/>
          <p:nvPr/>
        </p:nvGrpSpPr>
        <p:grpSpPr>
          <a:xfrm>
            <a:off x="9617804" y="1001713"/>
            <a:ext cx="1450975" cy="714375"/>
            <a:chOff x="4406" y="331"/>
            <a:chExt cx="914" cy="450"/>
          </a:xfrm>
        </p:grpSpPr>
        <p:cxnSp>
          <p:nvCxnSpPr>
            <p:cNvPr id="336" name="Google Shape;336;p6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37" name="Google Shape;337;p6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338" name="Google Shape;338;p6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/>
            </a:p>
          </p:txBody>
        </p:sp>
        <p:sp>
          <p:nvSpPr>
            <p:cNvPr id="339" name="Google Shape;339;p6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6"/>
          <p:cNvGrpSpPr/>
          <p:nvPr/>
        </p:nvGrpSpPr>
        <p:grpSpPr>
          <a:xfrm>
            <a:off x="6859613" y="5161978"/>
            <a:ext cx="3017838" cy="1444625"/>
            <a:chOff x="3441" y="3154"/>
            <a:chExt cx="1901" cy="910"/>
          </a:xfrm>
        </p:grpSpPr>
        <p:sp>
          <p:nvSpPr>
            <p:cNvPr id="341" name="Google Shape;341;p6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6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/>
            </a:p>
          </p:txBody>
        </p:sp>
        <p:cxnSp>
          <p:nvCxnSpPr>
            <p:cNvPr id="343" name="Google Shape;343;p6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6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6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6" name="Google Shape;346;p6"/>
          <p:cNvSpPr txBox="1"/>
          <p:nvPr/>
        </p:nvSpPr>
        <p:spPr>
          <a:xfrm>
            <a:off x="9971998" y="5026261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/>
          </a:p>
        </p:txBody>
      </p:sp>
      <p:grpSp>
        <p:nvGrpSpPr>
          <p:cNvPr id="347" name="Google Shape;347;p6"/>
          <p:cNvGrpSpPr/>
          <p:nvPr/>
        </p:nvGrpSpPr>
        <p:grpSpPr>
          <a:xfrm>
            <a:off x="7294588" y="5595366"/>
            <a:ext cx="2471738" cy="376237"/>
            <a:chOff x="2376" y="3383"/>
            <a:chExt cx="1557" cy="237"/>
          </a:xfrm>
        </p:grpSpPr>
        <p:sp>
          <p:nvSpPr>
            <p:cNvPr id="348" name="Google Shape;348;p6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49" name="Google Shape;349;p6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50" name="Google Shape;350;p6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sp>
        <p:nvSpPr>
          <p:cNvPr id="351" name="Google Shape;351;p6"/>
          <p:cNvSpPr txBox="1"/>
          <p:nvPr/>
        </p:nvSpPr>
        <p:spPr>
          <a:xfrm>
            <a:off x="770121" y="2803034"/>
            <a:ext cx="5123322" cy="141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8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frame received, switch “learns”  location of sender: incoming LAN segment</a:t>
            </a:r>
            <a:endParaRPr/>
          </a:p>
        </p:txBody>
      </p:sp>
      <p:sp>
        <p:nvSpPr>
          <p:cNvPr id="352" name="Google Shape;352;p6"/>
          <p:cNvSpPr txBox="1"/>
          <p:nvPr/>
        </p:nvSpPr>
        <p:spPr>
          <a:xfrm>
            <a:off x="783624" y="4101328"/>
            <a:ext cx="5123322" cy="103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8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records sender/location pair in switch table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frame filtering/forwarding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 txBox="1"/>
          <p:nvPr/>
        </p:nvSpPr>
        <p:spPr>
          <a:xfrm>
            <a:off x="630237" y="1370013"/>
            <a:ext cx="10867219" cy="509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 frame received at switch: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 incoming link, MAC address of sending host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index switch table using MAC destination address</a:t>
            </a:r>
            <a:endParaRPr b="1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 if</a:t>
            </a:r>
            <a:r>
              <a:rPr b="1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found for destination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 {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1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1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on segment from which frame arrived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drop frame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forward frame on interface indicated by entry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b="1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flood  /* forward on all interfaces except arriving interface */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8"/>
          <p:cNvGrpSpPr/>
          <p:nvPr/>
        </p:nvGrpSpPr>
        <p:grpSpPr>
          <a:xfrm>
            <a:off x="6860837" y="1886940"/>
            <a:ext cx="3578613" cy="3064134"/>
            <a:chOff x="7670306" y="1697644"/>
            <a:chExt cx="3578613" cy="3064134"/>
          </a:xfrm>
        </p:grpSpPr>
        <p:cxnSp>
          <p:nvCxnSpPr>
            <p:cNvPr id="367" name="Google Shape;367;p8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8" name="Google Shape;368;p8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69" name="Google Shape;369;p8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370" name="Google Shape;370;p8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372" name="Google Shape;372;p8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73" name="Google Shape;373;p8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74" name="Google Shape;374;p8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75" name="Google Shape;375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6" name="Google Shape;376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" name="Google Shape;377;p8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78" name="Google Shape;378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9" name="Google Shape;379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0" name="Google Shape;380;p8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81" name="Google Shape;381;p8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82" name="Google Shape;382;p8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83" name="Google Shape;383;p8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84" name="Google Shape;384;p8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85" name="Google Shape;385;p8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7" name="Google Shape;387;p8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8" name="Google Shape;388;p8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9" name="Google Shape;389;p8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90" name="Google Shape;390;p8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91" name="Google Shape;391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2" name="Google Shape;392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93" name="Google Shape;39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8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5" name="Google Shape;395;p8"/>
            <p:cNvCxnSpPr>
              <a:stCxn id="386" idx="0"/>
              <a:endCxn id="389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8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97" name="Google Shape;397;p8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99" name="Google Shape;399;p8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400" name="Google Shape;400;p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2" name="Google Shape;402;p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3" name="Google Shape;403;p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" name="Google Shape;404;p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" name="Google Shape;405;p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7" name="Google Shape;407;p8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408" name="Google Shape;408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9" name="Google Shape;409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0" name="Google Shape;410;p8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411" name="Google Shape;411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2" name="Google Shape;412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3" name="Google Shape;413;p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Self-learning, forwarding: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" name="Google Shape;415;p8"/>
          <p:cNvGrpSpPr/>
          <p:nvPr/>
        </p:nvGrpSpPr>
        <p:grpSpPr>
          <a:xfrm>
            <a:off x="9177051" y="1598718"/>
            <a:ext cx="1428750" cy="369887"/>
            <a:chOff x="1750" y="3514"/>
            <a:chExt cx="900" cy="233"/>
          </a:xfrm>
        </p:grpSpPr>
        <p:sp>
          <p:nvSpPr>
            <p:cNvPr id="416" name="Google Shape;416;p8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8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8" name="Google Shape;418;p8"/>
            <p:cNvCxnSpPr/>
            <p:nvPr/>
          </p:nvCxnSpPr>
          <p:spPr>
            <a:xfrm>
              <a:off x="1936" y="3541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8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0" name="Google Shape;420;p8"/>
          <p:cNvGrpSpPr/>
          <p:nvPr/>
        </p:nvGrpSpPr>
        <p:grpSpPr>
          <a:xfrm>
            <a:off x="9392951" y="900218"/>
            <a:ext cx="1450975" cy="714375"/>
            <a:chOff x="4406" y="331"/>
            <a:chExt cx="914" cy="450"/>
          </a:xfrm>
        </p:grpSpPr>
        <p:cxnSp>
          <p:nvCxnSpPr>
            <p:cNvPr id="421" name="Google Shape;421;p8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22" name="Google Shape;422;p8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23" name="Google Shape;423;p8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/>
            </a:p>
          </p:txBody>
        </p:sp>
        <p:sp>
          <p:nvSpPr>
            <p:cNvPr id="424" name="Google Shape;424;p8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" name="Google Shape;425;p8"/>
          <p:cNvGrpSpPr/>
          <p:nvPr/>
        </p:nvGrpSpPr>
        <p:grpSpPr>
          <a:xfrm>
            <a:off x="6664038" y="5116671"/>
            <a:ext cx="3017838" cy="1444625"/>
            <a:chOff x="3441" y="3154"/>
            <a:chExt cx="1901" cy="910"/>
          </a:xfrm>
        </p:grpSpPr>
        <p:sp>
          <p:nvSpPr>
            <p:cNvPr id="426" name="Google Shape;426;p8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8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/>
            </a:p>
          </p:txBody>
        </p:sp>
        <p:cxnSp>
          <p:nvCxnSpPr>
            <p:cNvPr id="428" name="Google Shape;428;p8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8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8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1" name="Google Shape;431;p8"/>
          <p:cNvSpPr txBox="1"/>
          <p:nvPr/>
        </p:nvSpPr>
        <p:spPr>
          <a:xfrm>
            <a:off x="9764426" y="5505609"/>
            <a:ext cx="1778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/>
          </a:p>
        </p:txBody>
      </p:sp>
      <p:grpSp>
        <p:nvGrpSpPr>
          <p:cNvPr id="432" name="Google Shape;432;p8"/>
          <p:cNvGrpSpPr/>
          <p:nvPr/>
        </p:nvGrpSpPr>
        <p:grpSpPr>
          <a:xfrm>
            <a:off x="7099013" y="5550059"/>
            <a:ext cx="2471738" cy="376237"/>
            <a:chOff x="2376" y="3383"/>
            <a:chExt cx="1557" cy="237"/>
          </a:xfrm>
        </p:grpSpPr>
        <p:sp>
          <p:nvSpPr>
            <p:cNvPr id="433" name="Google Shape;433;p8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434" name="Google Shape;434;p8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35" name="Google Shape;435;p8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grpSp>
        <p:nvGrpSpPr>
          <p:cNvPr id="436" name="Google Shape;436;p8"/>
          <p:cNvGrpSpPr/>
          <p:nvPr/>
        </p:nvGrpSpPr>
        <p:grpSpPr>
          <a:xfrm>
            <a:off x="8197564" y="3256068"/>
            <a:ext cx="1428750" cy="369887"/>
            <a:chOff x="1750" y="3514"/>
            <a:chExt cx="900" cy="233"/>
          </a:xfrm>
        </p:grpSpPr>
        <p:sp>
          <p:nvSpPr>
            <p:cNvPr id="437" name="Google Shape;437;p8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8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9" name="Google Shape;439;p8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8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1" name="Google Shape;441;p8"/>
          <p:cNvGrpSpPr/>
          <p:nvPr/>
        </p:nvGrpSpPr>
        <p:grpSpPr>
          <a:xfrm>
            <a:off x="8197564" y="3254480"/>
            <a:ext cx="1428750" cy="369888"/>
            <a:chOff x="1750" y="3514"/>
            <a:chExt cx="900" cy="233"/>
          </a:xfrm>
        </p:grpSpPr>
        <p:sp>
          <p:nvSpPr>
            <p:cNvPr id="442" name="Google Shape;442;p8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8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4" name="Google Shape;444;p8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8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6" name="Google Shape;446;p8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447" name="Google Shape;447;p8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8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9" name="Google Shape;449;p8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8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51" name="Google Shape;451;p8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452" name="Google Shape;452;p8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8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4" name="Google Shape;454;p8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8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56" name="Google Shape;456;p8"/>
          <p:cNvGrpSpPr/>
          <p:nvPr/>
        </p:nvGrpSpPr>
        <p:grpSpPr>
          <a:xfrm>
            <a:off x="8194389" y="3254480"/>
            <a:ext cx="1428750" cy="369888"/>
            <a:chOff x="1750" y="3514"/>
            <a:chExt cx="900" cy="233"/>
          </a:xfrm>
        </p:grpSpPr>
        <p:sp>
          <p:nvSpPr>
            <p:cNvPr id="457" name="Google Shape;457;p8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8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9" name="Google Shape;459;p8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8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1" name="Google Shape;461;p8"/>
          <p:cNvGrpSpPr/>
          <p:nvPr/>
        </p:nvGrpSpPr>
        <p:grpSpPr>
          <a:xfrm>
            <a:off x="8529351" y="4356205"/>
            <a:ext cx="1428750" cy="369888"/>
            <a:chOff x="730" y="2472"/>
            <a:chExt cx="900" cy="233"/>
          </a:xfrm>
        </p:grpSpPr>
        <p:sp>
          <p:nvSpPr>
            <p:cNvPr id="462" name="Google Shape;462;p8"/>
            <p:cNvSpPr/>
            <p:nvPr/>
          </p:nvSpPr>
          <p:spPr>
            <a:xfrm>
              <a:off x="751" y="2500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8"/>
            <p:cNvSpPr txBox="1"/>
            <p:nvPr/>
          </p:nvSpPr>
          <p:spPr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/>
            </a:p>
          </p:txBody>
        </p:sp>
        <p:cxnSp>
          <p:nvCxnSpPr>
            <p:cNvPr id="464" name="Google Shape;464;p8"/>
            <p:cNvCxnSpPr/>
            <p:nvPr/>
          </p:nvCxnSpPr>
          <p:spPr>
            <a:xfrm>
              <a:off x="937" y="2499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" name="Google Shape;465;p8"/>
            <p:cNvCxnSpPr/>
            <p:nvPr/>
          </p:nvCxnSpPr>
          <p:spPr>
            <a:xfrm>
              <a:off x="1096" y="2498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6" name="Google Shape;466;p8"/>
          <p:cNvGrpSpPr/>
          <p:nvPr/>
        </p:nvGrpSpPr>
        <p:grpSpPr>
          <a:xfrm>
            <a:off x="7095838" y="5835809"/>
            <a:ext cx="2471738" cy="374650"/>
            <a:chOff x="2376" y="3383"/>
            <a:chExt cx="1557" cy="236"/>
          </a:xfrm>
        </p:grpSpPr>
        <p:sp>
          <p:nvSpPr>
            <p:cNvPr id="467" name="Google Shape;467;p8"/>
            <p:cNvSpPr txBox="1"/>
            <p:nvPr/>
          </p:nvSpPr>
          <p:spPr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8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469" name="Google Shape;469;p8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sp>
        <p:nvSpPr>
          <p:cNvPr id="470" name="Google Shape;470;p8"/>
          <p:cNvSpPr txBox="1"/>
          <p:nvPr/>
        </p:nvSpPr>
        <p:spPr>
          <a:xfrm>
            <a:off x="870366" y="1583075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destination, A’, location unknown:</a:t>
            </a:r>
            <a:endParaRPr b="0" i="1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 txBox="1"/>
          <p:nvPr/>
        </p:nvSpPr>
        <p:spPr>
          <a:xfrm>
            <a:off x="4024181" y="1937790"/>
            <a:ext cx="9428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flood</a:t>
            </a:r>
            <a:endParaRPr/>
          </a:p>
        </p:txBody>
      </p:sp>
      <p:sp>
        <p:nvSpPr>
          <p:cNvPr id="472" name="Google Shape;472;p8"/>
          <p:cNvSpPr/>
          <p:nvPr/>
        </p:nvSpPr>
        <p:spPr>
          <a:xfrm>
            <a:off x="884654" y="2500650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A location known: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1053835" y="2974429"/>
            <a:ext cx="4417575" cy="1252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         selectively send </a:t>
            </a:r>
            <a:endParaRPr/>
          </a:p>
          <a:p>
            <a:pPr indent="-342900" lvl="0" marL="342900" marR="0" rtl="0" algn="l">
              <a:lnSpc>
                <a:spcPct val="107142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on just one link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Interconnecting switches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 txBox="1"/>
          <p:nvPr/>
        </p:nvSpPr>
        <p:spPr>
          <a:xfrm>
            <a:off x="1058264" y="1335790"/>
            <a:ext cx="7881938" cy="68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self-learning switches can be connected together:</a:t>
            </a:r>
            <a:endParaRPr/>
          </a:p>
        </p:txBody>
      </p:sp>
      <p:sp>
        <p:nvSpPr>
          <p:cNvPr id="482" name="Google Shape;482;p9"/>
          <p:cNvSpPr/>
          <p:nvPr/>
        </p:nvSpPr>
        <p:spPr>
          <a:xfrm>
            <a:off x="1080308" y="4550478"/>
            <a:ext cx="1074693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6875" lvl="0" marL="4603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Calibri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from A to G - how does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know to forward frame destined to G via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87338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 learning! (works exactly the same as in single-switch case!)</a:t>
            </a:r>
            <a:endParaRPr/>
          </a:p>
        </p:txBody>
      </p:sp>
      <p:grpSp>
        <p:nvGrpSpPr>
          <p:cNvPr id="483" name="Google Shape;483;p9"/>
          <p:cNvGrpSpPr/>
          <p:nvPr/>
        </p:nvGrpSpPr>
        <p:grpSpPr>
          <a:xfrm>
            <a:off x="2517827" y="2654612"/>
            <a:ext cx="2005135" cy="1358900"/>
            <a:chOff x="958850" y="2444750"/>
            <a:chExt cx="2005665" cy="1358710"/>
          </a:xfrm>
        </p:grpSpPr>
        <p:cxnSp>
          <p:nvCxnSpPr>
            <p:cNvPr id="484" name="Google Shape;484;p9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9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9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7" name="Google Shape;487;p9"/>
            <p:cNvSpPr txBox="1"/>
            <p:nvPr/>
          </p:nvSpPr>
          <p:spPr>
            <a:xfrm>
              <a:off x="958850" y="2844744"/>
              <a:ext cx="317800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488" name="Google Shape;488;p9"/>
            <p:cNvSpPr txBox="1"/>
            <p:nvPr/>
          </p:nvSpPr>
          <p:spPr>
            <a:xfrm>
              <a:off x="1408232" y="3306642"/>
              <a:ext cx="309782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489" name="Google Shape;489;p9"/>
            <p:cNvSpPr txBox="1"/>
            <p:nvPr/>
          </p:nvSpPr>
          <p:spPr>
            <a:xfrm>
              <a:off x="2181548" y="2444750"/>
              <a:ext cx="36910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0" name="Google Shape;490;p9"/>
            <p:cNvSpPr txBox="1"/>
            <p:nvPr/>
          </p:nvSpPr>
          <p:spPr>
            <a:xfrm>
              <a:off x="2656336" y="3298706"/>
              <a:ext cx="30817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grpSp>
          <p:nvGrpSpPr>
            <p:cNvPr id="491" name="Google Shape;491;p9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92" name="Google Shape;492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3" name="Google Shape;493;p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4" name="Google Shape;494;p9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95" name="Google Shape;495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6" name="Google Shape;496;p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9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98" name="Google Shape;498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9" name="Google Shape;499;p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500" name="Google Shape;50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1" name="Google Shape;501;p9"/>
          <p:cNvGrpSpPr/>
          <p:nvPr/>
        </p:nvGrpSpPr>
        <p:grpSpPr>
          <a:xfrm>
            <a:off x="3950752" y="2194237"/>
            <a:ext cx="4856162" cy="2044145"/>
            <a:chOff x="3950752" y="2194237"/>
            <a:chExt cx="4856162" cy="2044145"/>
          </a:xfrm>
        </p:grpSpPr>
        <p:grpSp>
          <p:nvGrpSpPr>
            <p:cNvPr id="502" name="Google Shape;502;p9"/>
            <p:cNvGrpSpPr/>
            <p:nvPr/>
          </p:nvGrpSpPr>
          <p:grpSpPr>
            <a:xfrm>
              <a:off x="3950752" y="2194237"/>
              <a:ext cx="4856162" cy="2044145"/>
              <a:chOff x="2379663" y="1984375"/>
              <a:chExt cx="4855711" cy="2043590"/>
            </a:xfrm>
          </p:grpSpPr>
          <p:cxnSp>
            <p:nvCxnSpPr>
              <p:cNvPr id="503" name="Google Shape;503;p9"/>
              <p:cNvCxnSpPr/>
              <p:nvPr/>
            </p:nvCxnSpPr>
            <p:spPr>
              <a:xfrm flipH="1">
                <a:off x="3635258" y="3068344"/>
                <a:ext cx="346043" cy="21584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" name="Google Shape;504;p9"/>
              <p:cNvCxnSpPr/>
              <p:nvPr/>
            </p:nvCxnSpPr>
            <p:spPr>
              <a:xfrm flipH="1">
                <a:off x="3949554" y="3087389"/>
                <a:ext cx="125401" cy="58721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" name="Google Shape;505;p9"/>
              <p:cNvCxnSpPr/>
              <p:nvPr/>
            </p:nvCxnSpPr>
            <p:spPr>
              <a:xfrm>
                <a:off x="4254326" y="3030254"/>
                <a:ext cx="230167" cy="36185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" name="Google Shape;506;p9"/>
              <p:cNvCxnSpPr/>
              <p:nvPr/>
            </p:nvCxnSpPr>
            <p:spPr>
              <a:xfrm flipH="1">
                <a:off x="5532145" y="3106433"/>
                <a:ext cx="428585" cy="2444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" name="Google Shape;507;p9"/>
              <p:cNvCxnSpPr/>
              <p:nvPr/>
            </p:nvCxnSpPr>
            <p:spPr>
              <a:xfrm flipH="1">
                <a:off x="6035335" y="3077866"/>
                <a:ext cx="9524" cy="4697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" name="Google Shape;508;p9"/>
              <p:cNvCxnSpPr/>
              <p:nvPr/>
            </p:nvCxnSpPr>
            <p:spPr>
              <a:xfrm flipH="1">
                <a:off x="2379663" y="2355749"/>
                <a:ext cx="1517509" cy="53642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9" name="Google Shape;509;p9"/>
              <p:cNvCxnSpPr/>
              <p:nvPr/>
            </p:nvCxnSpPr>
            <p:spPr>
              <a:xfrm>
                <a:off x="4200356" y="2322421"/>
                <a:ext cx="0" cy="599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0" name="Google Shape;510;p9"/>
              <p:cNvCxnSpPr/>
              <p:nvPr/>
            </p:nvCxnSpPr>
            <p:spPr>
              <a:xfrm rot="10800000">
                <a:off x="4449571" y="2306551"/>
                <a:ext cx="1406394" cy="68402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" name="Google Shape;511;p9"/>
              <p:cNvCxnSpPr/>
              <p:nvPr/>
            </p:nvCxnSpPr>
            <p:spPr>
              <a:xfrm>
                <a:off x="6411539" y="3131826"/>
                <a:ext cx="285723" cy="15870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2" name="Google Shape;512;p9"/>
              <p:cNvSpPr txBox="1"/>
              <p:nvPr/>
            </p:nvSpPr>
            <p:spPr>
              <a:xfrm>
                <a:off x="3620973" y="3222289"/>
                <a:ext cx="327304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  <p:sp>
            <p:nvSpPr>
              <p:cNvPr id="513" name="Google Shape;513;p9"/>
              <p:cNvSpPr txBox="1"/>
              <p:nvPr/>
            </p:nvSpPr>
            <p:spPr>
              <a:xfrm>
                <a:off x="4094004" y="3658733"/>
                <a:ext cx="29684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  <p:sp>
            <p:nvSpPr>
              <p:cNvPr id="514" name="Google Shape;514;p9"/>
              <p:cNvSpPr txBox="1"/>
              <p:nvPr/>
            </p:nvSpPr>
            <p:spPr>
              <a:xfrm>
                <a:off x="4567035" y="3057234"/>
                <a:ext cx="290437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/>
              </a:p>
            </p:txBody>
          </p:sp>
          <p:sp>
            <p:nvSpPr>
              <p:cNvPr id="515" name="Google Shape;515;p9"/>
              <p:cNvSpPr txBox="1"/>
              <p:nvPr/>
            </p:nvSpPr>
            <p:spPr>
              <a:xfrm>
                <a:off x="3408267" y="2768387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516" name="Google Shape;516;p9"/>
              <p:cNvSpPr txBox="1"/>
              <p:nvPr/>
            </p:nvSpPr>
            <p:spPr>
              <a:xfrm>
                <a:off x="4635290" y="1984375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  <p:sp>
            <p:nvSpPr>
              <p:cNvPr id="517" name="Google Shape;517;p9"/>
              <p:cNvSpPr txBox="1"/>
              <p:nvPr/>
            </p:nvSpPr>
            <p:spPr>
              <a:xfrm>
                <a:off x="6009938" y="2570004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  <p:sp>
            <p:nvSpPr>
              <p:cNvPr id="518" name="Google Shape;518;p9"/>
              <p:cNvSpPr txBox="1"/>
              <p:nvPr/>
            </p:nvSpPr>
            <p:spPr>
              <a:xfrm>
                <a:off x="6240104" y="3541290"/>
                <a:ext cx="328905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/>
              </a:p>
            </p:txBody>
          </p:sp>
          <p:sp>
            <p:nvSpPr>
              <p:cNvPr id="519" name="Google Shape;519;p9"/>
              <p:cNvSpPr txBox="1"/>
              <p:nvPr/>
            </p:nvSpPr>
            <p:spPr>
              <a:xfrm>
                <a:off x="6986160" y="3179439"/>
                <a:ext cx="249214" cy="3697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</a:t>
                </a:r>
                <a:endParaRPr/>
              </a:p>
            </p:txBody>
          </p:sp>
          <p:sp>
            <p:nvSpPr>
              <p:cNvPr id="520" name="Google Shape;520;p9"/>
              <p:cNvSpPr txBox="1"/>
              <p:nvPr/>
            </p:nvSpPr>
            <p:spPr>
              <a:xfrm>
                <a:off x="5103560" y="3595251"/>
                <a:ext cx="330509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/>
              </a:p>
            </p:txBody>
          </p:sp>
          <p:pic>
            <p:nvPicPr>
              <p:cNvPr id="521" name="Google Shape;521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763899" y="2930268"/>
                <a:ext cx="677799" cy="29995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22" name="Google Shape;522;p9"/>
              <p:cNvGrpSpPr/>
              <p:nvPr/>
            </p:nvGrpSpPr>
            <p:grpSpPr>
              <a:xfrm>
                <a:off x="3139440" y="3180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23" name="Google Shape;523;p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24" name="Google Shape;524;p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5" name="Google Shape;525;p9"/>
              <p:cNvGrpSpPr/>
              <p:nvPr/>
            </p:nvGrpSpPr>
            <p:grpSpPr>
              <a:xfrm>
                <a:off x="3576320" y="35255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26" name="Google Shape;526;p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27" name="Google Shape;527;p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8" name="Google Shape;528;p9"/>
              <p:cNvGrpSpPr/>
              <p:nvPr/>
            </p:nvGrpSpPr>
            <p:grpSpPr>
              <a:xfrm>
                <a:off x="4135120" y="32816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29" name="Google Shape;529;p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30" name="Google Shape;530;p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1" name="Google Shape;531;p9"/>
              <p:cNvGrpSpPr/>
              <p:nvPr/>
            </p:nvGrpSpPr>
            <p:grpSpPr>
              <a:xfrm>
                <a:off x="5049520" y="326136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32" name="Google Shape;532;p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33" name="Google Shape;533;p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4" name="Google Shape;534;p9"/>
              <p:cNvGrpSpPr/>
              <p:nvPr/>
            </p:nvGrpSpPr>
            <p:grpSpPr>
              <a:xfrm>
                <a:off x="5588000" y="3434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35" name="Google Shape;535;p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36" name="Google Shape;536;p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7" name="Google Shape;537;p9"/>
              <p:cNvGrpSpPr/>
              <p:nvPr/>
            </p:nvGrpSpPr>
            <p:grpSpPr>
              <a:xfrm>
                <a:off x="6380480" y="314960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38" name="Google Shape;538;p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39" name="Google Shape;539;p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540" name="Google Shape;540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54313" y="2847741"/>
                <a:ext cx="677800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1" name="Google Shape;541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74949" y="2116102"/>
                <a:ext cx="676212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42" name="Google Shape;542;p9"/>
            <p:cNvGrpSpPr/>
            <p:nvPr/>
          </p:nvGrpSpPr>
          <p:grpSpPr>
            <a:xfrm>
              <a:off x="5398824" y="2310984"/>
              <a:ext cx="746763" cy="344773"/>
              <a:chOff x="3668110" y="2448910"/>
              <a:chExt cx="3794234" cy="2165130"/>
            </a:xfrm>
          </p:grpSpPr>
          <p:sp>
            <p:nvSpPr>
              <p:cNvPr id="543" name="Google Shape;543;p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5" name="Google Shape;545;p9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46" name="Google Shape;546;p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" name="Google Shape;547;p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0" name="Google Shape;550;p9"/>
            <p:cNvGrpSpPr/>
            <p:nvPr/>
          </p:nvGrpSpPr>
          <p:grpSpPr>
            <a:xfrm>
              <a:off x="7290083" y="3122951"/>
              <a:ext cx="746763" cy="344773"/>
              <a:chOff x="3668110" y="2448910"/>
              <a:chExt cx="3794234" cy="2165130"/>
            </a:xfrm>
          </p:grpSpPr>
          <p:sp>
            <p:nvSpPr>
              <p:cNvPr id="551" name="Google Shape;551;p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3" name="Google Shape;553;p9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54" name="Google Shape;554;p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5" name="Google Shape;555;p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8" name="Google Shape;558;p9"/>
            <p:cNvGrpSpPr/>
            <p:nvPr/>
          </p:nvGrpSpPr>
          <p:grpSpPr>
            <a:xfrm>
              <a:off x="5371262" y="3020518"/>
              <a:ext cx="746763" cy="344773"/>
              <a:chOff x="3668110" y="2448910"/>
              <a:chExt cx="3794234" cy="2165130"/>
            </a:xfrm>
          </p:grpSpPr>
          <p:sp>
            <p:nvSpPr>
              <p:cNvPr id="559" name="Google Shape;559;p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1" name="Google Shape;561;p9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62" name="Google Shape;562;p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" name="Google Shape;563;p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" name="Google Shape;564;p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66" name="Google Shape;566;p9"/>
          <p:cNvGrpSpPr/>
          <p:nvPr/>
        </p:nvGrpSpPr>
        <p:grpSpPr>
          <a:xfrm>
            <a:off x="3510443" y="3070406"/>
            <a:ext cx="746763" cy="344773"/>
            <a:chOff x="3668110" y="2448910"/>
            <a:chExt cx="3794234" cy="2165130"/>
          </a:xfrm>
        </p:grpSpPr>
        <p:sp>
          <p:nvSpPr>
            <p:cNvPr id="567" name="Google Shape;567;p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9" name="Google Shape;569;p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70" name="Google Shape;570;p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Self-learning multi-switch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0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0"/>
          <p:cNvSpPr txBox="1"/>
          <p:nvPr/>
        </p:nvSpPr>
        <p:spPr>
          <a:xfrm>
            <a:off x="1060528" y="1364678"/>
            <a:ext cx="8743038" cy="80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 sends frame to I, I responds to C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0"/>
          <p:cNvSpPr/>
          <p:nvPr/>
        </p:nvSpPr>
        <p:spPr>
          <a:xfrm>
            <a:off x="1239030" y="4858947"/>
            <a:ext cx="10952969" cy="184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Calibri"/>
              <a:buNone/>
            </a:pPr>
            <a:r>
              <a:rPr b="0" i="0" lang="en-US" sz="32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switch tables and packet forwarding in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583" name="Google Shape;583;p10"/>
          <p:cNvGrpSpPr/>
          <p:nvPr/>
        </p:nvGrpSpPr>
        <p:grpSpPr>
          <a:xfrm>
            <a:off x="2517827" y="2194237"/>
            <a:ext cx="6289087" cy="2044145"/>
            <a:chOff x="2517827" y="2194237"/>
            <a:chExt cx="6289087" cy="2044145"/>
          </a:xfrm>
        </p:grpSpPr>
        <p:grpSp>
          <p:nvGrpSpPr>
            <p:cNvPr id="584" name="Google Shape;584;p10"/>
            <p:cNvGrpSpPr/>
            <p:nvPr/>
          </p:nvGrpSpPr>
          <p:grpSpPr>
            <a:xfrm>
              <a:off x="2517827" y="2654612"/>
              <a:ext cx="2005135" cy="1358900"/>
              <a:chOff x="958850" y="2444750"/>
              <a:chExt cx="2005665" cy="1358710"/>
            </a:xfrm>
          </p:grpSpPr>
          <p:cxnSp>
            <p:nvCxnSpPr>
              <p:cNvPr id="585" name="Google Shape;585;p10"/>
              <p:cNvCxnSpPr/>
              <p:nvPr/>
            </p:nvCxnSpPr>
            <p:spPr>
              <a:xfrm rot="10800000">
                <a:off x="1582903" y="3030456"/>
                <a:ext cx="55577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" name="Google Shape;586;p10"/>
              <p:cNvCxnSpPr/>
              <p:nvPr/>
            </p:nvCxnSpPr>
            <p:spPr>
              <a:xfrm flipH="1">
                <a:off x="1970355" y="3078074"/>
                <a:ext cx="271534" cy="31428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7" name="Google Shape;587;p10"/>
              <p:cNvCxnSpPr/>
              <p:nvPr/>
            </p:nvCxnSpPr>
            <p:spPr>
              <a:xfrm>
                <a:off x="2389566" y="3106645"/>
                <a:ext cx="73044" cy="29523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8" name="Google Shape;588;p10"/>
              <p:cNvSpPr txBox="1"/>
              <p:nvPr/>
            </p:nvSpPr>
            <p:spPr>
              <a:xfrm>
                <a:off x="958850" y="2844744"/>
                <a:ext cx="317800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589" name="Google Shape;589;p10"/>
              <p:cNvSpPr txBox="1"/>
              <p:nvPr/>
            </p:nvSpPr>
            <p:spPr>
              <a:xfrm>
                <a:off x="1408232" y="3306642"/>
                <a:ext cx="309782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590" name="Google Shape;590;p10"/>
              <p:cNvSpPr txBox="1"/>
              <p:nvPr/>
            </p:nvSpPr>
            <p:spPr>
              <a:xfrm>
                <a:off x="2181548" y="2444750"/>
                <a:ext cx="36910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591" name="Google Shape;591;p10"/>
              <p:cNvSpPr txBox="1"/>
              <p:nvPr/>
            </p:nvSpPr>
            <p:spPr>
              <a:xfrm>
                <a:off x="2656336" y="3298706"/>
                <a:ext cx="30817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  <p:grpSp>
            <p:nvGrpSpPr>
              <p:cNvPr id="592" name="Google Shape;592;p10"/>
              <p:cNvGrpSpPr/>
              <p:nvPr/>
            </p:nvGrpSpPr>
            <p:grpSpPr>
              <a:xfrm>
                <a:off x="1127760" y="28346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93" name="Google Shape;593;p1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94" name="Google Shape;594;p1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5" name="Google Shape;595;p10"/>
              <p:cNvGrpSpPr/>
              <p:nvPr/>
            </p:nvGrpSpPr>
            <p:grpSpPr>
              <a:xfrm>
                <a:off x="1534160" y="32918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96" name="Google Shape;596;p1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97" name="Google Shape;597;p1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8" name="Google Shape;598;p10"/>
              <p:cNvGrpSpPr/>
              <p:nvPr/>
            </p:nvGrpSpPr>
            <p:grpSpPr>
              <a:xfrm>
                <a:off x="2062480" y="33223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99" name="Google Shape;599;p1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00" name="Google Shape;600;p1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601" name="Google Shape;601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14817" y="2879664"/>
                <a:ext cx="678041" cy="299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02" name="Google Shape;602;p10"/>
            <p:cNvGrpSpPr/>
            <p:nvPr/>
          </p:nvGrpSpPr>
          <p:grpSpPr>
            <a:xfrm>
              <a:off x="3950752" y="2194237"/>
              <a:ext cx="4856162" cy="2044145"/>
              <a:chOff x="3950752" y="2194237"/>
              <a:chExt cx="4856162" cy="2044145"/>
            </a:xfrm>
          </p:grpSpPr>
          <p:grpSp>
            <p:nvGrpSpPr>
              <p:cNvPr id="603" name="Google Shape;603;p10"/>
              <p:cNvGrpSpPr/>
              <p:nvPr/>
            </p:nvGrpSpPr>
            <p:grpSpPr>
              <a:xfrm>
                <a:off x="3950752" y="2194237"/>
                <a:ext cx="4856162" cy="2044145"/>
                <a:chOff x="2379663" y="1984375"/>
                <a:chExt cx="4855711" cy="2043590"/>
              </a:xfrm>
            </p:grpSpPr>
            <p:cxnSp>
              <p:nvCxnSpPr>
                <p:cNvPr id="604" name="Google Shape;604;p10"/>
                <p:cNvCxnSpPr/>
                <p:nvPr/>
              </p:nvCxnSpPr>
              <p:spPr>
                <a:xfrm flipH="1">
                  <a:off x="3635258" y="3068344"/>
                  <a:ext cx="346043" cy="2158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5" name="Google Shape;605;p10"/>
                <p:cNvCxnSpPr/>
                <p:nvPr/>
              </p:nvCxnSpPr>
              <p:spPr>
                <a:xfrm flipH="1">
                  <a:off x="3949554" y="3087389"/>
                  <a:ext cx="125401" cy="5872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6" name="Google Shape;606;p10"/>
                <p:cNvCxnSpPr/>
                <p:nvPr/>
              </p:nvCxnSpPr>
              <p:spPr>
                <a:xfrm>
                  <a:off x="4254326" y="3030254"/>
                  <a:ext cx="230167" cy="3618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" name="Google Shape;607;p10"/>
                <p:cNvCxnSpPr/>
                <p:nvPr/>
              </p:nvCxnSpPr>
              <p:spPr>
                <a:xfrm flipH="1">
                  <a:off x="5532145" y="3106433"/>
                  <a:ext cx="428585" cy="2444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8" name="Google Shape;608;p10"/>
                <p:cNvCxnSpPr/>
                <p:nvPr/>
              </p:nvCxnSpPr>
              <p:spPr>
                <a:xfrm flipH="1">
                  <a:off x="6035335" y="3077866"/>
                  <a:ext cx="9524" cy="4697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9" name="Google Shape;609;p10"/>
                <p:cNvCxnSpPr/>
                <p:nvPr/>
              </p:nvCxnSpPr>
              <p:spPr>
                <a:xfrm flipH="1">
                  <a:off x="2379663" y="2355749"/>
                  <a:ext cx="1517509" cy="53642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0" name="Google Shape;610;p10"/>
                <p:cNvCxnSpPr/>
                <p:nvPr/>
              </p:nvCxnSpPr>
              <p:spPr>
                <a:xfrm>
                  <a:off x="4200356" y="2322421"/>
                  <a:ext cx="0" cy="59991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1" name="Google Shape;611;p10"/>
                <p:cNvCxnSpPr/>
                <p:nvPr/>
              </p:nvCxnSpPr>
              <p:spPr>
                <a:xfrm rot="10800000">
                  <a:off x="4449571" y="2306551"/>
                  <a:ext cx="1406394" cy="6840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2" name="Google Shape;612;p10"/>
                <p:cNvCxnSpPr/>
                <p:nvPr/>
              </p:nvCxnSpPr>
              <p:spPr>
                <a:xfrm>
                  <a:off x="6411539" y="3131826"/>
                  <a:ext cx="285723" cy="15870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13" name="Google Shape;613;p10"/>
                <p:cNvSpPr txBox="1"/>
                <p:nvPr/>
              </p:nvSpPr>
              <p:spPr>
                <a:xfrm>
                  <a:off x="3620973" y="3222289"/>
                  <a:ext cx="327304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/>
                </a:p>
              </p:txBody>
            </p:sp>
            <p:sp>
              <p:nvSpPr>
                <p:cNvPr id="614" name="Google Shape;614;p10"/>
                <p:cNvSpPr txBox="1"/>
                <p:nvPr/>
              </p:nvSpPr>
              <p:spPr>
                <a:xfrm>
                  <a:off x="4094004" y="3658733"/>
                  <a:ext cx="29684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/>
                </a:p>
              </p:txBody>
            </p:sp>
            <p:sp>
              <p:nvSpPr>
                <p:cNvPr id="615" name="Google Shape;615;p10"/>
                <p:cNvSpPr txBox="1"/>
                <p:nvPr/>
              </p:nvSpPr>
              <p:spPr>
                <a:xfrm>
                  <a:off x="4567035" y="3057234"/>
                  <a:ext cx="290437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/>
                </a:p>
              </p:txBody>
            </p:sp>
            <p:sp>
              <p:nvSpPr>
                <p:cNvPr id="616" name="Google Shape;616;p10"/>
                <p:cNvSpPr txBox="1"/>
                <p:nvPr/>
              </p:nvSpPr>
              <p:spPr>
                <a:xfrm>
                  <a:off x="3408267" y="2768387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/>
                </a:p>
              </p:txBody>
            </p:sp>
            <p:sp>
              <p:nvSpPr>
                <p:cNvPr id="617" name="Google Shape;617;p10"/>
                <p:cNvSpPr txBox="1"/>
                <p:nvPr/>
              </p:nvSpPr>
              <p:spPr>
                <a:xfrm>
                  <a:off x="4635290" y="1984375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/>
                </a:p>
              </p:txBody>
            </p:sp>
            <p:sp>
              <p:nvSpPr>
                <p:cNvPr id="618" name="Google Shape;618;p10"/>
                <p:cNvSpPr txBox="1"/>
                <p:nvPr/>
              </p:nvSpPr>
              <p:spPr>
                <a:xfrm>
                  <a:off x="6009938" y="2570004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</a:t>
                  </a:r>
                  <a:endParaRPr/>
                </a:p>
              </p:txBody>
            </p:sp>
            <p:sp>
              <p:nvSpPr>
                <p:cNvPr id="619" name="Google Shape;619;p10"/>
                <p:cNvSpPr txBox="1"/>
                <p:nvPr/>
              </p:nvSpPr>
              <p:spPr>
                <a:xfrm>
                  <a:off x="6240104" y="3541290"/>
                  <a:ext cx="328905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</a:t>
                  </a:r>
                  <a:endParaRPr/>
                </a:p>
              </p:txBody>
            </p:sp>
            <p:sp>
              <p:nvSpPr>
                <p:cNvPr id="620" name="Google Shape;620;p10"/>
                <p:cNvSpPr txBox="1"/>
                <p:nvPr/>
              </p:nvSpPr>
              <p:spPr>
                <a:xfrm>
                  <a:off x="6986160" y="3179439"/>
                  <a:ext cx="249214" cy="3697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</a:t>
                  </a:r>
                  <a:endParaRPr/>
                </a:p>
              </p:txBody>
            </p:sp>
            <p:sp>
              <p:nvSpPr>
                <p:cNvPr id="621" name="Google Shape;621;p10"/>
                <p:cNvSpPr txBox="1"/>
                <p:nvPr/>
              </p:nvSpPr>
              <p:spPr>
                <a:xfrm>
                  <a:off x="5103560" y="3595251"/>
                  <a:ext cx="330509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/>
                </a:p>
              </p:txBody>
            </p:sp>
            <p:pic>
              <p:nvPicPr>
                <p:cNvPr id="622" name="Google Shape;622;p1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763899" y="2930268"/>
                  <a:ext cx="677799" cy="2999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623" name="Google Shape;623;p10"/>
                <p:cNvGrpSpPr/>
                <p:nvPr/>
              </p:nvGrpSpPr>
              <p:grpSpPr>
                <a:xfrm>
                  <a:off x="3139440" y="3180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624" name="Google Shape;624;p1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25" name="Google Shape;625;p10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26" name="Google Shape;626;p10"/>
                <p:cNvGrpSpPr/>
                <p:nvPr/>
              </p:nvGrpSpPr>
              <p:grpSpPr>
                <a:xfrm>
                  <a:off x="3576320" y="352552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627" name="Google Shape;627;p1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28" name="Google Shape;628;p10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29" name="Google Shape;629;p10"/>
                <p:cNvGrpSpPr/>
                <p:nvPr/>
              </p:nvGrpSpPr>
              <p:grpSpPr>
                <a:xfrm>
                  <a:off x="4135120" y="32816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630" name="Google Shape;630;p1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31" name="Google Shape;631;p10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2" name="Google Shape;632;p10"/>
                <p:cNvGrpSpPr/>
                <p:nvPr/>
              </p:nvGrpSpPr>
              <p:grpSpPr>
                <a:xfrm>
                  <a:off x="5049520" y="326136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633" name="Google Shape;633;p1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34" name="Google Shape;634;p10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5" name="Google Shape;635;p10"/>
                <p:cNvGrpSpPr/>
                <p:nvPr/>
              </p:nvGrpSpPr>
              <p:grpSpPr>
                <a:xfrm>
                  <a:off x="5588000" y="3434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636" name="Google Shape;636;p1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37" name="Google Shape;637;p10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8" name="Google Shape;638;p10"/>
                <p:cNvGrpSpPr/>
                <p:nvPr/>
              </p:nvGrpSpPr>
              <p:grpSpPr>
                <a:xfrm>
                  <a:off x="6380480" y="314960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639" name="Google Shape;639;p1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40" name="Google Shape;640;p10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id="641" name="Google Shape;641;p1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54313" y="2847741"/>
                  <a:ext cx="677800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42" name="Google Shape;642;p1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74949" y="2116102"/>
                  <a:ext cx="676212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643" name="Google Shape;643;p10"/>
              <p:cNvGrpSpPr/>
              <p:nvPr/>
            </p:nvGrpSpPr>
            <p:grpSpPr>
              <a:xfrm>
                <a:off x="5398824" y="2310984"/>
                <a:ext cx="746763" cy="344773"/>
                <a:chOff x="3668110" y="2448910"/>
                <a:chExt cx="3794234" cy="2165130"/>
              </a:xfrm>
            </p:grpSpPr>
            <p:sp>
              <p:nvSpPr>
                <p:cNvPr id="644" name="Google Shape;644;p10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0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46" name="Google Shape;646;p10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647" name="Google Shape;647;p10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8" name="Google Shape;648;p10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9" name="Google Shape;649;p10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0" name="Google Shape;650;p10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51" name="Google Shape;651;p10"/>
              <p:cNvGrpSpPr/>
              <p:nvPr/>
            </p:nvGrpSpPr>
            <p:grpSpPr>
              <a:xfrm>
                <a:off x="7290083" y="3122951"/>
                <a:ext cx="746763" cy="344773"/>
                <a:chOff x="3668110" y="2448910"/>
                <a:chExt cx="3794234" cy="2165130"/>
              </a:xfrm>
            </p:grpSpPr>
            <p:sp>
              <p:nvSpPr>
                <p:cNvPr id="652" name="Google Shape;652;p10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0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4" name="Google Shape;654;p10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655" name="Google Shape;655;p10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6" name="Google Shape;656;p10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57;p10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8" name="Google Shape;658;p10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59" name="Google Shape;659;p10"/>
              <p:cNvGrpSpPr/>
              <p:nvPr/>
            </p:nvGrpSpPr>
            <p:grpSpPr>
              <a:xfrm>
                <a:off x="5371262" y="3020518"/>
                <a:ext cx="746763" cy="344773"/>
                <a:chOff x="3668110" y="2448910"/>
                <a:chExt cx="3794234" cy="2165130"/>
              </a:xfrm>
            </p:grpSpPr>
            <p:sp>
              <p:nvSpPr>
                <p:cNvPr id="660" name="Google Shape;660;p10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0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62" name="Google Shape;662;p10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663" name="Google Shape;663;p10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" name="Google Shape;664;p10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" name="Google Shape;665;p10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10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667" name="Google Shape;667;p10"/>
            <p:cNvGrpSpPr/>
            <p:nvPr/>
          </p:nvGrpSpPr>
          <p:grpSpPr>
            <a:xfrm>
              <a:off x="3510443" y="3070406"/>
              <a:ext cx="746763" cy="344773"/>
              <a:chOff x="3668110" y="2448910"/>
              <a:chExt cx="3794234" cy="2165130"/>
            </a:xfrm>
          </p:grpSpPr>
          <p:sp>
            <p:nvSpPr>
              <p:cNvPr id="668" name="Google Shape;668;p1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0" name="Google Shape;670;p1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71" name="Google Shape;671;p1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1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1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1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Switches vs. routers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1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1"/>
          <p:cNvSpPr/>
          <p:nvPr/>
        </p:nvSpPr>
        <p:spPr>
          <a:xfrm flipH="1">
            <a:off x="9361825" y="2092325"/>
            <a:ext cx="638175" cy="803639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1"/>
          <p:cNvSpPr/>
          <p:nvPr/>
        </p:nvSpPr>
        <p:spPr>
          <a:xfrm>
            <a:off x="9349126" y="844952"/>
            <a:ext cx="360363" cy="1517612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1"/>
          <p:cNvSpPr/>
          <p:nvPr/>
        </p:nvSpPr>
        <p:spPr>
          <a:xfrm>
            <a:off x="8077539" y="862377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5" name="Google Shape;685;p11"/>
          <p:cNvCxnSpPr/>
          <p:nvPr/>
        </p:nvCxnSpPr>
        <p:spPr>
          <a:xfrm>
            <a:off x="8077539" y="1179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11"/>
          <p:cNvSpPr txBox="1"/>
          <p:nvPr/>
        </p:nvSpPr>
        <p:spPr>
          <a:xfrm>
            <a:off x="8056901" y="829039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cxnSp>
        <p:nvCxnSpPr>
          <p:cNvPr id="687" name="Google Shape;687;p11"/>
          <p:cNvCxnSpPr/>
          <p:nvPr/>
        </p:nvCxnSpPr>
        <p:spPr>
          <a:xfrm>
            <a:off x="8085476" y="15005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11"/>
          <p:cNvCxnSpPr/>
          <p:nvPr/>
        </p:nvCxnSpPr>
        <p:spPr>
          <a:xfrm>
            <a:off x="8090239" y="17815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11"/>
          <p:cNvCxnSpPr/>
          <p:nvPr/>
        </p:nvCxnSpPr>
        <p:spPr>
          <a:xfrm>
            <a:off x="8090239" y="20577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0" name="Google Shape;690;p11"/>
          <p:cNvGrpSpPr/>
          <p:nvPr/>
        </p:nvGrpSpPr>
        <p:grpSpPr>
          <a:xfrm>
            <a:off x="9518991" y="3463925"/>
            <a:ext cx="1328738" cy="996950"/>
            <a:chOff x="3593" y="192"/>
            <a:chExt cx="837" cy="628"/>
          </a:xfrm>
        </p:grpSpPr>
        <p:sp>
          <p:nvSpPr>
            <p:cNvPr id="691" name="Google Shape;691;p11"/>
            <p:cNvSpPr/>
            <p:nvPr/>
          </p:nvSpPr>
          <p:spPr>
            <a:xfrm>
              <a:off x="3628" y="213"/>
              <a:ext cx="802" cy="596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2" name="Google Shape;692;p11"/>
            <p:cNvCxnSpPr/>
            <p:nvPr/>
          </p:nvCxnSpPr>
          <p:spPr>
            <a:xfrm>
              <a:off x="3628" y="413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3" name="Google Shape;693;p11"/>
            <p:cNvSpPr txBox="1"/>
            <p:nvPr/>
          </p:nvSpPr>
          <p:spPr>
            <a:xfrm>
              <a:off x="3593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694" name="Google Shape;694;p11"/>
            <p:cNvCxnSpPr/>
            <p:nvPr/>
          </p:nvCxnSpPr>
          <p:spPr>
            <a:xfrm>
              <a:off x="3633" y="615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95" name="Google Shape;695;p11"/>
          <p:cNvGrpSpPr/>
          <p:nvPr/>
        </p:nvGrpSpPr>
        <p:grpSpPr>
          <a:xfrm>
            <a:off x="9901576" y="2097452"/>
            <a:ext cx="1317625" cy="695325"/>
            <a:chOff x="4714" y="633"/>
            <a:chExt cx="830" cy="438"/>
          </a:xfrm>
        </p:grpSpPr>
        <p:sp>
          <p:nvSpPr>
            <p:cNvPr id="696" name="Google Shape;696;p11"/>
            <p:cNvSpPr/>
            <p:nvPr/>
          </p:nvSpPr>
          <p:spPr>
            <a:xfrm>
              <a:off x="4723" y="642"/>
              <a:ext cx="802" cy="4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7" name="Google Shape;697;p11"/>
            <p:cNvCxnSpPr/>
            <p:nvPr/>
          </p:nvCxnSpPr>
          <p:spPr>
            <a:xfrm>
              <a:off x="4723" y="842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8" name="Google Shape;698;p11"/>
            <p:cNvSpPr txBox="1"/>
            <p:nvPr/>
          </p:nvSpPr>
          <p:spPr>
            <a:xfrm>
              <a:off x="4714" y="633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</p:grpSp>
      <p:sp>
        <p:nvSpPr>
          <p:cNvPr id="699" name="Google Shape;699;p11"/>
          <p:cNvSpPr txBox="1"/>
          <p:nvPr/>
        </p:nvSpPr>
        <p:spPr>
          <a:xfrm>
            <a:off x="8672851" y="2943589"/>
            <a:ext cx="799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/>
          </a:p>
        </p:txBody>
      </p:sp>
      <p:grpSp>
        <p:nvGrpSpPr>
          <p:cNvPr id="700" name="Google Shape;700;p11"/>
          <p:cNvGrpSpPr/>
          <p:nvPr/>
        </p:nvGrpSpPr>
        <p:grpSpPr>
          <a:xfrm>
            <a:off x="7270588" y="1487019"/>
            <a:ext cx="917575" cy="307975"/>
            <a:chOff x="1080" y="911"/>
            <a:chExt cx="578" cy="194"/>
          </a:xfrm>
        </p:grpSpPr>
        <p:sp>
          <p:nvSpPr>
            <p:cNvPr id="701" name="Google Shape;701;p11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1"/>
            <p:cNvSpPr txBox="1"/>
            <p:nvPr/>
          </p:nvSpPr>
          <p:spPr>
            <a:xfrm>
              <a:off x="1080" y="911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703" name="Google Shape;703;p11"/>
          <p:cNvSpPr/>
          <p:nvPr/>
        </p:nvSpPr>
        <p:spPr>
          <a:xfrm>
            <a:off x="7979114" y="4605702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4" name="Google Shape;704;p11"/>
          <p:cNvCxnSpPr/>
          <p:nvPr/>
        </p:nvCxnSpPr>
        <p:spPr>
          <a:xfrm>
            <a:off x="7979114" y="4923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5" name="Google Shape;705;p11"/>
          <p:cNvSpPr txBox="1"/>
          <p:nvPr/>
        </p:nvSpPr>
        <p:spPr>
          <a:xfrm>
            <a:off x="7958476" y="457871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cxnSp>
        <p:nvCxnSpPr>
          <p:cNvPr id="706" name="Google Shape;706;p11"/>
          <p:cNvCxnSpPr/>
          <p:nvPr/>
        </p:nvCxnSpPr>
        <p:spPr>
          <a:xfrm>
            <a:off x="7987051" y="5243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11"/>
          <p:cNvCxnSpPr/>
          <p:nvPr/>
        </p:nvCxnSpPr>
        <p:spPr>
          <a:xfrm>
            <a:off x="7991814" y="55248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11"/>
          <p:cNvCxnSpPr/>
          <p:nvPr/>
        </p:nvCxnSpPr>
        <p:spPr>
          <a:xfrm>
            <a:off x="7991814" y="58010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11"/>
          <p:cNvSpPr/>
          <p:nvPr/>
        </p:nvSpPr>
        <p:spPr>
          <a:xfrm>
            <a:off x="9264650" y="4613275"/>
            <a:ext cx="406739" cy="1784714"/>
          </a:xfrm>
          <a:custGeom>
            <a:rect b="b" l="l" r="r" t="t"/>
            <a:pathLst>
              <a:path extrusionOk="0" h="1170" w="24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0" name="Google Shape;710;p11"/>
          <p:cNvGrpSpPr/>
          <p:nvPr/>
        </p:nvGrpSpPr>
        <p:grpSpPr>
          <a:xfrm>
            <a:off x="7112339" y="1754552"/>
            <a:ext cx="1095375" cy="338137"/>
            <a:chOff x="998" y="1077"/>
            <a:chExt cx="690" cy="213"/>
          </a:xfrm>
        </p:grpSpPr>
        <p:sp>
          <p:nvSpPr>
            <p:cNvPr id="711" name="Google Shape;711;p11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1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sp>
        <p:nvSpPr>
          <p:cNvPr id="713" name="Google Shape;713;p11"/>
          <p:cNvSpPr/>
          <p:nvPr/>
        </p:nvSpPr>
        <p:spPr>
          <a:xfrm>
            <a:off x="8099764" y="663939"/>
            <a:ext cx="2924175" cy="5314950"/>
          </a:xfrm>
          <a:custGeom>
            <a:rect b="b" l="l" r="r" t="t"/>
            <a:pathLst>
              <a:path extrusionOk="0" h="3348" w="1842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4" name="Google Shape;714;p11"/>
          <p:cNvGrpSpPr/>
          <p:nvPr/>
        </p:nvGrpSpPr>
        <p:grpSpPr>
          <a:xfrm>
            <a:off x="10884239" y="2106977"/>
            <a:ext cx="1095375" cy="338137"/>
            <a:chOff x="998" y="1077"/>
            <a:chExt cx="690" cy="213"/>
          </a:xfrm>
        </p:grpSpPr>
        <p:sp>
          <p:nvSpPr>
            <p:cNvPr id="715" name="Google Shape;715;p11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1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grpSp>
        <p:nvGrpSpPr>
          <p:cNvPr id="717" name="Google Shape;717;p11"/>
          <p:cNvGrpSpPr/>
          <p:nvPr/>
        </p:nvGrpSpPr>
        <p:grpSpPr>
          <a:xfrm>
            <a:off x="10560389" y="3854815"/>
            <a:ext cx="1095375" cy="338137"/>
            <a:chOff x="998" y="1074"/>
            <a:chExt cx="690" cy="213"/>
          </a:xfrm>
        </p:grpSpPr>
        <p:sp>
          <p:nvSpPr>
            <p:cNvPr id="718" name="Google Shape;718;p11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1"/>
            <p:cNvSpPr txBox="1"/>
            <p:nvPr/>
          </p:nvSpPr>
          <p:spPr>
            <a:xfrm>
              <a:off x="1107" y="1074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grpSp>
        <p:nvGrpSpPr>
          <p:cNvPr id="720" name="Google Shape;720;p11"/>
          <p:cNvGrpSpPr/>
          <p:nvPr/>
        </p:nvGrpSpPr>
        <p:grpSpPr>
          <a:xfrm>
            <a:off x="10646114" y="3580178"/>
            <a:ext cx="914400" cy="307975"/>
            <a:chOff x="1082" y="919"/>
            <a:chExt cx="576" cy="194"/>
          </a:xfrm>
        </p:grpSpPr>
        <p:sp>
          <p:nvSpPr>
            <p:cNvPr id="721" name="Google Shape;721;p11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1"/>
            <p:cNvSpPr txBox="1"/>
            <p:nvPr/>
          </p:nvSpPr>
          <p:spPr>
            <a:xfrm>
              <a:off x="1082" y="919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723" name="Google Shape;723;p11"/>
          <p:cNvSpPr/>
          <p:nvPr/>
        </p:nvSpPr>
        <p:spPr>
          <a:xfrm>
            <a:off x="9242764" y="3479800"/>
            <a:ext cx="333036" cy="974725"/>
          </a:xfrm>
          <a:custGeom>
            <a:rect b="b" l="l" r="r" t="t"/>
            <a:pathLst>
              <a:path extrusionOk="0" h="582" w="228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4" name="Google Shape;724;p11"/>
          <p:cNvGrpSpPr/>
          <p:nvPr/>
        </p:nvGrpSpPr>
        <p:grpSpPr>
          <a:xfrm>
            <a:off x="9299914" y="1287827"/>
            <a:ext cx="762000" cy="693737"/>
            <a:chOff x="-44" y="1473"/>
            <a:chExt cx="981" cy="1105"/>
          </a:xfrm>
        </p:grpSpPr>
        <p:pic>
          <p:nvPicPr>
            <p:cNvPr descr="desktop_computer_stylized_medium" id="725" name="Google Shape;725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7" name="Google Shape;727;p11"/>
          <p:cNvGrpSpPr/>
          <p:nvPr/>
        </p:nvGrpSpPr>
        <p:grpSpPr>
          <a:xfrm>
            <a:off x="9279276" y="5942377"/>
            <a:ext cx="762000" cy="693737"/>
            <a:chOff x="-44" y="1473"/>
            <a:chExt cx="981" cy="1105"/>
          </a:xfrm>
        </p:grpSpPr>
        <p:pic>
          <p:nvPicPr>
            <p:cNvPr descr="desktop_computer_stylized_medium" id="728" name="Google Shape;72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9" name="Google Shape;729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0" name="Google Shape;730;p11"/>
          <p:cNvSpPr txBox="1"/>
          <p:nvPr/>
        </p:nvSpPr>
        <p:spPr>
          <a:xfrm>
            <a:off x="11274305" y="6462404"/>
            <a:ext cx="548655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6-</a:t>
            </a: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31" name="Google Shape;731;p11"/>
          <p:cNvGrpSpPr/>
          <p:nvPr/>
        </p:nvGrpSpPr>
        <p:grpSpPr>
          <a:xfrm>
            <a:off x="8822377" y="2470342"/>
            <a:ext cx="914400" cy="479686"/>
            <a:chOff x="3668110" y="2448910"/>
            <a:chExt cx="3794234" cy="2165130"/>
          </a:xfrm>
        </p:grpSpPr>
        <p:sp>
          <p:nvSpPr>
            <p:cNvPr id="732" name="Google Shape;732;p1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1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4" name="Google Shape;734;p1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35" name="Google Shape;735;p1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9" name="Google Shape;739;p11"/>
          <p:cNvGrpSpPr/>
          <p:nvPr/>
        </p:nvGrpSpPr>
        <p:grpSpPr>
          <a:xfrm>
            <a:off x="8461094" y="3741153"/>
            <a:ext cx="894855" cy="442494"/>
            <a:chOff x="7493876" y="2774731"/>
            <a:chExt cx="1481958" cy="894622"/>
          </a:xfrm>
        </p:grpSpPr>
        <p:sp>
          <p:nvSpPr>
            <p:cNvPr id="740" name="Google Shape;740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1" name="Google Shape;741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2" name="Google Shape;742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3" name="Google Shape;743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7" name="Google Shape;747;p11"/>
          <p:cNvSpPr txBox="1"/>
          <p:nvPr/>
        </p:nvSpPr>
        <p:spPr>
          <a:xfrm>
            <a:off x="859601" y="1465262"/>
            <a:ext cx="6270404" cy="2385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are store-and-forward: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network-layer devices (examine network-layer headers)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link-layer devices (examine link-layer headers)</a:t>
            </a:r>
            <a:endParaRPr/>
          </a:p>
        </p:txBody>
      </p:sp>
      <p:sp>
        <p:nvSpPr>
          <p:cNvPr id="748" name="Google Shape;748;p11"/>
          <p:cNvSpPr txBox="1"/>
          <p:nvPr/>
        </p:nvSpPr>
        <p:spPr>
          <a:xfrm>
            <a:off x="857455" y="3613887"/>
            <a:ext cx="6270404" cy="250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have forwarding tables:</a:t>
            </a:r>
            <a:endParaRPr/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tables using routing algorithms, IP addresses</a:t>
            </a:r>
            <a:endParaRPr/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forwarding table using flooding, learning, MAC addresses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e017e11878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Collision and Broadcast domains</a:t>
            </a:r>
            <a:endParaRPr/>
          </a:p>
        </p:txBody>
      </p:sp>
      <p:pic>
        <p:nvPicPr>
          <p:cNvPr id="755" name="Google Shape;755;g3e017e1187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400" y="1433950"/>
            <a:ext cx="4449101" cy="275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g3e017e1187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9750" y="1743675"/>
            <a:ext cx="116205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g3e017e11878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3750" y="4544250"/>
            <a:ext cx="6837660" cy="21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g3e017e11878_0_0"/>
          <p:cNvSpPr txBox="1"/>
          <p:nvPr/>
        </p:nvSpPr>
        <p:spPr>
          <a:xfrm>
            <a:off x="395675" y="2740800"/>
            <a:ext cx="341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hlinkClick r:id="rId6"/>
              </a:rPr>
              <a:t>https://ipcisco.com/lesson/collision-domain-vs-broadcast-domain/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2"/>
          <p:cNvSpPr/>
          <p:nvPr/>
        </p:nvSpPr>
        <p:spPr>
          <a:xfrm rot="5400000">
            <a:off x="1384209" y="1352734"/>
            <a:ext cx="3296953" cy="5113490"/>
          </a:xfrm>
          <a:custGeom>
            <a:rect b="b" l="l" r="r" t="t"/>
            <a:pathLst>
              <a:path extrusionOk="0" h="10000" w="10281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5" name="Google Shape;765;p12"/>
          <p:cNvCxnSpPr/>
          <p:nvPr/>
        </p:nvCxnSpPr>
        <p:spPr>
          <a:xfrm>
            <a:off x="3067442" y="3407180"/>
            <a:ext cx="0" cy="1088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12"/>
          <p:cNvCxnSpPr/>
          <p:nvPr/>
        </p:nvCxnSpPr>
        <p:spPr>
          <a:xfrm rot="10800000">
            <a:off x="3199950" y="3358878"/>
            <a:ext cx="1259908" cy="1204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12"/>
          <p:cNvCxnSpPr/>
          <p:nvPr/>
        </p:nvCxnSpPr>
        <p:spPr>
          <a:xfrm flipH="1" rot="10800000">
            <a:off x="3270548" y="2900589"/>
            <a:ext cx="837404" cy="3145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12"/>
          <p:cNvCxnSpPr/>
          <p:nvPr/>
        </p:nvCxnSpPr>
        <p:spPr>
          <a:xfrm flipH="1" rot="10800000">
            <a:off x="3129352" y="2661431"/>
            <a:ext cx="458346" cy="56314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12"/>
          <p:cNvCxnSpPr/>
          <p:nvPr/>
        </p:nvCxnSpPr>
        <p:spPr>
          <a:xfrm>
            <a:off x="2381009" y="2775708"/>
            <a:ext cx="589768" cy="478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0" name="Google Shape;770;p12"/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771" name="Google Shape;771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3" name="Google Shape;773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74" name="Google Shape;774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78" name="Google Shape;778;p1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Virtual LANs (VLANs): motivation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2"/>
          <p:cNvSpPr txBox="1"/>
          <p:nvPr>
            <p:ph idx="4294967295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0" name="Google Shape;780;p12"/>
          <p:cNvCxnSpPr/>
          <p:nvPr/>
        </p:nvCxnSpPr>
        <p:spPr>
          <a:xfrm rot="10800000">
            <a:off x="1065709" y="4430966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12"/>
          <p:cNvCxnSpPr/>
          <p:nvPr/>
        </p:nvCxnSpPr>
        <p:spPr>
          <a:xfrm flipH="1">
            <a:off x="1330724" y="4466310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12"/>
          <p:cNvCxnSpPr/>
          <p:nvPr/>
        </p:nvCxnSpPr>
        <p:spPr>
          <a:xfrm>
            <a:off x="1617462" y="4487516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83" name="Google Shape;783;p12"/>
          <p:cNvGrpSpPr/>
          <p:nvPr/>
        </p:nvGrpSpPr>
        <p:grpSpPr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descr="desktop_computer_stylized_medium" id="784" name="Google Shape;78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5" name="Google Shape;785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6" name="Google Shape;786;p12"/>
          <p:cNvGrpSpPr/>
          <p:nvPr/>
        </p:nvGrpSpPr>
        <p:grpSpPr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descr="desktop_computer_stylized_medium" id="787" name="Google Shape;78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9" name="Google Shape;789;p12"/>
          <p:cNvGrpSpPr/>
          <p:nvPr/>
        </p:nvGrpSpPr>
        <p:grpSpPr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descr="desktop_computer_stylized_medium" id="790" name="Google Shape;79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1" name="Google Shape;791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92" name="Google Shape;792;p12"/>
          <p:cNvCxnSpPr/>
          <p:nvPr/>
        </p:nvCxnSpPr>
        <p:spPr>
          <a:xfrm>
            <a:off x="1767347" y="4435678"/>
            <a:ext cx="258498" cy="2261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12"/>
          <p:cNvCxnSpPr/>
          <p:nvPr/>
        </p:nvCxnSpPr>
        <p:spPr>
          <a:xfrm flipH="1">
            <a:off x="1925922" y="4803252"/>
            <a:ext cx="82546" cy="21795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12"/>
          <p:cNvCxnSpPr/>
          <p:nvPr/>
        </p:nvCxnSpPr>
        <p:spPr>
          <a:xfrm>
            <a:off x="2131694" y="4497705"/>
            <a:ext cx="1677" cy="22543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5" name="Google Shape;795;p12"/>
          <p:cNvGrpSpPr/>
          <p:nvPr/>
        </p:nvGrpSpPr>
        <p:grpSpPr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descr="desktop_computer_stylized_medium" id="796" name="Google Shape;79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8" name="Google Shape;798;p12"/>
          <p:cNvGrpSpPr/>
          <p:nvPr/>
        </p:nvGrpSpPr>
        <p:grpSpPr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descr="desktop_computer_stylized_medium" id="799" name="Google Shape;79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01" name="Google Shape;801;p12"/>
          <p:cNvCxnSpPr/>
          <p:nvPr/>
        </p:nvCxnSpPr>
        <p:spPr>
          <a:xfrm rot="10800000">
            <a:off x="3952637" y="4630068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12"/>
          <p:cNvCxnSpPr/>
          <p:nvPr/>
        </p:nvCxnSpPr>
        <p:spPr>
          <a:xfrm flipH="1">
            <a:off x="4217652" y="4665411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12"/>
          <p:cNvCxnSpPr/>
          <p:nvPr/>
        </p:nvCxnSpPr>
        <p:spPr>
          <a:xfrm>
            <a:off x="4504390" y="4686617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4" name="Google Shape;804;p12"/>
          <p:cNvGrpSpPr/>
          <p:nvPr/>
        </p:nvGrpSpPr>
        <p:grpSpPr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descr="desktop_computer_stylized_medium" id="805" name="Google Shape;80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7" name="Google Shape;807;p12"/>
          <p:cNvGrpSpPr/>
          <p:nvPr/>
        </p:nvGrpSpPr>
        <p:grpSpPr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descr="desktop_computer_stylized_medium" id="808" name="Google Shape;80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9" name="Google Shape;809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0" name="Google Shape;810;p12"/>
          <p:cNvGrpSpPr/>
          <p:nvPr/>
        </p:nvGrpSpPr>
        <p:grpSpPr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descr="desktop_computer_stylized_medium" id="811" name="Google Shape;81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2" name="Google Shape;812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13" name="Google Shape;813;p12"/>
          <p:cNvCxnSpPr/>
          <p:nvPr/>
        </p:nvCxnSpPr>
        <p:spPr>
          <a:xfrm rot="10800000">
            <a:off x="3250998" y="4664234"/>
            <a:ext cx="414901" cy="232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12"/>
          <p:cNvCxnSpPr/>
          <p:nvPr/>
        </p:nvCxnSpPr>
        <p:spPr>
          <a:xfrm flipH="1">
            <a:off x="2933849" y="4630068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12"/>
          <p:cNvCxnSpPr/>
          <p:nvPr/>
        </p:nvCxnSpPr>
        <p:spPr>
          <a:xfrm>
            <a:off x="3220586" y="4651274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6" name="Google Shape;816;p12"/>
          <p:cNvGrpSpPr/>
          <p:nvPr/>
        </p:nvGrpSpPr>
        <p:grpSpPr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descr="desktop_computer_stylized_medium" id="817" name="Google Shape;81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9" name="Google Shape;819;p12"/>
          <p:cNvGrpSpPr/>
          <p:nvPr/>
        </p:nvGrpSpPr>
        <p:grpSpPr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descr="desktop_computer_stylized_medium" id="820" name="Google Shape;82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2" name="Google Shape;822;p12"/>
          <p:cNvGrpSpPr/>
          <p:nvPr/>
        </p:nvGrpSpPr>
        <p:grpSpPr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descr="desktop_computer_stylized_medium" id="823" name="Google Shape;82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4" name="Google Shape;824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25" name="Google Shape;825;p12"/>
          <p:cNvCxnSpPr/>
          <p:nvPr/>
        </p:nvCxnSpPr>
        <p:spPr>
          <a:xfrm rot="10800000">
            <a:off x="4510426" y="4534645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6" name="Google Shape;826;p12"/>
          <p:cNvGrpSpPr/>
          <p:nvPr/>
        </p:nvGrpSpPr>
        <p:grpSpPr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descr="desktop_computer_stylized_medium" id="827" name="Google Shape;82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8" name="Google Shape;828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9" name="Google Shape;829;p12"/>
          <p:cNvGrpSpPr/>
          <p:nvPr/>
        </p:nvGrpSpPr>
        <p:grpSpPr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830" name="Google Shape;830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12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2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5" name="Google Shape;835;p12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836" name="Google Shape;836;p12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12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8" name="Google Shape;838;p12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9" name="Google Shape;839;p12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840" name="Google Shape;840;p12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12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2" name="Google Shape;842;p12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12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4" name="Google Shape;844;p12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845" name="Google Shape;845;p12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12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7" name="Google Shape;847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8" name="Google Shape;848;p12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849" name="Google Shape;849;p12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12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1" name="Google Shape;851;p12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2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2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2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2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2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2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2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12"/>
          <p:cNvGrpSpPr/>
          <p:nvPr/>
        </p:nvGrpSpPr>
        <p:grpSpPr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863" name="Google Shape;863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2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2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8" name="Google Shape;868;p12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869" name="Google Shape;869;p12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12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1" name="Google Shape;871;p12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2" name="Google Shape;872;p12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873" name="Google Shape;873;p12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12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" name="Google Shape;875;p12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2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7" name="Google Shape;877;p12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878" name="Google Shape;878;p12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12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0" name="Google Shape;880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" name="Google Shape;881;p12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882" name="Google Shape;882;p12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12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4" name="Google Shape;884;p12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2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2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2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2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12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2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2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5" name="Google Shape;895;p12"/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896" name="Google Shape;896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7" name="Google Shape;897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8" name="Google Shape;898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9" name="Google Shape;899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3" name="Google Shape;903;p12"/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904" name="Google Shape;904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6" name="Google Shape;906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07" name="Google Shape;907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1" name="Google Shape;911;p12"/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912" name="Google Shape;912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4" name="Google Shape;914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15" name="Google Shape;915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9" name="Google Shape;919;p12"/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2"/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/>
          </a:p>
        </p:txBody>
      </p:sp>
      <p:grpSp>
        <p:nvGrpSpPr>
          <p:cNvPr id="921" name="Google Shape;921;p12"/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922" name="Google Shape;922;p12"/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2"/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EE</a:t>
              </a:r>
              <a:endParaRPr/>
            </a:p>
          </p:txBody>
        </p:sp>
      </p:grpSp>
      <p:grpSp>
        <p:nvGrpSpPr>
          <p:cNvPr id="924" name="Google Shape;924;p12"/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925" name="Google Shape;925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7" name="Google Shape;927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28" name="Google Shape;928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32" name="Google Shape;932;p12"/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933" name="Google Shape;933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36" name="Google Shape;936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940" name="Google Shape;940;p12"/>
          <p:cNvCxnSpPr/>
          <p:nvPr/>
        </p:nvCxnSpPr>
        <p:spPr>
          <a:xfrm flipH="1">
            <a:off x="1724471" y="3455082"/>
            <a:ext cx="1147604" cy="8591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12"/>
          <p:cNvCxnSpPr/>
          <p:nvPr/>
        </p:nvCxnSpPr>
        <p:spPr>
          <a:xfrm>
            <a:off x="4677507" y="4700953"/>
            <a:ext cx="223945" cy="794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42" name="Google Shape;942;p12"/>
          <p:cNvGrpSpPr/>
          <p:nvPr/>
        </p:nvGrpSpPr>
        <p:grpSpPr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descr="desktop_computer_stylized_medium" id="943" name="Google Shape;94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4" name="Google Shape;944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5" name="Google Shape;945;p12"/>
          <p:cNvSpPr txBox="1"/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6" name="Google Shape;946;p12"/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as LAN sizes scale, users change point of attachment?</a:t>
            </a:r>
            <a:endParaRPr/>
          </a:p>
        </p:txBody>
      </p:sp>
      <p:sp>
        <p:nvSpPr>
          <p:cNvPr id="947" name="Google Shape;947;p12"/>
          <p:cNvSpPr txBox="1"/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 broadcast domain:</a:t>
            </a:r>
            <a:endParaRPr/>
          </a:p>
          <a:p>
            <a:pPr indent="-230188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scaling: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layer-2 broadcast traffic (ARP, DHCP, unknown MAC) must cross entire LAN </a:t>
            </a:r>
            <a:endParaRPr/>
          </a:p>
          <a:p>
            <a:pPr indent="-230188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efficiency, security, privacy issues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3"/>
          <p:cNvSpPr/>
          <p:nvPr/>
        </p:nvSpPr>
        <p:spPr>
          <a:xfrm rot="5400000">
            <a:off x="1384209" y="1345534"/>
            <a:ext cx="3296953" cy="5113490"/>
          </a:xfrm>
          <a:custGeom>
            <a:rect b="b" l="l" r="r" t="t"/>
            <a:pathLst>
              <a:path extrusionOk="0" h="10000" w="10281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p13"/>
          <p:cNvCxnSpPr/>
          <p:nvPr/>
        </p:nvCxnSpPr>
        <p:spPr>
          <a:xfrm>
            <a:off x="3067442" y="3407180"/>
            <a:ext cx="0" cy="1088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13"/>
          <p:cNvCxnSpPr/>
          <p:nvPr/>
        </p:nvCxnSpPr>
        <p:spPr>
          <a:xfrm rot="10800000">
            <a:off x="3199950" y="3358878"/>
            <a:ext cx="1259908" cy="1204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13"/>
          <p:cNvCxnSpPr/>
          <p:nvPr/>
        </p:nvCxnSpPr>
        <p:spPr>
          <a:xfrm flipH="1" rot="10800000">
            <a:off x="3270548" y="2900589"/>
            <a:ext cx="837404" cy="3145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13"/>
          <p:cNvCxnSpPr/>
          <p:nvPr/>
        </p:nvCxnSpPr>
        <p:spPr>
          <a:xfrm flipH="1" rot="10800000">
            <a:off x="3129352" y="2661431"/>
            <a:ext cx="458346" cy="56314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13"/>
          <p:cNvCxnSpPr/>
          <p:nvPr/>
        </p:nvCxnSpPr>
        <p:spPr>
          <a:xfrm>
            <a:off x="2381009" y="2775708"/>
            <a:ext cx="589768" cy="478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9" name="Google Shape;959;p13"/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960" name="Google Shape;960;p1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2" name="Google Shape;962;p1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63" name="Google Shape;963;p1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1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1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1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67" name="Google Shape;967;p1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Virtual LANs (VLANs): motivation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3"/>
          <p:cNvSpPr txBox="1"/>
          <p:nvPr>
            <p:ph idx="4294967295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3"/>
          <p:cNvSpPr txBox="1"/>
          <p:nvPr/>
        </p:nvSpPr>
        <p:spPr>
          <a:xfrm>
            <a:off x="6284890" y="4378817"/>
            <a:ext cx="5589431" cy="232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administrative issues: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25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 user moves office to EE - </a:t>
            </a: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physically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attached to EE switch, but wants to remain</a:t>
            </a: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logically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attached to CS switch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970" name="Google Shape;970;p13"/>
          <p:cNvCxnSpPr/>
          <p:nvPr/>
        </p:nvCxnSpPr>
        <p:spPr>
          <a:xfrm rot="10800000">
            <a:off x="1065709" y="4430966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13"/>
          <p:cNvCxnSpPr/>
          <p:nvPr/>
        </p:nvCxnSpPr>
        <p:spPr>
          <a:xfrm flipH="1">
            <a:off x="1330724" y="4466310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13"/>
          <p:cNvCxnSpPr/>
          <p:nvPr/>
        </p:nvCxnSpPr>
        <p:spPr>
          <a:xfrm>
            <a:off x="1617462" y="4487516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73" name="Google Shape;973;p13"/>
          <p:cNvGrpSpPr/>
          <p:nvPr/>
        </p:nvGrpSpPr>
        <p:grpSpPr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descr="desktop_computer_stylized_medium" id="974" name="Google Shape;97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5" name="Google Shape;975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6" name="Google Shape;976;p13"/>
          <p:cNvGrpSpPr/>
          <p:nvPr/>
        </p:nvGrpSpPr>
        <p:grpSpPr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descr="desktop_computer_stylized_medium" id="977" name="Google Shape;97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8" name="Google Shape;978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13"/>
          <p:cNvGrpSpPr/>
          <p:nvPr/>
        </p:nvGrpSpPr>
        <p:grpSpPr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descr="desktop_computer_stylized_medium" id="980" name="Google Shape;98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" name="Google Shape;981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82" name="Google Shape;982;p13"/>
          <p:cNvCxnSpPr/>
          <p:nvPr/>
        </p:nvCxnSpPr>
        <p:spPr>
          <a:xfrm>
            <a:off x="1767347" y="4435678"/>
            <a:ext cx="258498" cy="2261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13"/>
          <p:cNvCxnSpPr/>
          <p:nvPr/>
        </p:nvCxnSpPr>
        <p:spPr>
          <a:xfrm flipH="1">
            <a:off x="1925922" y="4803252"/>
            <a:ext cx="82546" cy="21795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4" name="Google Shape;984;p13"/>
          <p:cNvCxnSpPr/>
          <p:nvPr/>
        </p:nvCxnSpPr>
        <p:spPr>
          <a:xfrm>
            <a:off x="2202884" y="4811498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13"/>
          <p:cNvCxnSpPr/>
          <p:nvPr/>
        </p:nvCxnSpPr>
        <p:spPr>
          <a:xfrm>
            <a:off x="2131694" y="4497705"/>
            <a:ext cx="1677" cy="22543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86" name="Google Shape;986;p13"/>
          <p:cNvGrpSpPr/>
          <p:nvPr/>
        </p:nvGrpSpPr>
        <p:grpSpPr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descr="desktop_computer_stylized_medium" id="987" name="Google Shape;98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8" name="Google Shape;988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9" name="Google Shape;989;p13"/>
          <p:cNvGrpSpPr/>
          <p:nvPr/>
        </p:nvGrpSpPr>
        <p:grpSpPr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descr="desktop_computer_stylized_medium" id="990" name="Google Shape;99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1" name="Google Shape;991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92" name="Google Shape;992;p13"/>
          <p:cNvCxnSpPr/>
          <p:nvPr/>
        </p:nvCxnSpPr>
        <p:spPr>
          <a:xfrm rot="10800000">
            <a:off x="3952637" y="4630068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13"/>
          <p:cNvCxnSpPr/>
          <p:nvPr/>
        </p:nvCxnSpPr>
        <p:spPr>
          <a:xfrm flipH="1">
            <a:off x="4217652" y="4665411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13"/>
          <p:cNvCxnSpPr/>
          <p:nvPr/>
        </p:nvCxnSpPr>
        <p:spPr>
          <a:xfrm>
            <a:off x="4504390" y="4686617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5" name="Google Shape;995;p13"/>
          <p:cNvGrpSpPr/>
          <p:nvPr/>
        </p:nvGrpSpPr>
        <p:grpSpPr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descr="desktop_computer_stylized_medium" id="996" name="Google Shape;99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8" name="Google Shape;998;p13"/>
          <p:cNvGrpSpPr/>
          <p:nvPr/>
        </p:nvGrpSpPr>
        <p:grpSpPr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descr="desktop_computer_stylized_medium" id="999" name="Google Shape;999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1" name="Google Shape;1001;p13"/>
          <p:cNvGrpSpPr/>
          <p:nvPr/>
        </p:nvGrpSpPr>
        <p:grpSpPr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descr="desktop_computer_stylized_medium" id="1002" name="Google Shape;100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04" name="Google Shape;1004;p13"/>
          <p:cNvCxnSpPr/>
          <p:nvPr/>
        </p:nvCxnSpPr>
        <p:spPr>
          <a:xfrm rot="10800000">
            <a:off x="3250998" y="4664234"/>
            <a:ext cx="414901" cy="232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13"/>
          <p:cNvCxnSpPr/>
          <p:nvPr/>
        </p:nvCxnSpPr>
        <p:spPr>
          <a:xfrm flipH="1">
            <a:off x="2933849" y="4630068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13"/>
          <p:cNvCxnSpPr/>
          <p:nvPr/>
        </p:nvCxnSpPr>
        <p:spPr>
          <a:xfrm>
            <a:off x="3220586" y="4651274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07" name="Google Shape;1007;p13"/>
          <p:cNvGrpSpPr/>
          <p:nvPr/>
        </p:nvGrpSpPr>
        <p:grpSpPr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descr="desktop_computer_stylized_medium" id="1008" name="Google Shape;100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0" name="Google Shape;1010;p13"/>
          <p:cNvGrpSpPr/>
          <p:nvPr/>
        </p:nvGrpSpPr>
        <p:grpSpPr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descr="desktop_computer_stylized_medium" id="1011" name="Google Shape;101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3" name="Google Shape;1013;p13"/>
          <p:cNvGrpSpPr/>
          <p:nvPr/>
        </p:nvGrpSpPr>
        <p:grpSpPr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descr="desktop_computer_stylized_medium" id="1014" name="Google Shape;101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16" name="Google Shape;1016;p13"/>
          <p:cNvCxnSpPr/>
          <p:nvPr/>
        </p:nvCxnSpPr>
        <p:spPr>
          <a:xfrm rot="10800000">
            <a:off x="4510426" y="4534645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17" name="Google Shape;1017;p13"/>
          <p:cNvGrpSpPr/>
          <p:nvPr/>
        </p:nvGrpSpPr>
        <p:grpSpPr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descr="desktop_computer_stylized_medium" id="1018" name="Google Shape;101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0" name="Google Shape;1020;p13"/>
          <p:cNvGrpSpPr/>
          <p:nvPr/>
        </p:nvGrpSpPr>
        <p:grpSpPr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021" name="Google Shape;1021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6" name="Google Shape;1026;p13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027" name="Google Shape;1027;p13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13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29" name="Google Shape;1029;p13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0" name="Google Shape;1030;p13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31" name="Google Shape;1031;p13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3" name="Google Shape;1033;p13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5" name="Google Shape;1035;p13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36" name="Google Shape;1036;p13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8" name="Google Shape;1038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9" name="Google Shape;1039;p13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2" name="Google Shape;1042;p13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3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3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3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3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3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3" name="Google Shape;1053;p13"/>
          <p:cNvGrpSpPr/>
          <p:nvPr/>
        </p:nvGrpSpPr>
        <p:grpSpPr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054" name="Google Shape;1054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3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9" name="Google Shape;1059;p13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060" name="Google Shape;1060;p13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13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2" name="Google Shape;1062;p13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3" name="Google Shape;1063;p13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64" name="Google Shape;1064;p13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13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6" name="Google Shape;1066;p13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3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8" name="Google Shape;1068;p13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69" name="Google Shape;1069;p13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13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1" name="Google Shape;1071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2" name="Google Shape;1072;p13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73" name="Google Shape;1073;p13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13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5" name="Google Shape;1075;p13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3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3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3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3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3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3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3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6" name="Google Shape;1086;p13"/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087" name="Google Shape;1087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88" name="Google Shape;1088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89" name="Google Shape;1089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0" name="Google Shape;1090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94" name="Google Shape;1094;p13"/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095" name="Google Shape;1095;p1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1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97" name="Google Shape;1097;p1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98" name="Google Shape;1098;p1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1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1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1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02" name="Google Shape;1102;p13"/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103" name="Google Shape;1103;p1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1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5" name="Google Shape;1105;p1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06" name="Google Shape;1106;p1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1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1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1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10" name="Google Shape;1110;p13"/>
          <p:cNvSpPr/>
          <p:nvPr/>
        </p:nvSpPr>
        <p:spPr>
          <a:xfrm>
            <a:off x="3789045" y="4034790"/>
            <a:ext cx="1415415" cy="1343025"/>
          </a:xfrm>
          <a:prstGeom prst="ellipse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13"/>
          <p:cNvSpPr/>
          <p:nvPr/>
        </p:nvSpPr>
        <p:spPr>
          <a:xfrm rot="1109789">
            <a:off x="775631" y="4032587"/>
            <a:ext cx="1945861" cy="1335721"/>
          </a:xfrm>
          <a:prstGeom prst="ellipse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13"/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13"/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/>
          </a:p>
        </p:txBody>
      </p:sp>
      <p:grpSp>
        <p:nvGrpSpPr>
          <p:cNvPr id="1114" name="Google Shape;1114;p13"/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1115" name="Google Shape;1115;p13"/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13"/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EE</a:t>
              </a:r>
              <a:endParaRPr/>
            </a:p>
          </p:txBody>
        </p:sp>
      </p:grpSp>
      <p:grpSp>
        <p:nvGrpSpPr>
          <p:cNvPr id="1117" name="Google Shape;1117;p13"/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118" name="Google Shape;1118;p1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1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0" name="Google Shape;1120;p1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21" name="Google Shape;1121;p1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1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1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1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5" name="Google Shape;1125;p13"/>
          <p:cNvGrpSpPr/>
          <p:nvPr/>
        </p:nvGrpSpPr>
        <p:grpSpPr>
          <a:xfrm>
            <a:off x="1713595" y="3315547"/>
            <a:ext cx="3410855" cy="1758103"/>
            <a:chOff x="1713595" y="3315547"/>
            <a:chExt cx="3410855" cy="1758103"/>
          </a:xfrm>
        </p:grpSpPr>
        <p:grpSp>
          <p:nvGrpSpPr>
            <p:cNvPr id="1126" name="Google Shape;1126;p13"/>
            <p:cNvGrpSpPr/>
            <p:nvPr/>
          </p:nvGrpSpPr>
          <p:grpSpPr>
            <a:xfrm>
              <a:off x="4649795" y="4623478"/>
              <a:ext cx="474655" cy="450172"/>
              <a:chOff x="4649795" y="4623478"/>
              <a:chExt cx="474655" cy="450172"/>
            </a:xfrm>
          </p:grpSpPr>
          <p:sp>
            <p:nvSpPr>
              <p:cNvPr id="1127" name="Google Shape;1127;p13"/>
              <p:cNvSpPr/>
              <p:nvPr/>
            </p:nvSpPr>
            <p:spPr>
              <a:xfrm>
                <a:off x="4692650" y="4654550"/>
                <a:ext cx="431800" cy="419100"/>
              </a:xfrm>
              <a:prstGeom prst="ellipse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13"/>
              <p:cNvSpPr/>
              <p:nvPr/>
            </p:nvSpPr>
            <p:spPr>
              <a:xfrm rot="1672634">
                <a:off x="4708332" y="4630977"/>
                <a:ext cx="100405" cy="275301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9" name="Google Shape;1129;p13"/>
            <p:cNvGrpSpPr/>
            <p:nvPr/>
          </p:nvGrpSpPr>
          <p:grpSpPr>
            <a:xfrm>
              <a:off x="1713595" y="3315547"/>
              <a:ext cx="3145873" cy="1350613"/>
              <a:chOff x="1713595" y="3315547"/>
              <a:chExt cx="3145873" cy="1350613"/>
            </a:xfrm>
          </p:grpSpPr>
          <p:sp>
            <p:nvSpPr>
              <p:cNvPr id="1130" name="Google Shape;1130;p13"/>
              <p:cNvSpPr/>
              <p:nvPr/>
            </p:nvSpPr>
            <p:spPr>
              <a:xfrm rot="959039">
                <a:off x="1720833" y="4041748"/>
                <a:ext cx="595424" cy="136164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13"/>
              <p:cNvSpPr/>
              <p:nvPr/>
            </p:nvSpPr>
            <p:spPr>
              <a:xfrm>
                <a:off x="1831800" y="3315547"/>
                <a:ext cx="3027668" cy="1350613"/>
              </a:xfrm>
              <a:custGeom>
                <a:rect b="b" l="l" r="r" t="t"/>
                <a:pathLst>
                  <a:path extrusionOk="0" h="1350613" w="3027668">
                    <a:moveTo>
                      <a:pt x="3027668" y="1341548"/>
                    </a:moveTo>
                    <a:cubicBezTo>
                      <a:pt x="2853298" y="1402927"/>
                      <a:pt x="2569597" y="1136314"/>
                      <a:pt x="2481366" y="1032040"/>
                    </a:cubicBezTo>
                    <a:cubicBezTo>
                      <a:pt x="2185720" y="779811"/>
                      <a:pt x="1590333" y="-763"/>
                      <a:pt x="1253784" y="1"/>
                    </a:cubicBezTo>
                    <a:cubicBezTo>
                      <a:pt x="917235" y="765"/>
                      <a:pt x="216481" y="770689"/>
                      <a:pt x="0" y="714162"/>
                    </a:cubicBezTo>
                  </a:path>
                </a:pathLst>
              </a:cu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2" name="Google Shape;1132;p13"/>
            <p:cNvSpPr/>
            <p:nvPr/>
          </p:nvSpPr>
          <p:spPr>
            <a:xfrm>
              <a:off x="2277117" y="3425460"/>
              <a:ext cx="2420012" cy="1483426"/>
            </a:xfrm>
            <a:custGeom>
              <a:rect b="b" l="l" r="r" t="t"/>
              <a:pathLst>
                <a:path extrusionOk="0" h="1483426" w="2420012">
                  <a:moveTo>
                    <a:pt x="2420012" y="1483426"/>
                  </a:moveTo>
                  <a:cubicBezTo>
                    <a:pt x="2401354" y="1286387"/>
                    <a:pt x="2137532" y="1185427"/>
                    <a:pt x="2049301" y="1081153"/>
                  </a:cubicBezTo>
                  <a:cubicBezTo>
                    <a:pt x="1746098" y="841078"/>
                    <a:pt x="952480" y="-4290"/>
                    <a:pt x="797173" y="17"/>
                  </a:cubicBezTo>
                  <a:cubicBezTo>
                    <a:pt x="641866" y="4324"/>
                    <a:pt x="289883" y="346087"/>
                    <a:pt x="160106" y="481027"/>
                  </a:cubicBezTo>
                  <a:cubicBezTo>
                    <a:pt x="30329" y="615967"/>
                    <a:pt x="-34430" y="756719"/>
                    <a:pt x="18509" y="809658"/>
                  </a:cubicBez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3" name="Google Shape;1133;p13"/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134" name="Google Shape;1134;p1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1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36" name="Google Shape;1136;p1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37" name="Google Shape;1137;p1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1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1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1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141" name="Google Shape;1141;p13"/>
          <p:cNvCxnSpPr/>
          <p:nvPr/>
        </p:nvCxnSpPr>
        <p:spPr>
          <a:xfrm flipH="1">
            <a:off x="1724471" y="3455082"/>
            <a:ext cx="1147604" cy="8591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2" name="Google Shape;1142;p13"/>
          <p:cNvCxnSpPr/>
          <p:nvPr/>
        </p:nvCxnSpPr>
        <p:spPr>
          <a:xfrm>
            <a:off x="4677507" y="4700953"/>
            <a:ext cx="223945" cy="794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3" name="Google Shape;1143;p13"/>
          <p:cNvGrpSpPr/>
          <p:nvPr/>
        </p:nvGrpSpPr>
        <p:grpSpPr>
          <a:xfrm>
            <a:off x="1996999" y="4952734"/>
            <a:ext cx="388834" cy="356970"/>
            <a:chOff x="-44" y="1473"/>
            <a:chExt cx="981" cy="1105"/>
          </a:xfrm>
        </p:grpSpPr>
        <p:pic>
          <p:nvPicPr>
            <p:cNvPr descr="desktop_computer_stylized_medium" id="1144" name="Google Shape;114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6" name="Google Shape;1146;p13"/>
          <p:cNvSpPr txBox="1"/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 broadcast domain:</a:t>
            </a:r>
            <a:endParaRPr/>
          </a:p>
          <a:p>
            <a:pPr indent="-230188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scaling: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layer-2 broadcast traffic (ARP, DHCP, unknown MAC) must cross entire LAN </a:t>
            </a:r>
            <a:endParaRPr/>
          </a:p>
          <a:p>
            <a:pPr indent="-230188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efficiency, security, privacy, efficiency issues</a:t>
            </a:r>
            <a:endParaRPr/>
          </a:p>
        </p:txBody>
      </p:sp>
      <p:sp>
        <p:nvSpPr>
          <p:cNvPr id="1147" name="Google Shape;1147;p13"/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as LAN sizes scale, users change point of attachment?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3" name="Google Shape;1153;p14"/>
          <p:cNvGrpSpPr/>
          <p:nvPr/>
        </p:nvGrpSpPr>
        <p:grpSpPr>
          <a:xfrm>
            <a:off x="7535443" y="2298503"/>
            <a:ext cx="1243611" cy="519112"/>
            <a:chOff x="9287864" y="4082048"/>
            <a:chExt cx="1243611" cy="519112"/>
          </a:xfrm>
        </p:grpSpPr>
        <p:sp>
          <p:nvSpPr>
            <p:cNvPr id="1154" name="Google Shape;1154;p14"/>
            <p:cNvSpPr/>
            <p:nvPr/>
          </p:nvSpPr>
          <p:spPr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4"/>
            <p:cNvSpPr/>
            <p:nvPr/>
          </p:nvSpPr>
          <p:spPr>
            <a:xfrm>
              <a:off x="9349866" y="4128085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6" name="Google Shape;1156;p14"/>
            <p:cNvCxnSpPr/>
            <p:nvPr/>
          </p:nvCxnSpPr>
          <p:spPr>
            <a:xfrm flipH="1" rot="10800000">
              <a:off x="9351453" y="4342570"/>
              <a:ext cx="1179110" cy="14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7" name="Google Shape;1157;p14"/>
            <p:cNvSpPr txBox="1"/>
            <p:nvPr/>
          </p:nvSpPr>
          <p:spPr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1158" name="Google Shape;1158;p14"/>
            <p:cNvCxnSpPr/>
            <p:nvPr/>
          </p:nvCxnSpPr>
          <p:spPr>
            <a:xfrm>
              <a:off x="9930891" y="413284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14"/>
            <p:cNvCxnSpPr/>
            <p:nvPr/>
          </p:nvCxnSpPr>
          <p:spPr>
            <a:xfrm>
              <a:off x="9640378" y="412967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p14"/>
            <p:cNvCxnSpPr/>
            <p:nvPr/>
          </p:nvCxnSpPr>
          <p:spPr>
            <a:xfrm>
              <a:off x="10211878" y="4137610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1" name="Google Shape;1161;p14"/>
            <p:cNvSpPr txBox="1"/>
            <p:nvPr/>
          </p:nvSpPr>
          <p:spPr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1162" name="Google Shape;1162;p14"/>
            <p:cNvSpPr txBox="1"/>
            <p:nvPr/>
          </p:nvSpPr>
          <p:spPr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163" name="Google Shape;1163;p14"/>
            <p:cNvSpPr txBox="1"/>
            <p:nvPr/>
          </p:nvSpPr>
          <p:spPr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1164" name="Google Shape;1164;p14"/>
            <p:cNvSpPr/>
            <p:nvPr/>
          </p:nvSpPr>
          <p:spPr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4"/>
            <p:cNvSpPr/>
            <p:nvPr/>
          </p:nvSpPr>
          <p:spPr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4"/>
            <p:cNvSpPr/>
            <p:nvPr/>
          </p:nvSpPr>
          <p:spPr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7" name="Google Shape;1167;p14"/>
          <p:cNvGrpSpPr/>
          <p:nvPr/>
        </p:nvGrpSpPr>
        <p:grpSpPr>
          <a:xfrm>
            <a:off x="8704311" y="2293748"/>
            <a:ext cx="1259780" cy="523875"/>
            <a:chOff x="10932220" y="4822113"/>
            <a:chExt cx="1259780" cy="523875"/>
          </a:xfrm>
        </p:grpSpPr>
        <p:sp>
          <p:nvSpPr>
            <p:cNvPr id="1168" name="Google Shape;1168;p14"/>
            <p:cNvSpPr/>
            <p:nvPr/>
          </p:nvSpPr>
          <p:spPr>
            <a:xfrm>
              <a:off x="11001071" y="4880851"/>
              <a:ext cx="1190929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4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0" name="Google Shape;1170;p14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1" name="Google Shape;1171;p14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2" name="Google Shape;1172;p14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3" name="Google Shape;1173;p14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4" name="Google Shape;1174;p14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1175" name="Google Shape;1175;p14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1176" name="Google Shape;1176;p14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177" name="Google Shape;1177;p14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1178" name="Google Shape;1178;p14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4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4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1" name="Google Shape;1181;p1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Port-based VLANs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14"/>
          <p:cNvSpPr txBox="1"/>
          <p:nvPr>
            <p:ph idx="4294967295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14"/>
          <p:cNvSpPr txBox="1"/>
          <p:nvPr/>
        </p:nvSpPr>
        <p:spPr>
          <a:xfrm>
            <a:off x="1234828" y="2469025"/>
            <a:ext cx="369778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switch(es) supporting VLAN capabilities can be configured to define multiple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virtual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 over single physical LAN infrastructure.</a:t>
            </a:r>
            <a:endParaRPr/>
          </a:p>
        </p:txBody>
      </p:sp>
      <p:sp>
        <p:nvSpPr>
          <p:cNvPr id="1184" name="Google Shape;1184;p14"/>
          <p:cNvSpPr/>
          <p:nvPr/>
        </p:nvSpPr>
        <p:spPr>
          <a:xfrm>
            <a:off x="907603" y="1867773"/>
            <a:ext cx="4140915" cy="347696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14"/>
          <p:cNvSpPr txBox="1"/>
          <p:nvPr/>
        </p:nvSpPr>
        <p:spPr>
          <a:xfrm>
            <a:off x="1235365" y="1607445"/>
            <a:ext cx="3014663" cy="828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Virtual Local Area Network (VLAN)</a:t>
            </a:r>
            <a:endParaRPr/>
          </a:p>
        </p:txBody>
      </p:sp>
      <p:grpSp>
        <p:nvGrpSpPr>
          <p:cNvPr id="1186" name="Google Shape;1186;p14"/>
          <p:cNvGrpSpPr/>
          <p:nvPr/>
        </p:nvGrpSpPr>
        <p:grpSpPr>
          <a:xfrm>
            <a:off x="7579415" y="1918955"/>
            <a:ext cx="2388836" cy="410624"/>
            <a:chOff x="7399107" y="1365161"/>
            <a:chExt cx="2388836" cy="732595"/>
          </a:xfrm>
        </p:grpSpPr>
        <p:sp>
          <p:nvSpPr>
            <p:cNvPr id="1187" name="Google Shape;1187;p14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8" name="Google Shape;1188;p14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1189" name="Google Shape;1189;p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93" name="Google Shape;1193;p14"/>
          <p:cNvSpPr txBox="1"/>
          <p:nvPr/>
        </p:nvSpPr>
        <p:spPr>
          <a:xfrm>
            <a:off x="5943932" y="721723"/>
            <a:ext cx="5961059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port-based VLAN: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 ports grouped (by switch management software) so that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 switch ……</a:t>
            </a:r>
            <a:endParaRPr/>
          </a:p>
          <a:p>
            <a:pPr indent="-215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194" name="Google Shape;1194;p14"/>
          <p:cNvCxnSpPr/>
          <p:nvPr/>
        </p:nvCxnSpPr>
        <p:spPr>
          <a:xfrm flipH="1">
            <a:off x="6827193" y="2649273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14"/>
          <p:cNvCxnSpPr/>
          <p:nvPr/>
        </p:nvCxnSpPr>
        <p:spPr>
          <a:xfrm flipH="1">
            <a:off x="7212956" y="2649273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6" name="Google Shape;1196;p14"/>
          <p:cNvCxnSpPr/>
          <p:nvPr/>
        </p:nvCxnSpPr>
        <p:spPr>
          <a:xfrm flipH="1">
            <a:off x="7932092" y="2664199"/>
            <a:ext cx="672983" cy="3613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14"/>
          <p:cNvSpPr txBox="1"/>
          <p:nvPr/>
        </p:nvSpPr>
        <p:spPr>
          <a:xfrm>
            <a:off x="9721614" y="2864458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1198" name="Google Shape;1198;p14"/>
          <p:cNvCxnSpPr/>
          <p:nvPr/>
        </p:nvCxnSpPr>
        <p:spPr>
          <a:xfrm>
            <a:off x="8940156" y="2652448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9" name="Google Shape;1199;p14"/>
          <p:cNvCxnSpPr/>
          <p:nvPr/>
        </p:nvCxnSpPr>
        <p:spPr>
          <a:xfrm>
            <a:off x="8930631" y="2450835"/>
            <a:ext cx="479425" cy="603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14"/>
          <p:cNvCxnSpPr/>
          <p:nvPr/>
        </p:nvCxnSpPr>
        <p:spPr>
          <a:xfrm>
            <a:off x="9786293" y="2395273"/>
            <a:ext cx="514350" cy="48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14"/>
          <p:cNvSpPr txBox="1"/>
          <p:nvPr/>
        </p:nvSpPr>
        <p:spPr>
          <a:xfrm>
            <a:off x="6446520" y="3356023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1202" name="Google Shape;1202;p14"/>
          <p:cNvSpPr txBox="1"/>
          <p:nvPr/>
        </p:nvSpPr>
        <p:spPr>
          <a:xfrm>
            <a:off x="8387415" y="3356023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1203" name="Google Shape;1203;p14"/>
          <p:cNvSpPr txBox="1"/>
          <p:nvPr/>
        </p:nvSpPr>
        <p:spPr>
          <a:xfrm>
            <a:off x="7475370" y="2827505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1204" name="Google Shape;1204;p14"/>
          <p:cNvGrpSpPr/>
          <p:nvPr/>
        </p:nvGrpSpPr>
        <p:grpSpPr>
          <a:xfrm>
            <a:off x="6290618" y="2835010"/>
            <a:ext cx="609600" cy="558800"/>
            <a:chOff x="-44" y="1473"/>
            <a:chExt cx="981" cy="1105"/>
          </a:xfrm>
        </p:grpSpPr>
        <p:pic>
          <p:nvPicPr>
            <p:cNvPr descr="desktop_computer_stylized_medium" id="1205" name="Google Shape;120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7" name="Google Shape;1207;p14"/>
          <p:cNvGrpSpPr/>
          <p:nvPr/>
        </p:nvGrpSpPr>
        <p:grpSpPr>
          <a:xfrm>
            <a:off x="6855399" y="2840344"/>
            <a:ext cx="609600" cy="558800"/>
            <a:chOff x="-44" y="1473"/>
            <a:chExt cx="981" cy="1105"/>
          </a:xfrm>
        </p:grpSpPr>
        <p:pic>
          <p:nvPicPr>
            <p:cNvPr descr="desktop_computer_stylized_medium" id="1208" name="Google Shape;1208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0" name="Google Shape;1210;p14"/>
          <p:cNvGrpSpPr/>
          <p:nvPr/>
        </p:nvGrpSpPr>
        <p:grpSpPr>
          <a:xfrm>
            <a:off x="7612266" y="2835682"/>
            <a:ext cx="609600" cy="558800"/>
            <a:chOff x="-44" y="1473"/>
            <a:chExt cx="981" cy="1105"/>
          </a:xfrm>
        </p:grpSpPr>
        <p:pic>
          <p:nvPicPr>
            <p:cNvPr descr="desktop_computer_stylized_medium" id="1211" name="Google Shape;121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3" name="Google Shape;1213;p14"/>
          <p:cNvGrpSpPr/>
          <p:nvPr/>
        </p:nvGrpSpPr>
        <p:grpSpPr>
          <a:xfrm>
            <a:off x="8577667" y="2831020"/>
            <a:ext cx="609600" cy="558800"/>
            <a:chOff x="-44" y="1473"/>
            <a:chExt cx="981" cy="1105"/>
          </a:xfrm>
        </p:grpSpPr>
        <p:pic>
          <p:nvPicPr>
            <p:cNvPr descr="desktop_computer_stylized_medium" id="1214" name="Google Shape;1214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6" name="Google Shape;1216;p14"/>
          <p:cNvGrpSpPr/>
          <p:nvPr/>
        </p:nvGrpSpPr>
        <p:grpSpPr>
          <a:xfrm>
            <a:off x="9092894" y="2836930"/>
            <a:ext cx="609600" cy="558800"/>
            <a:chOff x="-44" y="1473"/>
            <a:chExt cx="981" cy="1105"/>
          </a:xfrm>
        </p:grpSpPr>
        <p:pic>
          <p:nvPicPr>
            <p:cNvPr descr="desktop_computer_stylized_medium" id="1217" name="Google Shape;121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9" name="Google Shape;1219;p14"/>
          <p:cNvGrpSpPr/>
          <p:nvPr/>
        </p:nvGrpSpPr>
        <p:grpSpPr>
          <a:xfrm>
            <a:off x="9956495" y="2845922"/>
            <a:ext cx="609600" cy="558800"/>
            <a:chOff x="-44" y="1473"/>
            <a:chExt cx="981" cy="1105"/>
          </a:xfrm>
        </p:grpSpPr>
        <p:pic>
          <p:nvPicPr>
            <p:cNvPr descr="desktop_computer_stylized_medium" id="1220" name="Google Shape;122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2" name="Google Shape;1222;p14"/>
          <p:cNvGrpSpPr/>
          <p:nvPr/>
        </p:nvGrpSpPr>
        <p:grpSpPr>
          <a:xfrm>
            <a:off x="6211492" y="3817384"/>
            <a:ext cx="5305402" cy="2612342"/>
            <a:chOff x="6211492" y="3817384"/>
            <a:chExt cx="5305402" cy="2612342"/>
          </a:xfrm>
        </p:grpSpPr>
        <p:grpSp>
          <p:nvGrpSpPr>
            <p:cNvPr id="1223" name="Google Shape;1223;p14"/>
            <p:cNvGrpSpPr/>
            <p:nvPr/>
          </p:nvGrpSpPr>
          <p:grpSpPr>
            <a:xfrm>
              <a:off x="6540241" y="4410585"/>
              <a:ext cx="4725167" cy="1478151"/>
              <a:chOff x="6576817" y="3374265"/>
              <a:chExt cx="4310127" cy="1451015"/>
            </a:xfrm>
          </p:grpSpPr>
          <p:sp>
            <p:nvSpPr>
              <p:cNvPr id="1224" name="Google Shape;1224;p14"/>
              <p:cNvSpPr/>
              <p:nvPr/>
            </p:nvSpPr>
            <p:spPr>
              <a:xfrm>
                <a:off x="8691093" y="3384997"/>
                <a:ext cx="1094704" cy="528034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dir="162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14"/>
              <p:cNvSpPr/>
              <p:nvPr/>
            </p:nvSpPr>
            <p:spPr>
              <a:xfrm>
                <a:off x="9704233" y="3561007"/>
                <a:ext cx="1094704" cy="528034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14"/>
              <p:cNvSpPr/>
              <p:nvPr/>
            </p:nvSpPr>
            <p:spPr>
              <a:xfrm>
                <a:off x="9274940" y="4110502"/>
                <a:ext cx="1094704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14"/>
              <p:cNvSpPr/>
              <p:nvPr/>
            </p:nvSpPr>
            <p:spPr>
              <a:xfrm>
                <a:off x="8178090" y="4250021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14"/>
              <p:cNvSpPr/>
              <p:nvPr/>
            </p:nvSpPr>
            <p:spPr>
              <a:xfrm>
                <a:off x="7222907" y="4170602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14"/>
              <p:cNvSpPr/>
              <p:nvPr/>
            </p:nvSpPr>
            <p:spPr>
              <a:xfrm>
                <a:off x="7029724" y="3539536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r" dir="135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14"/>
              <p:cNvSpPr/>
              <p:nvPr/>
            </p:nvSpPr>
            <p:spPr>
              <a:xfrm>
                <a:off x="9792240" y="3842194"/>
                <a:ext cx="1094704" cy="57525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4"/>
              <p:cNvSpPr/>
              <p:nvPr/>
            </p:nvSpPr>
            <p:spPr>
              <a:xfrm>
                <a:off x="9358649" y="3395729"/>
                <a:ext cx="1094704" cy="528034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A5A5A5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14"/>
              <p:cNvSpPr/>
              <p:nvPr/>
            </p:nvSpPr>
            <p:spPr>
              <a:xfrm>
                <a:off x="7727324" y="3374265"/>
                <a:ext cx="1442434" cy="60530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dir="16200000" dist="38100">
                  <a:srgbClr val="A5A5A5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14"/>
              <p:cNvSpPr/>
              <p:nvPr/>
            </p:nvSpPr>
            <p:spPr>
              <a:xfrm>
                <a:off x="6576817" y="3859361"/>
                <a:ext cx="1313640" cy="57525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r" dir="13500000" dist="38100">
                  <a:srgbClr val="BFBFB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14"/>
              <p:cNvSpPr/>
              <p:nvPr/>
            </p:nvSpPr>
            <p:spPr>
              <a:xfrm>
                <a:off x="7094483" y="3443189"/>
                <a:ext cx="3651294" cy="1248629"/>
              </a:xfrm>
              <a:custGeom>
                <a:rect b="b" l="l" r="r" t="t"/>
                <a:pathLst>
                  <a:path extrusionOk="0" h="1248629" w="3651294">
                    <a:moveTo>
                      <a:pt x="18918" y="327923"/>
                    </a:moveTo>
                    <a:lnTo>
                      <a:pt x="0" y="472965"/>
                    </a:lnTo>
                    <a:lnTo>
                      <a:pt x="75674" y="939625"/>
                    </a:lnTo>
                    <a:lnTo>
                      <a:pt x="176574" y="964850"/>
                    </a:lnTo>
                    <a:lnTo>
                      <a:pt x="214411" y="1034218"/>
                    </a:lnTo>
                    <a:lnTo>
                      <a:pt x="1072055" y="1248629"/>
                    </a:lnTo>
                    <a:lnTo>
                      <a:pt x="1210791" y="1179261"/>
                    </a:lnTo>
                    <a:lnTo>
                      <a:pt x="1311691" y="1248629"/>
                    </a:lnTo>
                    <a:lnTo>
                      <a:pt x="2238703" y="1242323"/>
                    </a:lnTo>
                    <a:lnTo>
                      <a:pt x="2352215" y="1072055"/>
                    </a:lnTo>
                    <a:lnTo>
                      <a:pt x="2453114" y="1109892"/>
                    </a:lnTo>
                    <a:lnTo>
                      <a:pt x="3165716" y="1021605"/>
                    </a:lnTo>
                    <a:lnTo>
                      <a:pt x="3272921" y="870257"/>
                    </a:lnTo>
                    <a:lnTo>
                      <a:pt x="3651294" y="567559"/>
                    </a:lnTo>
                    <a:lnTo>
                      <a:pt x="3600844" y="510803"/>
                    </a:lnTo>
                    <a:lnTo>
                      <a:pt x="3619763" y="416210"/>
                    </a:lnTo>
                    <a:lnTo>
                      <a:pt x="3436883" y="245942"/>
                    </a:lnTo>
                    <a:lnTo>
                      <a:pt x="3436883" y="245942"/>
                    </a:lnTo>
                    <a:lnTo>
                      <a:pt x="3285534" y="182880"/>
                    </a:lnTo>
                    <a:lnTo>
                      <a:pt x="2699056" y="18919"/>
                    </a:lnTo>
                    <a:lnTo>
                      <a:pt x="2440502" y="69368"/>
                    </a:lnTo>
                    <a:lnTo>
                      <a:pt x="2308071" y="6306"/>
                    </a:lnTo>
                    <a:lnTo>
                      <a:pt x="2011680" y="0"/>
                    </a:lnTo>
                    <a:lnTo>
                      <a:pt x="1828800" y="31531"/>
                    </a:lnTo>
                    <a:lnTo>
                      <a:pt x="775663" y="94593"/>
                    </a:lnTo>
                    <a:lnTo>
                      <a:pt x="599089" y="170268"/>
                    </a:lnTo>
                    <a:lnTo>
                      <a:pt x="283779" y="195492"/>
                    </a:lnTo>
                    <a:lnTo>
                      <a:pt x="18918" y="3279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5" name="Google Shape;1235;p14"/>
            <p:cNvSpPr/>
            <p:nvPr/>
          </p:nvSpPr>
          <p:spPr>
            <a:xfrm>
              <a:off x="6211492" y="3817384"/>
              <a:ext cx="5140325" cy="50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6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… operates as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multiple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virtual switches</a:t>
              </a:r>
              <a:endParaRPr/>
            </a:p>
            <a:p>
              <a:pPr indent="-260350" lvl="0" marL="342900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1300"/>
                <a:buFont typeface="Noto Sans Symbols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236" name="Google Shape;1236;p14"/>
            <p:cNvGrpSpPr/>
            <p:nvPr/>
          </p:nvGrpSpPr>
          <p:grpSpPr>
            <a:xfrm>
              <a:off x="6371136" y="4706033"/>
              <a:ext cx="2504545" cy="1723693"/>
              <a:chOff x="6713475" y="4508715"/>
              <a:chExt cx="2504545" cy="1723693"/>
            </a:xfrm>
          </p:grpSpPr>
          <p:grpSp>
            <p:nvGrpSpPr>
              <p:cNvPr id="1237" name="Google Shape;1237;p14"/>
              <p:cNvGrpSpPr/>
              <p:nvPr/>
            </p:nvGrpSpPr>
            <p:grpSpPr>
              <a:xfrm>
                <a:off x="7956791" y="4882148"/>
                <a:ext cx="1253884" cy="519112"/>
                <a:chOff x="9277591" y="4082048"/>
                <a:chExt cx="1253884" cy="519112"/>
              </a:xfrm>
            </p:grpSpPr>
            <p:sp>
              <p:nvSpPr>
                <p:cNvPr id="1238" name="Google Shape;1238;p14"/>
                <p:cNvSpPr/>
                <p:nvPr/>
              </p:nvSpPr>
              <p:spPr>
                <a:xfrm>
                  <a:off x="9340181" y="4127584"/>
                  <a:ext cx="1188897" cy="471997"/>
                </a:xfrm>
                <a:prstGeom prst="rect">
                  <a:avLst/>
                </a:prstGeom>
                <a:solidFill>
                  <a:srgbClr val="F56F6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9" name="Google Shape;1239;p14"/>
                <p:cNvSpPr/>
                <p:nvPr/>
              </p:nvSpPr>
              <p:spPr>
                <a:xfrm>
                  <a:off x="9349866" y="4128085"/>
                  <a:ext cx="1181609" cy="468313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40" name="Google Shape;1240;p14"/>
                <p:cNvCxnSpPr/>
                <p:nvPr/>
              </p:nvCxnSpPr>
              <p:spPr>
                <a:xfrm flipH="1" rot="10800000">
                  <a:off x="9351453" y="4342570"/>
                  <a:ext cx="1179110" cy="14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41" name="Google Shape;1241;p14"/>
                <p:cNvSpPr txBox="1"/>
                <p:nvPr/>
              </p:nvSpPr>
              <p:spPr>
                <a:xfrm>
                  <a:off x="9277591" y="4097084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cxnSp>
              <p:nvCxnSpPr>
                <p:cNvPr id="1242" name="Google Shape;1242;p14"/>
                <p:cNvCxnSpPr/>
                <p:nvPr/>
              </p:nvCxnSpPr>
              <p:spPr>
                <a:xfrm>
                  <a:off x="9930891" y="4132848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3" name="Google Shape;1243;p14"/>
                <p:cNvCxnSpPr/>
                <p:nvPr/>
              </p:nvCxnSpPr>
              <p:spPr>
                <a:xfrm>
                  <a:off x="9640378" y="4129673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4" name="Google Shape;1244;p14"/>
                <p:cNvCxnSpPr/>
                <p:nvPr/>
              </p:nvCxnSpPr>
              <p:spPr>
                <a:xfrm>
                  <a:off x="10211878" y="4137610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45" name="Google Shape;1245;p14"/>
                <p:cNvSpPr txBox="1"/>
                <p:nvPr/>
              </p:nvSpPr>
              <p:spPr>
                <a:xfrm>
                  <a:off x="10148378" y="4296360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  <p:sp>
              <p:nvSpPr>
                <p:cNvPr id="1246" name="Google Shape;1246;p14"/>
                <p:cNvSpPr txBox="1"/>
                <p:nvPr/>
              </p:nvSpPr>
              <p:spPr>
                <a:xfrm>
                  <a:off x="9287115" y="4297109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  <p:sp>
              <p:nvSpPr>
                <p:cNvPr id="1247" name="Google Shape;1247;p14"/>
                <p:cNvSpPr txBox="1"/>
                <p:nvPr/>
              </p:nvSpPr>
              <p:spPr>
                <a:xfrm>
                  <a:off x="10143616" y="4082048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  <p:sp>
              <p:nvSpPr>
                <p:cNvPr id="1248" name="Google Shape;1248;p14"/>
                <p:cNvSpPr/>
                <p:nvPr/>
              </p:nvSpPr>
              <p:spPr>
                <a:xfrm>
                  <a:off x="9465753" y="4442410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9" name="Google Shape;1249;p14"/>
                <p:cNvSpPr/>
                <p:nvPr/>
              </p:nvSpPr>
              <p:spPr>
                <a:xfrm>
                  <a:off x="9757853" y="4439235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0" name="Google Shape;1250;p14"/>
                <p:cNvSpPr/>
                <p:nvPr/>
              </p:nvSpPr>
              <p:spPr>
                <a:xfrm>
                  <a:off x="10345228" y="4443998"/>
                  <a:ext cx="42863" cy="4762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51" name="Google Shape;1251;p14"/>
              <p:cNvGrpSpPr/>
              <p:nvPr/>
            </p:nvGrpSpPr>
            <p:grpSpPr>
              <a:xfrm>
                <a:off x="8011898" y="4508715"/>
                <a:ext cx="1206122" cy="410624"/>
                <a:chOff x="7399107" y="1365161"/>
                <a:chExt cx="2388836" cy="732595"/>
              </a:xfrm>
            </p:grpSpPr>
            <p:sp>
              <p:nvSpPr>
                <p:cNvPr id="1252" name="Google Shape;1252;p14"/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53" name="Google Shape;1253;p14"/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1254" name="Google Shape;1254;p14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5" name="Google Shape;1255;p14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6" name="Google Shape;1256;p14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7" name="Google Shape;1257;p14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58" name="Google Shape;1258;p14"/>
              <p:cNvGrpSpPr/>
              <p:nvPr/>
            </p:nvGrpSpPr>
            <p:grpSpPr>
              <a:xfrm>
                <a:off x="6713475" y="5263098"/>
                <a:ext cx="2324083" cy="969310"/>
                <a:chOff x="6713475" y="5263098"/>
                <a:chExt cx="2324083" cy="969310"/>
              </a:xfrm>
            </p:grpSpPr>
            <p:cxnSp>
              <p:nvCxnSpPr>
                <p:cNvPr id="1259" name="Google Shape;1259;p14"/>
                <p:cNvCxnSpPr/>
                <p:nvPr/>
              </p:nvCxnSpPr>
              <p:spPr>
                <a:xfrm flipH="1">
                  <a:off x="7259676" y="5267911"/>
                  <a:ext cx="901700" cy="27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0" name="Google Shape;1260;p14"/>
                <p:cNvCxnSpPr/>
                <p:nvPr/>
              </p:nvCxnSpPr>
              <p:spPr>
                <a:xfrm flipH="1">
                  <a:off x="7645439" y="5263098"/>
                  <a:ext cx="806450" cy="419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1" name="Google Shape;1261;p14"/>
                <p:cNvCxnSpPr/>
                <p:nvPr/>
              </p:nvCxnSpPr>
              <p:spPr>
                <a:xfrm flipH="1">
                  <a:off x="8364575" y="5268398"/>
                  <a:ext cx="672983" cy="36131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62" name="Google Shape;1262;p14"/>
                <p:cNvSpPr txBox="1"/>
                <p:nvPr/>
              </p:nvSpPr>
              <p:spPr>
                <a:xfrm>
                  <a:off x="6869377" y="5955409"/>
                  <a:ext cx="173156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EE (VLAN ports 1-8)</a:t>
                  </a:r>
                  <a:endParaRPr/>
                </a:p>
              </p:txBody>
            </p:sp>
            <p:sp>
              <p:nvSpPr>
                <p:cNvPr id="1263" name="Google Shape;1263;p14"/>
                <p:cNvSpPr txBox="1"/>
                <p:nvPr/>
              </p:nvSpPr>
              <p:spPr>
                <a:xfrm>
                  <a:off x="7898227" y="5426891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grpSp>
              <p:nvGrpSpPr>
                <p:cNvPr id="1264" name="Google Shape;1264;p14"/>
                <p:cNvGrpSpPr/>
                <p:nvPr/>
              </p:nvGrpSpPr>
              <p:grpSpPr>
                <a:xfrm>
                  <a:off x="6713475" y="5434396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1265" name="Google Shape;1265;p1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266" name="Google Shape;1266;p14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67" name="Google Shape;1267;p14"/>
                <p:cNvGrpSpPr/>
                <p:nvPr/>
              </p:nvGrpSpPr>
              <p:grpSpPr>
                <a:xfrm>
                  <a:off x="7278256" y="5439730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1268" name="Google Shape;1268;p1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269" name="Google Shape;1269;p14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70" name="Google Shape;1270;p14"/>
                <p:cNvGrpSpPr/>
                <p:nvPr/>
              </p:nvGrpSpPr>
              <p:grpSpPr>
                <a:xfrm>
                  <a:off x="8035123" y="5435068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1271" name="Google Shape;1271;p1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272" name="Google Shape;1272;p14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273" name="Google Shape;1273;p14"/>
            <p:cNvGrpSpPr/>
            <p:nvPr/>
          </p:nvGrpSpPr>
          <p:grpSpPr>
            <a:xfrm>
              <a:off x="8944384" y="4697880"/>
              <a:ext cx="2572510" cy="1717408"/>
              <a:chOff x="8810272" y="4515000"/>
              <a:chExt cx="2572510" cy="1717408"/>
            </a:xfrm>
          </p:grpSpPr>
          <p:grpSp>
            <p:nvGrpSpPr>
              <p:cNvPr id="1274" name="Google Shape;1274;p14"/>
              <p:cNvGrpSpPr/>
              <p:nvPr/>
            </p:nvGrpSpPr>
            <p:grpSpPr>
              <a:xfrm>
                <a:off x="9139356" y="4877393"/>
                <a:ext cx="1256356" cy="523875"/>
                <a:chOff x="10935644" y="4822113"/>
                <a:chExt cx="1256356" cy="523875"/>
              </a:xfrm>
            </p:grpSpPr>
            <p:sp>
              <p:nvSpPr>
                <p:cNvPr id="1275" name="Google Shape;1275;p14"/>
                <p:cNvSpPr/>
                <p:nvPr/>
              </p:nvSpPr>
              <p:spPr>
                <a:xfrm>
                  <a:off x="11001071" y="4880851"/>
                  <a:ext cx="1190929" cy="457200"/>
                </a:xfrm>
                <a:prstGeom prst="rect">
                  <a:avLst/>
                </a:prstGeom>
                <a:solidFill>
                  <a:srgbClr val="9CC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6" name="Google Shape;1276;p14"/>
                <p:cNvSpPr/>
                <p:nvPr/>
              </p:nvSpPr>
              <p:spPr>
                <a:xfrm>
                  <a:off x="11010391" y="4872913"/>
                  <a:ext cx="1181609" cy="468313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77" name="Google Shape;1277;p14"/>
                <p:cNvCxnSpPr/>
                <p:nvPr/>
              </p:nvCxnSpPr>
              <p:spPr>
                <a:xfrm>
                  <a:off x="11009376" y="5090714"/>
                  <a:ext cx="1163270" cy="28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8" name="Google Shape;1278;p14"/>
                <p:cNvCxnSpPr/>
                <p:nvPr/>
              </p:nvCxnSpPr>
              <p:spPr>
                <a:xfrm>
                  <a:off x="11601146" y="4882438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9" name="Google Shape;1279;p14"/>
                <p:cNvCxnSpPr/>
                <p:nvPr/>
              </p:nvCxnSpPr>
              <p:spPr>
                <a:xfrm>
                  <a:off x="11305871" y="4877676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80" name="Google Shape;1280;p14"/>
                <p:cNvCxnSpPr/>
                <p:nvPr/>
              </p:nvCxnSpPr>
              <p:spPr>
                <a:xfrm>
                  <a:off x="11896421" y="4872913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81" name="Google Shape;1281;p14"/>
                <p:cNvSpPr txBox="1"/>
                <p:nvPr/>
              </p:nvSpPr>
              <p:spPr>
                <a:xfrm>
                  <a:off x="10954695" y="4830300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9</a:t>
                  </a:r>
                  <a:endParaRPr/>
                </a:p>
              </p:txBody>
            </p:sp>
            <p:sp>
              <p:nvSpPr>
                <p:cNvPr id="1282" name="Google Shape;1282;p14"/>
                <p:cNvSpPr txBox="1"/>
                <p:nvPr/>
              </p:nvSpPr>
              <p:spPr>
                <a:xfrm>
                  <a:off x="11813871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16</a:t>
                  </a:r>
                  <a:endParaRPr/>
                </a:p>
              </p:txBody>
            </p:sp>
            <p:sp>
              <p:nvSpPr>
                <p:cNvPr id="1283" name="Google Shape;1283;p14"/>
                <p:cNvSpPr txBox="1"/>
                <p:nvPr/>
              </p:nvSpPr>
              <p:spPr>
                <a:xfrm>
                  <a:off x="10935644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/>
                </a:p>
              </p:txBody>
            </p:sp>
            <p:sp>
              <p:nvSpPr>
                <p:cNvPr id="1284" name="Google Shape;1284;p14"/>
                <p:cNvSpPr txBox="1"/>
                <p:nvPr/>
              </p:nvSpPr>
              <p:spPr>
                <a:xfrm>
                  <a:off x="11809108" y="4822113"/>
                  <a:ext cx="29845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15</a:t>
                  </a:r>
                  <a:endParaRPr/>
                </a:p>
              </p:txBody>
            </p:sp>
            <p:sp>
              <p:nvSpPr>
                <p:cNvPr id="1285" name="Google Shape;1285;p14"/>
                <p:cNvSpPr/>
                <p:nvPr/>
              </p:nvSpPr>
              <p:spPr>
                <a:xfrm>
                  <a:off x="11147121" y="5185651"/>
                  <a:ext cx="42862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6" name="Google Shape;1286;p14"/>
                <p:cNvSpPr/>
                <p:nvPr/>
              </p:nvSpPr>
              <p:spPr>
                <a:xfrm>
                  <a:off x="11134421" y="4971338"/>
                  <a:ext cx="42862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7" name="Google Shape;1287;p14"/>
                <p:cNvSpPr/>
                <p:nvPr/>
              </p:nvSpPr>
              <p:spPr>
                <a:xfrm>
                  <a:off x="12009133" y="4968163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88" name="Google Shape;1288;p14"/>
              <p:cNvSpPr txBox="1"/>
              <p:nvPr/>
            </p:nvSpPr>
            <p:spPr>
              <a:xfrm>
                <a:off x="10144471" y="5463844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cxnSp>
            <p:nvCxnSpPr>
              <p:cNvPr id="1289" name="Google Shape;1289;p14"/>
              <p:cNvCxnSpPr/>
              <p:nvPr/>
            </p:nvCxnSpPr>
            <p:spPr>
              <a:xfrm>
                <a:off x="9363013" y="5251834"/>
                <a:ext cx="101600" cy="37782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0" name="Google Shape;1290;p14"/>
              <p:cNvCxnSpPr/>
              <p:nvPr/>
            </p:nvCxnSpPr>
            <p:spPr>
              <a:xfrm>
                <a:off x="9353488" y="5050221"/>
                <a:ext cx="479425" cy="6032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1" name="Google Shape;1291;p14"/>
              <p:cNvSpPr txBox="1"/>
              <p:nvPr/>
            </p:nvSpPr>
            <p:spPr>
              <a:xfrm>
                <a:off x="8810272" y="5955409"/>
                <a:ext cx="25725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CS (VLAN ports 9-15)</a:t>
                </a:r>
                <a:endParaRPr/>
              </a:p>
            </p:txBody>
          </p:sp>
          <p:grpSp>
            <p:nvGrpSpPr>
              <p:cNvPr id="1292" name="Google Shape;1292;p14"/>
              <p:cNvGrpSpPr/>
              <p:nvPr/>
            </p:nvGrpSpPr>
            <p:grpSpPr>
              <a:xfrm>
                <a:off x="9000524" y="5430406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1293" name="Google Shape;1293;p1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94" name="Google Shape;1294;p1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95" name="Google Shape;1295;p14"/>
              <p:cNvGrpSpPr/>
              <p:nvPr/>
            </p:nvGrpSpPr>
            <p:grpSpPr>
              <a:xfrm>
                <a:off x="9515751" y="5436316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1296" name="Google Shape;1296;p1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97" name="Google Shape;1297;p1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98" name="Google Shape;1298;p14"/>
              <p:cNvGrpSpPr/>
              <p:nvPr/>
            </p:nvGrpSpPr>
            <p:grpSpPr>
              <a:xfrm>
                <a:off x="9202354" y="4515000"/>
                <a:ext cx="1206122" cy="410624"/>
                <a:chOff x="7399107" y="1365161"/>
                <a:chExt cx="2388836" cy="732595"/>
              </a:xfrm>
            </p:grpSpPr>
            <p:sp>
              <p:nvSpPr>
                <p:cNvPr id="1299" name="Google Shape;1299;p14"/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00" name="Google Shape;1300;p14"/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1301" name="Google Shape;1301;p14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2" name="Google Shape;1302;p14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3" name="Google Shape;1303;p14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4" name="Google Shape;1304;p14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1305" name="Google Shape;1305;p14"/>
              <p:cNvCxnSpPr/>
              <p:nvPr/>
            </p:nvCxnSpPr>
            <p:spPr>
              <a:xfrm>
                <a:off x="10232595" y="5048617"/>
                <a:ext cx="479425" cy="6032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306" name="Google Shape;1306;p14"/>
              <p:cNvGrpSpPr/>
              <p:nvPr/>
            </p:nvGrpSpPr>
            <p:grpSpPr>
              <a:xfrm>
                <a:off x="10379352" y="5445308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1307" name="Google Shape;1307;p1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08" name="Google Shape;1308;p1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4" name="Google Shape;1314;p15"/>
          <p:cNvGrpSpPr/>
          <p:nvPr/>
        </p:nvGrpSpPr>
        <p:grpSpPr>
          <a:xfrm>
            <a:off x="8767518" y="3871809"/>
            <a:ext cx="1243611" cy="519112"/>
            <a:chOff x="9287864" y="4082048"/>
            <a:chExt cx="1243611" cy="519112"/>
          </a:xfrm>
        </p:grpSpPr>
        <p:sp>
          <p:nvSpPr>
            <p:cNvPr id="1315" name="Google Shape;1315;p15"/>
            <p:cNvSpPr/>
            <p:nvPr/>
          </p:nvSpPr>
          <p:spPr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9349866" y="4128085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7" name="Google Shape;1317;p15"/>
            <p:cNvCxnSpPr/>
            <p:nvPr/>
          </p:nvCxnSpPr>
          <p:spPr>
            <a:xfrm flipH="1" rot="10800000">
              <a:off x="9351453" y="4342570"/>
              <a:ext cx="1179110" cy="14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8" name="Google Shape;1318;p15"/>
            <p:cNvSpPr txBox="1"/>
            <p:nvPr/>
          </p:nvSpPr>
          <p:spPr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1319" name="Google Shape;1319;p15"/>
            <p:cNvCxnSpPr/>
            <p:nvPr/>
          </p:nvCxnSpPr>
          <p:spPr>
            <a:xfrm>
              <a:off x="9930891" y="413284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0" name="Google Shape;1320;p15"/>
            <p:cNvCxnSpPr/>
            <p:nvPr/>
          </p:nvCxnSpPr>
          <p:spPr>
            <a:xfrm>
              <a:off x="9640378" y="412967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1" name="Google Shape;1321;p15"/>
            <p:cNvCxnSpPr/>
            <p:nvPr/>
          </p:nvCxnSpPr>
          <p:spPr>
            <a:xfrm>
              <a:off x="10211878" y="4137610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2" name="Google Shape;1322;p15"/>
            <p:cNvSpPr txBox="1"/>
            <p:nvPr/>
          </p:nvSpPr>
          <p:spPr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1323" name="Google Shape;1323;p15"/>
            <p:cNvSpPr txBox="1"/>
            <p:nvPr/>
          </p:nvSpPr>
          <p:spPr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324" name="Google Shape;1324;p15"/>
            <p:cNvSpPr txBox="1"/>
            <p:nvPr/>
          </p:nvSpPr>
          <p:spPr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8" name="Google Shape;1328;p15"/>
          <p:cNvGrpSpPr/>
          <p:nvPr/>
        </p:nvGrpSpPr>
        <p:grpSpPr>
          <a:xfrm>
            <a:off x="9936386" y="3867054"/>
            <a:ext cx="1259780" cy="523875"/>
            <a:chOff x="10932220" y="4822113"/>
            <a:chExt cx="1259780" cy="523875"/>
          </a:xfrm>
        </p:grpSpPr>
        <p:sp>
          <p:nvSpPr>
            <p:cNvPr id="1329" name="Google Shape;1329;p15"/>
            <p:cNvSpPr/>
            <p:nvPr/>
          </p:nvSpPr>
          <p:spPr>
            <a:xfrm>
              <a:off x="11001071" y="4880851"/>
              <a:ext cx="1190929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1" name="Google Shape;1331;p15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2" name="Google Shape;1332;p15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3" name="Google Shape;1333;p15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4" name="Google Shape;1334;p15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5" name="Google Shape;1335;p15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1336" name="Google Shape;1336;p15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1337" name="Google Shape;1337;p15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338" name="Google Shape;1338;p15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2" name="Google Shape;1342;p1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Port-based VLANs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15"/>
          <p:cNvSpPr txBox="1"/>
          <p:nvPr>
            <p:ph idx="4294967295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4" name="Google Shape;1344;p15"/>
          <p:cNvGrpSpPr/>
          <p:nvPr/>
        </p:nvGrpSpPr>
        <p:grpSpPr>
          <a:xfrm>
            <a:off x="8811490" y="3492261"/>
            <a:ext cx="2388836" cy="410624"/>
            <a:chOff x="7399107" y="1365161"/>
            <a:chExt cx="2388836" cy="732595"/>
          </a:xfrm>
        </p:grpSpPr>
        <p:sp>
          <p:nvSpPr>
            <p:cNvPr id="1345" name="Google Shape;1345;p15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46" name="Google Shape;1346;p15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1347" name="Google Shape;1347;p1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1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1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1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351" name="Google Shape;1351;p15"/>
          <p:cNvCxnSpPr/>
          <p:nvPr/>
        </p:nvCxnSpPr>
        <p:spPr>
          <a:xfrm flipH="1">
            <a:off x="8059268" y="4222579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2" name="Google Shape;1352;p15"/>
          <p:cNvCxnSpPr/>
          <p:nvPr/>
        </p:nvCxnSpPr>
        <p:spPr>
          <a:xfrm flipH="1">
            <a:off x="8445031" y="4222579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15"/>
          <p:cNvCxnSpPr/>
          <p:nvPr/>
        </p:nvCxnSpPr>
        <p:spPr>
          <a:xfrm flipH="1">
            <a:off x="9164167" y="4237505"/>
            <a:ext cx="672983" cy="3613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4" name="Google Shape;1354;p15"/>
          <p:cNvSpPr txBox="1"/>
          <p:nvPr/>
        </p:nvSpPr>
        <p:spPr>
          <a:xfrm>
            <a:off x="10953689" y="4437764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1355" name="Google Shape;1355;p15"/>
          <p:cNvCxnSpPr/>
          <p:nvPr/>
        </p:nvCxnSpPr>
        <p:spPr>
          <a:xfrm>
            <a:off x="10172231" y="4225754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15"/>
          <p:cNvCxnSpPr/>
          <p:nvPr/>
        </p:nvCxnSpPr>
        <p:spPr>
          <a:xfrm>
            <a:off x="10162706" y="4024141"/>
            <a:ext cx="479425" cy="603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15"/>
          <p:cNvCxnSpPr/>
          <p:nvPr/>
        </p:nvCxnSpPr>
        <p:spPr>
          <a:xfrm>
            <a:off x="11018368" y="3968579"/>
            <a:ext cx="514350" cy="48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8" name="Google Shape;1358;p15"/>
          <p:cNvSpPr txBox="1"/>
          <p:nvPr/>
        </p:nvSpPr>
        <p:spPr>
          <a:xfrm>
            <a:off x="7678595" y="4929329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1359" name="Google Shape;1359;p15"/>
          <p:cNvSpPr txBox="1"/>
          <p:nvPr/>
        </p:nvSpPr>
        <p:spPr>
          <a:xfrm>
            <a:off x="9619490" y="4929329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1360" name="Google Shape;1360;p15"/>
          <p:cNvSpPr txBox="1"/>
          <p:nvPr/>
        </p:nvSpPr>
        <p:spPr>
          <a:xfrm>
            <a:off x="8707445" y="4400811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1361" name="Google Shape;1361;p15"/>
          <p:cNvGrpSpPr/>
          <p:nvPr/>
        </p:nvGrpSpPr>
        <p:grpSpPr>
          <a:xfrm>
            <a:off x="7522693" y="4408316"/>
            <a:ext cx="609600" cy="558800"/>
            <a:chOff x="-44" y="1473"/>
            <a:chExt cx="981" cy="1105"/>
          </a:xfrm>
        </p:grpSpPr>
        <p:pic>
          <p:nvPicPr>
            <p:cNvPr descr="desktop_computer_stylized_medium" id="1362" name="Google Shape;136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3" name="Google Shape;1363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4" name="Google Shape;1364;p15"/>
          <p:cNvGrpSpPr/>
          <p:nvPr/>
        </p:nvGrpSpPr>
        <p:grpSpPr>
          <a:xfrm>
            <a:off x="8087474" y="4413650"/>
            <a:ext cx="609600" cy="558800"/>
            <a:chOff x="-44" y="1473"/>
            <a:chExt cx="981" cy="1105"/>
          </a:xfrm>
        </p:grpSpPr>
        <p:pic>
          <p:nvPicPr>
            <p:cNvPr descr="desktop_computer_stylized_medium" id="1365" name="Google Shape;136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6" name="Google Shape;1366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7" name="Google Shape;1367;p15"/>
          <p:cNvGrpSpPr/>
          <p:nvPr/>
        </p:nvGrpSpPr>
        <p:grpSpPr>
          <a:xfrm>
            <a:off x="8844341" y="4408988"/>
            <a:ext cx="609600" cy="558800"/>
            <a:chOff x="-44" y="1473"/>
            <a:chExt cx="981" cy="1105"/>
          </a:xfrm>
        </p:grpSpPr>
        <p:pic>
          <p:nvPicPr>
            <p:cNvPr descr="desktop_computer_stylized_medium" id="1368" name="Google Shape;136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9" name="Google Shape;1369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0" name="Google Shape;1370;p15"/>
          <p:cNvGrpSpPr/>
          <p:nvPr/>
        </p:nvGrpSpPr>
        <p:grpSpPr>
          <a:xfrm>
            <a:off x="9809742" y="4404326"/>
            <a:ext cx="609600" cy="558800"/>
            <a:chOff x="-44" y="1473"/>
            <a:chExt cx="981" cy="1105"/>
          </a:xfrm>
        </p:grpSpPr>
        <p:pic>
          <p:nvPicPr>
            <p:cNvPr descr="desktop_computer_stylized_medium" id="1371" name="Google Shape;137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2" name="Google Shape;1372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3" name="Google Shape;1373;p15"/>
          <p:cNvGrpSpPr/>
          <p:nvPr/>
        </p:nvGrpSpPr>
        <p:grpSpPr>
          <a:xfrm>
            <a:off x="10324969" y="4410236"/>
            <a:ext cx="609600" cy="558800"/>
            <a:chOff x="-44" y="1473"/>
            <a:chExt cx="981" cy="1105"/>
          </a:xfrm>
        </p:grpSpPr>
        <p:pic>
          <p:nvPicPr>
            <p:cNvPr descr="desktop_computer_stylized_medium" id="1374" name="Google Shape;137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5" name="Google Shape;1375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6" name="Google Shape;1376;p15"/>
          <p:cNvGrpSpPr/>
          <p:nvPr/>
        </p:nvGrpSpPr>
        <p:grpSpPr>
          <a:xfrm>
            <a:off x="11188570" y="4419228"/>
            <a:ext cx="609600" cy="558800"/>
            <a:chOff x="-44" y="1473"/>
            <a:chExt cx="981" cy="1105"/>
          </a:xfrm>
        </p:grpSpPr>
        <p:pic>
          <p:nvPicPr>
            <p:cNvPr descr="desktop_computer_stylized_medium" id="1377" name="Google Shape;137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8" name="Google Shape;1378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9" name="Google Shape;1379;p15"/>
          <p:cNvSpPr txBox="1"/>
          <p:nvPr/>
        </p:nvSpPr>
        <p:spPr>
          <a:xfrm>
            <a:off x="998537" y="1497947"/>
            <a:ext cx="6074615" cy="176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traffic isolation: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frames to/from ports 1-8 can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reach ports 1-8</a:t>
            </a:r>
            <a:endParaRPr/>
          </a:p>
          <a:p>
            <a:pPr indent="-223838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also define VLAN based on MAC addresses of endpoints, rather than switch port</a:t>
            </a:r>
            <a:endParaRPr/>
          </a:p>
        </p:txBody>
      </p:sp>
      <p:sp>
        <p:nvSpPr>
          <p:cNvPr id="1380" name="Google Shape;1380;p15"/>
          <p:cNvSpPr/>
          <p:nvPr/>
        </p:nvSpPr>
        <p:spPr>
          <a:xfrm>
            <a:off x="998444" y="3339914"/>
            <a:ext cx="5886450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dynamic membership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ports can be dynamically assigned among VLANs</a:t>
            </a:r>
            <a:endParaRPr/>
          </a:p>
        </p:txBody>
      </p:sp>
      <p:grpSp>
        <p:nvGrpSpPr>
          <p:cNvPr id="1381" name="Google Shape;1381;p15"/>
          <p:cNvGrpSpPr/>
          <p:nvPr/>
        </p:nvGrpSpPr>
        <p:grpSpPr>
          <a:xfrm>
            <a:off x="994376" y="1896035"/>
            <a:ext cx="9669142" cy="4109104"/>
            <a:chOff x="994376" y="1896035"/>
            <a:chExt cx="9669142" cy="4109104"/>
          </a:xfrm>
        </p:grpSpPr>
        <p:sp>
          <p:nvSpPr>
            <p:cNvPr id="1382" name="Google Shape;1382;p15"/>
            <p:cNvSpPr/>
            <p:nvPr/>
          </p:nvSpPr>
          <p:spPr>
            <a:xfrm>
              <a:off x="994376" y="4392239"/>
              <a:ext cx="6199939" cy="1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 between VLANS: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done via routing (just as with separate switches)</a:t>
              </a:r>
              <a:endParaRPr/>
            </a:p>
            <a:p>
              <a:pPr indent="-223838" lvl="1" marL="681038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 vendors sell combined switches plus routers</a:t>
              </a:r>
              <a:endParaRPr/>
            </a:p>
          </p:txBody>
        </p:sp>
        <p:cxnSp>
          <p:nvCxnSpPr>
            <p:cNvPr id="1383" name="Google Shape;1383;p15"/>
            <p:cNvCxnSpPr/>
            <p:nvPr/>
          </p:nvCxnSpPr>
          <p:spPr>
            <a:xfrm>
              <a:off x="9829800" y="2216523"/>
              <a:ext cx="0" cy="1815353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4" name="Google Shape;1384;p15"/>
            <p:cNvCxnSpPr/>
            <p:nvPr/>
          </p:nvCxnSpPr>
          <p:spPr>
            <a:xfrm>
              <a:off x="10466294" y="2216523"/>
              <a:ext cx="0" cy="1815353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385" name="Google Shape;1385;p15"/>
            <p:cNvGrpSpPr/>
            <p:nvPr/>
          </p:nvGrpSpPr>
          <p:grpSpPr>
            <a:xfrm>
              <a:off x="9594532" y="1896035"/>
              <a:ext cx="1068986" cy="551329"/>
              <a:chOff x="7493876" y="2774731"/>
              <a:chExt cx="1481958" cy="894622"/>
            </a:xfrm>
          </p:grpSpPr>
          <p:sp>
            <p:nvSpPr>
              <p:cNvPr id="1386" name="Google Shape;1386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387" name="Google Shape;1387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388" name="Google Shape;1388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389" name="Google Shape;1389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0" name="Google Shape;1390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1" name="Google Shape;1391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2" name="Google Shape;1392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16"/>
          <p:cNvSpPr/>
          <p:nvPr/>
        </p:nvSpPr>
        <p:spPr>
          <a:xfrm>
            <a:off x="4402748" y="2279650"/>
            <a:ext cx="294061" cy="222307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16"/>
          <p:cNvSpPr/>
          <p:nvPr/>
        </p:nvSpPr>
        <p:spPr>
          <a:xfrm>
            <a:off x="6971200" y="2519374"/>
            <a:ext cx="302725" cy="252401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16"/>
          <p:cNvSpPr/>
          <p:nvPr/>
        </p:nvSpPr>
        <p:spPr>
          <a:xfrm>
            <a:off x="7860323" y="2308273"/>
            <a:ext cx="294061" cy="247659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16"/>
          <p:cNvSpPr/>
          <p:nvPr/>
        </p:nvSpPr>
        <p:spPr>
          <a:xfrm>
            <a:off x="2324905" y="2276804"/>
            <a:ext cx="1188897" cy="471997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6"/>
          <p:cNvSpPr/>
          <p:nvPr/>
        </p:nvSpPr>
        <p:spPr>
          <a:xfrm>
            <a:off x="2334590" y="2277305"/>
            <a:ext cx="1181609" cy="4683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3" name="Google Shape;1403;p16"/>
          <p:cNvCxnSpPr/>
          <p:nvPr/>
        </p:nvCxnSpPr>
        <p:spPr>
          <a:xfrm flipH="1" rot="10800000">
            <a:off x="2336177" y="2491790"/>
            <a:ext cx="1179110" cy="14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4" name="Google Shape;1404;p16"/>
          <p:cNvSpPr txBox="1"/>
          <p:nvPr/>
        </p:nvSpPr>
        <p:spPr>
          <a:xfrm>
            <a:off x="2272588" y="2256578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405" name="Google Shape;1405;p16"/>
          <p:cNvCxnSpPr/>
          <p:nvPr/>
        </p:nvCxnSpPr>
        <p:spPr>
          <a:xfrm>
            <a:off x="2915615" y="2282068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6" name="Google Shape;1406;p16"/>
          <p:cNvCxnSpPr/>
          <p:nvPr/>
        </p:nvCxnSpPr>
        <p:spPr>
          <a:xfrm>
            <a:off x="2625102" y="2278893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7" name="Google Shape;1407;p16"/>
          <p:cNvCxnSpPr/>
          <p:nvPr/>
        </p:nvCxnSpPr>
        <p:spPr>
          <a:xfrm>
            <a:off x="3196602" y="2286830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8" name="Google Shape;1408;p16"/>
          <p:cNvSpPr txBox="1"/>
          <p:nvPr/>
        </p:nvSpPr>
        <p:spPr>
          <a:xfrm>
            <a:off x="3133102" y="2445580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409" name="Google Shape;1409;p16"/>
          <p:cNvSpPr txBox="1"/>
          <p:nvPr/>
        </p:nvSpPr>
        <p:spPr>
          <a:xfrm>
            <a:off x="2275264" y="2449753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10" name="Google Shape;1410;p16"/>
          <p:cNvSpPr txBox="1"/>
          <p:nvPr/>
        </p:nvSpPr>
        <p:spPr>
          <a:xfrm>
            <a:off x="3128340" y="2231268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411" name="Google Shape;1411;p16"/>
          <p:cNvSpPr/>
          <p:nvPr/>
        </p:nvSpPr>
        <p:spPr>
          <a:xfrm>
            <a:off x="2450477" y="2591630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16"/>
          <p:cNvSpPr/>
          <p:nvPr/>
        </p:nvSpPr>
        <p:spPr>
          <a:xfrm>
            <a:off x="2742577" y="2588455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16"/>
          <p:cNvSpPr/>
          <p:nvPr/>
        </p:nvSpPr>
        <p:spPr>
          <a:xfrm>
            <a:off x="3329952" y="2593218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16"/>
          <p:cNvSpPr/>
          <p:nvPr/>
        </p:nvSpPr>
        <p:spPr>
          <a:xfrm>
            <a:off x="7269650" y="2300299"/>
            <a:ext cx="582125" cy="471997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5" name="Google Shape;1415;p16"/>
          <p:cNvGrpSpPr/>
          <p:nvPr/>
        </p:nvGrpSpPr>
        <p:grpSpPr>
          <a:xfrm>
            <a:off x="3441456" y="2226513"/>
            <a:ext cx="1259780" cy="523875"/>
            <a:chOff x="10932220" y="4822113"/>
            <a:chExt cx="1259780" cy="523875"/>
          </a:xfrm>
        </p:grpSpPr>
        <p:sp>
          <p:nvSpPr>
            <p:cNvPr id="1416" name="Google Shape;1416;p16"/>
            <p:cNvSpPr/>
            <p:nvPr/>
          </p:nvSpPr>
          <p:spPr>
            <a:xfrm>
              <a:off x="11001071" y="4880851"/>
              <a:ext cx="896593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8" name="Google Shape;1418;p16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9" name="Google Shape;1419;p16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0" name="Google Shape;1420;p16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1" name="Google Shape;1421;p16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2" name="Google Shape;1422;p16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1423" name="Google Shape;1423;p16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1424" name="Google Shape;1424;p16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425" name="Google Shape;1425;p16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9" name="Google Shape;1429;p1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VLANS spanning multiple switches</a:t>
            </a:r>
            <a:endParaRPr b="0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16"/>
          <p:cNvSpPr txBox="1"/>
          <p:nvPr>
            <p:ph idx="4294967295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1" name="Google Shape;1431;p16"/>
          <p:cNvGrpSpPr/>
          <p:nvPr/>
        </p:nvGrpSpPr>
        <p:grpSpPr>
          <a:xfrm>
            <a:off x="2316560" y="1851720"/>
            <a:ext cx="2388836" cy="410624"/>
            <a:chOff x="7399107" y="1365161"/>
            <a:chExt cx="2388836" cy="732595"/>
          </a:xfrm>
        </p:grpSpPr>
        <p:sp>
          <p:nvSpPr>
            <p:cNvPr id="1432" name="Google Shape;1432;p16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3" name="Google Shape;1433;p16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1434" name="Google Shape;1434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438" name="Google Shape;1438;p16"/>
          <p:cNvCxnSpPr/>
          <p:nvPr/>
        </p:nvCxnSpPr>
        <p:spPr>
          <a:xfrm flipH="1">
            <a:off x="1564338" y="2582038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16"/>
          <p:cNvCxnSpPr/>
          <p:nvPr/>
        </p:nvCxnSpPr>
        <p:spPr>
          <a:xfrm flipH="1">
            <a:off x="1950101" y="2582038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16"/>
          <p:cNvCxnSpPr/>
          <p:nvPr/>
        </p:nvCxnSpPr>
        <p:spPr>
          <a:xfrm flipH="1">
            <a:off x="2669236" y="2619375"/>
            <a:ext cx="683563" cy="338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1" name="Google Shape;1441;p16"/>
          <p:cNvSpPr txBox="1"/>
          <p:nvPr/>
        </p:nvSpPr>
        <p:spPr>
          <a:xfrm>
            <a:off x="4458759" y="2797223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1442" name="Google Shape;1442;p16"/>
          <p:cNvCxnSpPr/>
          <p:nvPr/>
        </p:nvCxnSpPr>
        <p:spPr>
          <a:xfrm>
            <a:off x="3679825" y="2613025"/>
            <a:ext cx="99076" cy="3500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16"/>
          <p:cNvCxnSpPr/>
          <p:nvPr/>
        </p:nvCxnSpPr>
        <p:spPr>
          <a:xfrm>
            <a:off x="3667126" y="2406650"/>
            <a:ext cx="480076" cy="58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4" name="Google Shape;1444;p16"/>
          <p:cNvCxnSpPr/>
          <p:nvPr/>
        </p:nvCxnSpPr>
        <p:spPr>
          <a:xfrm>
            <a:off x="4537074" y="2397125"/>
            <a:ext cx="500713" cy="41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5" name="Google Shape;1445;p16"/>
          <p:cNvSpPr txBox="1"/>
          <p:nvPr/>
        </p:nvSpPr>
        <p:spPr>
          <a:xfrm>
            <a:off x="1183665" y="3288788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1446" name="Google Shape;1446;p16"/>
          <p:cNvSpPr txBox="1"/>
          <p:nvPr/>
        </p:nvSpPr>
        <p:spPr>
          <a:xfrm>
            <a:off x="3124560" y="3288788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1447" name="Google Shape;1447;p16"/>
          <p:cNvSpPr txBox="1"/>
          <p:nvPr/>
        </p:nvSpPr>
        <p:spPr>
          <a:xfrm>
            <a:off x="2212515" y="2760270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1448" name="Google Shape;1448;p16"/>
          <p:cNvGrpSpPr/>
          <p:nvPr/>
        </p:nvGrpSpPr>
        <p:grpSpPr>
          <a:xfrm>
            <a:off x="1027763" y="2767775"/>
            <a:ext cx="609600" cy="558800"/>
            <a:chOff x="-44" y="1473"/>
            <a:chExt cx="981" cy="1105"/>
          </a:xfrm>
        </p:grpSpPr>
        <p:pic>
          <p:nvPicPr>
            <p:cNvPr descr="desktop_computer_stylized_medium" id="1449" name="Google Shape;1449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0" name="Google Shape;1450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1" name="Google Shape;1451;p16"/>
          <p:cNvGrpSpPr/>
          <p:nvPr/>
        </p:nvGrpSpPr>
        <p:grpSpPr>
          <a:xfrm>
            <a:off x="1592544" y="2773109"/>
            <a:ext cx="609600" cy="558800"/>
            <a:chOff x="-44" y="1473"/>
            <a:chExt cx="981" cy="1105"/>
          </a:xfrm>
        </p:grpSpPr>
        <p:pic>
          <p:nvPicPr>
            <p:cNvPr descr="desktop_computer_stylized_medium" id="1452" name="Google Shape;145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3" name="Google Shape;1453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4" name="Google Shape;1454;p16"/>
          <p:cNvGrpSpPr/>
          <p:nvPr/>
        </p:nvGrpSpPr>
        <p:grpSpPr>
          <a:xfrm>
            <a:off x="2349411" y="2768447"/>
            <a:ext cx="609600" cy="558800"/>
            <a:chOff x="-44" y="1473"/>
            <a:chExt cx="981" cy="1105"/>
          </a:xfrm>
        </p:grpSpPr>
        <p:pic>
          <p:nvPicPr>
            <p:cNvPr descr="desktop_computer_stylized_medium" id="1455" name="Google Shape;1455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6" name="Google Shape;1456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7" name="Google Shape;1457;p16"/>
          <p:cNvGrpSpPr/>
          <p:nvPr/>
        </p:nvGrpSpPr>
        <p:grpSpPr>
          <a:xfrm>
            <a:off x="3314812" y="2763785"/>
            <a:ext cx="609600" cy="558800"/>
            <a:chOff x="-44" y="1473"/>
            <a:chExt cx="981" cy="1105"/>
          </a:xfrm>
        </p:grpSpPr>
        <p:pic>
          <p:nvPicPr>
            <p:cNvPr descr="desktop_computer_stylized_medium" id="1458" name="Google Shape;145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9" name="Google Shape;1459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0" name="Google Shape;1460;p16"/>
          <p:cNvGrpSpPr/>
          <p:nvPr/>
        </p:nvGrpSpPr>
        <p:grpSpPr>
          <a:xfrm>
            <a:off x="3830039" y="2769695"/>
            <a:ext cx="609600" cy="558800"/>
            <a:chOff x="-44" y="1473"/>
            <a:chExt cx="981" cy="1105"/>
          </a:xfrm>
        </p:grpSpPr>
        <p:pic>
          <p:nvPicPr>
            <p:cNvPr descr="desktop_computer_stylized_medium" id="1461" name="Google Shape;14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2" name="Google Shape;1462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3" name="Google Shape;1463;p16"/>
          <p:cNvGrpSpPr/>
          <p:nvPr/>
        </p:nvGrpSpPr>
        <p:grpSpPr>
          <a:xfrm>
            <a:off x="4693640" y="2778687"/>
            <a:ext cx="609600" cy="558800"/>
            <a:chOff x="-44" y="1473"/>
            <a:chExt cx="981" cy="1105"/>
          </a:xfrm>
        </p:grpSpPr>
        <p:pic>
          <p:nvPicPr>
            <p:cNvPr descr="desktop_computer_stylized_medium" id="1464" name="Google Shape;146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5" name="Google Shape;1465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6" name="Google Shape;1466;p16"/>
          <p:cNvSpPr/>
          <p:nvPr/>
        </p:nvSpPr>
        <p:spPr>
          <a:xfrm>
            <a:off x="7262446" y="2518116"/>
            <a:ext cx="887249" cy="247659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16"/>
          <p:cNvSpPr/>
          <p:nvPr/>
        </p:nvSpPr>
        <p:spPr>
          <a:xfrm>
            <a:off x="6968086" y="2300638"/>
            <a:ext cx="1181609" cy="4683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8" name="Google Shape;1468;p16"/>
          <p:cNvCxnSpPr/>
          <p:nvPr/>
        </p:nvCxnSpPr>
        <p:spPr>
          <a:xfrm>
            <a:off x="6967071" y="2518439"/>
            <a:ext cx="1163270" cy="28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9" name="Google Shape;1469;p16"/>
          <p:cNvCxnSpPr/>
          <p:nvPr/>
        </p:nvCxnSpPr>
        <p:spPr>
          <a:xfrm>
            <a:off x="7558841" y="2310163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0" name="Google Shape;1470;p16"/>
          <p:cNvCxnSpPr/>
          <p:nvPr/>
        </p:nvCxnSpPr>
        <p:spPr>
          <a:xfrm>
            <a:off x="7263566" y="2305401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1" name="Google Shape;1471;p16"/>
          <p:cNvCxnSpPr/>
          <p:nvPr/>
        </p:nvCxnSpPr>
        <p:spPr>
          <a:xfrm>
            <a:off x="7854116" y="2300638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2" name="Google Shape;1472;p16"/>
          <p:cNvSpPr txBox="1"/>
          <p:nvPr/>
        </p:nvSpPr>
        <p:spPr>
          <a:xfrm>
            <a:off x="7499716" y="2254508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73" name="Google Shape;1473;p16"/>
          <p:cNvSpPr txBox="1"/>
          <p:nvPr/>
        </p:nvSpPr>
        <p:spPr>
          <a:xfrm>
            <a:off x="7785634" y="2478093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474" name="Google Shape;1474;p16"/>
          <p:cNvSpPr txBox="1"/>
          <p:nvPr/>
        </p:nvSpPr>
        <p:spPr>
          <a:xfrm>
            <a:off x="6893339" y="2473676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75" name="Google Shape;1475;p16"/>
          <p:cNvSpPr txBox="1"/>
          <p:nvPr/>
        </p:nvSpPr>
        <p:spPr>
          <a:xfrm>
            <a:off x="7789706" y="2258673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476" name="Google Shape;1476;p16"/>
          <p:cNvSpPr/>
          <p:nvPr/>
        </p:nvSpPr>
        <p:spPr>
          <a:xfrm>
            <a:off x="7104816" y="2613376"/>
            <a:ext cx="42862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16"/>
          <p:cNvSpPr/>
          <p:nvPr/>
        </p:nvSpPr>
        <p:spPr>
          <a:xfrm>
            <a:off x="7092116" y="2399063"/>
            <a:ext cx="42862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16"/>
          <p:cNvSpPr/>
          <p:nvPr/>
        </p:nvSpPr>
        <p:spPr>
          <a:xfrm>
            <a:off x="7971245" y="2607922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16"/>
          <p:cNvSpPr txBox="1"/>
          <p:nvPr/>
        </p:nvSpPr>
        <p:spPr>
          <a:xfrm>
            <a:off x="7898454" y="2836289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1480" name="Google Shape;1480;p16"/>
          <p:cNvCxnSpPr/>
          <p:nvPr/>
        </p:nvCxnSpPr>
        <p:spPr>
          <a:xfrm>
            <a:off x="7116996" y="2624279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1" name="Google Shape;1481;p16"/>
          <p:cNvCxnSpPr/>
          <p:nvPr/>
        </p:nvCxnSpPr>
        <p:spPr>
          <a:xfrm flipH="1">
            <a:off x="7586896" y="2641600"/>
            <a:ext cx="117034" cy="38431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82" name="Google Shape;1482;p16"/>
          <p:cNvGrpSpPr/>
          <p:nvPr/>
        </p:nvGrpSpPr>
        <p:grpSpPr>
          <a:xfrm>
            <a:off x="6754507" y="2802851"/>
            <a:ext cx="609600" cy="558800"/>
            <a:chOff x="-44" y="1473"/>
            <a:chExt cx="981" cy="1105"/>
          </a:xfrm>
        </p:grpSpPr>
        <p:pic>
          <p:nvPicPr>
            <p:cNvPr descr="desktop_computer_stylized_medium" id="1483" name="Google Shape;148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4" name="Google Shape;1484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5" name="Google Shape;1485;p16"/>
          <p:cNvGrpSpPr/>
          <p:nvPr/>
        </p:nvGrpSpPr>
        <p:grpSpPr>
          <a:xfrm>
            <a:off x="7269734" y="2808761"/>
            <a:ext cx="609600" cy="558800"/>
            <a:chOff x="-44" y="1473"/>
            <a:chExt cx="981" cy="1105"/>
          </a:xfrm>
        </p:grpSpPr>
        <p:pic>
          <p:nvPicPr>
            <p:cNvPr descr="desktop_computer_stylized_medium" id="1486" name="Google Shape;1486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7" name="Google Shape;1487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8" name="Google Shape;1488;p16"/>
          <p:cNvGrpSpPr/>
          <p:nvPr/>
        </p:nvGrpSpPr>
        <p:grpSpPr>
          <a:xfrm>
            <a:off x="6951920" y="1887445"/>
            <a:ext cx="1206122" cy="410624"/>
            <a:chOff x="7399107" y="1365161"/>
            <a:chExt cx="2388836" cy="732595"/>
          </a:xfrm>
        </p:grpSpPr>
        <p:sp>
          <p:nvSpPr>
            <p:cNvPr id="1489" name="Google Shape;1489;p16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0" name="Google Shape;1490;p16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1491" name="Google Shape;1491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495" name="Google Shape;1495;p16"/>
          <p:cNvCxnSpPr/>
          <p:nvPr/>
        </p:nvCxnSpPr>
        <p:spPr>
          <a:xfrm>
            <a:off x="7991061" y="2628348"/>
            <a:ext cx="474942" cy="3959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96" name="Google Shape;1496;p16"/>
          <p:cNvGrpSpPr/>
          <p:nvPr/>
        </p:nvGrpSpPr>
        <p:grpSpPr>
          <a:xfrm>
            <a:off x="8133335" y="2817753"/>
            <a:ext cx="609600" cy="558800"/>
            <a:chOff x="-44" y="1473"/>
            <a:chExt cx="981" cy="1105"/>
          </a:xfrm>
        </p:grpSpPr>
        <p:pic>
          <p:nvPicPr>
            <p:cNvPr descr="desktop_computer_stylized_medium" id="1497" name="Google Shape;149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8" name="Google Shape;1498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9" name="Google Shape;1499;p16"/>
          <p:cNvGrpSpPr/>
          <p:nvPr/>
        </p:nvGrpSpPr>
        <p:grpSpPr>
          <a:xfrm>
            <a:off x="4317661" y="2251388"/>
            <a:ext cx="2835275" cy="430213"/>
            <a:chOff x="2096" y="1154"/>
            <a:chExt cx="1786" cy="271"/>
          </a:xfrm>
        </p:grpSpPr>
        <p:sp>
          <p:nvSpPr>
            <p:cNvPr id="1500" name="Google Shape;1500;p16"/>
            <p:cNvSpPr/>
            <p:nvPr/>
          </p:nvSpPr>
          <p:spPr>
            <a:xfrm>
              <a:off x="2215" y="1381"/>
              <a:ext cx="27" cy="3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1" name="Google Shape;1501;p16"/>
            <p:cNvGrpSpPr/>
            <p:nvPr/>
          </p:nvGrpSpPr>
          <p:grpSpPr>
            <a:xfrm>
              <a:off x="2096" y="1154"/>
              <a:ext cx="1786" cy="271"/>
              <a:chOff x="2096" y="1154"/>
              <a:chExt cx="1786" cy="271"/>
            </a:xfrm>
          </p:grpSpPr>
          <p:sp>
            <p:nvSpPr>
              <p:cNvPr id="1502" name="Google Shape;1502;p16"/>
              <p:cNvSpPr txBox="1"/>
              <p:nvPr/>
            </p:nvSpPr>
            <p:spPr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16</a:t>
                </a:r>
                <a:endParaRPr/>
              </a:p>
            </p:txBody>
          </p:sp>
          <p:sp>
            <p:nvSpPr>
              <p:cNvPr id="1503" name="Google Shape;1503;p16"/>
              <p:cNvSpPr txBox="1"/>
              <p:nvPr/>
            </p:nvSpPr>
            <p:spPr>
              <a:xfrm>
                <a:off x="3729" y="1154"/>
                <a:ext cx="152" cy="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504" name="Google Shape;1504;p16"/>
              <p:cNvSpPr/>
              <p:nvPr/>
            </p:nvSpPr>
            <p:spPr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16"/>
              <p:cNvSpPr/>
              <p:nvPr/>
            </p:nvSpPr>
            <p:spPr>
              <a:xfrm>
                <a:off x="2226" y="1260"/>
                <a:ext cx="1644" cy="135"/>
              </a:xfrm>
              <a:custGeom>
                <a:rect b="b" l="l" r="r" t="t"/>
                <a:pathLst>
                  <a:path extrusionOk="0" h="135" w="1644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06" name="Google Shape;1506;p16"/>
          <p:cNvSpPr txBox="1"/>
          <p:nvPr/>
        </p:nvSpPr>
        <p:spPr>
          <a:xfrm>
            <a:off x="7500889" y="2475447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507" name="Google Shape;1507;p16"/>
          <p:cNvSpPr txBox="1"/>
          <p:nvPr/>
        </p:nvSpPr>
        <p:spPr>
          <a:xfrm>
            <a:off x="7218068" y="2256799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08" name="Google Shape;1508;p16"/>
          <p:cNvSpPr txBox="1"/>
          <p:nvPr/>
        </p:nvSpPr>
        <p:spPr>
          <a:xfrm>
            <a:off x="7199854" y="2474305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509" name="Google Shape;1509;p16"/>
          <p:cNvSpPr/>
          <p:nvPr/>
        </p:nvSpPr>
        <p:spPr>
          <a:xfrm>
            <a:off x="7682457" y="2619380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16"/>
          <p:cNvSpPr txBox="1"/>
          <p:nvPr/>
        </p:nvSpPr>
        <p:spPr>
          <a:xfrm>
            <a:off x="6441701" y="3325906"/>
            <a:ext cx="24082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 2,3,5 belong to EE VLAN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 4,6,7,8 belong to CS VLAN</a:t>
            </a:r>
            <a:endParaRPr/>
          </a:p>
        </p:txBody>
      </p:sp>
      <p:sp>
        <p:nvSpPr>
          <p:cNvPr id="1511" name="Google Shape;1511;p16"/>
          <p:cNvSpPr txBox="1"/>
          <p:nvPr/>
        </p:nvSpPr>
        <p:spPr>
          <a:xfrm>
            <a:off x="1379351" y="4052608"/>
            <a:ext cx="9983414" cy="2687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trunk port: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carries frames between VLANS defined over multiple physical switches</a:t>
            </a:r>
            <a:endParaRPr/>
          </a:p>
          <a:p>
            <a:pPr indent="-227013" lvl="1" marL="4667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frames forwarded within VLAN between switches can’t be vanilla 802.1 frames (must carry VLAN ID info)</a:t>
            </a:r>
            <a:endParaRPr/>
          </a:p>
          <a:p>
            <a:pPr indent="-227013" lvl="1" marL="4667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802.1q protocol adds/removed additional header fields for frames forwarded between trunk ports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802.1Q VLAN frame format</a:t>
            </a:r>
            <a:endParaRPr/>
          </a:p>
        </p:txBody>
      </p:sp>
      <p:sp>
        <p:nvSpPr>
          <p:cNvPr id="1518" name="Google Shape;1518;p17"/>
          <p:cNvSpPr txBox="1"/>
          <p:nvPr>
            <p:ph idx="4294967295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17"/>
          <p:cNvSpPr txBox="1"/>
          <p:nvPr/>
        </p:nvSpPr>
        <p:spPr>
          <a:xfrm>
            <a:off x="9037266" y="1963177"/>
            <a:ext cx="28533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802.1 Ethernet frame</a:t>
            </a:r>
            <a:endParaRPr/>
          </a:p>
        </p:txBody>
      </p:sp>
      <p:grpSp>
        <p:nvGrpSpPr>
          <p:cNvPr id="1520" name="Google Shape;1520;p17"/>
          <p:cNvGrpSpPr/>
          <p:nvPr/>
        </p:nvGrpSpPr>
        <p:grpSpPr>
          <a:xfrm>
            <a:off x="970245" y="1413943"/>
            <a:ext cx="7867779" cy="1104405"/>
            <a:chOff x="940711" y="4902593"/>
            <a:chExt cx="6291001" cy="992895"/>
          </a:xfrm>
        </p:grpSpPr>
        <p:cxnSp>
          <p:nvCxnSpPr>
            <p:cNvPr id="1521" name="Google Shape;1521;p17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2" name="Google Shape;1522;p17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23" name="Google Shape;1523;p17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4" name="Google Shape;1524;p17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5" name="Google Shape;1525;p17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6" name="Google Shape;1526;p17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7" name="Google Shape;1527;p17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8" name="Google Shape;1528;p17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1529" name="Google Shape;1529;p17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1530" name="Google Shape;1530;p17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1531" name="Google Shape;1531;p17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1532" name="Google Shape;1532;p17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1533" name="Google Shape;1533;p17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</p:grpSp>
      <p:cxnSp>
        <p:nvCxnSpPr>
          <p:cNvPr id="1534" name="Google Shape;1534;p17"/>
          <p:cNvCxnSpPr/>
          <p:nvPr/>
        </p:nvCxnSpPr>
        <p:spPr>
          <a:xfrm>
            <a:off x="4366933" y="3946525"/>
            <a:ext cx="0" cy="857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5" name="Google Shape;1535;p17"/>
          <p:cNvSpPr/>
          <p:nvPr/>
        </p:nvSpPr>
        <p:spPr>
          <a:xfrm>
            <a:off x="1407459" y="4770209"/>
            <a:ext cx="3210879" cy="677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2-byte Tag Protocol Identifier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(value: 81-00) </a:t>
            </a:r>
            <a:endParaRPr/>
          </a:p>
        </p:txBody>
      </p:sp>
      <p:sp>
        <p:nvSpPr>
          <p:cNvPr id="1536" name="Google Shape;1536;p17"/>
          <p:cNvSpPr/>
          <p:nvPr/>
        </p:nvSpPr>
        <p:spPr>
          <a:xfrm>
            <a:off x="4702269" y="5148138"/>
            <a:ext cx="4818248" cy="76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Tag Control Information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(12 bit VLAN ID field, 3 bit priority field like IP TOS)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1537" name="Google Shape;1537;p17"/>
          <p:cNvCxnSpPr/>
          <p:nvPr/>
        </p:nvCxnSpPr>
        <p:spPr>
          <a:xfrm>
            <a:off x="8942855" y="4032157"/>
            <a:ext cx="0" cy="857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8" name="Google Shape;1538;p17"/>
          <p:cNvSpPr/>
          <p:nvPr/>
        </p:nvSpPr>
        <p:spPr>
          <a:xfrm>
            <a:off x="8485655" y="4887819"/>
            <a:ext cx="123825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Recomputed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1539" name="Google Shape;1539;p17"/>
          <p:cNvGrpSpPr/>
          <p:nvPr/>
        </p:nvGrpSpPr>
        <p:grpSpPr>
          <a:xfrm>
            <a:off x="974727" y="2418509"/>
            <a:ext cx="10895172" cy="1664180"/>
            <a:chOff x="974727" y="2418509"/>
            <a:chExt cx="10895172" cy="1664180"/>
          </a:xfrm>
        </p:grpSpPr>
        <p:cxnSp>
          <p:nvCxnSpPr>
            <p:cNvPr id="1540" name="Google Shape;1540;p17"/>
            <p:cNvCxnSpPr/>
            <p:nvPr/>
          </p:nvCxnSpPr>
          <p:spPr>
            <a:xfrm>
              <a:off x="4089588" y="2418509"/>
              <a:ext cx="979954" cy="956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541" name="Google Shape;1541;p17"/>
            <p:cNvCxnSpPr/>
            <p:nvPr/>
          </p:nvCxnSpPr>
          <p:spPr>
            <a:xfrm>
              <a:off x="8803063" y="2441481"/>
              <a:ext cx="905714" cy="94717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542" name="Google Shape;1542;p17"/>
            <p:cNvSpPr txBox="1"/>
            <p:nvPr/>
          </p:nvSpPr>
          <p:spPr>
            <a:xfrm>
              <a:off x="9968288" y="3478025"/>
              <a:ext cx="19016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802.1Q frame</a:t>
              </a:r>
              <a:endParaRPr/>
            </a:p>
          </p:txBody>
        </p:sp>
        <p:cxnSp>
          <p:nvCxnSpPr>
            <p:cNvPr id="1543" name="Google Shape;1543;p17"/>
            <p:cNvCxnSpPr/>
            <p:nvPr/>
          </p:nvCxnSpPr>
          <p:spPr>
            <a:xfrm>
              <a:off x="5272715" y="3308495"/>
              <a:ext cx="0" cy="2276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44" name="Google Shape;1544;p17"/>
            <p:cNvSpPr/>
            <p:nvPr/>
          </p:nvSpPr>
          <p:spPr>
            <a:xfrm>
              <a:off x="1020060" y="3389722"/>
              <a:ext cx="8796294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45" name="Google Shape;1545;p17"/>
            <p:cNvCxnSpPr/>
            <p:nvPr/>
          </p:nvCxnSpPr>
          <p:spPr>
            <a:xfrm>
              <a:off x="2263192" y="3378763"/>
              <a:ext cx="0" cy="61218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6" name="Google Shape;1546;p17"/>
            <p:cNvCxnSpPr/>
            <p:nvPr/>
          </p:nvCxnSpPr>
          <p:spPr>
            <a:xfrm>
              <a:off x="3176434" y="3382291"/>
              <a:ext cx="0" cy="64923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7" name="Google Shape;1547;p17"/>
            <p:cNvCxnSpPr/>
            <p:nvPr/>
          </p:nvCxnSpPr>
          <p:spPr>
            <a:xfrm>
              <a:off x="5096217" y="3387584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8" name="Google Shape;1548;p17"/>
            <p:cNvCxnSpPr/>
            <p:nvPr/>
          </p:nvCxnSpPr>
          <p:spPr>
            <a:xfrm>
              <a:off x="5413866" y="3382291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9" name="Google Shape;1549;p17"/>
            <p:cNvCxnSpPr/>
            <p:nvPr/>
          </p:nvCxnSpPr>
          <p:spPr>
            <a:xfrm>
              <a:off x="7873664" y="3389347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0" name="Google Shape;1550;p17"/>
            <p:cNvSpPr txBox="1"/>
            <p:nvPr/>
          </p:nvSpPr>
          <p:spPr>
            <a:xfrm>
              <a:off x="2208664" y="3504009"/>
              <a:ext cx="1056553" cy="36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1551" name="Google Shape;1551;p17"/>
            <p:cNvSpPr txBox="1"/>
            <p:nvPr/>
          </p:nvSpPr>
          <p:spPr>
            <a:xfrm>
              <a:off x="3115423" y="3508238"/>
              <a:ext cx="1056553" cy="36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1552" name="Google Shape;1552;p17"/>
            <p:cNvSpPr txBox="1"/>
            <p:nvPr/>
          </p:nvSpPr>
          <p:spPr>
            <a:xfrm>
              <a:off x="5771342" y="3584708"/>
              <a:ext cx="1722641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1553" name="Google Shape;1553;p17"/>
            <p:cNvSpPr txBox="1"/>
            <p:nvPr/>
          </p:nvSpPr>
          <p:spPr>
            <a:xfrm>
              <a:off x="8236896" y="3566359"/>
              <a:ext cx="1070013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1554" name="Google Shape;1554;p17"/>
            <p:cNvSpPr txBox="1"/>
            <p:nvPr/>
          </p:nvSpPr>
          <p:spPr>
            <a:xfrm>
              <a:off x="974727" y="3607454"/>
              <a:ext cx="1338345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1555" name="Google Shape;1555;p17"/>
            <p:cNvSpPr txBox="1"/>
            <p:nvPr/>
          </p:nvSpPr>
          <p:spPr>
            <a:xfrm>
              <a:off x="4960768" y="2978284"/>
              <a:ext cx="963318" cy="325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  <p:cxnSp>
          <p:nvCxnSpPr>
            <p:cNvPr id="1556" name="Google Shape;1556;p17"/>
            <p:cNvCxnSpPr/>
            <p:nvPr/>
          </p:nvCxnSpPr>
          <p:spPr>
            <a:xfrm>
              <a:off x="4092170" y="3405513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7" name="Google Shape;1557;p17"/>
            <p:cNvCxnSpPr/>
            <p:nvPr/>
          </p:nvCxnSpPr>
          <p:spPr>
            <a:xfrm>
              <a:off x="4594194" y="3383101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8" name="Google Shape;1558;p17"/>
            <p:cNvCxnSpPr/>
            <p:nvPr/>
          </p:nvCxnSpPr>
          <p:spPr>
            <a:xfrm flipH="1">
              <a:off x="1035424" y="2436437"/>
              <a:ext cx="19611" cy="9656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559" name="Google Shape;1559;p17"/>
            <p:cNvCxnSpPr/>
            <p:nvPr/>
          </p:nvCxnSpPr>
          <p:spPr>
            <a:xfrm flipH="1">
              <a:off x="4065495" y="2440920"/>
              <a:ext cx="19611" cy="9656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60" name="Google Shape;1560;p17"/>
          <p:cNvCxnSpPr/>
          <p:nvPr/>
        </p:nvCxnSpPr>
        <p:spPr>
          <a:xfrm>
            <a:off x="4827494" y="4034118"/>
            <a:ext cx="0" cy="115644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1" name="Google Shape;1561;p17"/>
          <p:cNvSpPr/>
          <p:nvPr/>
        </p:nvSpPr>
        <p:spPr>
          <a:xfrm>
            <a:off x="4101353" y="3334872"/>
            <a:ext cx="1008529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2026-04-13T04:13:19Z</dcterms:created>
  <dc:creator>Microsoft Office User</dc:creator>
</cp:coreProperties>
</file>