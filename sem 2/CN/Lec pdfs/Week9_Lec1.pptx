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6"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2"/>
    <p:restoredTop sz="96154"/>
  </p:normalViewPr>
  <p:slideViewPr>
    <p:cSldViewPr snapToGrid="0" snapToObjects="1">
      <p:cViewPr varScale="1">
        <p:scale>
          <a:sx n="93" d="100"/>
          <a:sy n="93" d="100"/>
        </p:scale>
        <p:origin x="216" y="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615444-8BBD-7948-9866-74EEC2551463}"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19035-9F38-7346-BF02-39A2AF7B57F4}" type="slidenum">
              <a:rPr lang="en-US" smtClean="0"/>
              <a:t>‹#›</a:t>
            </a:fld>
            <a:endParaRPr lang="en-US"/>
          </a:p>
        </p:txBody>
      </p:sp>
    </p:spTree>
    <p:extLst>
      <p:ext uri="{BB962C8B-B14F-4D97-AF65-F5344CB8AC3E}">
        <p14:creationId xmlns:p14="http://schemas.microsoft.com/office/powerpoint/2010/main" val="88536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dirty="0"/>
          </a:p>
        </p:txBody>
      </p:sp>
    </p:spTree>
    <p:extLst>
      <p:ext uri="{BB962C8B-B14F-4D97-AF65-F5344CB8AC3E}">
        <p14:creationId xmlns:p14="http://schemas.microsoft.com/office/powerpoint/2010/main" val="399684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226430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924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367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4034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074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6115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1DAB403-F659-5C3C-ACE1-ADD0E9CAD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FDF3C16-B35F-24EE-A01A-AA613D301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E497FE1-0C1B-1363-C06C-E7F06B51B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75AA72C1-59DA-1529-95CD-E0BC06DE7C66}"/>
              </a:ext>
            </a:extLst>
          </p:cNvPr>
          <p:cNvSpPr>
            <a:spLocks noGrp="1"/>
          </p:cNvSpPr>
          <p:nvPr>
            <p:ph type="sldNum" sz="quarter" idx="5"/>
          </p:nvPr>
        </p:nvSpPr>
        <p:spPr/>
        <p:txBody>
          <a:bodyPr/>
          <a:lstStyle/>
          <a:p>
            <a:fld id="{3D91EEAC-CFEF-9647-876F-EABC6B8338D7}" type="slidenum">
              <a:rPr lang="en-US" smtClean="0"/>
              <a:t>9</a:t>
            </a:fld>
            <a:endParaRPr lang="en-US" dirty="0"/>
          </a:p>
        </p:txBody>
      </p:sp>
    </p:spTree>
    <p:extLst>
      <p:ext uri="{BB962C8B-B14F-4D97-AF65-F5344CB8AC3E}">
        <p14:creationId xmlns:p14="http://schemas.microsoft.com/office/powerpoint/2010/main" val="1940907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1399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Green box is a physical layer responsible for receiving bit level transmission.  Copper, fiber wireless.</a:t>
            </a:r>
          </a:p>
          <a:p>
            <a:r>
              <a:rPr lang="en-US" dirty="0"/>
              <a:t>Link layer in blue – bit assemble into Ethernet frame.   We will discuss this in details in chapter 6.  </a:t>
            </a:r>
          </a:p>
          <a:p>
            <a:r>
              <a:rPr lang="en-US" dirty="0"/>
              <a:t>But most critical one, is here.  Lookup, forwarding function.    Lookup and forward is “Match plus action” behavior.  </a:t>
            </a:r>
          </a:p>
          <a:p>
            <a:r>
              <a:rPr lang="en-US" dirty="0"/>
              <a:t>GOAL – processing at “line speed”,  otherwise, buffer will be full and packet will be lost</a:t>
            </a:r>
          </a:p>
          <a:p>
            <a:endParaRPr lang="en-US" dirty="0"/>
          </a:p>
          <a:p>
            <a:endParaRPr lang="en-US" dirty="0"/>
          </a:p>
          <a:p>
            <a:r>
              <a:rPr lang="en-US" dirty="0"/>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6383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2677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8228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8449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5948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1513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7794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FD2B45-3619-A947-AC0D-3B2BF6CBD9B5}"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991176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FD2B45-3619-A947-AC0D-3B2BF6CBD9B5}"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67019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FD2B45-3619-A947-AC0D-3B2BF6CBD9B5}"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45669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FD2B45-3619-A947-AC0D-3B2BF6CBD9B5}"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58288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FD2B45-3619-A947-AC0D-3B2BF6CBD9B5}" type="datetimeFigureOut">
              <a:rPr lang="en-US" smtClean="0"/>
              <a:t>3/10/26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183030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FD2B45-3619-A947-AC0D-3B2BF6CBD9B5}"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1388795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D2B45-3619-A947-AC0D-3B2BF6CBD9B5}" type="datetimeFigureOut">
              <a:rPr lang="en-US" smtClean="0"/>
              <a:t>3/10/26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489217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FD2B45-3619-A947-AC0D-3B2BF6CBD9B5}"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1714651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FD2B45-3619-A947-AC0D-3B2BF6CBD9B5}"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1060566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FD2B45-3619-A947-AC0D-3B2BF6CBD9B5}"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833366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FD2B45-3619-A947-AC0D-3B2BF6CBD9B5}"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F5070E-7F55-AA45-8F64-CE64AE3C81B6}" type="slidenum">
              <a:rPr lang="en-US" smtClean="0"/>
              <a:t>‹#›</a:t>
            </a:fld>
            <a:endParaRPr lang="en-US"/>
          </a:p>
        </p:txBody>
      </p:sp>
    </p:spTree>
    <p:extLst>
      <p:ext uri="{BB962C8B-B14F-4D97-AF65-F5344CB8AC3E}">
        <p14:creationId xmlns:p14="http://schemas.microsoft.com/office/powerpoint/2010/main" val="49561293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D2B45-3619-A947-AC0D-3B2BF6CBD9B5}" type="datetimeFigureOut">
              <a:rPr lang="en-US" smtClean="0"/>
              <a:t>3/10/26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F5070E-7F55-AA45-8F64-CE64AE3C81B6}" type="slidenum">
              <a:rPr lang="en-US" smtClean="0"/>
              <a:t>‹#›</a:t>
            </a:fld>
            <a:endParaRPr lang="en-US"/>
          </a:p>
        </p:txBody>
      </p:sp>
    </p:spTree>
    <p:extLst>
      <p:ext uri="{BB962C8B-B14F-4D97-AF65-F5344CB8AC3E}">
        <p14:creationId xmlns:p14="http://schemas.microsoft.com/office/powerpoint/2010/main" val="9130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9" Type="http://schemas.openxmlformats.org/officeDocument/2006/relationships/image" Target="../media/image7.png"/><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emf"/><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IT694</a:t>
            </a:r>
            <a:br>
              <a:rPr lang="en-US" dirty="0" smtClean="0"/>
            </a:br>
            <a:r>
              <a:rPr lang="en-US" dirty="0" smtClean="0"/>
              <a:t>Computer Networks</a:t>
            </a:r>
            <a:endParaRPr lang="en-US" dirty="0"/>
          </a:p>
        </p:txBody>
      </p:sp>
      <p:sp>
        <p:nvSpPr>
          <p:cNvPr id="3" name="Subtitle 2"/>
          <p:cNvSpPr>
            <a:spLocks noGrp="1"/>
          </p:cNvSpPr>
          <p:nvPr>
            <p:ph type="subTitle" idx="1"/>
          </p:nvPr>
        </p:nvSpPr>
        <p:spPr/>
        <p:txBody>
          <a:bodyPr/>
          <a:lstStyle/>
          <a:p>
            <a:r>
              <a:rPr lang="en-US" dirty="0" smtClean="0"/>
              <a:t>Week 9_Lec 1</a:t>
            </a:r>
            <a:endParaRPr lang="en-US" dirty="0"/>
          </a:p>
        </p:txBody>
      </p:sp>
    </p:spTree>
    <p:extLst>
      <p:ext uri="{BB962C8B-B14F-4D97-AF65-F5344CB8AC3E}">
        <p14:creationId xmlns:p14="http://schemas.microsoft.com/office/powerpoint/2010/main" val="1824948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0F6FC3-7DD0-8D48-A73C-1EC08DB3BAF6}"/>
              </a:ext>
            </a:extLst>
          </p:cNvPr>
          <p:cNvSpPr>
            <a:spLocks noGrp="1"/>
          </p:cNvSpPr>
          <p:nvPr>
            <p:ph type="title"/>
          </p:nvPr>
        </p:nvSpPr>
        <p:spPr/>
        <p:txBody>
          <a:bodyPr/>
          <a:lstStyle/>
          <a:p>
            <a:r>
              <a:rPr lang="en-US" altLang="en-US" sz="4000" dirty="0">
                <a:latin typeface="+mn-lt"/>
                <a:cs typeface="Calibri" panose="020F0502020204030204" pitchFamily="34" charset="0"/>
              </a:rPr>
              <a:t>Network layer: our goals</a:t>
            </a:r>
            <a:endParaRPr lang="en-US" sz="4000" dirty="0">
              <a:latin typeface="+mn-lt"/>
            </a:endParaRPr>
          </a:p>
        </p:txBody>
      </p:sp>
      <p:sp>
        <p:nvSpPr>
          <p:cNvPr id="3" name="Content Placeholder 2">
            <a:extLst>
              <a:ext uri="{FF2B5EF4-FFF2-40B4-BE49-F238E27FC236}">
                <a16:creationId xmlns:a16="http://schemas.microsoft.com/office/drawing/2014/main" xmlns="" id="{99183EDA-C355-9A48-9A7B-13CAE9D049C3}"/>
              </a:ext>
            </a:extLst>
          </p:cNvPr>
          <p:cNvSpPr>
            <a:spLocks noGrp="1"/>
          </p:cNvSpPr>
          <p:nvPr>
            <p:ph sz="half" idx="1"/>
          </p:nvPr>
        </p:nvSpPr>
        <p:spPr>
          <a:xfrm>
            <a:off x="838200" y="1572573"/>
            <a:ext cx="5181600" cy="3187318"/>
          </a:xfrm>
        </p:spPr>
        <p:txBody>
          <a:bodyPr>
            <a:normAutofit/>
          </a:bodyPr>
          <a:lstStyle/>
          <a:p>
            <a:pPr marL="342900" indent="-212725">
              <a:buFont typeface="Wingdings" charset="2"/>
              <a:buChar char="§"/>
              <a:defRPr/>
            </a:pPr>
            <a:r>
              <a:rPr lang="en-US" sz="2400" dirty="0" smtClean="0">
                <a:latin typeface="+mj-lt"/>
              </a:rPr>
              <a:t>Understand:</a:t>
            </a:r>
            <a:endParaRPr lang="en-US" sz="2400" dirty="0">
              <a:latin typeface="+mj-lt"/>
            </a:endParaRPr>
          </a:p>
          <a:p>
            <a:pPr lvl="1">
              <a:buFont typeface="Arial"/>
              <a:buChar char="•"/>
              <a:defRPr/>
            </a:pPr>
            <a:r>
              <a:rPr lang="en-US" sz="2000" dirty="0">
                <a:latin typeface="+mj-lt"/>
              </a:rPr>
              <a:t>network layer service models</a:t>
            </a:r>
          </a:p>
          <a:p>
            <a:pPr lvl="1">
              <a:buFont typeface="Arial"/>
              <a:buChar char="•"/>
              <a:defRPr/>
            </a:pPr>
            <a:r>
              <a:rPr lang="en-US" sz="2000" dirty="0">
                <a:latin typeface="+mj-lt"/>
              </a:rPr>
              <a:t>forwarding versus routing</a:t>
            </a:r>
          </a:p>
          <a:p>
            <a:pPr lvl="1">
              <a:buFont typeface="Arial"/>
              <a:buChar char="•"/>
              <a:defRPr/>
            </a:pPr>
            <a:r>
              <a:rPr lang="en-US" sz="2000" dirty="0">
                <a:latin typeface="+mj-lt"/>
              </a:rPr>
              <a:t>how a router works</a:t>
            </a:r>
          </a:p>
          <a:p>
            <a:pPr lvl="1">
              <a:buFont typeface="Arial"/>
              <a:buChar char="•"/>
              <a:defRPr/>
            </a:pPr>
            <a:r>
              <a:rPr lang="en-US" sz="2000" dirty="0">
                <a:latin typeface="+mj-lt"/>
              </a:rPr>
              <a:t>addressing</a:t>
            </a:r>
          </a:p>
          <a:p>
            <a:pPr lvl="1">
              <a:buFont typeface="Arial"/>
              <a:buChar char="•"/>
              <a:defRPr/>
            </a:pPr>
            <a:r>
              <a:rPr lang="en-US" sz="2000" dirty="0">
                <a:latin typeface="+mj-lt"/>
              </a:rPr>
              <a:t>generalized forwarding</a:t>
            </a:r>
          </a:p>
          <a:p>
            <a:pPr lvl="1">
              <a:buFont typeface="Arial"/>
              <a:buChar char="•"/>
              <a:defRPr/>
            </a:pPr>
            <a:r>
              <a:rPr lang="en-US" sz="2000" dirty="0">
                <a:latin typeface="+mj-lt"/>
              </a:rPr>
              <a:t>Internet architecture</a:t>
            </a:r>
          </a:p>
          <a:p>
            <a:pPr marL="130175" indent="0">
              <a:buNone/>
            </a:pPr>
            <a:endParaRPr lang="en-US" sz="2000" dirty="0">
              <a:latin typeface="+mj-lt"/>
            </a:endParaRPr>
          </a:p>
        </p:txBody>
      </p:sp>
      <p:sp>
        <p:nvSpPr>
          <p:cNvPr id="4" name="Content Placeholder 3">
            <a:extLst>
              <a:ext uri="{FF2B5EF4-FFF2-40B4-BE49-F238E27FC236}">
                <a16:creationId xmlns:a16="http://schemas.microsoft.com/office/drawing/2014/main" xmlns="" id="{9B6A4EEF-90EE-424B-9F5F-D32E647EF1B0}"/>
              </a:ext>
            </a:extLst>
          </p:cNvPr>
          <p:cNvSpPr>
            <a:spLocks noGrp="1"/>
          </p:cNvSpPr>
          <p:nvPr>
            <p:ph sz="half" idx="2"/>
          </p:nvPr>
        </p:nvSpPr>
        <p:spPr>
          <a:xfrm>
            <a:off x="6172199" y="1572573"/>
            <a:ext cx="5584371" cy="4351338"/>
          </a:xfrm>
        </p:spPr>
        <p:txBody>
          <a:bodyPr>
            <a:normAutofit/>
          </a:bodyPr>
          <a:lstStyle/>
          <a:p>
            <a:pPr marL="407988" indent="-277813"/>
            <a:r>
              <a:rPr lang="en-US" dirty="0">
                <a:latin typeface="+mj-lt"/>
              </a:rPr>
              <a:t>instantiation, implementation in the Internet</a:t>
            </a:r>
          </a:p>
          <a:p>
            <a:pPr lvl="1"/>
            <a:r>
              <a:rPr lang="en-US" dirty="0">
                <a:latin typeface="+mj-lt"/>
              </a:rPr>
              <a:t>IP protocol</a:t>
            </a:r>
          </a:p>
          <a:p>
            <a:pPr lvl="1"/>
            <a:r>
              <a:rPr lang="en-US" dirty="0">
                <a:latin typeface="+mj-lt"/>
              </a:rPr>
              <a:t>NAT, middleboxes</a:t>
            </a:r>
          </a:p>
        </p:txBody>
      </p:sp>
      <p:sp>
        <p:nvSpPr>
          <p:cNvPr id="5" name="Slide Number Placeholder 4">
            <a:extLst>
              <a:ext uri="{FF2B5EF4-FFF2-40B4-BE49-F238E27FC236}">
                <a16:creationId xmlns:a16="http://schemas.microsoft.com/office/drawing/2014/main" xmlns="" id="{AF90DE33-80BA-7C4C-A2DC-16FEA33E2950}"/>
              </a:ext>
            </a:extLst>
          </p:cNvPr>
          <p:cNvSpPr>
            <a:spLocks noGrp="1"/>
          </p:cNvSpPr>
          <p:nvPr>
            <p:ph type="sldNum" sz="quarter" idx="4294967295"/>
          </p:nvPr>
        </p:nvSpPr>
        <p:spPr>
          <a:xfrm>
            <a:off x="9219616" y="6443089"/>
            <a:ext cx="2743200" cy="365125"/>
          </a:xfrm>
          <a:prstGeom prst="rect">
            <a:avLst/>
          </a:prstGeom>
        </p:spPr>
        <p:txBody>
          <a:bodyPr/>
          <a:lstStyle/>
          <a:p>
            <a:r>
              <a:rPr lang="en-US" sz="1600" dirty="0"/>
              <a:t>Network Layer: 4-</a:t>
            </a:r>
            <a:fld id="{C4204591-24BD-A542-B9D5-F8D8A88D2FEE}" type="slidenum">
              <a:rPr lang="en-US" sz="1600" smtClean="0"/>
              <a:pPr/>
              <a:t>2</a:t>
            </a:fld>
            <a:endParaRPr lang="en-US" sz="1600" dirty="0"/>
          </a:p>
        </p:txBody>
      </p:sp>
      <p:sp>
        <p:nvSpPr>
          <p:cNvPr id="6" name="Rectangle 5"/>
          <p:cNvSpPr/>
          <p:nvPr/>
        </p:nvSpPr>
        <p:spPr>
          <a:xfrm>
            <a:off x="3699975" y="4529058"/>
            <a:ext cx="3369833" cy="461665"/>
          </a:xfrm>
          <a:prstGeom prst="rect">
            <a:avLst/>
          </a:prstGeom>
        </p:spPr>
        <p:txBody>
          <a:bodyPr wrap="none">
            <a:spAutoFit/>
          </a:bodyPr>
          <a:lstStyle/>
          <a:p>
            <a:r>
              <a:rPr lang="en-US" sz="2400">
                <a:solidFill>
                  <a:srgbClr val="FF0000"/>
                </a:solidFill>
              </a:rPr>
              <a:t>focusing on data plane:</a:t>
            </a:r>
          </a:p>
        </p:txBody>
      </p:sp>
    </p:spTree>
    <p:extLst>
      <p:ext uri="{BB962C8B-B14F-4D97-AF65-F5344CB8AC3E}">
        <p14:creationId xmlns:p14="http://schemas.microsoft.com/office/powerpoint/2010/main" val="154380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xmlns=""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pPr>
            <a:r>
              <a:rPr lang="en-US" altLang="en-US" dirty="0">
                <a:solidFill>
                  <a:srgbClr val="CC0000"/>
                </a:solidFill>
                <a:latin typeface="+mj-lt"/>
                <a:ea typeface="ＭＳ Ｐゴシック" panose="020B0600070205080204" pitchFamily="34" charset="-128"/>
                <a:cs typeface="Arial" panose="020B0604020202020204" pitchFamily="34" charset="0"/>
              </a:rPr>
              <a:t>Network layer: overview</a:t>
            </a:r>
          </a:p>
          <a:p>
            <a:pPr lvl="1">
              <a:spcBef>
                <a:spcPts val="0"/>
              </a:spcBef>
            </a:pPr>
            <a:r>
              <a:rPr lang="en-US" altLang="en-US" dirty="0">
                <a:solidFill>
                  <a:srgbClr val="CC0000"/>
                </a:solidFill>
                <a:latin typeface="+mj-lt"/>
                <a:ea typeface="ＭＳ Ｐゴシック" panose="020B0600070205080204" pitchFamily="34" charset="-128"/>
                <a:cs typeface="Arial" panose="020B0604020202020204" pitchFamily="34" charset="0"/>
              </a:rPr>
              <a:t>data plane</a:t>
            </a:r>
          </a:p>
          <a:p>
            <a:pPr lvl="1">
              <a:spcBef>
                <a:spcPts val="0"/>
              </a:spcBef>
            </a:pPr>
            <a:r>
              <a:rPr lang="en-US" altLang="en-US" dirty="0">
                <a:solidFill>
                  <a:srgbClr val="CC0000"/>
                </a:solidFill>
                <a:latin typeface="+mj-lt"/>
                <a:ea typeface="ＭＳ Ｐゴシック" panose="020B0600070205080204" pitchFamily="34" charset="-128"/>
                <a:cs typeface="Arial" panose="020B0604020202020204" pitchFamily="34" charset="0"/>
              </a:rPr>
              <a:t>control plane</a:t>
            </a:r>
          </a:p>
        </p:txBody>
      </p:sp>
      <p:sp>
        <p:nvSpPr>
          <p:cNvPr id="7" name="Rectangle 4">
            <a:extLst>
              <a:ext uri="{FF2B5EF4-FFF2-40B4-BE49-F238E27FC236}">
                <a16:creationId xmlns:a16="http://schemas.microsoft.com/office/drawing/2014/main" xmlns="" id="{F3A4FBDA-F3DE-F640-AAEE-CE557E67DD69}"/>
              </a:ext>
            </a:extLst>
          </p:cNvPr>
          <p:cNvSpPr txBox="1">
            <a:spLocks noChangeArrowheads="1"/>
          </p:cNvSpPr>
          <p:nvPr/>
        </p:nvSpPr>
        <p:spPr>
          <a:xfrm>
            <a:off x="5976933" y="1535135"/>
            <a:ext cx="5075205" cy="281645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lnSpc>
                <a:spcPct val="100000"/>
              </a:lnSpc>
            </a:pPr>
            <a:r>
              <a:rPr lang="en-US" altLang="en-US" sz="2000" dirty="0">
                <a:latin typeface="Times New Roman" charset="0"/>
                <a:ea typeface="Times New Roman" charset="0"/>
                <a:cs typeface="Times New Roman" charset="0"/>
              </a:rPr>
              <a:t>Generalized Forwarding</a:t>
            </a:r>
          </a:p>
          <a:p>
            <a:pPr lvl="1">
              <a:lnSpc>
                <a:spcPct val="100000"/>
              </a:lnSpc>
              <a:spcBef>
                <a:spcPts val="0"/>
              </a:spcBef>
            </a:pPr>
            <a:r>
              <a:rPr lang="en-US" altLang="en-US" sz="2000" dirty="0">
                <a:latin typeface="Times New Roman" charset="0"/>
                <a:ea typeface="Times New Roman" charset="0"/>
                <a:cs typeface="Times New Roman" charset="0"/>
              </a:rPr>
              <a:t>Match+action</a:t>
            </a:r>
          </a:p>
          <a:p>
            <a:pPr lvl="1">
              <a:lnSpc>
                <a:spcPct val="100000"/>
              </a:lnSpc>
              <a:spcBef>
                <a:spcPts val="0"/>
              </a:spcBef>
            </a:pPr>
            <a:r>
              <a:rPr lang="en-US" altLang="en-US" sz="2000" dirty="0">
                <a:latin typeface="Times New Roman" charset="0"/>
                <a:ea typeface="Times New Roman" charset="0"/>
                <a:cs typeface="Times New Roman" charset="0"/>
              </a:rPr>
              <a:t>OpenFlow</a:t>
            </a:r>
          </a:p>
          <a:p>
            <a:pPr lvl="1">
              <a:lnSpc>
                <a:spcPct val="100000"/>
              </a:lnSpc>
              <a:spcBef>
                <a:spcPts val="0"/>
              </a:spcBef>
            </a:pPr>
            <a:r>
              <a:rPr lang="en-US" altLang="en-US" sz="2000" dirty="0">
                <a:latin typeface="Times New Roman" charset="0"/>
                <a:ea typeface="Times New Roman" charset="0"/>
                <a:cs typeface="Times New Roman" charset="0"/>
              </a:rPr>
              <a:t>Middleboxes</a:t>
            </a:r>
          </a:p>
          <a:p>
            <a:pPr>
              <a:lnSpc>
                <a:spcPct val="100000"/>
              </a:lnSpc>
            </a:pPr>
            <a:r>
              <a:rPr lang="en-US" altLang="en-US" sz="2000" dirty="0">
                <a:latin typeface="Times New Roman" charset="0"/>
                <a:ea typeface="Times New Roman" charset="0"/>
                <a:cs typeface="Times New Roman" charset="0"/>
              </a:rPr>
              <a:t>Internet architecture</a:t>
            </a:r>
          </a:p>
          <a:p>
            <a:pPr lvl="1"/>
            <a:endParaRPr lang="en-US" altLang="en-US" dirty="0"/>
          </a:p>
        </p:txBody>
      </p:sp>
      <p:sp>
        <p:nvSpPr>
          <p:cNvPr id="8" name="Slide Number Placeholder 4">
            <a:extLst>
              <a:ext uri="{FF2B5EF4-FFF2-40B4-BE49-F238E27FC236}">
                <a16:creationId xmlns:a16="http://schemas.microsoft.com/office/drawing/2014/main" xmlns="" id="{F4D04E88-D653-0249-9F2C-45CB993BCE4C}"/>
              </a:ext>
            </a:extLst>
          </p:cNvPr>
          <p:cNvSpPr>
            <a:spLocks noGrp="1"/>
          </p:cNvSpPr>
          <p:nvPr>
            <p:ph type="sldNum" sz="quarter" idx="4294967295"/>
          </p:nvPr>
        </p:nvSpPr>
        <p:spPr>
          <a:xfrm>
            <a:off x="9219616" y="6465391"/>
            <a:ext cx="2743200" cy="365125"/>
          </a:xfrm>
          <a:prstGeom prst="rect">
            <a:avLst/>
          </a:prstGeom>
        </p:spPr>
        <p:txBody>
          <a:bodyPr/>
          <a:lstStyle/>
          <a:p>
            <a:r>
              <a:rPr lang="en-US" dirty="0"/>
              <a:t>Network Layer: 4-</a:t>
            </a:r>
            <a:fld id="{C4204591-24BD-A542-B9D5-F8D8A88D2FEE}" type="slidenum">
              <a:rPr lang="en-US" smtClean="0"/>
              <a:pPr/>
              <a:t>3</a:t>
            </a:fld>
            <a:endParaRPr lang="en-US" dirty="0"/>
          </a:p>
        </p:txBody>
      </p:sp>
      <p:sp>
        <p:nvSpPr>
          <p:cNvPr id="10" name="Rectangle 4">
            <a:extLst>
              <a:ext uri="{FF2B5EF4-FFF2-40B4-BE49-F238E27FC236}">
                <a16:creationId xmlns:a16="http://schemas.microsoft.com/office/drawing/2014/main" xmlns="" id="{2935D8EE-730D-3846-8ED3-CF147CA4A373}"/>
              </a:ext>
            </a:extLst>
          </p:cNvPr>
          <p:cNvSpPr txBox="1">
            <a:spLocks noChangeArrowheads="1"/>
          </p:cNvSpPr>
          <p:nvPr/>
        </p:nvSpPr>
        <p:spPr>
          <a:xfrm>
            <a:off x="570088" y="2760950"/>
            <a:ext cx="6618109" cy="3461321"/>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spcBef>
                <a:spcPts val="600"/>
              </a:spcBef>
            </a:pPr>
            <a:r>
              <a:rPr lang="en-US" altLang="en-US" sz="2400" dirty="0">
                <a:latin typeface="Times New Roman" charset="0"/>
                <a:ea typeface="Times New Roman" charset="0"/>
                <a:cs typeface="Times New Roman" charset="0"/>
              </a:rPr>
              <a:t>What</a:t>
            </a:r>
            <a:r>
              <a:rPr lang="en-US" altLang="ja-JP" sz="2400" dirty="0">
                <a:latin typeface="Times New Roman" charset="0"/>
                <a:ea typeface="Times New Roman" charset="0"/>
                <a:cs typeface="Times New Roman" charset="0"/>
              </a:rPr>
              <a:t>’s inside a router</a:t>
            </a:r>
          </a:p>
          <a:p>
            <a:pPr lvl="1">
              <a:spcBef>
                <a:spcPts val="0"/>
              </a:spcBef>
            </a:pPr>
            <a:r>
              <a:rPr lang="en-US" altLang="ja-JP" sz="2000" dirty="0">
                <a:latin typeface="Times New Roman" charset="0"/>
                <a:ea typeface="Times New Roman" charset="0"/>
                <a:cs typeface="Times New Roman" charset="0"/>
              </a:rPr>
              <a:t>input/output ports, switching</a:t>
            </a:r>
          </a:p>
          <a:p>
            <a:pPr lvl="1">
              <a:spcBef>
                <a:spcPts val="0"/>
              </a:spcBef>
            </a:pPr>
            <a:r>
              <a:rPr lang="en-US" altLang="ja-JP" sz="2000" dirty="0">
                <a:latin typeface="Times New Roman" charset="0"/>
                <a:ea typeface="Times New Roman" charset="0"/>
                <a:cs typeface="Times New Roman" charset="0"/>
              </a:rPr>
              <a:t>buffer management</a:t>
            </a:r>
          </a:p>
          <a:p>
            <a:pPr lvl="1">
              <a:spcBef>
                <a:spcPts val="0"/>
              </a:spcBef>
            </a:pPr>
            <a:r>
              <a:rPr lang="en-US" altLang="ja-JP" sz="2000" dirty="0">
                <a:latin typeface="Times New Roman" charset="0"/>
                <a:ea typeface="Times New Roman" charset="0"/>
                <a:cs typeface="Times New Roman" charset="0"/>
              </a:rPr>
              <a:t>scheduling</a:t>
            </a:r>
          </a:p>
          <a:p>
            <a:pPr marL="407988" indent="-277813"/>
            <a:r>
              <a:rPr lang="en-US" altLang="en-US" sz="2400" dirty="0">
                <a:latin typeface="Times New Roman" charset="0"/>
                <a:ea typeface="Times New Roman" charset="0"/>
                <a:cs typeface="Times New Roman" charset="0"/>
              </a:rPr>
              <a:t>IP: the Internet Protocol</a:t>
            </a:r>
          </a:p>
          <a:p>
            <a:pPr lvl="1">
              <a:spcBef>
                <a:spcPts val="0"/>
              </a:spcBef>
            </a:pPr>
            <a:r>
              <a:rPr lang="en-US" altLang="en-US" sz="2000" dirty="0">
                <a:latin typeface="Times New Roman" charset="0"/>
                <a:ea typeface="Times New Roman" charset="0"/>
                <a:cs typeface="Times New Roman" charset="0"/>
              </a:rPr>
              <a:t>datagram format, addressing</a:t>
            </a:r>
          </a:p>
          <a:p>
            <a:pPr lvl="1">
              <a:spcBef>
                <a:spcPts val="0"/>
              </a:spcBef>
            </a:pPr>
            <a:r>
              <a:rPr lang="en-US" altLang="en-US" sz="2000" dirty="0">
                <a:latin typeface="Times New Roman" charset="0"/>
                <a:ea typeface="Times New Roman" charset="0"/>
                <a:cs typeface="Times New Roman" charset="0"/>
              </a:rPr>
              <a:t>network address translation (NAT)</a:t>
            </a:r>
          </a:p>
          <a:p>
            <a:pPr lvl="1">
              <a:spcBef>
                <a:spcPts val="0"/>
              </a:spcBef>
            </a:pPr>
            <a:r>
              <a:rPr lang="en-US" altLang="en-US" sz="2000" dirty="0">
                <a:latin typeface="Times New Roman" charset="0"/>
                <a:ea typeface="Times New Roman" charset="0"/>
                <a:cs typeface="Times New Roman" charset="0"/>
              </a:rPr>
              <a:t>IPv6</a:t>
            </a:r>
          </a:p>
        </p:txBody>
      </p:sp>
    </p:spTree>
    <p:extLst>
      <p:ext uri="{BB962C8B-B14F-4D97-AF65-F5344CB8AC3E}">
        <p14:creationId xmlns:p14="http://schemas.microsoft.com/office/powerpoint/2010/main" val="16024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ssolve">
                                      <p:cBhvr>
                                        <p:cTn id="10" dur="500"/>
                                        <p:tgtEl>
                                          <p:spTgt spid="10">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ssolve">
                                      <p:cBhvr>
                                        <p:cTn id="13" dur="500"/>
                                        <p:tgtEl>
                                          <p:spTgt spid="10">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dissolve">
                                      <p:cBhvr>
                                        <p:cTn id="16" dur="500"/>
                                        <p:tgtEl>
                                          <p:spTgt spid="1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dissolve">
                                      <p:cBhvr>
                                        <p:cTn id="21" dur="500"/>
                                        <p:tgtEl>
                                          <p:spTgt spid="1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dissolve">
                                      <p:cBhvr>
                                        <p:cTn id="24" dur="500"/>
                                        <p:tgtEl>
                                          <p:spTgt spid="1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dissolve">
                                      <p:cBhvr>
                                        <p:cTn id="27" dur="500"/>
                                        <p:tgtEl>
                                          <p:spTgt spid="1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dissolve">
                                      <p:cBhvr>
                                        <p:cTn id="30" dur="500"/>
                                        <p:tgtEl>
                                          <p:spTgt spid="1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a16="http://schemas.microsoft.com/office/drawing/2014/main" xmlns=""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13A3"/>
                </a:solidFill>
                <a:effectLst/>
                <a:uLnTx/>
                <a:uFillTx/>
                <a:latin typeface="+mj-lt"/>
                <a:ea typeface="ＭＳ Ｐゴシック" panose="020B0600070205080204" pitchFamily="34" charset="-128"/>
                <a:cs typeface="ＭＳ Ｐゴシック" panose="020B0600070205080204" pitchFamily="34" charset="-128"/>
              </a:rPr>
              <a:t>sender: </a:t>
            </a:r>
            <a:r>
              <a:rPr kumimoji="0" lang="en-US" altLang="en-US" sz="1800" b="0" i="0" u="none" strike="noStrike" kern="1200" cap="none" spc="0" normalizeH="0" baseline="0" noProof="0" dirty="0" smtClean="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encapsulates</a:t>
            </a:r>
            <a:endParaRPr kumimoji="0" lang="en-US" altLang="en-US" sz="1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endParaRP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1800" b="0" i="0" u="none" strike="noStrike" kern="1200" cap="none" spc="0" normalizeH="0" baseline="0" noProof="0" dirty="0">
                <a:ln>
                  <a:noFill/>
                </a:ln>
                <a:solidFill>
                  <a:srgbClr val="0013A3"/>
                </a:solidFill>
                <a:effectLst/>
                <a:uLnTx/>
                <a:uFillTx/>
                <a:latin typeface="+mj-lt"/>
                <a:ea typeface="ＭＳ Ｐゴシック" panose="020B0600070205080204" pitchFamily="34" charset="-128"/>
                <a:cs typeface="ＭＳ Ｐゴシック" panose="020B0600070205080204" pitchFamily="34" charset="-128"/>
              </a:rPr>
              <a:t>receiver: </a:t>
            </a:r>
            <a:r>
              <a:rPr kumimoji="0" lang="en-US" altLang="en-US" sz="1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network layer protocols in </a:t>
            </a:r>
            <a:r>
              <a:rPr kumimoji="0" lang="en-US" altLang="en-US" sz="2000" b="0" i="1" u="none" strike="noStrike" kern="1200" cap="none" spc="0" normalizeH="0" baseline="0" noProof="0" dirty="0">
                <a:ln>
                  <a:noFill/>
                </a:ln>
                <a:solidFill>
                  <a:srgbClr val="000099"/>
                </a:solidFill>
                <a:effectLst/>
                <a:uLnTx/>
                <a:uFillTx/>
                <a:latin typeface="+mj-lt"/>
                <a:ea typeface="ＭＳ Ｐゴシック" panose="020B0600070205080204" pitchFamily="34" charset="-128"/>
                <a:cs typeface="ＭＳ Ｐゴシック" panose="020B0600070205080204" pitchFamily="34" charset="-128"/>
              </a:rPr>
              <a:t>every Internet device</a:t>
            </a:r>
            <a:r>
              <a:rPr kumimoji="0" lang="en-US" altLang="en-US" sz="20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srgbClr val="C00000"/>
                </a:solidFill>
                <a:effectLst/>
                <a:uLnTx/>
                <a:uFillTx/>
                <a:latin typeface="+mj-lt"/>
                <a:ea typeface="ＭＳ Ｐゴシック" panose="020B0600070205080204" pitchFamily="34" charset="-128"/>
                <a:cs typeface="ＭＳ Ｐゴシック" panose="020B0600070205080204" pitchFamily="34" charset="-128"/>
              </a:rPr>
              <a:t>routers</a:t>
            </a:r>
            <a:r>
              <a:rPr kumimoji="0" lang="en-US" altLang="en-US" sz="20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a16="http://schemas.microsoft.com/office/drawing/2014/main" xmlns=""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xmlns=""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xmlns=""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xmlns=""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xmlns=""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xmlns=""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xmlns=""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xmlns=""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xmlns=""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xmlns=""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xmlns=""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xmlns=""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xmlns=""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xmlns=""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xmlns=""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xmlns=""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xmlns=""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xmlns=""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xmlns=""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xmlns=""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xmlns=""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xmlns=""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xmlns=""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xmlns=""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xmlns=""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xmlns=""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xmlns=""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xmlns=""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xmlns=""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xmlns=""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xmlns=""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xmlns=""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xmlns=""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xmlns=""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xmlns=""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xmlns=""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xmlns=""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xmlns=""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xmlns=""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xmlns=""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xmlns=""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xmlns=""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xmlns=""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xmlns=""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xmlns=""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xmlns=""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xmlns=""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xmlns=""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xmlns=""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xmlns=""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xmlns=""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xmlns=""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xmlns=""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xmlns=""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xmlns=""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xmlns=""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xmlns=""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xmlns=""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xmlns=""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xmlns=""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xmlns=""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xmlns=""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xmlns=""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xmlns=""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xmlns=""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xmlns=""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xmlns=""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xmlns=""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xmlns=""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xmlns=""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xmlns=""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xmlns=""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xmlns=""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xmlns=""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xmlns=""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xmlns=""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xmlns=""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xmlns=""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a16="http://schemas.microsoft.com/office/drawing/2014/main" xmlns=""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xmlns=""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xmlns=""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xmlns=""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xmlns=""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xmlns=""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xmlns=""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xmlns=""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xmlns=""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xmlns=""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xmlns=""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xmlns=""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xmlns=""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xmlns=""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xmlns=""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xmlns=""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xmlns=""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xmlns=""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xmlns=""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xmlns=""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xmlns=""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xmlns=""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xmlns=""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xmlns=""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xmlns=""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xmlns=""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xmlns=""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xmlns=""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xmlns=""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xmlns=""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xmlns=""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xmlns=""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xmlns=""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xmlns=""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xmlns=""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xmlns=""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xmlns=""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xmlns=""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xmlns=""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xmlns=""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xmlns=""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xmlns=""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xmlns=""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xmlns=""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xmlns=""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xmlns=""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xmlns=""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xmlns=""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xmlns=""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xmlns=""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xmlns=""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xmlns=""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xmlns=""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xmlns=""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xmlns=""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xmlns=""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xmlns=""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xmlns=""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xmlns=""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xmlns=""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xmlns=""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xmlns=""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xmlns=""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xmlns=""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xmlns=""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xmlns=""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xmlns=""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xmlns=""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xmlns=""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xmlns=""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xmlns=""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xmlns=""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xmlns=""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xmlns=""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xmlns=""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xmlns=""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xmlns=""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xmlns=""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xmlns=""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xmlns=""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xmlns=""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xmlns=""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xmlns=""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xmlns=""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xmlns=""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xmlns=""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xmlns=""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xmlns=""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xmlns=""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xmlns=""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xmlns=""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xmlns=""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xmlns=""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xmlns=""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xmlns=""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xmlns=""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xmlns=""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xmlns=""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xmlns=""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xmlns=""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xmlns=""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xmlns=""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xmlns=""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xmlns=""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xmlns=""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xmlns=""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xmlns=""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xmlns=""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xmlns=""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xmlns=""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xmlns=""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xmlns=""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xmlns=""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xmlns=""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xmlns=""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xmlns=""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xmlns=""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xmlns=""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xmlns=""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xmlns=""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xmlns=""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xmlns=""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xmlns=""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xmlns=""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xmlns=""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xmlns=""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xmlns=""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xmlns=""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xmlns=""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xmlns=""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xmlns=""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xmlns=""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xmlns=""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xmlns=""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xmlns=""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xmlns=""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xmlns=""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xmlns=""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xmlns=""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xmlns=""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xmlns=""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xmlns=""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xmlns=""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xmlns=""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xmlns=""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xmlns=""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xmlns=""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xmlns=""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xmlns=""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xmlns=""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xmlns=""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xmlns=""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xmlns=""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xmlns=""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xmlns=""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xmlns=""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xmlns=""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xmlns=""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xmlns=""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xmlns=""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xmlns=""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xmlns=""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xmlns=""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xmlns=""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xmlns=""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xmlns=""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xmlns=""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xmlns=""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xmlns=""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xmlns=""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xmlns=""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xmlns=""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xmlns=""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xmlns=""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xmlns=""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xmlns=""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xmlns=""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xmlns=""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xmlns=""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xmlns=""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xmlns=""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xmlns=""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xmlns=""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xmlns=""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xmlns=""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xmlns=""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xmlns=""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xmlns=""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xmlns=""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xmlns=""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xmlns=""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xmlns=""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xmlns=""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xmlns=""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xmlns=""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xmlns=""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xmlns=""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xmlns=""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xmlns=""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xmlns=""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xmlns=""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xmlns=""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xmlns=""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xmlns=""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xmlns=""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xmlns=""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xmlns=""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xmlns=""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xmlns=""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xmlns=""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xmlns=""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xmlns=""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xmlns=""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xmlns=""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xmlns=""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xmlns=""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xmlns=""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xmlns=""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xmlns=""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xmlns=""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xmlns=""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xmlns=""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xmlns=""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xmlns=""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xmlns=""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xmlns=""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xmlns=""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xmlns=""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xmlns=""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xmlns=""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xmlns=""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xmlns=""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xmlns=""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xmlns=""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xmlns=""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xmlns=""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xmlns=""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xmlns=""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xmlns=""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xmlns=""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xmlns=""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xmlns=""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xmlns=""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xmlns=""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xmlns=""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xmlns=""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xmlns=""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xmlns=""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xmlns=""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xmlns=""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xmlns=""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xmlns=""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xmlns=""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xmlns=""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xmlns=""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xmlns=""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xmlns=""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xmlns=""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xmlns=""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xmlns=""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xmlns=""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xmlns=""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xmlns=""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xmlns=""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xmlns=""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xmlns=""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xmlns=""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xmlns=""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xmlns=""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xmlns=""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xmlns=""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xmlns=""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xmlns=""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xmlns=""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xmlns=""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xmlns=""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xmlns=""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xmlns=""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xmlns=""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xmlns=""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xmlns=""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xmlns=""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xmlns=""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xmlns=""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xmlns=""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xmlns=""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xmlns=""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xmlns=""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xmlns=""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xmlns=""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xmlns=""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xmlns=""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xmlns=""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xmlns=""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xmlns=""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xmlns=""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xmlns=""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xmlns=""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xmlns=""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xmlns=""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xmlns=""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xmlns=""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xmlns=""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xmlns=""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xmlns=""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a16="http://schemas.microsoft.com/office/drawing/2014/main" xmlns=""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a16="http://schemas.microsoft.com/office/drawing/2014/main" xmlns=""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a16="http://schemas.microsoft.com/office/drawing/2014/main" xmlns=""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a16="http://schemas.microsoft.com/office/drawing/2014/main" xmlns=""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xmlns=""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xmlns=""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a16="http://schemas.microsoft.com/office/drawing/2014/main" xmlns=""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xmlns=""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xmlns=""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xmlns=""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a16="http://schemas.microsoft.com/office/drawing/2014/main" xmlns=""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a16="http://schemas.microsoft.com/office/drawing/2014/main" xmlns=""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a16="http://schemas.microsoft.com/office/drawing/2014/main" xmlns=""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a16="http://schemas.microsoft.com/office/drawing/2014/main" xmlns=""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a16="http://schemas.microsoft.com/office/drawing/2014/main" xmlns=""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a16="http://schemas.microsoft.com/office/drawing/2014/main" xmlns=""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a16="http://schemas.microsoft.com/office/drawing/2014/main" xmlns=""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xmlns=""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xmlns=""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xmlns=""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a16="http://schemas.microsoft.com/office/drawing/2014/main" xmlns=""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xmlns=""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xmlns=""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xmlns=""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xmlns=""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xmlns=""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xmlns=""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xmlns=""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xmlns=""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xmlns=""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xmlns=""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xmlns=""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xmlns=""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xmlns=""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xmlns=""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xmlns=""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xmlns=""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xmlns=""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xmlns=""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xmlns=""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xmlns=""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xmlns=""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xmlns=""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xmlns=""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xmlns=""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xmlns=""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xmlns=""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xmlns=""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xmlns=""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xmlns=""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xmlns=""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xmlns=""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xmlns=""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xmlns=""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xmlns=""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xmlns=""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xmlns=""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xmlns=""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xmlns=""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xmlns=""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xmlns=""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xmlns=""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xmlns=""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xmlns=""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xmlns=""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xmlns=""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xmlns=""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xmlns=""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xmlns=""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xmlns=""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xmlns=""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xmlns=""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xmlns=""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xmlns=""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xmlns=""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xmlns=""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xmlns=""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xmlns=""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xmlns=""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xmlns=""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xmlns=""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xmlns=""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xmlns=""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xmlns=""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xmlns=""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a16="http://schemas.microsoft.com/office/drawing/2014/main" xmlns=""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a16="http://schemas.microsoft.com/office/drawing/2014/main" xmlns=""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a16="http://schemas.microsoft.com/office/drawing/2014/main" xmlns=""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a16="http://schemas.microsoft.com/office/drawing/2014/main" xmlns=""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a16="http://schemas.microsoft.com/office/drawing/2014/main" xmlns=""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a16="http://schemas.microsoft.com/office/drawing/2014/main" xmlns=""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a16="http://schemas.microsoft.com/office/drawing/2014/main" xmlns=""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a16="http://schemas.microsoft.com/office/drawing/2014/main" xmlns=""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xmlns=""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a16="http://schemas.microsoft.com/office/drawing/2014/main" xmlns=""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a16="http://schemas.microsoft.com/office/drawing/2014/main" xmlns=""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a16="http://schemas.microsoft.com/office/drawing/2014/main" xmlns=""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a16="http://schemas.microsoft.com/office/drawing/2014/main" xmlns=""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a16="http://schemas.microsoft.com/office/drawing/2014/main" xmlns=""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a16="http://schemas.microsoft.com/office/drawing/2014/main" xmlns=""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a16="http://schemas.microsoft.com/office/drawing/2014/main" xmlns=""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xmlns=""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a16="http://schemas.microsoft.com/office/drawing/2014/main" xmlns=""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a16="http://schemas.microsoft.com/office/drawing/2014/main" xmlns=""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a16="http://schemas.microsoft.com/office/drawing/2014/main" xmlns=""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a16="http://schemas.microsoft.com/office/drawing/2014/main" xmlns=""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a16="http://schemas.microsoft.com/office/drawing/2014/main" xmlns=""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a16="http://schemas.microsoft.com/office/drawing/2014/main" xmlns=""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a16="http://schemas.microsoft.com/office/drawing/2014/main" xmlns=""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xmlns=""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a16="http://schemas.microsoft.com/office/drawing/2014/main" xmlns=""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a16="http://schemas.microsoft.com/office/drawing/2014/main" xmlns=""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a16="http://schemas.microsoft.com/office/drawing/2014/main" xmlns=""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a16="http://schemas.microsoft.com/office/drawing/2014/main" xmlns=""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a16="http://schemas.microsoft.com/office/drawing/2014/main" xmlns=""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a16="http://schemas.microsoft.com/office/drawing/2014/main" xmlns=""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a16="http://schemas.microsoft.com/office/drawing/2014/main" xmlns=""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xmlns=""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a16="http://schemas.microsoft.com/office/drawing/2014/main" xmlns=""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a16="http://schemas.microsoft.com/office/drawing/2014/main" xmlns=""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a16="http://schemas.microsoft.com/office/drawing/2014/main" xmlns=""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a16="http://schemas.microsoft.com/office/drawing/2014/main" xmlns=""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a16="http://schemas.microsoft.com/office/drawing/2014/main" xmlns=""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a16="http://schemas.microsoft.com/office/drawing/2014/main" xmlns=""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a16="http://schemas.microsoft.com/office/drawing/2014/main" xmlns=""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xmlns=""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a16="http://schemas.microsoft.com/office/drawing/2014/main" xmlns=""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xmlns=""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xmlns=""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xmlns=""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xmlns=""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xmlns=""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xmlns=""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xmlns=""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a16="http://schemas.microsoft.com/office/drawing/2014/main" xmlns=""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xmlns=""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a16="http://schemas.microsoft.com/office/drawing/2014/main" xmlns=""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a16="http://schemas.microsoft.com/office/drawing/2014/main" xmlns=""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a16="http://schemas.microsoft.com/office/drawing/2014/main" xmlns=""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a16="http://schemas.microsoft.com/office/drawing/2014/main" xmlns=""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xmlns=""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a16="http://schemas.microsoft.com/office/drawing/2014/main" xmlns="" id="{78A6B799-8B01-D64E-9924-2C0FA4115D58}"/>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4</a:t>
            </a:fld>
            <a:endParaRPr lang="en-US" dirty="0"/>
          </a:p>
        </p:txBody>
      </p:sp>
    </p:spTree>
    <p:extLst>
      <p:ext uri="{BB962C8B-B14F-4D97-AF65-F5344CB8AC3E}">
        <p14:creationId xmlns:p14="http://schemas.microsoft.com/office/powerpoint/2010/main" val="27881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p:txBody>
          <a:bodyPr>
            <a:normAutofit/>
          </a:bodyPr>
          <a:lstStyle/>
          <a:p>
            <a:r>
              <a:rPr lang="en-US" dirty="0"/>
              <a:t>Two key network-layer functions</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877956" y="1666601"/>
            <a:ext cx="5181600" cy="1890791"/>
          </a:xfrm>
        </p:spPr>
        <p:txBody>
          <a:bodyPr/>
          <a:lstStyle/>
          <a:p>
            <a:pPr marL="0" indent="0">
              <a:spcBef>
                <a:spcPts val="600"/>
              </a:spcBef>
              <a:buNone/>
            </a:pPr>
            <a:r>
              <a:rPr lang="en-US" altLang="en-US" dirty="0">
                <a:solidFill>
                  <a:srgbClr val="CC0000"/>
                </a:solidFill>
                <a:latin typeface="+mj-lt"/>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sz="2400" i="1" dirty="0">
                <a:solidFill>
                  <a:srgbClr val="000099"/>
                </a:solidFill>
                <a:latin typeface="+mj-lt"/>
                <a:ea typeface="ＭＳ Ｐゴシック" panose="020B0600070205080204" pitchFamily="34" charset="-128"/>
                <a:cs typeface="ＭＳ Ｐゴシック" panose="020B0600070205080204" pitchFamily="34" charset="-128"/>
              </a:rPr>
              <a:t>forwarding:</a:t>
            </a:r>
            <a:r>
              <a:rPr lang="en-US" altLang="en-US" sz="2400" dirty="0">
                <a:latin typeface="+mj-lt"/>
                <a:ea typeface="ＭＳ Ｐゴシック" panose="020B0600070205080204" pitchFamily="34" charset="-128"/>
                <a:cs typeface="ＭＳ Ｐゴシック" panose="020B0600070205080204" pitchFamily="34" charset="-128"/>
              </a:rPr>
              <a:t> move packets from a router’</a:t>
            </a:r>
            <a:r>
              <a:rPr lang="en-US" altLang="ja-JP" sz="2400" dirty="0">
                <a:latin typeface="+mj-lt"/>
                <a:ea typeface="ＭＳ Ｐゴシック" panose="020B0600070205080204" pitchFamily="34" charset="-128"/>
                <a:cs typeface="ＭＳ Ｐゴシック" panose="020B0600070205080204" pitchFamily="34" charset="-128"/>
              </a:rPr>
              <a:t>s input link to appropriate router output link</a:t>
            </a:r>
          </a:p>
          <a:p>
            <a:endParaRPr lang="en-US" sz="2400" dirty="0">
              <a:latin typeface="+mj-lt"/>
            </a:endParaRPr>
          </a:p>
        </p:txBody>
      </p:sp>
      <p:sp>
        <p:nvSpPr>
          <p:cNvPr id="11" name="Content Placeholder 3">
            <a:extLst>
              <a:ext uri="{FF2B5EF4-FFF2-40B4-BE49-F238E27FC236}">
                <a16:creationId xmlns:a16="http://schemas.microsoft.com/office/drawing/2014/main" xmlns="" id="{D007BA21-27F4-4642-B902-0EF872DFA1E0}"/>
              </a:ext>
            </a:extLst>
          </p:cNvPr>
          <p:cNvSpPr txBox="1">
            <a:spLocks/>
          </p:cNvSpPr>
          <p:nvPr/>
        </p:nvSpPr>
        <p:spPr>
          <a:xfrm>
            <a:off x="6781216" y="3441526"/>
            <a:ext cx="5181600" cy="8792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400" b="0" i="1" u="none" strike="noStrike" kern="1200" cap="none" spc="0" normalizeH="0" baseline="0" noProof="0" dirty="0">
                <a:ln>
                  <a:noFill/>
                </a:ln>
                <a:solidFill>
                  <a:srgbClr val="000099"/>
                </a:solidFill>
                <a:effectLst/>
                <a:uLnTx/>
                <a:uFillTx/>
                <a:latin typeface="+mj-lt"/>
                <a:ea typeface="ＭＳ Ｐゴシック" charset="0"/>
                <a:cs typeface="ＭＳ Ｐゴシック" charset="0"/>
              </a:rPr>
              <a:t>routing:</a:t>
            </a:r>
            <a:r>
              <a:rPr kumimoji="0" lang="en-US" sz="2400" b="0" i="0" u="none" strike="noStrike" kern="1200" cap="none" spc="0" normalizeH="0" baseline="0" noProof="0" dirty="0">
                <a:ln>
                  <a:noFill/>
                </a:ln>
                <a:solidFill>
                  <a:prstClr val="black"/>
                </a:solidFill>
                <a:effectLst/>
                <a:uLnTx/>
                <a:uFillTx/>
                <a:latin typeface="+mj-lt"/>
                <a:ea typeface="ＭＳ Ｐゴシック" charset="0"/>
                <a:cs typeface="ＭＳ Ｐゴシック" charset="0"/>
              </a:rPr>
              <a:t> process of planning trip from source to destination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mj-lt"/>
            </a:endParaRPr>
          </a:p>
        </p:txBody>
      </p:sp>
      <p:sp>
        <p:nvSpPr>
          <p:cNvPr id="14" name="Content Placeholder 2">
            <a:extLst>
              <a:ext uri="{FF2B5EF4-FFF2-40B4-BE49-F238E27FC236}">
                <a16:creationId xmlns:a16="http://schemas.microsoft.com/office/drawing/2014/main" xmlns=""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400" b="0" i="1" u="none" strike="noStrike" kern="1200" cap="none" spc="0" normalizeH="0" baseline="0" noProof="0" dirty="0">
                <a:ln>
                  <a:noFill/>
                </a:ln>
                <a:solidFill>
                  <a:srgbClr val="000099"/>
                </a:solidFill>
                <a:effectLst/>
                <a:uLnTx/>
                <a:uFillTx/>
                <a:latin typeface="+mj-lt"/>
                <a:ea typeface="ＭＳ Ｐゴシック" panose="020B0600070205080204" pitchFamily="34" charset="-128"/>
                <a:cs typeface="ＭＳ Ｐゴシック" panose="020B0600070205080204" pitchFamily="34" charset="-128"/>
              </a:rPr>
              <a:t>routing:</a:t>
            </a:r>
            <a:r>
              <a:rPr kumimoji="0" lang="en-US" altLang="en-US" sz="24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b="0" i="1" u="none" strike="noStrike" kern="1200" cap="none" spc="0" normalizeH="0" baseline="0" noProof="0" dirty="0">
                <a:ln>
                  <a:noFill/>
                </a:ln>
                <a:solidFill>
                  <a:prstClr val="black"/>
                </a:solidFill>
                <a:effectLst/>
                <a:uLnTx/>
                <a:uFillTx/>
                <a:latin typeface="+mj-lt"/>
                <a:ea typeface="ＭＳ Ｐゴシック" panose="020B0600070205080204" pitchFamily="34" charset="-128"/>
              </a:rPr>
              <a:t>routing algorithms</a:t>
            </a:r>
            <a:endParaRPr kumimoji="0" lang="en-US" altLang="en-US" b="0" i="0" u="none" strike="noStrike" kern="1200" cap="none" spc="0" normalizeH="0" baseline="0" noProof="0" dirty="0">
              <a:ln>
                <a:noFill/>
              </a:ln>
              <a:solidFill>
                <a:prstClr val="black"/>
              </a:solidFill>
              <a:effectLst/>
              <a:uLnTx/>
              <a:uFillTx/>
              <a:latin typeface="+mj-lt"/>
              <a:ea typeface="ＭＳ Ｐゴシック" panose="020B0600070205080204" pitchFamily="34" charset="-128"/>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mj-lt"/>
            </a:endParaRPr>
          </a:p>
        </p:txBody>
      </p:sp>
      <p:sp>
        <p:nvSpPr>
          <p:cNvPr id="15" name="Slide Number Placeholder 4">
            <a:extLst>
              <a:ext uri="{FF2B5EF4-FFF2-40B4-BE49-F238E27FC236}">
                <a16:creationId xmlns:a16="http://schemas.microsoft.com/office/drawing/2014/main" xmlns="" id="{5320A79B-30CD-5748-9442-313B2CD2B8BF}"/>
              </a:ext>
            </a:extLst>
          </p:cNvPr>
          <p:cNvSpPr>
            <a:spLocks noGrp="1"/>
          </p:cNvSpPr>
          <p:nvPr>
            <p:ph type="sldNum" sz="quarter" idx="4294967295"/>
          </p:nvPr>
        </p:nvSpPr>
        <p:spPr>
          <a:xfrm>
            <a:off x="9219616" y="6443089"/>
            <a:ext cx="2743200" cy="365125"/>
          </a:xfrm>
          <a:prstGeom prst="rect">
            <a:avLst/>
          </a:prstGeom>
        </p:spPr>
        <p:txBody>
          <a:bodyPr/>
          <a:lstStyle/>
          <a:p>
            <a:r>
              <a:rPr lang="en-US" sz="1600" dirty="0">
                <a:latin typeface="+mj-lt"/>
              </a:rPr>
              <a:t>Network Layer: 4-</a:t>
            </a:r>
            <a:fld id="{C4204591-24BD-A542-B9D5-F8D8A88D2FEE}" type="slidenum">
              <a:rPr lang="en-US" sz="1600" smtClean="0">
                <a:latin typeface="+mj-lt"/>
              </a:rPr>
              <a:pPr/>
              <a:t>5</a:t>
            </a:fld>
            <a:endParaRPr lang="en-US" sz="1600" dirty="0">
              <a:latin typeface="+mj-lt"/>
            </a:endParaRPr>
          </a:p>
        </p:txBody>
      </p:sp>
    </p:spTree>
    <p:extLst>
      <p:ext uri="{BB962C8B-B14F-4D97-AF65-F5344CB8AC3E}">
        <p14:creationId xmlns:p14="http://schemas.microsoft.com/office/powerpoint/2010/main" val="153426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p:txBody>
          <a:bodyPr>
            <a:normAutofit/>
          </a:bodyPr>
          <a:lstStyle/>
          <a:p>
            <a:r>
              <a:rPr lang="en-US" dirty="0">
                <a:latin typeface="Times New Roman" charset="0"/>
                <a:ea typeface="Times New Roman" charset="0"/>
                <a:cs typeface="Times New Roman" charset="0"/>
              </a:rPr>
              <a:t>Network layer: data plane, control plane</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771938" y="1534078"/>
            <a:ext cx="4621697" cy="4351338"/>
          </a:xfrm>
        </p:spPr>
        <p:txBody>
          <a:bodyPr>
            <a:normAutofit/>
          </a:bodyPr>
          <a:lstStyle/>
          <a:p>
            <a:pPr marL="0" indent="0">
              <a:buFont typeface="Wingdings" charset="2"/>
              <a:buNone/>
              <a:defRPr/>
            </a:pPr>
            <a:r>
              <a:rPr lang="en-US" dirty="0">
                <a:solidFill>
                  <a:srgbClr val="CC0000"/>
                </a:solidFill>
                <a:latin typeface="Times New Roman" charset="0"/>
                <a:ea typeface="Times New Roman" charset="0"/>
                <a:cs typeface="Times New Roman" charset="0"/>
              </a:rPr>
              <a:t>Data plane:</a:t>
            </a:r>
          </a:p>
          <a:p>
            <a:pPr marL="292100" indent="-292100">
              <a:spcBef>
                <a:spcPts val="600"/>
              </a:spcBef>
              <a:buFont typeface="Wingdings" charset="2"/>
              <a:buChar char="§"/>
              <a:defRPr/>
            </a:pPr>
            <a:r>
              <a:rPr lang="en-US" sz="2400" i="1" dirty="0">
                <a:solidFill>
                  <a:srgbClr val="0000A3"/>
                </a:solidFill>
                <a:latin typeface="Times New Roman" charset="0"/>
                <a:ea typeface="Times New Roman" charset="0"/>
                <a:cs typeface="Times New Roman" charset="0"/>
              </a:rPr>
              <a:t>local</a:t>
            </a:r>
            <a:r>
              <a:rPr lang="en-US" sz="2400" dirty="0">
                <a:latin typeface="Times New Roman" charset="0"/>
                <a:ea typeface="Times New Roman" charset="0"/>
                <a:cs typeface="Times New Roman" charset="0"/>
              </a:rPr>
              <a:t>, per-router function</a:t>
            </a:r>
          </a:p>
          <a:p>
            <a:pPr marL="292100" indent="-292100">
              <a:spcBef>
                <a:spcPts val="600"/>
              </a:spcBef>
              <a:buFont typeface="Wingdings" charset="2"/>
              <a:buChar char="§"/>
              <a:defRPr/>
            </a:pPr>
            <a:r>
              <a:rPr lang="en-US" sz="2400" dirty="0">
                <a:latin typeface="Times New Roman" charset="0"/>
                <a:ea typeface="Times New Roman" charset="0"/>
                <a:cs typeface="Times New Roman" charset="0"/>
              </a:rPr>
              <a:t>determines how datagram arriving on router input port is forwarded to router output port</a:t>
            </a:r>
          </a:p>
          <a:p>
            <a:pPr marL="130175" indent="0">
              <a:buNone/>
            </a:pPr>
            <a:endParaRPr lang="en-US" sz="2400" dirty="0">
              <a:latin typeface="Times New Roman" charset="0"/>
              <a:ea typeface="Times New Roman" charset="0"/>
              <a:cs typeface="Times New Roman" charset="0"/>
            </a:endParaRPr>
          </a:p>
        </p:txBody>
      </p:sp>
      <p:sp>
        <p:nvSpPr>
          <p:cNvPr id="4" name="Content Placeholder 3">
            <a:extLst>
              <a:ext uri="{FF2B5EF4-FFF2-40B4-BE49-F238E27FC236}">
                <a16:creationId xmlns:a16="http://schemas.microsoft.com/office/drawing/2014/main" xmlns=""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dirty="0">
                <a:solidFill>
                  <a:srgbClr val="CC0000"/>
                </a:solidFill>
                <a:latin typeface="Times New Roman" charset="0"/>
                <a:ea typeface="Times New Roman" charset="0"/>
                <a:cs typeface="Times New Roman" charset="0"/>
              </a:rPr>
              <a:t>Control plane</a:t>
            </a:r>
          </a:p>
          <a:p>
            <a:pPr marL="228600" indent="-228600">
              <a:spcBef>
                <a:spcPts val="600"/>
              </a:spcBef>
              <a:defRPr/>
            </a:pPr>
            <a:r>
              <a:rPr lang="en-US" sz="2400" i="1" dirty="0">
                <a:solidFill>
                  <a:srgbClr val="0000A3"/>
                </a:solidFill>
                <a:latin typeface="Times New Roman" charset="0"/>
                <a:ea typeface="Times New Roman" charset="0"/>
                <a:cs typeface="Times New Roman" charset="0"/>
              </a:rPr>
              <a:t>network-wide</a:t>
            </a:r>
            <a:r>
              <a:rPr lang="en-US" sz="2400" dirty="0">
                <a:latin typeface="Times New Roman" charset="0"/>
                <a:ea typeface="Times New Roman" charset="0"/>
                <a:cs typeface="Times New Roman" charset="0"/>
              </a:rPr>
              <a:t> logic</a:t>
            </a:r>
          </a:p>
          <a:p>
            <a:pPr marL="228600" indent="-228600">
              <a:spcBef>
                <a:spcPts val="600"/>
              </a:spcBef>
              <a:defRPr/>
            </a:pPr>
            <a:r>
              <a:rPr lang="en-US" sz="2400" dirty="0">
                <a:latin typeface="Times New Roman" charset="0"/>
                <a:ea typeface="Times New Roman" charset="0"/>
                <a:cs typeface="Times New Roman" charset="0"/>
              </a:rPr>
              <a:t>determines how datagram is routed among routers along end-end path from source host to destination host</a:t>
            </a:r>
          </a:p>
          <a:p>
            <a:endParaRPr lang="en-US" sz="2400" dirty="0">
              <a:latin typeface="Times New Roman" charset="0"/>
              <a:ea typeface="Times New Roman" charset="0"/>
              <a:cs typeface="Times New Roman" charset="0"/>
            </a:endParaRPr>
          </a:p>
        </p:txBody>
      </p:sp>
      <p:grpSp>
        <p:nvGrpSpPr>
          <p:cNvPr id="34" name="Group 8">
            <a:extLst>
              <a:ext uri="{FF2B5EF4-FFF2-40B4-BE49-F238E27FC236}">
                <a16:creationId xmlns:a16="http://schemas.microsoft.com/office/drawing/2014/main" xmlns=""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a16="http://schemas.microsoft.com/office/drawing/2014/main" xmlns=""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cxnSp>
          <p:nvCxnSpPr>
            <p:cNvPr id="36" name="Straight Connector 35">
              <a:extLst>
                <a:ext uri="{FF2B5EF4-FFF2-40B4-BE49-F238E27FC236}">
                  <a16:creationId xmlns:a16="http://schemas.microsoft.com/office/drawing/2014/main" xmlns=""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a16="http://schemas.microsoft.com/office/drawing/2014/main" xmlns=""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a16="http://schemas.microsoft.com/office/drawing/2014/main" xmlns=""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a16="http://schemas.microsoft.com/office/drawing/2014/main" xmlns=""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a16="http://schemas.microsoft.com/office/drawing/2014/main" xmlns="" id="{4BD8D488-F9B4-5D47-8E0A-48546209837D}"/>
                </a:ext>
              </a:extLst>
            </p:cNvPr>
            <p:cNvSpPr txBox="1">
              <a:spLocks noChangeArrowheads="1"/>
            </p:cNvSpPr>
            <p:nvPr/>
          </p:nvSpPr>
          <p:spPr bwMode="auto">
            <a:xfrm>
              <a:off x="3198813" y="5473700"/>
              <a:ext cx="255258" cy="26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1</a:t>
              </a:r>
            </a:p>
          </p:txBody>
        </p:sp>
        <p:sp>
          <p:nvSpPr>
            <p:cNvPr id="41" name="TextBox 281">
              <a:extLst>
                <a:ext uri="{FF2B5EF4-FFF2-40B4-BE49-F238E27FC236}">
                  <a16:creationId xmlns:a16="http://schemas.microsoft.com/office/drawing/2014/main" xmlns="" id="{AD5D47CA-82AD-DC4E-A2CC-F6555ADBB73E}"/>
                </a:ext>
              </a:extLst>
            </p:cNvPr>
            <p:cNvSpPr txBox="1">
              <a:spLocks noChangeArrowheads="1"/>
            </p:cNvSpPr>
            <p:nvPr/>
          </p:nvSpPr>
          <p:spPr bwMode="auto">
            <a:xfrm>
              <a:off x="3373438" y="5761038"/>
              <a:ext cx="255258" cy="26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2</a:t>
              </a:r>
            </a:p>
          </p:txBody>
        </p:sp>
        <p:sp>
          <p:nvSpPr>
            <p:cNvPr id="42" name="TextBox 282">
              <a:extLst>
                <a:ext uri="{FF2B5EF4-FFF2-40B4-BE49-F238E27FC236}">
                  <a16:creationId xmlns:a16="http://schemas.microsoft.com/office/drawing/2014/main" xmlns="" id="{755C7E60-8A5C-5B4E-BCD3-83EC372268B5}"/>
                </a:ext>
              </a:extLst>
            </p:cNvPr>
            <p:cNvSpPr txBox="1">
              <a:spLocks noChangeArrowheads="1"/>
            </p:cNvSpPr>
            <p:nvPr/>
          </p:nvSpPr>
          <p:spPr bwMode="auto">
            <a:xfrm>
              <a:off x="3068638" y="5862638"/>
              <a:ext cx="255258" cy="26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3</a:t>
              </a:r>
            </a:p>
          </p:txBody>
        </p:sp>
        <p:grpSp>
          <p:nvGrpSpPr>
            <p:cNvPr id="43" name="Group 5">
              <a:extLst>
                <a:ext uri="{FF2B5EF4-FFF2-40B4-BE49-F238E27FC236}">
                  <a16:creationId xmlns:a16="http://schemas.microsoft.com/office/drawing/2014/main" xmlns="" id="{DA838191-9D78-6E40-B146-38B5229893F5}"/>
                </a:ext>
              </a:extLst>
            </p:cNvPr>
            <p:cNvGrpSpPr>
              <a:grpSpLocks/>
            </p:cNvGrpSpPr>
            <p:nvPr/>
          </p:nvGrpSpPr>
          <p:grpSpPr bwMode="auto">
            <a:xfrm>
              <a:off x="938213" y="5237163"/>
              <a:ext cx="1616075" cy="508804"/>
              <a:chOff x="-4079003" y="2717403"/>
              <a:chExt cx="1616718" cy="509966"/>
            </a:xfrm>
          </p:grpSpPr>
          <p:sp>
            <p:nvSpPr>
              <p:cNvPr id="56" name="Rectangle 97">
                <a:extLst>
                  <a:ext uri="{FF2B5EF4-FFF2-40B4-BE49-F238E27FC236}">
                    <a16:creationId xmlns:a16="http://schemas.microsoft.com/office/drawing/2014/main" xmlns=""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57" name="Rectangle 98">
                <a:extLst>
                  <a:ext uri="{FF2B5EF4-FFF2-40B4-BE49-F238E27FC236}">
                    <a16:creationId xmlns:a16="http://schemas.microsoft.com/office/drawing/2014/main" xmlns=""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58" name="Line 99">
                <a:extLst>
                  <a:ext uri="{FF2B5EF4-FFF2-40B4-BE49-F238E27FC236}">
                    <a16:creationId xmlns:a16="http://schemas.microsoft.com/office/drawing/2014/main" xmlns=""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59" name="Rectangle 104">
                <a:extLst>
                  <a:ext uri="{FF2B5EF4-FFF2-40B4-BE49-F238E27FC236}">
                    <a16:creationId xmlns:a16="http://schemas.microsoft.com/office/drawing/2014/main" xmlns=""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60" name="Text Box 105">
                <a:extLst>
                  <a:ext uri="{FF2B5EF4-FFF2-40B4-BE49-F238E27FC236}">
                    <a16:creationId xmlns:a16="http://schemas.microsoft.com/office/drawing/2014/main" xmlns="" id="{1BBEBC69-F691-7B4E-AA1F-3F1CFFF5C6D1}"/>
                  </a:ext>
                </a:extLst>
              </p:cNvPr>
              <p:cNvSpPr txBox="1">
                <a:spLocks noChangeArrowheads="1"/>
              </p:cNvSpPr>
              <p:nvPr/>
            </p:nvSpPr>
            <p:spPr bwMode="auto">
              <a:xfrm>
                <a:off x="-3430189" y="2965119"/>
                <a:ext cx="467090" cy="2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1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0111</a:t>
                </a:r>
              </a:p>
            </p:txBody>
          </p:sp>
          <p:sp>
            <p:nvSpPr>
              <p:cNvPr id="61" name="Line 119">
                <a:extLst>
                  <a:ext uri="{FF2B5EF4-FFF2-40B4-BE49-F238E27FC236}">
                    <a16:creationId xmlns:a16="http://schemas.microsoft.com/office/drawing/2014/main" xmlns=""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grpSp>
        <p:sp>
          <p:nvSpPr>
            <p:cNvPr id="44" name="TextBox 6">
              <a:extLst>
                <a:ext uri="{FF2B5EF4-FFF2-40B4-BE49-F238E27FC236}">
                  <a16:creationId xmlns:a16="http://schemas.microsoft.com/office/drawing/2014/main" xmlns="" id="{E04647EA-CE57-8E43-979A-6EBC3F213DDC}"/>
                </a:ext>
              </a:extLst>
            </p:cNvPr>
            <p:cNvSpPr txBox="1">
              <a:spLocks noChangeArrowheads="1"/>
            </p:cNvSpPr>
            <p:nvPr/>
          </p:nvSpPr>
          <p:spPr bwMode="auto">
            <a:xfrm>
              <a:off x="842050" y="4767952"/>
              <a:ext cx="1992313" cy="46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rPr>
                <a:t>packet header</a:t>
              </a:r>
              <a:endParaRPr kumimoji="0" lang="en-US" alt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grpSp>
          <p:nvGrpSpPr>
            <p:cNvPr id="45" name="Group 357">
              <a:extLst>
                <a:ext uri="{FF2B5EF4-FFF2-40B4-BE49-F238E27FC236}">
                  <a16:creationId xmlns:a16="http://schemas.microsoft.com/office/drawing/2014/main" xmlns=""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a16="http://schemas.microsoft.com/office/drawing/2014/main" xmlns=""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solidFill>
                      <a:srgbClr val="000000"/>
                    </a:solidFill>
                  </a:ln>
                  <a:solidFill>
                    <a:srgbClr val="FFFFFF"/>
                  </a:solidFill>
                  <a:effectLst/>
                  <a:uLnTx/>
                  <a:uFillTx/>
                  <a:latin typeface="Times New Roman" charset="0"/>
                  <a:ea typeface="Times New Roman" charset="0"/>
                  <a:cs typeface="Times New Roman" charset="0"/>
                </a:endParaRPr>
              </a:p>
            </p:txBody>
          </p:sp>
          <p:sp>
            <p:nvSpPr>
              <p:cNvPr id="48" name="Rectangle 47">
                <a:extLst>
                  <a:ext uri="{FF2B5EF4-FFF2-40B4-BE49-F238E27FC236}">
                    <a16:creationId xmlns:a16="http://schemas.microsoft.com/office/drawing/2014/main" xmlns=""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Times New Roman" charset="0"/>
                  <a:ea typeface="Times New Roman" charset="0"/>
                  <a:cs typeface="Times New Roman" charset="0"/>
                </a:endParaRPr>
              </a:p>
            </p:txBody>
          </p:sp>
          <p:sp>
            <p:nvSpPr>
              <p:cNvPr id="49" name="Oval 48">
                <a:extLst>
                  <a:ext uri="{FF2B5EF4-FFF2-40B4-BE49-F238E27FC236}">
                    <a16:creationId xmlns:a16="http://schemas.microsoft.com/office/drawing/2014/main" xmlns=""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solidFill>
                      <a:srgbClr val="000000"/>
                    </a:solidFill>
                  </a:ln>
                  <a:solidFill>
                    <a:srgbClr val="FFFFFF"/>
                  </a:solidFill>
                  <a:effectLst/>
                  <a:uLnTx/>
                  <a:uFillTx/>
                  <a:latin typeface="Times New Roman" charset="0"/>
                  <a:ea typeface="Times New Roman" charset="0"/>
                  <a:cs typeface="Times New Roman" charset="0"/>
                </a:endParaRPr>
              </a:p>
            </p:txBody>
          </p:sp>
          <p:sp>
            <p:nvSpPr>
              <p:cNvPr id="50" name="Freeform 49">
                <a:extLst>
                  <a:ext uri="{FF2B5EF4-FFF2-40B4-BE49-F238E27FC236}">
                    <a16:creationId xmlns:a16="http://schemas.microsoft.com/office/drawing/2014/main" xmlns=""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Times New Roman" charset="0"/>
                  <a:ea typeface="Times New Roman" charset="0"/>
                  <a:cs typeface="Times New Roman" charset="0"/>
                </a:endParaRPr>
              </a:p>
            </p:txBody>
          </p:sp>
          <p:sp>
            <p:nvSpPr>
              <p:cNvPr id="51" name="Freeform 50">
                <a:extLst>
                  <a:ext uri="{FF2B5EF4-FFF2-40B4-BE49-F238E27FC236}">
                    <a16:creationId xmlns:a16="http://schemas.microsoft.com/office/drawing/2014/main" xmlns=""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52" name="Freeform 51">
                <a:extLst>
                  <a:ext uri="{FF2B5EF4-FFF2-40B4-BE49-F238E27FC236}">
                    <a16:creationId xmlns:a16="http://schemas.microsoft.com/office/drawing/2014/main" xmlns=""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sp>
            <p:nvSpPr>
              <p:cNvPr id="53" name="Freeform 52">
                <a:extLst>
                  <a:ext uri="{FF2B5EF4-FFF2-40B4-BE49-F238E27FC236}">
                    <a16:creationId xmlns:a16="http://schemas.microsoft.com/office/drawing/2014/main" xmlns=""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cxnSp>
            <p:nvCxnSpPr>
              <p:cNvPr id="54" name="Straight Connector 53">
                <a:extLst>
                  <a:ext uri="{FF2B5EF4-FFF2-40B4-BE49-F238E27FC236}">
                    <a16:creationId xmlns:a16="http://schemas.microsoft.com/office/drawing/2014/main" xmlns=""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xmlns=""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a16="http://schemas.microsoft.com/office/drawing/2014/main" xmlns=""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charset="0"/>
                <a:ea typeface="Times New Roman" charset="0"/>
                <a:cs typeface="Times New Roman" charset="0"/>
              </a:endParaRPr>
            </a:p>
          </p:txBody>
        </p:sp>
      </p:grpSp>
      <p:sp>
        <p:nvSpPr>
          <p:cNvPr id="62" name="Content Placeholder 3">
            <a:extLst>
              <a:ext uri="{FF2B5EF4-FFF2-40B4-BE49-F238E27FC236}">
                <a16:creationId xmlns:a16="http://schemas.microsoft.com/office/drawing/2014/main" xmlns="" id="{A06F5D4D-83A2-064D-AF5B-6B67A6A12AB8}"/>
              </a:ext>
            </a:extLst>
          </p:cNvPr>
          <p:cNvSpPr txBox="1">
            <a:spLocks/>
          </p:cNvSpPr>
          <p:nvPr/>
        </p:nvSpPr>
        <p:spPr>
          <a:xfrm>
            <a:off x="6255252" y="4142307"/>
            <a:ext cx="5502965"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charset="0"/>
                <a:ea typeface="Times New Roman" charset="0"/>
                <a:cs typeface="Times New Roman" charset="0"/>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1" u="none" strike="noStrike" kern="1200" cap="none" spc="0" normalizeH="0" baseline="0" noProof="0" dirty="0">
                <a:ln>
                  <a:noFill/>
                </a:ln>
                <a:solidFill>
                  <a:srgbClr val="000090"/>
                </a:solidFill>
                <a:effectLst/>
                <a:uLnTx/>
                <a:uFillTx/>
                <a:latin typeface="Times New Roman" charset="0"/>
                <a:ea typeface="Times New Roman" charset="0"/>
                <a:cs typeface="Times New Roman" charset="0"/>
              </a:rPr>
              <a:t>traditional routing algorithms: </a:t>
            </a:r>
            <a:r>
              <a:rPr kumimoji="0" lang="en-US" sz="2000" b="0" i="0" u="none" strike="noStrike" kern="1200" cap="none" spc="0" normalizeH="0" baseline="0" noProof="0" dirty="0">
                <a:ln>
                  <a:noFill/>
                </a:ln>
                <a:solidFill>
                  <a:prstClr val="black"/>
                </a:solidFill>
                <a:effectLst/>
                <a:uLnTx/>
                <a:uFillTx/>
                <a:latin typeface="Times New Roman" charset="0"/>
                <a:ea typeface="Times New Roman" charset="0"/>
                <a:cs typeface="Times New Roman" charset="0"/>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1" u="none" strike="noStrike" kern="1200" cap="none" spc="0" normalizeH="0" baseline="0" noProof="0" dirty="0">
                <a:ln>
                  <a:noFill/>
                </a:ln>
                <a:solidFill>
                  <a:srgbClr val="000090"/>
                </a:solidFill>
                <a:effectLst/>
                <a:uLnTx/>
                <a:uFillTx/>
                <a:latin typeface="Times New Roman" charset="0"/>
                <a:ea typeface="Times New Roman" charset="0"/>
                <a:cs typeface="Times New Roman" charset="0"/>
              </a:rPr>
              <a:t>software-defined networking (SDN)</a:t>
            </a:r>
            <a:r>
              <a:rPr kumimoji="0" lang="en-US" sz="2000" b="0" i="0" u="none" strike="noStrike" kern="1200" cap="none" spc="0" normalizeH="0" baseline="0" noProof="0" dirty="0">
                <a:ln>
                  <a:noFill/>
                </a:ln>
                <a:solidFill>
                  <a:prstClr val="black"/>
                </a:solidFill>
                <a:effectLst/>
                <a:uLnTx/>
                <a:uFillTx/>
                <a:latin typeface="Times New Roman" charset="0"/>
                <a:ea typeface="Times New Roman" charset="0"/>
                <a:cs typeface="Times New Roman" charset="0"/>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Times New Roman" charset="0"/>
              <a:ea typeface="Times New Roman" charset="0"/>
              <a:cs typeface="Times New Roman" charset="0"/>
            </a:endParaRPr>
          </a:p>
        </p:txBody>
      </p:sp>
      <p:sp>
        <p:nvSpPr>
          <p:cNvPr id="63" name="Slide Number Placeholder 4">
            <a:extLst>
              <a:ext uri="{FF2B5EF4-FFF2-40B4-BE49-F238E27FC236}">
                <a16:creationId xmlns:a16="http://schemas.microsoft.com/office/drawing/2014/main" xmlns="" id="{E1DA7C3D-A185-DD42-9D1C-17140F6215E8}"/>
              </a:ext>
            </a:extLst>
          </p:cNvPr>
          <p:cNvSpPr>
            <a:spLocks noGrp="1"/>
          </p:cNvSpPr>
          <p:nvPr>
            <p:ph type="sldNum" sz="quarter" idx="4294967295"/>
          </p:nvPr>
        </p:nvSpPr>
        <p:spPr>
          <a:xfrm>
            <a:off x="9219616" y="6443089"/>
            <a:ext cx="2743200" cy="365125"/>
          </a:xfrm>
          <a:prstGeom prst="rect">
            <a:avLst/>
          </a:prstGeom>
        </p:spPr>
        <p:txBody>
          <a:bodyPr/>
          <a:lstStyle/>
          <a:p>
            <a:r>
              <a:rPr lang="en-US" sz="1600" dirty="0">
                <a:latin typeface="Times New Roman" charset="0"/>
                <a:ea typeface="Times New Roman" charset="0"/>
                <a:cs typeface="Times New Roman" charset="0"/>
              </a:rPr>
              <a:t>Network Layer: 4-</a:t>
            </a:r>
            <a:fld id="{C4204591-24BD-A542-B9D5-F8D8A88D2FEE}" type="slidenum">
              <a:rPr lang="en-US" sz="1600" smtClean="0">
                <a:latin typeface="Times New Roman" charset="0"/>
                <a:ea typeface="Times New Roman" charset="0"/>
                <a:cs typeface="Times New Roman" charset="0"/>
              </a:rPr>
              <a:pPr/>
              <a:t>6</a:t>
            </a:fld>
            <a:endParaRPr lang="en-US" sz="16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43739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xmlns="" id="{8EB40520-A927-A94E-975A-4093319F1CF3}"/>
              </a:ext>
            </a:extLst>
          </p:cNvPr>
          <p:cNvSpPr txBox="1">
            <a:spLocks noChangeArrowheads="1"/>
          </p:cNvSpPr>
          <p:nvPr/>
        </p:nvSpPr>
        <p:spPr bwMode="auto">
          <a:xfrm>
            <a:off x="780773" y="1101105"/>
            <a:ext cx="1098715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mn-cs"/>
              </a:rPr>
              <a:t>Individual routing algorithm components </a:t>
            </a:r>
            <a:r>
              <a:rPr kumimoji="0" lang="en-US" altLang="en-US" sz="2800" b="0" i="1" u="none" strike="noStrike" kern="1200" cap="none" spc="0" normalizeH="0" baseline="0" noProof="0" dirty="0">
                <a:ln>
                  <a:noFill/>
                </a:ln>
                <a:solidFill>
                  <a:srgbClr val="000090"/>
                </a:solidFill>
                <a:effectLst/>
                <a:uLnTx/>
                <a:uFillTx/>
                <a:latin typeface="+mj-lt"/>
                <a:ea typeface="ＭＳ Ｐゴシック" panose="020B0600070205080204" pitchFamily="34" charset="-128"/>
                <a:cs typeface="+mn-cs"/>
              </a:rPr>
              <a:t>in each and every router </a:t>
            </a: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xmlns=""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xmlns=""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xmlns=""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xmlns=""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xmlns=""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xmlns=""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xmlns=""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xmlns=""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xmlns=""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xmlns=""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xmlns=""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xmlns=""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xmlns=""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xmlns=""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xmlns=""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xmlns=""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xmlns=""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xmlns=""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xmlns=""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xmlns=""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xmlns=""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xmlns=""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xmlns=""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xmlns=""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xmlns=""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xmlns=""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xmlns=""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xmlns=""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xmlns=""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xmlns=""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xmlns=""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xmlns=""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xmlns=""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xmlns=""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xmlns=""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xmlns=""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xmlns=""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xmlns=""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xmlns=""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xmlns=""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xmlns=""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xmlns=""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xmlns=""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xmlns=""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xmlns=""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xmlns=""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xmlns=""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xmlns=""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xmlns=""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xmlns=""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xmlns=""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xmlns=""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xmlns=""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xmlns=""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xmlns=""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xmlns=""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xmlns=""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xmlns=""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xmlns=""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xmlns=""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xmlns=""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xmlns=""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xmlns=""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xmlns=""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xmlns=""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xmlns=""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xmlns=""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xmlns=""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xmlns=""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xmlns=""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xmlns=""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xmlns=""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xmlns=""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xmlns=""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xmlns=""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xmlns=""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xmlns=""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xmlns=""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xmlns=""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xmlns=""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xmlns=""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xmlns=""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xmlns=""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xmlns=""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xmlns=""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xmlns=""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xmlns=""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xmlns=""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xmlns=""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xmlns=""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xmlns=""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xmlns=""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xmlns=""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xmlns=""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xmlns=""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xmlns=""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xmlns=""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xmlns=""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xmlns=""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xmlns=""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xmlns=""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xmlns=""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xmlns=""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xmlns=""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xmlns=""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xmlns=""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xmlns=""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xmlns=""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xmlns=""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xmlns=""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xmlns=""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xmlns=""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xmlns=""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xmlns=""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xmlns=""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xmlns=""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xmlns=""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xmlns=""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xmlns=""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xmlns=""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xmlns=""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xmlns=""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xmlns=""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xmlns=""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xmlns=""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xmlns=""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xmlns=""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xmlns=""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xmlns=""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xmlns=""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xmlns=""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xmlns=""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xmlns=""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xmlns=""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xmlns=""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xmlns=""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xmlns=""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xmlns=""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xmlns=""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xmlns=""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xmlns=""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xmlns=""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xmlns=""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xmlns=""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xmlns=""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xmlns=""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xmlns=""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xmlns=""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xmlns=""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xmlns=""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xmlns=""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xmlns=""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xmlns=""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xmlns=""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xmlns=""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xmlns=""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xmlns=""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xmlns=""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xmlns=""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xmlns=""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xmlns=""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xmlns=""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xmlns=""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xmlns=""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xmlns=""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xmlns=""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xmlns=""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xmlns=""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xmlns=""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xmlns=""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xmlns=""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xmlns=""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xmlns=""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xmlns=""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xmlns=""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xmlns=""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xmlns=""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xmlns=""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xmlns=""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xmlns=""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xmlns=""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xmlns=""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xmlns=""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xmlns=""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xmlns=""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xmlns=""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xmlns=""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xmlns=""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xmlns=""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xmlns=""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xmlns=""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xmlns=""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xmlns=""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xmlns=""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xmlns=""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xmlns=""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xmlns=""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xmlns=""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xmlns=""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xmlns=""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xmlns=""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xmlns=""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xmlns=""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xmlns=""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xmlns=""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xmlns=""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xmlns=""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xmlns=""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xmlns=""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xmlns=""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xmlns=""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xmlns=""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xmlns=""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xmlns=""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xmlns=""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xmlns=""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xmlns=""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xmlns=""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xmlns=""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xmlns=""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xmlns=""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xmlns=""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xmlns=""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xmlns=""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xmlns=""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xmlns=""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xmlns=""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xmlns=""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xmlns=""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xmlns=""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xmlns=""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xmlns=""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236" name="Slide Number Placeholder 4">
            <a:extLst>
              <a:ext uri="{FF2B5EF4-FFF2-40B4-BE49-F238E27FC236}">
                <a16:creationId xmlns:a16="http://schemas.microsoft.com/office/drawing/2014/main" xmlns="" id="{ED6517D9-F18B-5447-8ABE-90D9847B304D}"/>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7</a:t>
            </a:fld>
            <a:endParaRPr lang="en-US" dirty="0"/>
          </a:p>
        </p:txBody>
      </p:sp>
    </p:spTree>
    <p:extLst>
      <p:ext uri="{BB962C8B-B14F-4D97-AF65-F5344CB8AC3E}">
        <p14:creationId xmlns:p14="http://schemas.microsoft.com/office/powerpoint/2010/main" val="160240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21" name="Slide Number Placeholder 4">
            <a:extLst>
              <a:ext uri="{FF2B5EF4-FFF2-40B4-BE49-F238E27FC236}">
                <a16:creationId xmlns:a16="http://schemas.microsoft.com/office/drawing/2014/main" xmlns="" id="{CC41D844-4BFF-004B-B364-1106DEFC8A1E}"/>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8</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118" y="1580573"/>
            <a:ext cx="9766300" cy="17018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8168" y="3639148"/>
            <a:ext cx="8204200" cy="2603500"/>
          </a:xfrm>
          <a:prstGeom prst="rect">
            <a:avLst/>
          </a:prstGeom>
        </p:spPr>
      </p:pic>
    </p:spTree>
    <p:extLst>
      <p:ext uri="{BB962C8B-B14F-4D97-AF65-F5344CB8AC3E}">
        <p14:creationId xmlns:p14="http://schemas.microsoft.com/office/powerpoint/2010/main" val="81897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496A9E0-44BC-D588-F09A-18A94E212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2170296-9A8E-6996-21B5-AF664182DA22}"/>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xmlns="" id="{7B9A718F-7EDD-603E-26B4-689C884CCADD}"/>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p:txBody>
      </p:sp>
      <p:sp>
        <p:nvSpPr>
          <p:cNvPr id="7" name="Rectangle 4">
            <a:extLst>
              <a:ext uri="{FF2B5EF4-FFF2-40B4-BE49-F238E27FC236}">
                <a16:creationId xmlns:a16="http://schemas.microsoft.com/office/drawing/2014/main" xmlns="" id="{5B01E0E3-4537-0BD7-9BEF-7BCDEC9EA459}"/>
              </a:ext>
            </a:extLst>
          </p:cNvPr>
          <p:cNvSpPr txBox="1">
            <a:spLocks noChangeArrowheads="1"/>
          </p:cNvSpPr>
          <p:nvPr/>
        </p:nvSpPr>
        <p:spPr>
          <a:xfrm>
            <a:off x="6682013" y="3716475"/>
            <a:ext cx="5075205" cy="281645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lnSpc>
                <a:spcPct val="100000"/>
              </a:lnSpc>
              <a:buClr>
                <a:schemeClr val="bg1">
                  <a:lumMod val="75000"/>
                </a:schemeClr>
              </a:buClr>
            </a:pPr>
            <a:r>
              <a:rPr lang="en-US" altLang="en-US" sz="3200" dirty="0">
                <a:solidFill>
                  <a:schemeClr val="bg1">
                    <a:lumMod val="75000"/>
                  </a:schemeClr>
                </a:solidFill>
                <a:ea typeface="ＭＳ Ｐゴシック" panose="020B0600070205080204" pitchFamily="34" charset="-128"/>
                <a:cs typeface="ＭＳ Ｐゴシック" panose="020B0600070205080204" pitchFamily="34" charset="-128"/>
              </a:rPr>
              <a:t>Generalized Forwarding</a:t>
            </a:r>
          </a:p>
          <a:p>
            <a:pPr lvl="1">
              <a:lnSpc>
                <a:spcPct val="100000"/>
              </a:lnSpc>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Match+action</a:t>
            </a:r>
          </a:p>
          <a:p>
            <a:pPr lvl="1">
              <a:lnSpc>
                <a:spcPct val="100000"/>
              </a:lnSpc>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OpenFlow</a:t>
            </a:r>
          </a:p>
          <a:p>
            <a:pPr lvl="1">
              <a:lnSpc>
                <a:spcPct val="100000"/>
              </a:lnSpc>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Middleboxes</a:t>
            </a:r>
          </a:p>
          <a:p>
            <a:pPr>
              <a:lnSpc>
                <a:spcPct val="100000"/>
              </a:lnSpc>
              <a:buClr>
                <a:schemeClr val="bg1">
                  <a:lumMod val="75000"/>
                </a:schemeClr>
              </a:buClr>
            </a:pPr>
            <a:r>
              <a:rPr lang="en-US" altLang="en-US" sz="3200" dirty="0">
                <a:solidFill>
                  <a:schemeClr val="bg1">
                    <a:lumMod val="75000"/>
                  </a:schemeClr>
                </a:solidFill>
                <a:ea typeface="ＭＳ Ｐゴシック" panose="020B0600070205080204" pitchFamily="34" charset="-128"/>
              </a:rPr>
              <a:t>Internet architecture</a:t>
            </a:r>
          </a:p>
          <a:p>
            <a:pPr lvl="1"/>
            <a:endParaRPr lang="en-US" altLang="en-US" dirty="0"/>
          </a:p>
        </p:txBody>
      </p:sp>
      <p:sp>
        <p:nvSpPr>
          <p:cNvPr id="8" name="Slide Number Placeholder 4">
            <a:extLst>
              <a:ext uri="{FF2B5EF4-FFF2-40B4-BE49-F238E27FC236}">
                <a16:creationId xmlns:a16="http://schemas.microsoft.com/office/drawing/2014/main" xmlns="" id="{67D1F716-201E-E229-2822-FB5D30C4A481}"/>
              </a:ext>
            </a:extLst>
          </p:cNvPr>
          <p:cNvSpPr>
            <a:spLocks noGrp="1"/>
          </p:cNvSpPr>
          <p:nvPr>
            <p:ph type="sldNum" sz="quarter" idx="4294967295"/>
          </p:nvPr>
        </p:nvSpPr>
        <p:spPr>
          <a:xfrm>
            <a:off x="9219616" y="6465391"/>
            <a:ext cx="2743200" cy="365125"/>
          </a:xfrm>
          <a:prstGeom prst="rect">
            <a:avLst/>
          </a:prstGeom>
        </p:spPr>
        <p:txBody>
          <a:bodyPr/>
          <a:lstStyle/>
          <a:p>
            <a:r>
              <a:rPr lang="en-US" dirty="0"/>
              <a:t>Network Layer: 4-</a:t>
            </a:r>
            <a:fld id="{C4204591-24BD-A542-B9D5-F8D8A88D2FEE}" type="slidenum">
              <a:rPr lang="en-US" smtClean="0"/>
              <a:pPr/>
              <a:t>9</a:t>
            </a:fld>
            <a:endParaRPr lang="en-US" dirty="0"/>
          </a:p>
        </p:txBody>
      </p:sp>
      <p:sp>
        <p:nvSpPr>
          <p:cNvPr id="10" name="Rectangle 4">
            <a:extLst>
              <a:ext uri="{FF2B5EF4-FFF2-40B4-BE49-F238E27FC236}">
                <a16:creationId xmlns:a16="http://schemas.microsoft.com/office/drawing/2014/main" xmlns="" id="{208B81FB-BFBB-844F-9265-2958B10C4113}"/>
              </a:ext>
            </a:extLst>
          </p:cNvPr>
          <p:cNvSpPr txBox="1">
            <a:spLocks noChangeArrowheads="1"/>
          </p:cNvSpPr>
          <p:nvPr/>
        </p:nvSpPr>
        <p:spPr>
          <a:xfrm>
            <a:off x="570088" y="2760950"/>
            <a:ext cx="6618109" cy="3461321"/>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spcBef>
                <a:spcPts val="600"/>
              </a:spcBef>
            </a:pPr>
            <a:r>
              <a:rPr lang="en-US" altLang="en-US" sz="3200" dirty="0">
                <a:solidFill>
                  <a:srgbClr val="C00000"/>
                </a:solidFill>
                <a:ea typeface="ＭＳ Ｐゴシック" panose="020B0600070205080204" pitchFamily="34" charset="-128"/>
                <a:cs typeface="Arial" panose="020B0604020202020204" pitchFamily="34" charset="0"/>
              </a:rPr>
              <a:t>What</a:t>
            </a:r>
            <a:r>
              <a:rPr lang="en-US" altLang="ja-JP" sz="3200" dirty="0">
                <a:solidFill>
                  <a:srgbClr val="C00000"/>
                </a:solidFill>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input/output ports, switching</a:t>
            </a:r>
          </a:p>
          <a:p>
            <a:pPr lvl="1">
              <a:spcBef>
                <a:spcPts val="0"/>
              </a:spcBef>
            </a:pPr>
            <a:r>
              <a:rPr lang="en-US" altLang="ja-JP" sz="2800" dirty="0">
                <a:ea typeface="ＭＳ Ｐゴシック" panose="020B0600070205080204" pitchFamily="34" charset="-128"/>
                <a:cs typeface="Arial" panose="020B0604020202020204" pitchFamily="34" charset="0"/>
              </a:rPr>
              <a:t>buffer management</a:t>
            </a:r>
          </a:p>
          <a:p>
            <a:pPr lvl="1">
              <a:spcBef>
                <a:spcPts val="0"/>
              </a:spcBef>
            </a:pPr>
            <a:r>
              <a:rPr lang="en-US" altLang="ja-JP" sz="2800" dirty="0">
                <a:ea typeface="ＭＳ Ｐゴシック" panose="020B0600070205080204" pitchFamily="34" charset="-128"/>
                <a:cs typeface="Arial" panose="020B0604020202020204" pitchFamily="34" charset="0"/>
              </a:rPr>
              <a:t>scheduling</a:t>
            </a:r>
          </a:p>
          <a:p>
            <a:pPr marL="407988" indent="-277813">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IP: the Internet Protocol</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datagram format, addressing</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network address translation (NAT)</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IPv6</a:t>
            </a:r>
          </a:p>
        </p:txBody>
      </p:sp>
    </p:spTree>
    <p:extLst>
      <p:ext uri="{BB962C8B-B14F-4D97-AF65-F5344CB8AC3E}">
        <p14:creationId xmlns:p14="http://schemas.microsoft.com/office/powerpoint/2010/main" val="97157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ssolve">
                                      <p:cBhvr>
                                        <p:cTn id="10" dur="500"/>
                                        <p:tgtEl>
                                          <p:spTgt spid="10">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ssolve">
                                      <p:cBhvr>
                                        <p:cTn id="13" dur="500"/>
                                        <p:tgtEl>
                                          <p:spTgt spid="10">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dissolve">
                                      <p:cBhvr>
                                        <p:cTn id="16" dur="500"/>
                                        <p:tgtEl>
                                          <p:spTgt spid="1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dissolve">
                                      <p:cBhvr>
                                        <p:cTn id="21" dur="500"/>
                                        <p:tgtEl>
                                          <p:spTgt spid="1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dissolve">
                                      <p:cBhvr>
                                        <p:cTn id="24" dur="500"/>
                                        <p:tgtEl>
                                          <p:spTgt spid="1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dissolve">
                                      <p:cBhvr>
                                        <p:cTn id="27" dur="500"/>
                                        <p:tgtEl>
                                          <p:spTgt spid="1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dissolve">
                                      <p:cBhvr>
                                        <p:cTn id="30" dur="500"/>
                                        <p:tgtEl>
                                          <p:spTgt spid="1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Router architecture overview</a:t>
            </a:r>
            <a:endParaRPr lang="en-US" sz="4800" dirty="0"/>
          </a:p>
        </p:txBody>
      </p:sp>
      <p:sp>
        <p:nvSpPr>
          <p:cNvPr id="62" name="Rectangle 13">
            <a:extLst>
              <a:ext uri="{FF2B5EF4-FFF2-40B4-BE49-F238E27FC236}">
                <a16:creationId xmlns:a16="http://schemas.microsoft.com/office/drawing/2014/main" xmlns="" id="{1FBC4707-F7A4-A94F-8160-5F9B1176127F}"/>
              </a:ext>
            </a:extLst>
          </p:cNvPr>
          <p:cNvSpPr>
            <a:spLocks noChangeArrowheads="1"/>
          </p:cNvSpPr>
          <p:nvPr/>
        </p:nvSpPr>
        <p:spPr bwMode="auto">
          <a:xfrm>
            <a:off x="874641" y="1443590"/>
            <a:ext cx="107872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ＭＳ Ｐゴシック" panose="020B0600070205080204" pitchFamily="34" charset="-128"/>
              </a:rPr>
              <a:t>high-level view of generic router architecture:</a:t>
            </a:r>
          </a:p>
        </p:txBody>
      </p:sp>
      <p:grpSp>
        <p:nvGrpSpPr>
          <p:cNvPr id="11" name="Group 60">
            <a:extLst>
              <a:ext uri="{FF2B5EF4-FFF2-40B4-BE49-F238E27FC236}">
                <a16:creationId xmlns:a16="http://schemas.microsoft.com/office/drawing/2014/main" xmlns="" id="{BFA21CC6-3BDD-0546-BF9B-53F12E412143}"/>
              </a:ext>
            </a:extLst>
          </p:cNvPr>
          <p:cNvGrpSpPr>
            <a:grpSpLocks/>
          </p:cNvGrpSpPr>
          <p:nvPr/>
        </p:nvGrpSpPr>
        <p:grpSpPr bwMode="auto">
          <a:xfrm>
            <a:off x="4324902"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xmlns=""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xmlns=""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a16="http://schemas.microsoft.com/office/drawing/2014/main" xmlns=""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a16="http://schemas.microsoft.com/office/drawing/2014/main" xmlns=""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xmlns=""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a16="http://schemas.microsoft.com/office/drawing/2014/main" xmlns=""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a16="http://schemas.microsoft.com/office/drawing/2014/main" xmlns="" id="{ACA66ED2-9041-9540-A174-B6BE809E0111}"/>
              </a:ext>
            </a:extLst>
          </p:cNvPr>
          <p:cNvGrpSpPr>
            <a:grpSpLocks/>
          </p:cNvGrpSpPr>
          <p:nvPr/>
        </p:nvGrpSpPr>
        <p:grpSpPr bwMode="auto">
          <a:xfrm>
            <a:off x="2281790" y="3480560"/>
            <a:ext cx="2033587" cy="566737"/>
            <a:chOff x="930" y="1989"/>
            <a:chExt cx="1482" cy="357"/>
          </a:xfrm>
        </p:grpSpPr>
        <p:sp>
          <p:nvSpPr>
            <p:cNvPr id="18" name="Rectangle 9">
              <a:extLst>
                <a:ext uri="{FF2B5EF4-FFF2-40B4-BE49-F238E27FC236}">
                  <a16:creationId xmlns:a16="http://schemas.microsoft.com/office/drawing/2014/main" xmlns=""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a16="http://schemas.microsoft.com/office/drawing/2014/main" xmlns=""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a16="http://schemas.microsoft.com/office/drawing/2014/main" xmlns=""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a16="http://schemas.microsoft.com/office/drawing/2014/main" xmlns=""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a16="http://schemas.microsoft.com/office/drawing/2014/main" xmlns=""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a16="http://schemas.microsoft.com/office/drawing/2014/main" xmlns="" id="{A6176FD2-28E4-634E-B138-CE64958CCB93}"/>
              </a:ext>
            </a:extLst>
          </p:cNvPr>
          <p:cNvGrpSpPr>
            <a:grpSpLocks/>
          </p:cNvGrpSpPr>
          <p:nvPr/>
        </p:nvGrpSpPr>
        <p:grpSpPr bwMode="auto">
          <a:xfrm>
            <a:off x="2270677" y="5218872"/>
            <a:ext cx="2058988" cy="566738"/>
            <a:chOff x="930" y="1989"/>
            <a:chExt cx="1482" cy="357"/>
          </a:xfrm>
        </p:grpSpPr>
        <p:sp>
          <p:nvSpPr>
            <p:cNvPr id="24" name="Rectangle 19">
              <a:extLst>
                <a:ext uri="{FF2B5EF4-FFF2-40B4-BE49-F238E27FC236}">
                  <a16:creationId xmlns:a16="http://schemas.microsoft.com/office/drawing/2014/main" xmlns=""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a16="http://schemas.microsoft.com/office/drawing/2014/main" xmlns=""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a16="http://schemas.microsoft.com/office/drawing/2014/main" xmlns=""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a16="http://schemas.microsoft.com/office/drawing/2014/main" xmlns=""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a16="http://schemas.microsoft.com/office/drawing/2014/main" xmlns=""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xmlns=""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a16="http://schemas.microsoft.com/office/drawing/2014/main" xmlns=""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xmlns=""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xmlns=""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xmlns=""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xmlns="" id="{492AF8D2-6C5A-F547-903E-BECF47C4F8E4}"/>
              </a:ext>
            </a:extLst>
          </p:cNvPr>
          <p:cNvSpPr txBox="1">
            <a:spLocks noChangeArrowheads="1"/>
          </p:cNvSpPr>
          <p:nvPr/>
        </p:nvSpPr>
        <p:spPr bwMode="auto">
          <a:xfrm>
            <a:off x="2177015"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a16="http://schemas.microsoft.com/office/drawing/2014/main" xmlns=""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xmlns=""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xmlns=""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xmlns=""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xmlns=""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xmlns=""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xmlns=""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xmlns=""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a16="http://schemas.microsoft.com/office/drawing/2014/main" xmlns=""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xmlns=""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xmlns=""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xmlns=""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xmlns=""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xmlns=""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xmlns=""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a16="http://schemas.microsoft.com/office/drawing/2014/main" xmlns=""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xmlns=""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xmlns=""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xmlns=""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xmlns="" id="{8536AB41-BBDA-6A40-9786-A1757F6328E5}"/>
              </a:ext>
            </a:extLst>
          </p:cNvPr>
          <p:cNvSpPr txBox="1">
            <a:spLocks noChangeArrowheads="1"/>
          </p:cNvSpPr>
          <p:nvPr/>
        </p:nvSpPr>
        <p:spPr bwMode="auto">
          <a:xfrm>
            <a:off x="6201327"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a16="http://schemas.microsoft.com/office/drawing/2014/main" xmlns=""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xmlns=""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a16="http://schemas.microsoft.com/office/drawing/2014/main" xmlns=""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a16="http://schemas.microsoft.com/office/drawing/2014/main" xmlns=""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xmlns="" id="{3E124150-F33F-0C46-842C-F5427C1367BD}"/>
              </a:ext>
            </a:extLst>
          </p:cNvPr>
          <p:cNvCxnSpPr>
            <a:cxnSpLocks noChangeShapeType="1"/>
            <a:endCxn id="27" idx="0"/>
          </p:cNvCxnSpPr>
          <p:nvPr/>
        </p:nvCxnSpPr>
        <p:spPr bwMode="auto">
          <a:xfrm rot="5400000">
            <a:off x="2752483"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60" name="Slide Number Placeholder 4">
            <a:extLst>
              <a:ext uri="{FF2B5EF4-FFF2-40B4-BE49-F238E27FC236}">
                <a16:creationId xmlns:a16="http://schemas.microsoft.com/office/drawing/2014/main" xmlns="" id="{31F0B563-E3B7-434E-9C41-6F0D5BC32A12}"/>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55150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xmlns=""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xmlns=""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xmlns=""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xmlns=""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xmlns=""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3" name="Group 2">
            <a:extLst>
              <a:ext uri="{FF2B5EF4-FFF2-40B4-BE49-F238E27FC236}">
                <a16:creationId xmlns:a16="http://schemas.microsoft.com/office/drawing/2014/main" xmlns=""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a16="http://schemas.microsoft.com/office/drawing/2014/main" xmlns=""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102" name="Text Box 5">
              <a:extLst>
                <a:ext uri="{FF2B5EF4-FFF2-40B4-BE49-F238E27FC236}">
                  <a16:creationId xmlns:a16="http://schemas.microsoft.com/office/drawing/2014/main" xmlns=""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6" name="Line 58">
              <a:extLst>
                <a:ext uri="{FF2B5EF4-FFF2-40B4-BE49-F238E27FC236}">
                  <a16:creationId xmlns:a16="http://schemas.microsoft.com/office/drawing/2014/main" xmlns=""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xmlns=""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a16="http://schemas.microsoft.com/office/drawing/2014/main" xmlns=""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4" name="Group 3">
              <a:extLst>
                <a:ext uri="{FF2B5EF4-FFF2-40B4-BE49-F238E27FC236}">
                  <a16:creationId xmlns:a16="http://schemas.microsoft.com/office/drawing/2014/main" xmlns=""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a16="http://schemas.microsoft.com/office/drawing/2014/main" xmlns=""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xmlns=""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Text Box 6">
                <a:extLst>
                  <a:ext uri="{FF2B5EF4-FFF2-40B4-BE49-F238E27FC236}">
                    <a16:creationId xmlns:a16="http://schemas.microsoft.com/office/drawing/2014/main" xmlns=""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7" name="Line 59">
                <a:extLst>
                  <a:ext uri="{FF2B5EF4-FFF2-40B4-BE49-F238E27FC236}">
                    <a16:creationId xmlns:a16="http://schemas.microsoft.com/office/drawing/2014/main" xmlns=""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8" name="Group 7">
            <a:extLst>
              <a:ext uri="{FF2B5EF4-FFF2-40B4-BE49-F238E27FC236}">
                <a16:creationId xmlns:a16="http://schemas.microsoft.com/office/drawing/2014/main" xmlns=""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a16="http://schemas.microsoft.com/office/drawing/2014/main" xmlns=""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06" name="Group 56">
              <a:extLst>
                <a:ext uri="{FF2B5EF4-FFF2-40B4-BE49-F238E27FC236}">
                  <a16:creationId xmlns:a16="http://schemas.microsoft.com/office/drawing/2014/main" xmlns=""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xmlns=""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xmlns=""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xmlns=""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xmlns=""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xmlns=""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xmlns=""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xmlns=""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xmlns=""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xmlns=""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xmlns=""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xmlns=""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xmlns=""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4">
                <a:extLst>
                  <a:ext uri="{FF2B5EF4-FFF2-40B4-BE49-F238E27FC236}">
                    <a16:creationId xmlns:a16="http://schemas.microsoft.com/office/drawing/2014/main" xmlns=""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input port queuing: </a:t>
                </a: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a16="http://schemas.microsoft.com/office/drawing/2014/main" xmlns=""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6" name="Slide Number Placeholder 4">
            <a:extLst>
              <a:ext uri="{FF2B5EF4-FFF2-40B4-BE49-F238E27FC236}">
                <a16:creationId xmlns:a16="http://schemas.microsoft.com/office/drawing/2014/main" xmlns="" id="{B127B8A7-EB35-9F48-B1F3-0905B5BFF219}"/>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11</a:t>
            </a:fld>
            <a:endParaRPr lang="en-US" dirty="0"/>
          </a:p>
        </p:txBody>
      </p:sp>
    </p:spTree>
    <p:extLst>
      <p:ext uri="{BB962C8B-B14F-4D97-AF65-F5344CB8AC3E}">
        <p14:creationId xmlns:p14="http://schemas.microsoft.com/office/powerpoint/2010/main" val="154642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xmlns=""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3">
            <a:extLst>
              <a:ext uri="{FF2B5EF4-FFF2-40B4-BE49-F238E27FC236}">
                <a16:creationId xmlns:a16="http://schemas.microsoft.com/office/drawing/2014/main" xmlns=""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94" name="Rectangle 15">
            <a:extLst>
              <a:ext uri="{FF2B5EF4-FFF2-40B4-BE49-F238E27FC236}">
                <a16:creationId xmlns:a16="http://schemas.microsoft.com/office/drawing/2014/main" xmlns=""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xmlns=""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xmlns=""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xmlns=""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xmlns=""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35">
            <a:extLst>
              <a:ext uri="{FF2B5EF4-FFF2-40B4-BE49-F238E27FC236}">
                <a16:creationId xmlns:a16="http://schemas.microsoft.com/office/drawing/2014/main" xmlns=""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sp>
        <p:nvSpPr>
          <p:cNvPr id="101" name="Rectangle 4">
            <a:extLst>
              <a:ext uri="{FF2B5EF4-FFF2-40B4-BE49-F238E27FC236}">
                <a16:creationId xmlns:a16="http://schemas.microsoft.com/office/drawing/2014/main" xmlns=""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destination-based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generalized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a16="http://schemas.microsoft.com/office/drawing/2014/main" xmlns=""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xmlns=""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xmlns=""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106" name="Group 56">
            <a:extLst>
              <a:ext uri="{FF2B5EF4-FFF2-40B4-BE49-F238E27FC236}">
                <a16:creationId xmlns:a16="http://schemas.microsoft.com/office/drawing/2014/main" xmlns=""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xmlns=""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xmlns=""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xmlns=""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xmlns=""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xmlns=""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xmlns=""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xmlns=""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xmlns=""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xmlns=""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6" name="Line 58">
            <a:extLst>
              <a:ext uri="{FF2B5EF4-FFF2-40B4-BE49-F238E27FC236}">
                <a16:creationId xmlns:a16="http://schemas.microsoft.com/office/drawing/2014/main" xmlns=""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Line 60">
            <a:extLst>
              <a:ext uri="{FF2B5EF4-FFF2-40B4-BE49-F238E27FC236}">
                <a16:creationId xmlns:a16="http://schemas.microsoft.com/office/drawing/2014/main" xmlns=""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31">
            <a:extLst>
              <a:ext uri="{FF2B5EF4-FFF2-40B4-BE49-F238E27FC236}">
                <a16:creationId xmlns:a16="http://schemas.microsoft.com/office/drawing/2014/main" xmlns=""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a16="http://schemas.microsoft.com/office/drawing/2014/main" xmlns=""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34" name="Group 33">
              <a:extLst>
                <a:ext uri="{FF2B5EF4-FFF2-40B4-BE49-F238E27FC236}">
                  <a16:creationId xmlns:a16="http://schemas.microsoft.com/office/drawing/2014/main" xmlns=""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a16="http://schemas.microsoft.com/office/drawing/2014/main" xmlns=""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Line 30">
                <a:extLst>
                  <a:ext uri="{FF2B5EF4-FFF2-40B4-BE49-F238E27FC236}">
                    <a16:creationId xmlns:a16="http://schemas.microsoft.com/office/drawing/2014/main" xmlns=""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 Box 6">
                <a:extLst>
                  <a:ext uri="{FF2B5EF4-FFF2-40B4-BE49-F238E27FC236}">
                    <a16:creationId xmlns:a16="http://schemas.microsoft.com/office/drawing/2014/main" xmlns=""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 name="Line 59">
                <a:extLst>
                  <a:ext uri="{FF2B5EF4-FFF2-40B4-BE49-F238E27FC236}">
                    <a16:creationId xmlns:a16="http://schemas.microsoft.com/office/drawing/2014/main" xmlns=""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9" name="Slide Number Placeholder 4">
            <a:extLst>
              <a:ext uri="{FF2B5EF4-FFF2-40B4-BE49-F238E27FC236}">
                <a16:creationId xmlns:a16="http://schemas.microsoft.com/office/drawing/2014/main" xmlns="" id="{EA359BDC-8294-2A40-B5BE-B5E215B7EE41}"/>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1233702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26C911F9-D713-DF44-9F74-E50D01F6C43A}"/>
              </a:ext>
            </a:extLst>
          </p:cNvPr>
          <p:cNvPicPr>
            <a:picLocks noChangeAspect="1"/>
          </p:cNvPicPr>
          <p:nvPr/>
        </p:nvPicPr>
        <p:blipFill>
          <a:blip r:embed="rId3"/>
          <a:stretch>
            <a:fillRect/>
          </a:stretch>
        </p:blipFill>
        <p:spPr>
          <a:xfrm>
            <a:off x="1056411" y="3154505"/>
            <a:ext cx="9375866" cy="2779571"/>
          </a:xfrm>
          <a:prstGeom prst="rect">
            <a:avLst/>
          </a:prstGeom>
        </p:spPr>
      </p:pic>
      <p:grpSp>
        <p:nvGrpSpPr>
          <p:cNvPr id="7" name="Group 6">
            <a:extLst>
              <a:ext uri="{FF2B5EF4-FFF2-40B4-BE49-F238E27FC236}">
                <a16:creationId xmlns:a16="http://schemas.microsoft.com/office/drawing/2014/main" xmlns="" id="{625C7E65-E330-D54C-9458-A2526E45EE84}"/>
              </a:ext>
            </a:extLst>
          </p:cNvPr>
          <p:cNvGrpSpPr/>
          <p:nvPr/>
        </p:nvGrpSpPr>
        <p:grpSpPr>
          <a:xfrm>
            <a:off x="898734" y="1108364"/>
            <a:ext cx="9699993" cy="2044580"/>
            <a:chOff x="898734" y="1108364"/>
            <a:chExt cx="9699993" cy="2044580"/>
          </a:xfrm>
        </p:grpSpPr>
        <p:pic>
          <p:nvPicPr>
            <p:cNvPr id="28" name="Picture 27">
              <a:extLst>
                <a:ext uri="{FF2B5EF4-FFF2-40B4-BE49-F238E27FC236}">
                  <a16:creationId xmlns:a16="http://schemas.microsoft.com/office/drawing/2014/main" xmlns=""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xmlns=""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45804"/>
            <a:ext cx="10515600" cy="894622"/>
          </a:xfrm>
        </p:spPr>
        <p:txBody>
          <a:bodyPr>
            <a:normAutofit/>
          </a:bodyPr>
          <a:lstStyle/>
          <a:p>
            <a:r>
              <a:rPr lang="en-US" sz="4800" dirty="0"/>
              <a:t>Destination-based forwarding</a:t>
            </a:r>
          </a:p>
        </p:txBody>
      </p:sp>
      <p:grpSp>
        <p:nvGrpSpPr>
          <p:cNvPr id="9" name="Group 8">
            <a:extLst>
              <a:ext uri="{FF2B5EF4-FFF2-40B4-BE49-F238E27FC236}">
                <a16:creationId xmlns:a16="http://schemas.microsoft.com/office/drawing/2014/main" xmlns="" id="{BDFBC640-7D8A-6C4E-A73D-113F295A0D69}"/>
              </a:ext>
            </a:extLst>
          </p:cNvPr>
          <p:cNvGrpSpPr/>
          <p:nvPr/>
        </p:nvGrpSpPr>
        <p:grpSpPr>
          <a:xfrm>
            <a:off x="1038514" y="2679128"/>
            <a:ext cx="9093336" cy="1283278"/>
            <a:chOff x="1038514" y="2679128"/>
            <a:chExt cx="9093336" cy="1283278"/>
          </a:xfrm>
        </p:grpSpPr>
        <p:pic>
          <p:nvPicPr>
            <p:cNvPr id="29" name="Picture 28">
              <a:extLst>
                <a:ext uri="{FF2B5EF4-FFF2-40B4-BE49-F238E27FC236}">
                  <a16:creationId xmlns:a16="http://schemas.microsoft.com/office/drawing/2014/main" xmlns=""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xmlns="" id="{9EF59FBD-8B2C-9141-A4D8-C536B3311F8A}"/>
                </a:ext>
              </a:extLst>
            </p:cNvPr>
            <p:cNvSpPr txBox="1"/>
            <p:nvPr/>
          </p:nvSpPr>
          <p:spPr>
            <a:xfrm>
              <a:off x="8451272" y="3131128"/>
              <a:ext cx="886691" cy="43088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sp>
        <p:nvSpPr>
          <p:cNvPr id="11" name="Slide Number Placeholder 4">
            <a:extLst>
              <a:ext uri="{FF2B5EF4-FFF2-40B4-BE49-F238E27FC236}">
                <a16:creationId xmlns:a16="http://schemas.microsoft.com/office/drawing/2014/main" xmlns="" id="{81C74D07-6178-E24A-9413-942CDFCE3461}"/>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116614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xmlns=""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xmlns=""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xmlns=""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grpSp>
        <p:nvGrpSpPr>
          <p:cNvPr id="3" name="Group 2">
            <a:extLst>
              <a:ext uri="{FF2B5EF4-FFF2-40B4-BE49-F238E27FC236}">
                <a16:creationId xmlns:a16="http://schemas.microsoft.com/office/drawing/2014/main" xmlns="" id="{03D13401-BB00-AB4B-8905-3EDC38C55E44}"/>
              </a:ext>
            </a:extLst>
          </p:cNvPr>
          <p:cNvGrpSpPr/>
          <p:nvPr/>
        </p:nvGrpSpPr>
        <p:grpSpPr>
          <a:xfrm>
            <a:off x="2674601" y="3416024"/>
            <a:ext cx="7479325" cy="2180038"/>
            <a:chOff x="2674601" y="3416024"/>
            <a:chExt cx="7479325" cy="2180038"/>
          </a:xfrm>
        </p:grpSpPr>
        <p:sp>
          <p:nvSpPr>
            <p:cNvPr id="23" name="Rectangle 5">
              <a:extLst>
                <a:ext uri="{FF2B5EF4-FFF2-40B4-BE49-F238E27FC236}">
                  <a16:creationId xmlns:a16="http://schemas.microsoft.com/office/drawing/2014/main" xmlns=""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xmlns=""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xmlns=""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xmlns=""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xmlns=""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xmlns=""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xmlns=""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xmlns=""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8" name="TextBox 7">
              <a:extLst>
                <a:ext uri="{FF2B5EF4-FFF2-40B4-BE49-F238E27FC236}">
                  <a16:creationId xmlns:a16="http://schemas.microsoft.com/office/drawing/2014/main" xmlns=""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xmlns=""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xmlns=""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xmlns=""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xmlns=""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a16="http://schemas.microsoft.com/office/drawing/2014/main" xmlns="" id="{F655AE30-180F-9548-B5CE-B9911AA53A47}"/>
              </a:ext>
            </a:extLst>
          </p:cNvPr>
          <p:cNvGrpSpPr/>
          <p:nvPr/>
        </p:nvGrpSpPr>
        <p:grpSpPr>
          <a:xfrm>
            <a:off x="789703" y="5747609"/>
            <a:ext cx="9305341" cy="903606"/>
            <a:chOff x="789703" y="5747609"/>
            <a:chExt cx="9305341" cy="903606"/>
          </a:xfrm>
        </p:grpSpPr>
        <p:sp>
          <p:nvSpPr>
            <p:cNvPr id="33" name="Rectangle 7">
              <a:extLst>
                <a:ext uri="{FF2B5EF4-FFF2-40B4-BE49-F238E27FC236}">
                  <a16:creationId xmlns:a16="http://schemas.microsoft.com/office/drawing/2014/main" xmlns=""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xmlns=""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xmlns=""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xmlns=""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44" name="Text Box 9">
              <a:extLst>
                <a:ext uri="{FF2B5EF4-FFF2-40B4-BE49-F238E27FC236}">
                  <a16:creationId xmlns:a16="http://schemas.microsoft.com/office/drawing/2014/main" xmlns=""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sp>
        <p:nvSpPr>
          <p:cNvPr id="31" name="Slide Number Placeholder 4">
            <a:extLst>
              <a:ext uri="{FF2B5EF4-FFF2-40B4-BE49-F238E27FC236}">
                <a16:creationId xmlns:a16="http://schemas.microsoft.com/office/drawing/2014/main" xmlns="" id="{EC760D1C-B9BF-9F46-BBE7-A444C5F68770}"/>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14</a:t>
            </a:fld>
            <a:endParaRPr lang="en-US" dirty="0"/>
          </a:p>
        </p:txBody>
      </p:sp>
    </p:spTree>
    <p:extLst>
      <p:ext uri="{BB962C8B-B14F-4D97-AF65-F5344CB8AC3E}">
        <p14:creationId xmlns:p14="http://schemas.microsoft.com/office/powerpoint/2010/main" val="203867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xmlns=""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xmlns=""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xmlns=""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xmlns=""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xmlns=""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xmlns=""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xmlns=""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xmlns=""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xmlns=""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xmlns=""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xmlns=""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xmlns=""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xmlns=""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xmlns=""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xmlns=""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xmlns=""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xmlns=""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xmlns=""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xmlns=""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xmlns=""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xmlns=""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xmlns="" id="{93F8BEA5-3425-B944-909B-1B37A09661F3}"/>
              </a:ext>
            </a:extLst>
          </p:cNvPr>
          <p:cNvGrpSpPr/>
          <p:nvPr/>
        </p:nvGrpSpPr>
        <p:grpSpPr>
          <a:xfrm>
            <a:off x="803563" y="3297382"/>
            <a:ext cx="9670473" cy="3560618"/>
            <a:chOff x="803563" y="3297382"/>
            <a:chExt cx="9670473" cy="3560618"/>
          </a:xfrm>
        </p:grpSpPr>
        <p:sp>
          <p:nvSpPr>
            <p:cNvPr id="7" name="Freeform 6">
              <a:extLst>
                <a:ext uri="{FF2B5EF4-FFF2-40B4-BE49-F238E27FC236}">
                  <a16:creationId xmlns:a16="http://schemas.microsoft.com/office/drawing/2014/main" xmlns=""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xmlns=""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xmlns="" id="{A11ECD7F-5BE0-CD47-B7BE-F200416FECED}"/>
              </a:ext>
            </a:extLst>
          </p:cNvPr>
          <p:cNvGrpSpPr/>
          <p:nvPr/>
        </p:nvGrpSpPr>
        <p:grpSpPr>
          <a:xfrm>
            <a:off x="2701636" y="3972790"/>
            <a:ext cx="3505199" cy="2150919"/>
            <a:chOff x="2701636" y="3972790"/>
            <a:chExt cx="3505199" cy="2150919"/>
          </a:xfrm>
        </p:grpSpPr>
        <p:sp>
          <p:nvSpPr>
            <p:cNvPr id="3" name="Rectangle 2">
              <a:extLst>
                <a:ext uri="{FF2B5EF4-FFF2-40B4-BE49-F238E27FC236}">
                  <a16:creationId xmlns:a16="http://schemas.microsoft.com/office/drawing/2014/main" xmlns=""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xmlns=""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xmlns=""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xmlns="" id="{D205B53A-AC28-8740-95E3-3E5959F5B0CD}"/>
                </a:ext>
              </a:extLst>
            </p:cNvPr>
            <p:cNvSpPr txBox="1"/>
            <p:nvPr/>
          </p:nvSpPr>
          <p:spPr>
            <a:xfrm>
              <a:off x="4031673" y="4738255"/>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xmlns="" id="{0AD153D5-F6CB-0E4F-AE80-7E6404A6B287}"/>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15</a:t>
            </a:fld>
            <a:endParaRPr lang="en-US" dirty="0"/>
          </a:p>
        </p:txBody>
      </p:sp>
    </p:spTree>
    <p:extLst>
      <p:ext uri="{BB962C8B-B14F-4D97-AF65-F5344CB8AC3E}">
        <p14:creationId xmlns:p14="http://schemas.microsoft.com/office/powerpoint/2010/main" val="94408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xmlns=""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xmlns=""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xmlns=""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xmlns=""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xmlns=""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xmlns=""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xmlns=""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xmlns=""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xmlns=""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xmlns=""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xmlns=""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xmlns=""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xmlns=""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xmlns=""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xmlns=""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xmlns=""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xmlns=""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xmlns=""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xmlns=""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xmlns=""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xmlns=""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xmlns="" id="{93F8BEA5-3425-B944-909B-1B37A09661F3}"/>
              </a:ext>
            </a:extLst>
          </p:cNvPr>
          <p:cNvGrpSpPr/>
          <p:nvPr/>
        </p:nvGrpSpPr>
        <p:grpSpPr>
          <a:xfrm>
            <a:off x="858982" y="3297383"/>
            <a:ext cx="9628910" cy="3560617"/>
            <a:chOff x="858982" y="3297383"/>
            <a:chExt cx="9628910" cy="3560617"/>
          </a:xfrm>
        </p:grpSpPr>
        <p:sp>
          <p:nvSpPr>
            <p:cNvPr id="7" name="Freeform 6">
              <a:extLst>
                <a:ext uri="{FF2B5EF4-FFF2-40B4-BE49-F238E27FC236}">
                  <a16:creationId xmlns:a16="http://schemas.microsoft.com/office/drawing/2014/main" xmlns=""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xmlns=""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xmlns="" id="{A11ECD7F-5BE0-CD47-B7BE-F200416FECED}"/>
              </a:ext>
            </a:extLst>
          </p:cNvPr>
          <p:cNvGrpSpPr/>
          <p:nvPr/>
        </p:nvGrpSpPr>
        <p:grpSpPr>
          <a:xfrm>
            <a:off x="2701636" y="4804081"/>
            <a:ext cx="3505199" cy="1804550"/>
            <a:chOff x="2701636" y="4319159"/>
            <a:chExt cx="3505199" cy="1804550"/>
          </a:xfrm>
        </p:grpSpPr>
        <p:sp>
          <p:nvSpPr>
            <p:cNvPr id="3" name="Rectangle 2">
              <a:extLst>
                <a:ext uri="{FF2B5EF4-FFF2-40B4-BE49-F238E27FC236}">
                  <a16:creationId xmlns:a16="http://schemas.microsoft.com/office/drawing/2014/main" xmlns=""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xmlns=""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xmlns=""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xmlns="" id="{D205B53A-AC28-8740-95E3-3E5959F5B0CD}"/>
                </a:ext>
              </a:extLst>
            </p:cNvPr>
            <p:cNvSpPr txBox="1"/>
            <p:nvPr/>
          </p:nvSpPr>
          <p:spPr>
            <a:xfrm>
              <a:off x="4031673" y="502920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xmlns="" id="{41B73FEC-A96A-8347-A60F-5E87D5B24CAA}"/>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16</a:t>
            </a:fld>
            <a:endParaRPr lang="en-US" dirty="0"/>
          </a:p>
        </p:txBody>
      </p:sp>
    </p:spTree>
    <p:extLst>
      <p:ext uri="{BB962C8B-B14F-4D97-AF65-F5344CB8AC3E}">
        <p14:creationId xmlns:p14="http://schemas.microsoft.com/office/powerpoint/2010/main" val="59131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xmlns=""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xmlns=""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xmlns=""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xmlns=""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xmlns=""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xmlns=""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xmlns=""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xmlns=""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xmlns=""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xmlns=""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xmlns=""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xmlns=""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xmlns=""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xmlns=""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xmlns=""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xmlns=""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xmlns=""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xmlns=""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xmlns=""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xmlns=""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xmlns=""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xmlns="" id="{93F8BEA5-3425-B944-909B-1B37A09661F3}"/>
              </a:ext>
            </a:extLst>
          </p:cNvPr>
          <p:cNvGrpSpPr/>
          <p:nvPr/>
        </p:nvGrpSpPr>
        <p:grpSpPr>
          <a:xfrm>
            <a:off x="858981" y="3297382"/>
            <a:ext cx="9615055" cy="3560618"/>
            <a:chOff x="858981" y="3297382"/>
            <a:chExt cx="9615055" cy="3560618"/>
          </a:xfrm>
        </p:grpSpPr>
        <p:sp>
          <p:nvSpPr>
            <p:cNvPr id="7" name="Freeform 6">
              <a:extLst>
                <a:ext uri="{FF2B5EF4-FFF2-40B4-BE49-F238E27FC236}">
                  <a16:creationId xmlns:a16="http://schemas.microsoft.com/office/drawing/2014/main" xmlns=""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xmlns=""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xmlns="" id="{A11ECD7F-5BE0-CD47-B7BE-F200416FECED}"/>
              </a:ext>
            </a:extLst>
          </p:cNvPr>
          <p:cNvGrpSpPr/>
          <p:nvPr/>
        </p:nvGrpSpPr>
        <p:grpSpPr>
          <a:xfrm>
            <a:off x="2701635" y="4388439"/>
            <a:ext cx="3934692" cy="2261743"/>
            <a:chOff x="2701635" y="3903517"/>
            <a:chExt cx="3934692" cy="2261743"/>
          </a:xfrm>
        </p:grpSpPr>
        <p:sp>
          <p:nvSpPr>
            <p:cNvPr id="3" name="Rectangle 2">
              <a:extLst>
                <a:ext uri="{FF2B5EF4-FFF2-40B4-BE49-F238E27FC236}">
                  <a16:creationId xmlns:a16="http://schemas.microsoft.com/office/drawing/2014/main" xmlns=""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xmlns=""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xmlns=""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xmlns="" id="{D205B53A-AC28-8740-95E3-3E5959F5B0CD}"/>
                </a:ext>
              </a:extLst>
            </p:cNvPr>
            <p:cNvSpPr txBox="1"/>
            <p:nvPr/>
          </p:nvSpPr>
          <p:spPr>
            <a:xfrm>
              <a:off x="4045528" y="480753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xmlns="" id="{448BDD4C-3288-5747-9BB3-0F1BB4D2595C}"/>
              </a:ext>
            </a:extLst>
          </p:cNvPr>
          <p:cNvSpPr>
            <a:spLocks noGrp="1"/>
          </p:cNvSpPr>
          <p:nvPr>
            <p:ph type="sldNum" sz="quarter" idx="4294967295"/>
          </p:nvPr>
        </p:nvSpPr>
        <p:spPr>
          <a:xfrm>
            <a:off x="9219616" y="6443089"/>
            <a:ext cx="2743200" cy="365125"/>
          </a:xfrm>
          <a:prstGeom prst="rect">
            <a:avLst/>
          </a:prstGeom>
        </p:spPr>
        <p:txBody>
          <a:bodyPr/>
          <a:lstStyle/>
          <a:p>
            <a:r>
              <a:rPr lang="en-US" dirty="0"/>
              <a:t>Network Layer: 4-</a:t>
            </a:r>
            <a:fld id="{C4204591-24BD-A542-B9D5-F8D8A88D2FEE}" type="slidenum">
              <a:rPr lang="en-US" smtClean="0"/>
              <a:pPr/>
              <a:t>17</a:t>
            </a:fld>
            <a:endParaRPr lang="en-US" dirty="0"/>
          </a:p>
        </p:txBody>
      </p:sp>
    </p:spTree>
    <p:extLst>
      <p:ext uri="{BB962C8B-B14F-4D97-AF65-F5344CB8AC3E}">
        <p14:creationId xmlns:p14="http://schemas.microsoft.com/office/powerpoint/2010/main" val="192068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1085</Words>
  <Application>Microsoft Macintosh PowerPoint</Application>
  <PresentationFormat>Widescreen</PresentationFormat>
  <Paragraphs>360</Paragraphs>
  <Slides>17</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Calibri</vt:lpstr>
      <vt:lpstr>Comic Sans MS</vt:lpstr>
      <vt:lpstr>Courier New</vt:lpstr>
      <vt:lpstr>Gill Sans MT</vt:lpstr>
      <vt:lpstr>MS PGothic</vt:lpstr>
      <vt:lpstr>ＭＳ Ｐゴシック</vt:lpstr>
      <vt:lpstr>Times</vt:lpstr>
      <vt:lpstr>Times New Roman</vt:lpstr>
      <vt:lpstr>Wingdings</vt:lpstr>
      <vt:lpstr>Arial</vt:lpstr>
      <vt:lpstr>Office Theme</vt:lpstr>
      <vt:lpstr>IT694 Computer Networks</vt:lpstr>
      <vt:lpstr>Network layer: our goals</vt:lpstr>
      <vt:lpstr>Network layer: “data plane” roadmap</vt:lpstr>
      <vt:lpstr>Network-layer  services and protocols</vt:lpstr>
      <vt:lpstr>Two key network-layer functions</vt:lpstr>
      <vt:lpstr>Network layer: data plane, control plane</vt:lpstr>
      <vt:lpstr>Per-router control plane</vt:lpstr>
      <vt:lpstr>Network-layer service model</vt:lpstr>
      <vt:lpstr>Network layer: “data plane” roadmap</vt:lpstr>
      <vt:lpstr>Router architecture overview</vt:lpstr>
      <vt:lpstr>Input port functions</vt:lpstr>
      <vt:lpstr>Input port functions</vt:lpstr>
      <vt:lpstr>Destination-based forwarding</vt:lpstr>
      <vt:lpstr>Longest prefix matching</vt:lpstr>
      <vt:lpstr>Longest prefix matching</vt:lpstr>
      <vt:lpstr>Longest prefix matching</vt:lpstr>
      <vt:lpstr>Longest prefix matching</vt:lpstr>
    </vt:vector>
  </TitlesOfParts>
  <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IT694 Computer Networks</dc:title>
  <dc:creator>Microsoft Office User</dc:creator>
  <cp:lastModifiedBy>Microsoft Office User</cp:lastModifiedBy>
  <cp:revision>4</cp:revision>
  <dcterms:created xsi:type="dcterms:W3CDTF">2026-03-10T04:53:46Z</dcterms:created>
  <dcterms:modified xsi:type="dcterms:W3CDTF">2026-03-10T05:09:59Z</dcterms:modified>
</cp:coreProperties>
</file>