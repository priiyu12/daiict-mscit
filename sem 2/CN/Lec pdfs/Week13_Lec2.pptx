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j6hpmf7jDyef4ceDUpuTY3Qb+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5AD707E-BF3E-4E7E-9F9D-EEFBA6D1AFE9}">
  <a:tblStyle styleId="{35AD707E-BF3E-4E7E-9F9D-EEFBA6D1AFE9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" name="Google Shape;52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r>
              <a:rPr lang="en-US" sz="1800">
                <a:latin typeface="Times"/>
                <a:ea typeface="Times"/>
                <a:cs typeface="Times"/>
                <a:sym typeface="Times"/>
              </a:rPr>
              <a:t>For Ethernet, the actual amount of time a node waits is K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# </a:t>
            </a:r>
            <a:r>
              <a:rPr lang="en-US" sz="1800">
                <a:latin typeface="Times"/>
                <a:ea typeface="Times"/>
                <a:cs typeface="Times"/>
                <a:sym typeface="Times"/>
              </a:rPr>
              <a:t>512 bit times (i.e., </a:t>
            </a:r>
            <a:r>
              <a:rPr i="1" lang="en-US" sz="1800">
                <a:latin typeface="Times"/>
                <a:ea typeface="Times"/>
                <a:cs typeface="Times"/>
                <a:sym typeface="Times"/>
              </a:rPr>
              <a:t>K </a:t>
            </a:r>
            <a:r>
              <a:rPr lang="en-US" sz="1800">
                <a:latin typeface="Times"/>
                <a:ea typeface="Times"/>
                <a:cs typeface="Times"/>
                <a:sym typeface="Times"/>
              </a:rPr>
              <a:t>times the amount of time needed to send 512 bits into the Ethernet) and the maxi- mum value that </a:t>
            </a:r>
            <a:r>
              <a:rPr i="1" lang="en-US" sz="1800">
                <a:latin typeface="Times"/>
                <a:ea typeface="Times"/>
                <a:cs typeface="Times"/>
                <a:sym typeface="Times"/>
              </a:rPr>
              <a:t>n </a:t>
            </a:r>
            <a:r>
              <a:rPr lang="en-US" sz="1800">
                <a:latin typeface="Times"/>
                <a:ea typeface="Times"/>
                <a:cs typeface="Times"/>
                <a:sym typeface="Times"/>
              </a:rPr>
              <a:t>can take is capped at 10.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rPr lang="en-US"/>
              <a:t>IT694</a:t>
            </a:r>
            <a:br>
              <a:rPr lang="en-US"/>
            </a:br>
            <a:r>
              <a:rPr lang="en-US"/>
              <a:t>Computer Networks	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Week13_Lec2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Times New Roman"/>
              <a:buNone/>
            </a:pPr>
            <a:r>
              <a:rPr b="0" lang="en-US">
                <a:solidFill>
                  <a:srgbClr val="000099"/>
                </a:solidFill>
              </a:rPr>
              <a:t>Ethernet</a:t>
            </a:r>
            <a:endParaRPr b="0" sz="4400"/>
          </a:p>
        </p:txBody>
      </p:sp>
      <p:sp>
        <p:nvSpPr>
          <p:cNvPr id="96" name="Google Shape;96;p2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Times New Roman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976727" y="1289602"/>
            <a:ext cx="10049082" cy="2659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“dominant” wired LAN technology: </a:t>
            </a:r>
            <a:endParaRPr/>
          </a:p>
          <a:p>
            <a:pPr indent="-301625" lvl="0" marL="7461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widely used LAN technology</a:t>
            </a:r>
            <a:endParaRPr/>
          </a:p>
          <a:p>
            <a:pPr indent="-301625" lvl="0" marL="7461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simpler, cheap</a:t>
            </a:r>
            <a:endParaRPr/>
          </a:p>
          <a:p>
            <a:pPr indent="-301625" lvl="0" marL="7461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kept up with speed race: 10 Mbps – 400 Gbps </a:t>
            </a:r>
            <a:endParaRPr/>
          </a:p>
          <a:p>
            <a:pPr indent="-301625" lvl="0" marL="7461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chip, multiple speeds (e.g., Broadcom  BCM5761)</a:t>
            </a:r>
            <a:endParaRPr/>
          </a:p>
          <a:p>
            <a:pPr indent="0" lvl="0" marL="4445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79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551 metcalfe-enet"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8731" y="4185182"/>
            <a:ext cx="4089976" cy="2167236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99" name="Google Shape;99;p2"/>
          <p:cNvSpPr txBox="1"/>
          <p:nvPr/>
        </p:nvSpPr>
        <p:spPr>
          <a:xfrm>
            <a:off x="800100" y="4185182"/>
            <a:ext cx="269386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Metcalfe’s Ethernet sketch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850006" y="6387921"/>
            <a:ext cx="853554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https://www.uspto.gov/learning-and-resources/journeys-innovation/audio-stories/defying-doubters</a:t>
            </a:r>
            <a:endParaRPr/>
          </a:p>
        </p:txBody>
      </p:sp>
      <p:pic>
        <p:nvPicPr>
          <p:cNvPr id="101" name="Google Shape;10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0" y="3572268"/>
            <a:ext cx="2438400" cy="26416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02" name="Google Shape;102;p2"/>
          <p:cNvSpPr txBox="1"/>
          <p:nvPr/>
        </p:nvSpPr>
        <p:spPr>
          <a:xfrm>
            <a:off x="7791387" y="3606799"/>
            <a:ext cx="3200556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Bob Metcalfe: Ethernet co-inventor,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2022 ACM Turing Award recipient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Times New Roman"/>
              <a:buNone/>
            </a:pPr>
            <a:r>
              <a:rPr b="0" lang="en-US">
                <a:solidFill>
                  <a:srgbClr val="000099"/>
                </a:solidFill>
              </a:rPr>
              <a:t>Ethernet: physical topology</a:t>
            </a:r>
            <a:endParaRPr b="0" sz="4400"/>
          </a:p>
        </p:txBody>
      </p:sp>
      <p:sp>
        <p:nvSpPr>
          <p:cNvPr id="109" name="Google Shape;109;p3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Times New Roman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1077627" y="1343156"/>
            <a:ext cx="10839554" cy="925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403225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popular through mid 90s</a:t>
            </a:r>
            <a:endParaRPr/>
          </a:p>
          <a:p>
            <a:pPr indent="-231775" lvl="1" marL="695325" marR="0" rtl="0" algn="l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nodes in same collision domain (can collide with each other)</a:t>
            </a:r>
            <a:endParaRPr/>
          </a:p>
        </p:txBody>
      </p:sp>
      <p:cxnSp>
        <p:nvCxnSpPr>
          <p:cNvPr id="111" name="Google Shape;111;p3"/>
          <p:cNvCxnSpPr/>
          <p:nvPr/>
        </p:nvCxnSpPr>
        <p:spPr>
          <a:xfrm flipH="1">
            <a:off x="4019150" y="4343745"/>
            <a:ext cx="616233" cy="12017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" name="Google Shape;112;p3"/>
          <p:cNvSpPr txBox="1"/>
          <p:nvPr/>
        </p:nvSpPr>
        <p:spPr>
          <a:xfrm>
            <a:off x="935445" y="4519515"/>
            <a:ext cx="23855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coaxial cable</a:t>
            </a:r>
            <a:endParaRPr/>
          </a:p>
        </p:txBody>
      </p:sp>
      <p:grpSp>
        <p:nvGrpSpPr>
          <p:cNvPr id="113" name="Google Shape;113;p3"/>
          <p:cNvGrpSpPr/>
          <p:nvPr/>
        </p:nvGrpSpPr>
        <p:grpSpPr>
          <a:xfrm>
            <a:off x="4166894" y="4287302"/>
            <a:ext cx="468488" cy="103894"/>
            <a:chOff x="3160889" y="5723468"/>
            <a:chExt cx="468488" cy="103894"/>
          </a:xfrm>
        </p:grpSpPr>
        <p:sp>
          <p:nvSpPr>
            <p:cNvPr id="114" name="Google Shape;114;p3"/>
            <p:cNvSpPr/>
            <p:nvPr/>
          </p:nvSpPr>
          <p:spPr>
            <a:xfrm rot="5400000">
              <a:off x="3234167" y="565019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5" name="Google Shape;115;p3"/>
            <p:cNvCxnSpPr/>
            <p:nvPr/>
          </p:nvCxnSpPr>
          <p:spPr>
            <a:xfrm>
              <a:off x="3403599" y="5774267"/>
              <a:ext cx="225778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6" name="Google Shape;116;p3"/>
          <p:cNvGrpSpPr/>
          <p:nvPr/>
        </p:nvGrpSpPr>
        <p:grpSpPr>
          <a:xfrm>
            <a:off x="3867737" y="4868680"/>
            <a:ext cx="468488" cy="103894"/>
            <a:chOff x="3160889" y="5723468"/>
            <a:chExt cx="468488" cy="103894"/>
          </a:xfrm>
        </p:grpSpPr>
        <p:sp>
          <p:nvSpPr>
            <p:cNvPr id="117" name="Google Shape;117;p3"/>
            <p:cNvSpPr/>
            <p:nvPr/>
          </p:nvSpPr>
          <p:spPr>
            <a:xfrm rot="5400000">
              <a:off x="3234167" y="565019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8" name="Google Shape;118;p3"/>
            <p:cNvCxnSpPr/>
            <p:nvPr/>
          </p:nvCxnSpPr>
          <p:spPr>
            <a:xfrm>
              <a:off x="3403599" y="5774267"/>
              <a:ext cx="225778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9" name="Google Shape;119;p3"/>
          <p:cNvGrpSpPr/>
          <p:nvPr/>
        </p:nvGrpSpPr>
        <p:grpSpPr>
          <a:xfrm>
            <a:off x="3557291" y="5489569"/>
            <a:ext cx="468488" cy="103894"/>
            <a:chOff x="3160889" y="5723468"/>
            <a:chExt cx="468488" cy="103894"/>
          </a:xfrm>
        </p:grpSpPr>
        <p:sp>
          <p:nvSpPr>
            <p:cNvPr id="120" name="Google Shape;120;p3"/>
            <p:cNvSpPr/>
            <p:nvPr/>
          </p:nvSpPr>
          <p:spPr>
            <a:xfrm rot="5400000">
              <a:off x="3234167" y="565019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1" name="Google Shape;121;p3"/>
            <p:cNvCxnSpPr/>
            <p:nvPr/>
          </p:nvCxnSpPr>
          <p:spPr>
            <a:xfrm>
              <a:off x="3403599" y="5774267"/>
              <a:ext cx="225778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22" name="Google Shape;122;p3"/>
          <p:cNvGrpSpPr/>
          <p:nvPr/>
        </p:nvGrpSpPr>
        <p:grpSpPr>
          <a:xfrm>
            <a:off x="3030847" y="5135905"/>
            <a:ext cx="640071" cy="517525"/>
            <a:chOff x="-44" y="1473"/>
            <a:chExt cx="981" cy="1105"/>
          </a:xfrm>
        </p:grpSpPr>
        <p:pic>
          <p:nvPicPr>
            <p:cNvPr descr="desktop_computer_stylized_medium" id="123" name="Google Shape;123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" name="Google Shape;124;p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25" name="Google Shape;125;p3"/>
          <p:cNvGrpSpPr/>
          <p:nvPr/>
        </p:nvGrpSpPr>
        <p:grpSpPr>
          <a:xfrm>
            <a:off x="3337407" y="4515020"/>
            <a:ext cx="640071" cy="517525"/>
            <a:chOff x="-44" y="1473"/>
            <a:chExt cx="981" cy="1105"/>
          </a:xfrm>
        </p:grpSpPr>
        <p:pic>
          <p:nvPicPr>
            <p:cNvPr descr="desktop_computer_stylized_medium" id="126" name="Google Shape;126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" name="Google Shape;127;p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28" name="Google Shape;128;p3"/>
          <p:cNvGrpSpPr/>
          <p:nvPr/>
        </p:nvGrpSpPr>
        <p:grpSpPr>
          <a:xfrm>
            <a:off x="3621571" y="3937346"/>
            <a:ext cx="640071" cy="517525"/>
            <a:chOff x="-44" y="1473"/>
            <a:chExt cx="981" cy="1105"/>
          </a:xfrm>
        </p:grpSpPr>
        <p:pic>
          <p:nvPicPr>
            <p:cNvPr descr="desktop_computer_stylized_medium" id="129" name="Google Shape;129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" name="Google Shape;130;p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31" name="Google Shape;131;p3"/>
          <p:cNvGrpSpPr/>
          <p:nvPr/>
        </p:nvGrpSpPr>
        <p:grpSpPr>
          <a:xfrm rot="10800000">
            <a:off x="4121737" y="5286369"/>
            <a:ext cx="468488" cy="103894"/>
            <a:chOff x="3160889" y="5723468"/>
            <a:chExt cx="468488" cy="103894"/>
          </a:xfrm>
        </p:grpSpPr>
        <p:sp>
          <p:nvSpPr>
            <p:cNvPr id="132" name="Google Shape;132;p3"/>
            <p:cNvSpPr/>
            <p:nvPr/>
          </p:nvSpPr>
          <p:spPr>
            <a:xfrm rot="5400000">
              <a:off x="3234167" y="565019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33" name="Google Shape;133;p3"/>
            <p:cNvCxnSpPr/>
            <p:nvPr/>
          </p:nvCxnSpPr>
          <p:spPr>
            <a:xfrm>
              <a:off x="3403599" y="5774267"/>
              <a:ext cx="225778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34" name="Google Shape;134;p3"/>
          <p:cNvGrpSpPr/>
          <p:nvPr/>
        </p:nvGrpSpPr>
        <p:grpSpPr>
          <a:xfrm rot="10800000">
            <a:off x="4466048" y="4620324"/>
            <a:ext cx="468488" cy="103894"/>
            <a:chOff x="3160889" y="5723468"/>
            <a:chExt cx="468488" cy="103894"/>
          </a:xfrm>
        </p:grpSpPr>
        <p:sp>
          <p:nvSpPr>
            <p:cNvPr id="135" name="Google Shape;135;p3"/>
            <p:cNvSpPr/>
            <p:nvPr/>
          </p:nvSpPr>
          <p:spPr>
            <a:xfrm rot="5400000">
              <a:off x="3234167" y="565019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36" name="Google Shape;136;p3"/>
            <p:cNvCxnSpPr/>
            <p:nvPr/>
          </p:nvCxnSpPr>
          <p:spPr>
            <a:xfrm>
              <a:off x="3403599" y="5774267"/>
              <a:ext cx="225778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37" name="Google Shape;137;p3"/>
          <p:cNvGrpSpPr/>
          <p:nvPr/>
        </p:nvGrpSpPr>
        <p:grpSpPr>
          <a:xfrm>
            <a:off x="4620460" y="4390841"/>
            <a:ext cx="711200" cy="601662"/>
            <a:chOff x="-44" y="1473"/>
            <a:chExt cx="981" cy="1105"/>
          </a:xfrm>
        </p:grpSpPr>
        <p:pic>
          <p:nvPicPr>
            <p:cNvPr descr="desktop_computer_stylized_medium" id="138" name="Google Shape;138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" name="Google Shape;139;p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40" name="Google Shape;140;p3"/>
          <p:cNvGrpSpPr/>
          <p:nvPr/>
        </p:nvGrpSpPr>
        <p:grpSpPr>
          <a:xfrm>
            <a:off x="4283912" y="5056708"/>
            <a:ext cx="711200" cy="600075"/>
            <a:chOff x="-44" y="1473"/>
            <a:chExt cx="981" cy="1105"/>
          </a:xfrm>
        </p:grpSpPr>
        <p:pic>
          <p:nvPicPr>
            <p:cNvPr descr="desktop_computer_stylized_medium" id="141" name="Google Shape;141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43" name="Google Shape;143;p3"/>
          <p:cNvGrpSpPr/>
          <p:nvPr/>
        </p:nvGrpSpPr>
        <p:grpSpPr>
          <a:xfrm>
            <a:off x="6296294" y="3889527"/>
            <a:ext cx="4903947" cy="2516574"/>
            <a:chOff x="6296294" y="3889527"/>
            <a:chExt cx="4903947" cy="2516574"/>
          </a:xfrm>
        </p:grpSpPr>
        <p:cxnSp>
          <p:nvCxnSpPr>
            <p:cNvPr id="144" name="Google Shape;144;p3"/>
            <p:cNvCxnSpPr>
              <a:stCxn id="145" idx="2"/>
            </p:cNvCxnSpPr>
            <p:nvPr/>
          </p:nvCxnSpPr>
          <p:spPr>
            <a:xfrm>
              <a:off x="7906770" y="4630890"/>
              <a:ext cx="2100" cy="1260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6" name="Google Shape;146;p3"/>
            <p:cNvCxnSpPr/>
            <p:nvPr/>
          </p:nvCxnSpPr>
          <p:spPr>
            <a:xfrm>
              <a:off x="6945441" y="5100170"/>
              <a:ext cx="214487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47" name="Google Shape;147;p3"/>
            <p:cNvSpPr txBox="1"/>
            <p:nvPr/>
          </p:nvSpPr>
          <p:spPr>
            <a:xfrm>
              <a:off x="9900333" y="4512570"/>
              <a:ext cx="12999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switched</a:t>
              </a: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 rot="5400000">
              <a:off x="6970879" y="497609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/>
            </a:p>
          </p:txBody>
        </p:sp>
        <p:grpSp>
          <p:nvGrpSpPr>
            <p:cNvPr id="149" name="Google Shape;149;p3"/>
            <p:cNvGrpSpPr/>
            <p:nvPr/>
          </p:nvGrpSpPr>
          <p:grpSpPr>
            <a:xfrm>
              <a:off x="6296294" y="4615439"/>
              <a:ext cx="768201" cy="646029"/>
              <a:chOff x="-44" y="1473"/>
              <a:chExt cx="981" cy="1105"/>
            </a:xfrm>
          </p:grpSpPr>
          <p:pic>
            <p:nvPicPr>
              <p:cNvPr descr="desktop_computer_stylized_medium" id="150" name="Google Shape;150;p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1" name="Google Shape;151;p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52" name="Google Shape;152;p3"/>
            <p:cNvSpPr/>
            <p:nvPr/>
          </p:nvSpPr>
          <p:spPr>
            <a:xfrm rot="5400000">
              <a:off x="8836293" y="496987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53" name="Google Shape;153;p3"/>
            <p:cNvGrpSpPr/>
            <p:nvPr/>
          </p:nvGrpSpPr>
          <p:grpSpPr>
            <a:xfrm>
              <a:off x="8674892" y="4777169"/>
              <a:ext cx="768201" cy="646029"/>
              <a:chOff x="-44" y="1473"/>
              <a:chExt cx="981" cy="1105"/>
            </a:xfrm>
          </p:grpSpPr>
          <p:pic>
            <p:nvPicPr>
              <p:cNvPr descr="desktop_computer_stylized_medium" id="154" name="Google Shape;154;p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5" name="Google Shape;155;p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56" name="Google Shape;156;p3"/>
            <p:cNvSpPr/>
            <p:nvPr/>
          </p:nvSpPr>
          <p:spPr>
            <a:xfrm rot="10800000">
              <a:off x="7861470" y="5669747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/>
            </a:p>
          </p:txBody>
        </p:sp>
        <p:grpSp>
          <p:nvGrpSpPr>
            <p:cNvPr id="157" name="Google Shape;157;p3"/>
            <p:cNvGrpSpPr/>
            <p:nvPr/>
          </p:nvGrpSpPr>
          <p:grpSpPr>
            <a:xfrm>
              <a:off x="7367278" y="5760072"/>
              <a:ext cx="768201" cy="646029"/>
              <a:chOff x="-44" y="1473"/>
              <a:chExt cx="981" cy="1105"/>
            </a:xfrm>
          </p:grpSpPr>
          <p:pic>
            <p:nvPicPr>
              <p:cNvPr descr="desktop_computer_stylized_medium" id="158" name="Google Shape;158;p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9" name="Google Shape;159;p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60" name="Google Shape;160;p3"/>
            <p:cNvSpPr/>
            <p:nvPr/>
          </p:nvSpPr>
          <p:spPr>
            <a:xfrm rot="10800000">
              <a:off x="7859915" y="4388441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/>
            </a:p>
          </p:txBody>
        </p:sp>
        <p:grpSp>
          <p:nvGrpSpPr>
            <p:cNvPr id="161" name="Google Shape;161;p3"/>
            <p:cNvGrpSpPr/>
            <p:nvPr/>
          </p:nvGrpSpPr>
          <p:grpSpPr>
            <a:xfrm>
              <a:off x="7480526" y="3889527"/>
              <a:ext cx="852487" cy="741363"/>
              <a:chOff x="-44" y="1473"/>
              <a:chExt cx="981" cy="1105"/>
            </a:xfrm>
          </p:grpSpPr>
          <p:pic>
            <p:nvPicPr>
              <p:cNvPr descr="desktop_computer_stylized_medium" id="145" name="Google Shape;145;p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2" name="Google Shape;162;p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63" name="Google Shape;163;p3"/>
            <p:cNvGrpSpPr/>
            <p:nvPr/>
          </p:nvGrpSpPr>
          <p:grpSpPr>
            <a:xfrm>
              <a:off x="7642010" y="4950839"/>
              <a:ext cx="561892" cy="329289"/>
              <a:chOff x="3668110" y="2448910"/>
              <a:chExt cx="3794234" cy="2165130"/>
            </a:xfrm>
          </p:grpSpPr>
          <p:sp>
            <p:nvSpPr>
              <p:cNvPr id="164" name="Google Shape;164;p3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5" name="Google Shape;165;p3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166" name="Google Shape;166;p3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67" name="Google Shape;167;p3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68" name="Google Shape;168;p3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69" name="Google Shape;169;p3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70" name="Google Shape;170;p3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</p:grpSp>
      <p:sp>
        <p:nvSpPr>
          <p:cNvPr id="171" name="Google Shape;171;p3"/>
          <p:cNvSpPr txBox="1"/>
          <p:nvPr/>
        </p:nvSpPr>
        <p:spPr>
          <a:xfrm>
            <a:off x="1067981" y="2097440"/>
            <a:ext cx="10839554" cy="1641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403225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switched: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prevails today</a:t>
            </a:r>
            <a:endParaRPr/>
          </a:p>
          <a:p>
            <a:pPr indent="-231775" lvl="1" marL="695325" marR="0" rtl="0" algn="l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active link-layer 2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</a:t>
            </a:r>
            <a:r>
              <a:rPr b="0" i="0" lang="en-US" sz="24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center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“spoke” runs a (separate) Ethernet protocol (nodes do not collide with each other)</a:t>
            </a:r>
            <a:endParaRPr/>
          </a:p>
        </p:txBody>
      </p:sp>
      <p:sp>
        <p:nvSpPr>
          <p:cNvPr id="172" name="Google Shape;172;p3"/>
          <p:cNvSpPr/>
          <p:nvPr/>
        </p:nvSpPr>
        <p:spPr>
          <a:xfrm>
            <a:off x="800101" y="3749133"/>
            <a:ext cx="4895850" cy="2379250"/>
          </a:xfrm>
          <a:prstGeom prst="rect">
            <a:avLst/>
          </a:prstGeom>
          <a:solidFill>
            <a:schemeClr val="lt1">
              <a:alpha val="7725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Times New Roman"/>
              <a:buNone/>
            </a:pPr>
            <a:r>
              <a:rPr b="0" lang="en-US">
                <a:solidFill>
                  <a:srgbClr val="000099"/>
                </a:solidFill>
              </a:rPr>
              <a:t>Ethernet frame structure</a:t>
            </a:r>
            <a:endParaRPr b="0" sz="4400"/>
          </a:p>
        </p:txBody>
      </p:sp>
      <p:sp>
        <p:nvSpPr>
          <p:cNvPr id="179" name="Google Shape;179;p4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Times New Roman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490499" y="1244048"/>
            <a:ext cx="11134802" cy="223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sending interface encapsulates IP datagram (or other network layer protocol packet) in </a:t>
            </a:r>
            <a:r>
              <a:rPr b="0" i="0" lang="en-US" sz="28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Ethernet frame</a:t>
            </a:r>
            <a:endParaRPr/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81" name="Google Shape;181;p4"/>
          <p:cNvGrpSpPr/>
          <p:nvPr/>
        </p:nvGrpSpPr>
        <p:grpSpPr>
          <a:xfrm>
            <a:off x="2272291" y="1912611"/>
            <a:ext cx="7867779" cy="1104405"/>
            <a:chOff x="940711" y="4902593"/>
            <a:chExt cx="6291001" cy="992895"/>
          </a:xfrm>
        </p:grpSpPr>
        <p:cxnSp>
          <p:nvCxnSpPr>
            <p:cNvPr id="182" name="Google Shape;182;p4"/>
            <p:cNvCxnSpPr/>
            <p:nvPr/>
          </p:nvCxnSpPr>
          <p:spPr>
            <a:xfrm>
              <a:off x="3570934" y="5199463"/>
              <a:ext cx="0" cy="2046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3" name="Google Shape;183;p4"/>
            <p:cNvSpPr/>
            <p:nvPr/>
          </p:nvSpPr>
          <p:spPr>
            <a:xfrm>
              <a:off x="976959" y="5272489"/>
              <a:ext cx="6254753" cy="547846"/>
            </a:xfrm>
            <a:prstGeom prst="rect">
              <a:avLst/>
            </a:prstGeom>
            <a:solidFill>
              <a:srgbClr val="00B05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84" name="Google Shape;184;p4"/>
            <p:cNvCxnSpPr/>
            <p:nvPr/>
          </p:nvCxnSpPr>
          <p:spPr>
            <a:xfrm>
              <a:off x="1970955" y="5262636"/>
              <a:ext cx="0" cy="550375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5" name="Google Shape;185;p4"/>
            <p:cNvCxnSpPr/>
            <p:nvPr/>
          </p:nvCxnSpPr>
          <p:spPr>
            <a:xfrm>
              <a:off x="2701175" y="5265808"/>
              <a:ext cx="0" cy="583683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6" name="Google Shape;186;p4"/>
            <p:cNvCxnSpPr/>
            <p:nvPr/>
          </p:nvCxnSpPr>
          <p:spPr>
            <a:xfrm>
              <a:off x="3429808" y="5270567"/>
              <a:ext cx="0" cy="548789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7" name="Google Shape;187;p4"/>
            <p:cNvCxnSpPr/>
            <p:nvPr/>
          </p:nvCxnSpPr>
          <p:spPr>
            <a:xfrm>
              <a:off x="3683797" y="5265808"/>
              <a:ext cx="0" cy="58051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" name="Google Shape;188;p4"/>
            <p:cNvCxnSpPr/>
            <p:nvPr/>
          </p:nvCxnSpPr>
          <p:spPr>
            <a:xfrm>
              <a:off x="5650628" y="5272152"/>
              <a:ext cx="0" cy="623336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9" name="Google Shape;189;p4"/>
            <p:cNvSpPr txBox="1"/>
            <p:nvPr/>
          </p:nvSpPr>
          <p:spPr>
            <a:xfrm>
              <a:off x="1927355" y="5375236"/>
              <a:ext cx="844810" cy="368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imes New Roman"/>
                <a:buNone/>
              </a:pPr>
              <a:r>
                <a:rPr b="0" i="1" lang="en-US" sz="16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dest.</a:t>
              </a:r>
              <a:endParaRPr/>
            </a:p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imes New Roman"/>
                <a:buNone/>
              </a:pPr>
              <a:r>
                <a:rPr b="0" i="1" lang="en-US" sz="16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address</a:t>
              </a:r>
              <a:endParaRPr/>
            </a:p>
          </p:txBody>
        </p:sp>
        <p:sp>
          <p:nvSpPr>
            <p:cNvPr id="190" name="Google Shape;190;p4"/>
            <p:cNvSpPr txBox="1"/>
            <p:nvPr/>
          </p:nvSpPr>
          <p:spPr>
            <a:xfrm>
              <a:off x="2652391" y="5379038"/>
              <a:ext cx="844810" cy="368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imes New Roman"/>
                <a:buNone/>
              </a:pPr>
              <a:r>
                <a:rPr b="0" i="1" lang="en-US" sz="16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source</a:t>
              </a:r>
              <a:endParaRPr/>
            </a:p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imes New Roman"/>
                <a:buNone/>
              </a:pPr>
              <a:r>
                <a:rPr b="0" i="1" lang="en-US" sz="16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address</a:t>
              </a:r>
              <a:endParaRPr/>
            </a:p>
          </p:txBody>
        </p:sp>
        <p:sp>
          <p:nvSpPr>
            <p:cNvPr id="191" name="Google Shape;191;p4"/>
            <p:cNvSpPr txBox="1"/>
            <p:nvPr/>
          </p:nvSpPr>
          <p:spPr>
            <a:xfrm>
              <a:off x="3969632" y="5447787"/>
              <a:ext cx="1377407" cy="2354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Times New Roman"/>
                <a:buNone/>
              </a:pPr>
              <a:r>
                <a:rPr b="0" i="1" lang="en-US" sz="18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 (payload)</a:t>
              </a:r>
              <a:endParaRPr/>
            </a:p>
          </p:txBody>
        </p:sp>
        <p:sp>
          <p:nvSpPr>
            <p:cNvPr id="192" name="Google Shape;192;p4"/>
            <p:cNvSpPr txBox="1"/>
            <p:nvPr/>
          </p:nvSpPr>
          <p:spPr>
            <a:xfrm>
              <a:off x="5941065" y="5431291"/>
              <a:ext cx="855572" cy="2354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Times New Roman"/>
                <a:buNone/>
              </a:pPr>
              <a:r>
                <a:rPr b="0" i="1" lang="en-US" sz="18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CRC</a:t>
              </a:r>
              <a:endParaRPr/>
            </a:p>
          </p:txBody>
        </p:sp>
        <p:sp>
          <p:nvSpPr>
            <p:cNvPr id="193" name="Google Shape;193;p4"/>
            <p:cNvSpPr txBox="1"/>
            <p:nvPr/>
          </p:nvSpPr>
          <p:spPr>
            <a:xfrm>
              <a:off x="940711" y="5468237"/>
              <a:ext cx="1070128" cy="2354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Times New Roman"/>
                <a:buNone/>
              </a:pPr>
              <a:r>
                <a:rPr b="0" i="1" lang="en-US" sz="18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preamble</a:t>
              </a:r>
              <a:endParaRPr/>
            </a:p>
          </p:txBody>
        </p:sp>
        <p:sp>
          <p:nvSpPr>
            <p:cNvPr id="194" name="Google Shape;194;p4"/>
            <p:cNvSpPr txBox="1"/>
            <p:nvPr/>
          </p:nvSpPr>
          <p:spPr>
            <a:xfrm>
              <a:off x="3321504" y="4902593"/>
              <a:ext cx="770260" cy="332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type</a:t>
              </a:r>
              <a:endParaRPr/>
            </a:p>
          </p:txBody>
        </p:sp>
      </p:grpSp>
      <p:sp>
        <p:nvSpPr>
          <p:cNvPr id="195" name="Google Shape;195;p4"/>
          <p:cNvSpPr txBox="1"/>
          <p:nvPr/>
        </p:nvSpPr>
        <p:spPr>
          <a:xfrm>
            <a:off x="484149" y="3012497"/>
            <a:ext cx="11134802" cy="1545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None/>
            </a:pPr>
            <a:r>
              <a:rPr b="0" i="1" lang="en-US" sz="20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preamble: </a:t>
            </a:r>
            <a:endParaRPr/>
          </a:p>
          <a:p>
            <a:pPr indent="-233363" lvl="0" marL="4651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used to synchronize receiver, sender clock rates</a:t>
            </a:r>
            <a:endParaRPr/>
          </a:p>
          <a:p>
            <a:pPr indent="-233363" lvl="0" marL="4651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bytes of 10101010 followed by one byte of 10101011</a:t>
            </a:r>
            <a:endParaRPr/>
          </a:p>
          <a:p>
            <a:pPr indent="-106363" lvl="0" marL="4651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315310" y="4581203"/>
            <a:ext cx="6096000" cy="1494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addresses: 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 byte source, destination MAC addresses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adapter receives frame with matching destination address, or with broadcast address (e.g., ARP packet), it passes data in frame to network layer protocol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otherwise, adapter discards frame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7249365" y="3291434"/>
            <a:ext cx="4548936" cy="1134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type: 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indicates higher layer protocol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mostly IP but others possible, e.g., Novell IPX, AppleTalk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to demultiplex up at receiver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7321731" y="4837199"/>
            <a:ext cx="4297220" cy="876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CRC: 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cyclic redundancy check at receiver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 detected: frame is dropped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Times New Roman"/>
              <a:buNone/>
            </a:pPr>
            <a:r>
              <a:rPr b="0" lang="en-US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802.3 Ethernet standards: link &amp; physical layers</a:t>
            </a:r>
            <a:endParaRPr b="0" sz="4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5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Times New Roman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5"/>
          <p:cNvSpPr txBox="1"/>
          <p:nvPr/>
        </p:nvSpPr>
        <p:spPr>
          <a:xfrm>
            <a:off x="904153" y="3044936"/>
            <a:ext cx="11197652" cy="462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4163" lvl="1" marL="522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physical layer media: fiber, cable</a:t>
            </a:r>
            <a:endParaRPr/>
          </a:p>
          <a:p>
            <a:pPr indent="-1397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3847736" y="4045132"/>
            <a:ext cx="1393825" cy="1527175"/>
          </a:xfrm>
          <a:custGeom>
            <a:rect b="b" l="l" r="r" t="t"/>
            <a:pathLst>
              <a:path extrusionOk="0" h="962" w="878">
                <a:moveTo>
                  <a:pt x="851" y="0"/>
                </a:moveTo>
                <a:lnTo>
                  <a:pt x="0" y="622"/>
                </a:lnTo>
                <a:lnTo>
                  <a:pt x="7" y="962"/>
                </a:lnTo>
                <a:lnTo>
                  <a:pt x="878" y="960"/>
                </a:lnTo>
                <a:lnTo>
                  <a:pt x="851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08" name="Google Shape;208;p5"/>
          <p:cNvGrpSpPr/>
          <p:nvPr/>
        </p:nvGrpSpPr>
        <p:grpSpPr>
          <a:xfrm>
            <a:off x="2552336" y="4178480"/>
            <a:ext cx="1300163" cy="1477962"/>
            <a:chOff x="921" y="797"/>
            <a:chExt cx="819" cy="931"/>
          </a:xfrm>
        </p:grpSpPr>
        <p:sp>
          <p:nvSpPr>
            <p:cNvPr id="209" name="Google Shape;209;p5"/>
            <p:cNvSpPr/>
            <p:nvPr/>
          </p:nvSpPr>
          <p:spPr>
            <a:xfrm>
              <a:off x="924" y="810"/>
              <a:ext cx="816" cy="864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0" name="Google Shape;210;p5"/>
            <p:cNvSpPr txBox="1"/>
            <p:nvPr/>
          </p:nvSpPr>
          <p:spPr>
            <a:xfrm>
              <a:off x="937" y="797"/>
              <a:ext cx="773" cy="9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physical</a:t>
              </a:r>
              <a:endParaRPr/>
            </a:p>
          </p:txBody>
        </p:sp>
        <p:cxnSp>
          <p:nvCxnSpPr>
            <p:cNvPr id="211" name="Google Shape;211;p5"/>
            <p:cNvCxnSpPr/>
            <p:nvPr/>
          </p:nvCxnSpPr>
          <p:spPr>
            <a:xfrm>
              <a:off x="924" y="993"/>
              <a:ext cx="816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" name="Google Shape;212;p5"/>
            <p:cNvCxnSpPr/>
            <p:nvPr/>
          </p:nvCxnSpPr>
          <p:spPr>
            <a:xfrm>
              <a:off x="924" y="1167"/>
              <a:ext cx="816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3" name="Google Shape;213;p5"/>
            <p:cNvCxnSpPr/>
            <p:nvPr/>
          </p:nvCxnSpPr>
          <p:spPr>
            <a:xfrm>
              <a:off x="921" y="1344"/>
              <a:ext cx="816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" name="Google Shape;214;p5"/>
            <p:cNvCxnSpPr/>
            <p:nvPr/>
          </p:nvCxnSpPr>
          <p:spPr>
            <a:xfrm>
              <a:off x="926" y="1501"/>
              <a:ext cx="808" cy="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5" name="Google Shape;215;p5"/>
            <p:cNvCxnSpPr/>
            <p:nvPr/>
          </p:nvCxnSpPr>
          <p:spPr>
            <a:xfrm>
              <a:off x="926" y="1552"/>
              <a:ext cx="0" cy="10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16" name="Google Shape;216;p5"/>
            <p:cNvCxnSpPr/>
            <p:nvPr/>
          </p:nvCxnSpPr>
          <p:spPr>
            <a:xfrm>
              <a:off x="1739" y="1541"/>
              <a:ext cx="0" cy="10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217" name="Google Shape;217;p5"/>
          <p:cNvSpPr/>
          <p:nvPr/>
        </p:nvSpPr>
        <p:spPr>
          <a:xfrm>
            <a:off x="5212192" y="4008619"/>
            <a:ext cx="4577930" cy="15684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18" name="Google Shape;218;p5"/>
          <p:cNvCxnSpPr/>
          <p:nvPr/>
        </p:nvCxnSpPr>
        <p:spPr>
          <a:xfrm>
            <a:off x="5219336" y="4673782"/>
            <a:ext cx="4563642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" name="Google Shape;219;p5"/>
          <p:cNvSpPr txBox="1"/>
          <p:nvPr/>
        </p:nvSpPr>
        <p:spPr>
          <a:xfrm>
            <a:off x="6336078" y="4049894"/>
            <a:ext cx="183845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 protocol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frame format</a:t>
            </a:r>
            <a:endParaRPr/>
          </a:p>
        </p:txBody>
      </p:sp>
      <p:sp>
        <p:nvSpPr>
          <p:cNvPr id="220" name="Google Shape;220;p5"/>
          <p:cNvSpPr txBox="1"/>
          <p:nvPr/>
        </p:nvSpPr>
        <p:spPr>
          <a:xfrm>
            <a:off x="5373324" y="4764269"/>
            <a:ext cx="1407758" cy="33855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1000BASE-T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/>
          </a:p>
        </p:txBody>
      </p:sp>
      <p:sp>
        <p:nvSpPr>
          <p:cNvPr id="221" name="Google Shape;221;p5"/>
          <p:cNvSpPr txBox="1"/>
          <p:nvPr/>
        </p:nvSpPr>
        <p:spPr>
          <a:xfrm>
            <a:off x="5377292" y="5131776"/>
            <a:ext cx="1470274" cy="33855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1000BASE-CX</a:t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5"/>
          <p:cNvSpPr txBox="1"/>
          <p:nvPr/>
        </p:nvSpPr>
        <p:spPr>
          <a:xfrm>
            <a:off x="8082047" y="4759507"/>
            <a:ext cx="1664238" cy="33855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1000BASE-LX10</a:t>
            </a:r>
            <a:endParaRPr/>
          </a:p>
        </p:txBody>
      </p:sp>
      <p:sp>
        <p:nvSpPr>
          <p:cNvPr id="223" name="Google Shape;223;p5"/>
          <p:cNvSpPr/>
          <p:nvPr/>
        </p:nvSpPr>
        <p:spPr>
          <a:xfrm>
            <a:off x="3862024" y="4654732"/>
            <a:ext cx="1393825" cy="611187"/>
          </a:xfrm>
          <a:custGeom>
            <a:rect b="b" l="l" r="r" t="t"/>
            <a:pathLst>
              <a:path extrusionOk="0" h="385" w="878">
                <a:moveTo>
                  <a:pt x="0" y="385"/>
                </a:moveTo>
                <a:lnTo>
                  <a:pt x="878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5"/>
          <p:cNvSpPr txBox="1"/>
          <p:nvPr/>
        </p:nvSpPr>
        <p:spPr>
          <a:xfrm>
            <a:off x="6745428" y="4757919"/>
            <a:ext cx="1447832" cy="33855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1000BASE-SX</a:t>
            </a:r>
            <a:endParaRPr/>
          </a:p>
        </p:txBody>
      </p:sp>
      <p:sp>
        <p:nvSpPr>
          <p:cNvPr id="225" name="Google Shape;225;p5"/>
          <p:cNvSpPr txBox="1"/>
          <p:nvPr/>
        </p:nvSpPr>
        <p:spPr>
          <a:xfrm>
            <a:off x="6744120" y="5124744"/>
            <a:ext cx="1459054" cy="33855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1000BASE-LX</a:t>
            </a:r>
            <a:endParaRPr/>
          </a:p>
        </p:txBody>
      </p:sp>
      <p:sp>
        <p:nvSpPr>
          <p:cNvPr id="226" name="Google Shape;226;p5"/>
          <p:cNvSpPr txBox="1"/>
          <p:nvPr/>
        </p:nvSpPr>
        <p:spPr>
          <a:xfrm>
            <a:off x="8081935" y="5136571"/>
            <a:ext cx="1675459" cy="33855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1000BASE-BX10</a:t>
            </a:r>
            <a:endParaRPr/>
          </a:p>
        </p:txBody>
      </p:sp>
      <p:sp>
        <p:nvSpPr>
          <p:cNvPr id="227" name="Google Shape;227;p5"/>
          <p:cNvSpPr txBox="1"/>
          <p:nvPr/>
        </p:nvSpPr>
        <p:spPr>
          <a:xfrm>
            <a:off x="438150" y="1611604"/>
            <a:ext cx="11684400" cy="15945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0000A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</a:t>
            </a:r>
            <a:r>
              <a:rPr b="0" i="0" lang="en-US" sz="3200" u="none" cap="none" strike="noStrike">
                <a:solidFill>
                  <a:srgbClr val="0000A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Ethernet standards</a:t>
            </a:r>
            <a:endParaRPr/>
          </a:p>
          <a:p>
            <a:pPr indent="-284163" lvl="1" marL="522288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 MAC protocol and frame format</a:t>
            </a:r>
            <a:endParaRPr/>
          </a:p>
          <a:p>
            <a:pPr indent="-284163" lvl="1" marL="522288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speeds: 2 Mbps, ... 100 Mbps, 1Gbps, 10 Gbps, 40 Gbps, 80 Gbps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28" name="Google Shape;228;p5"/>
          <p:cNvGrpSpPr/>
          <p:nvPr/>
        </p:nvGrpSpPr>
        <p:grpSpPr>
          <a:xfrm>
            <a:off x="2907936" y="4696225"/>
            <a:ext cx="3894138" cy="1636496"/>
            <a:chOff x="2907936" y="4696225"/>
            <a:chExt cx="3894138" cy="1636496"/>
          </a:xfrm>
        </p:grpSpPr>
        <p:grpSp>
          <p:nvGrpSpPr>
            <p:cNvPr id="229" name="Google Shape;229;p5"/>
            <p:cNvGrpSpPr/>
            <p:nvPr/>
          </p:nvGrpSpPr>
          <p:grpSpPr>
            <a:xfrm>
              <a:off x="2907936" y="5531033"/>
              <a:ext cx="3894138" cy="801688"/>
              <a:chOff x="1218" y="3503"/>
              <a:chExt cx="2453" cy="505"/>
            </a:xfrm>
          </p:grpSpPr>
          <p:cxnSp>
            <p:nvCxnSpPr>
              <p:cNvPr id="230" name="Google Shape;230;p5"/>
              <p:cNvCxnSpPr/>
              <p:nvPr/>
            </p:nvCxnSpPr>
            <p:spPr>
              <a:xfrm flipH="1">
                <a:off x="2929" y="3503"/>
                <a:ext cx="227" cy="291"/>
              </a:xfrm>
              <a:prstGeom prst="straightConnector1">
                <a:avLst/>
              </a:prstGeom>
              <a:noFill/>
              <a:ln cap="flat" cmpd="sng" w="28575">
                <a:solidFill>
                  <a:srgbClr val="3333CC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31" name="Google Shape;231;p5"/>
              <p:cNvSpPr txBox="1"/>
              <p:nvPr/>
            </p:nvSpPr>
            <p:spPr>
              <a:xfrm>
                <a:off x="1218" y="3756"/>
                <a:ext cx="2453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2000"/>
                  <a:buFont typeface="Times New Roman"/>
                  <a:buNone/>
                </a:pPr>
                <a:r>
                  <a:rPr b="0" i="0" lang="en-US" sz="2000" u="none" cap="none" strike="noStrike">
                    <a:solidFill>
                      <a:srgbClr val="00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copper (twister pair) physical layer</a:t>
                </a:r>
                <a:endParaRPr/>
              </a:p>
            </p:txBody>
          </p:sp>
        </p:grpSp>
        <p:sp>
          <p:nvSpPr>
            <p:cNvPr id="232" name="Google Shape;232;p5"/>
            <p:cNvSpPr/>
            <p:nvPr/>
          </p:nvSpPr>
          <p:spPr>
            <a:xfrm>
              <a:off x="5324895" y="4696225"/>
              <a:ext cx="1369217" cy="849092"/>
            </a:xfrm>
            <a:prstGeom prst="rect">
              <a:avLst/>
            </a:prstGeom>
            <a:noFill/>
            <a:ln cap="flat" cmpd="sng" w="381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33" name="Google Shape;233;p5"/>
          <p:cNvGrpSpPr/>
          <p:nvPr/>
        </p:nvGrpSpPr>
        <p:grpSpPr>
          <a:xfrm>
            <a:off x="6744120" y="4696225"/>
            <a:ext cx="2907086" cy="1612685"/>
            <a:chOff x="6744120" y="4696225"/>
            <a:chExt cx="2907086" cy="1612685"/>
          </a:xfrm>
        </p:grpSpPr>
        <p:grpSp>
          <p:nvGrpSpPr>
            <p:cNvPr id="234" name="Google Shape;234;p5"/>
            <p:cNvGrpSpPr/>
            <p:nvPr/>
          </p:nvGrpSpPr>
          <p:grpSpPr>
            <a:xfrm>
              <a:off x="7329126" y="5516747"/>
              <a:ext cx="2159001" cy="792163"/>
              <a:chOff x="4003" y="3494"/>
              <a:chExt cx="1360" cy="499"/>
            </a:xfrm>
          </p:grpSpPr>
          <p:cxnSp>
            <p:nvCxnSpPr>
              <p:cNvPr id="235" name="Google Shape;235;p5"/>
              <p:cNvCxnSpPr/>
              <p:nvPr/>
            </p:nvCxnSpPr>
            <p:spPr>
              <a:xfrm>
                <a:off x="4410" y="3494"/>
                <a:ext cx="227" cy="291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36" name="Google Shape;236;p5"/>
              <p:cNvSpPr txBox="1"/>
              <p:nvPr/>
            </p:nvSpPr>
            <p:spPr>
              <a:xfrm>
                <a:off x="4003" y="3741"/>
                <a:ext cx="136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000"/>
                  <a:buFont typeface="Times New Roman"/>
                  <a:buNone/>
                </a:pPr>
                <a:r>
                  <a:rPr b="0" i="0" lang="en-US" sz="2000" u="none" cap="none" strike="noStrike">
                    <a:solidFill>
                      <a:srgbClr val="CC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fiber physical layer</a:t>
                </a:r>
                <a:endParaRPr/>
              </a:p>
            </p:txBody>
          </p:sp>
        </p:grpSp>
        <p:sp>
          <p:nvSpPr>
            <p:cNvPr id="237" name="Google Shape;237;p5"/>
            <p:cNvSpPr/>
            <p:nvPr/>
          </p:nvSpPr>
          <p:spPr>
            <a:xfrm>
              <a:off x="6744120" y="4696225"/>
              <a:ext cx="2907086" cy="831630"/>
            </a:xfrm>
            <a:prstGeom prst="rect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38" name="Google Shape;238;p5"/>
          <p:cNvSpPr txBox="1"/>
          <p:nvPr/>
        </p:nvSpPr>
        <p:spPr>
          <a:xfrm>
            <a:off x="9982995" y="4773419"/>
            <a:ext cx="179785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Gigabit PHY layer standards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Times New Roman"/>
              <a:buNone/>
            </a:pPr>
            <a:r>
              <a:rPr b="0" lang="en-US">
                <a:solidFill>
                  <a:srgbClr val="000099"/>
                </a:solidFill>
              </a:rPr>
              <a:t>ARP: address resolution protocol</a:t>
            </a:r>
            <a:endParaRPr b="0" sz="4400"/>
          </a:p>
        </p:txBody>
      </p:sp>
      <p:sp>
        <p:nvSpPr>
          <p:cNvPr id="245" name="Google Shape;245;p6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Times New Roman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6"/>
          <p:cNvSpPr txBox="1"/>
          <p:nvPr/>
        </p:nvSpPr>
        <p:spPr>
          <a:xfrm>
            <a:off x="6082748" y="2344599"/>
            <a:ext cx="5193195" cy="953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ARP table: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IP node (host, router) on LAN has table</a:t>
            </a:r>
            <a:endParaRPr/>
          </a:p>
        </p:txBody>
      </p:sp>
      <p:sp>
        <p:nvSpPr>
          <p:cNvPr id="247" name="Google Shape;247;p6"/>
          <p:cNvSpPr txBox="1"/>
          <p:nvPr/>
        </p:nvSpPr>
        <p:spPr>
          <a:xfrm>
            <a:off x="786592" y="1314450"/>
            <a:ext cx="11034346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Times New Roman"/>
              <a:buNone/>
            </a:pPr>
            <a:r>
              <a:rPr b="0" i="1" lang="en-US" sz="2800" u="none" cap="none" strike="noStrike">
                <a:solidFill>
                  <a:srgbClr val="0000A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</a:t>
            </a:r>
            <a:r>
              <a:rPr b="0" i="0" lang="en-US" sz="2800" u="none" cap="none" strike="noStrike">
                <a:solidFill>
                  <a:srgbClr val="0000A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to determine interface’s MAC address, knowing its IP address?</a:t>
            </a:r>
            <a:endParaRPr/>
          </a:p>
        </p:txBody>
      </p:sp>
      <p:grpSp>
        <p:nvGrpSpPr>
          <p:cNvPr id="248" name="Google Shape;248;p6"/>
          <p:cNvGrpSpPr/>
          <p:nvPr/>
        </p:nvGrpSpPr>
        <p:grpSpPr>
          <a:xfrm>
            <a:off x="948563" y="2990022"/>
            <a:ext cx="4942276" cy="2799867"/>
            <a:chOff x="3970059" y="2973174"/>
            <a:chExt cx="6170957" cy="3638349"/>
          </a:xfrm>
        </p:grpSpPr>
        <p:cxnSp>
          <p:nvCxnSpPr>
            <p:cNvPr id="249" name="Google Shape;249;p6"/>
            <p:cNvCxnSpPr/>
            <p:nvPr/>
          </p:nvCxnSpPr>
          <p:spPr>
            <a:xfrm>
              <a:off x="4951134" y="4423877"/>
              <a:ext cx="9017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0" name="Google Shape;250;p6"/>
            <p:cNvCxnSpPr/>
            <p:nvPr/>
          </p:nvCxnSpPr>
          <p:spPr>
            <a:xfrm>
              <a:off x="6735625" y="3504024"/>
              <a:ext cx="0" cy="65563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1" name="Google Shape;251;p6"/>
            <p:cNvCxnSpPr/>
            <p:nvPr/>
          </p:nvCxnSpPr>
          <p:spPr>
            <a:xfrm rot="10800000">
              <a:off x="6511994" y="5451266"/>
              <a:ext cx="0" cy="4381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52" name="Google Shape;252;p6"/>
            <p:cNvSpPr/>
            <p:nvPr/>
          </p:nvSpPr>
          <p:spPr>
            <a:xfrm>
              <a:off x="5578337" y="3746015"/>
              <a:ext cx="2046288" cy="2049462"/>
            </a:xfrm>
            <a:custGeom>
              <a:rect b="b" l="l" r="r" t="t"/>
              <a:pathLst>
                <a:path extrusionOk="0" h="1255" w="1292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53" name="Google Shape;253;p6"/>
            <p:cNvCxnSpPr/>
            <p:nvPr/>
          </p:nvCxnSpPr>
          <p:spPr>
            <a:xfrm rot="10800000">
              <a:off x="7599225" y="4472884"/>
              <a:ext cx="79692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54" name="Google Shape;254;p6"/>
            <p:cNvSpPr txBox="1"/>
            <p:nvPr/>
          </p:nvSpPr>
          <p:spPr>
            <a:xfrm>
              <a:off x="7043048" y="3460537"/>
              <a:ext cx="2184058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1A-2F-BB-76-09-AD</a:t>
              </a:r>
              <a:endParaRPr/>
            </a:p>
          </p:txBody>
        </p:sp>
        <p:cxnSp>
          <p:nvCxnSpPr>
            <p:cNvPr id="255" name="Google Shape;255;p6"/>
            <p:cNvCxnSpPr/>
            <p:nvPr/>
          </p:nvCxnSpPr>
          <p:spPr>
            <a:xfrm rot="10800000">
              <a:off x="8157727" y="4588902"/>
              <a:ext cx="0" cy="3730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56" name="Google Shape;256;p6"/>
            <p:cNvSpPr txBox="1"/>
            <p:nvPr/>
          </p:nvSpPr>
          <p:spPr>
            <a:xfrm>
              <a:off x="8061597" y="4931465"/>
              <a:ext cx="2079419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58-23-D7-FA-20-B0</a:t>
              </a:r>
              <a:endParaRPr/>
            </a:p>
          </p:txBody>
        </p:sp>
        <p:cxnSp>
          <p:nvCxnSpPr>
            <p:cNvPr id="257" name="Google Shape;257;p6"/>
            <p:cNvCxnSpPr/>
            <p:nvPr/>
          </p:nvCxnSpPr>
          <p:spPr>
            <a:xfrm rot="10800000">
              <a:off x="6615181" y="5886035"/>
              <a:ext cx="360363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58" name="Google Shape;258;p6"/>
            <p:cNvSpPr txBox="1"/>
            <p:nvPr/>
          </p:nvSpPr>
          <p:spPr>
            <a:xfrm>
              <a:off x="6937522" y="5730174"/>
              <a:ext cx="2049637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0C-C4-11-6F-E3-98</a:t>
              </a:r>
              <a:endParaRPr/>
            </a:p>
          </p:txBody>
        </p:sp>
        <p:cxnSp>
          <p:nvCxnSpPr>
            <p:cNvPr id="259" name="Google Shape;259;p6"/>
            <p:cNvCxnSpPr/>
            <p:nvPr/>
          </p:nvCxnSpPr>
          <p:spPr>
            <a:xfrm rot="10800000">
              <a:off x="4887634" y="4579452"/>
              <a:ext cx="0" cy="3730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60" name="Google Shape;260;p6"/>
            <p:cNvSpPr txBox="1"/>
            <p:nvPr/>
          </p:nvSpPr>
          <p:spPr>
            <a:xfrm>
              <a:off x="3970059" y="4954102"/>
              <a:ext cx="1995916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71-65-F7-2B-08-53</a:t>
              </a:r>
              <a:endParaRPr/>
            </a:p>
          </p:txBody>
        </p:sp>
        <p:sp>
          <p:nvSpPr>
            <p:cNvPr id="261" name="Google Shape;261;p6"/>
            <p:cNvSpPr txBox="1"/>
            <p:nvPr/>
          </p:nvSpPr>
          <p:spPr>
            <a:xfrm>
              <a:off x="5363947" y="4420079"/>
              <a:ext cx="2173356" cy="479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LAN</a:t>
              </a:r>
              <a:endParaRPr/>
            </a:p>
          </p:txBody>
        </p:sp>
        <p:sp>
          <p:nvSpPr>
            <p:cNvPr id="262" name="Google Shape;262;p6"/>
            <p:cNvSpPr/>
            <p:nvPr/>
          </p:nvSpPr>
          <p:spPr>
            <a:xfrm>
              <a:off x="6641253" y="3505846"/>
              <a:ext cx="16033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63" name="Google Shape;263;p6"/>
            <p:cNvGrpSpPr/>
            <p:nvPr/>
          </p:nvGrpSpPr>
          <p:grpSpPr>
            <a:xfrm>
              <a:off x="6182623" y="2973174"/>
              <a:ext cx="812800" cy="658813"/>
              <a:chOff x="-44" y="1473"/>
              <a:chExt cx="981" cy="1105"/>
            </a:xfrm>
          </p:grpSpPr>
          <p:pic>
            <p:nvPicPr>
              <p:cNvPr descr="desktop_computer_stylized_medium" id="264" name="Google Shape;264;p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5" name="Google Shape;265;p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266" name="Google Shape;266;p6"/>
            <p:cNvSpPr/>
            <p:nvPr/>
          </p:nvSpPr>
          <p:spPr>
            <a:xfrm rot="5400000">
              <a:off x="4749555" y="4292181"/>
              <a:ext cx="16033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7" name="Google Shape;267;p6"/>
            <p:cNvSpPr/>
            <p:nvPr/>
          </p:nvSpPr>
          <p:spPr>
            <a:xfrm>
              <a:off x="6440078" y="5759156"/>
              <a:ext cx="16033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8" name="Google Shape;268;p6"/>
            <p:cNvSpPr/>
            <p:nvPr/>
          </p:nvSpPr>
          <p:spPr>
            <a:xfrm rot="5400000">
              <a:off x="8184260" y="4354101"/>
              <a:ext cx="16033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69" name="Google Shape;269;p6"/>
            <p:cNvGrpSpPr/>
            <p:nvPr/>
          </p:nvGrpSpPr>
          <p:grpSpPr>
            <a:xfrm>
              <a:off x="4074834" y="4046052"/>
              <a:ext cx="812800" cy="658813"/>
              <a:chOff x="-44" y="1473"/>
              <a:chExt cx="981" cy="1105"/>
            </a:xfrm>
          </p:grpSpPr>
          <p:pic>
            <p:nvPicPr>
              <p:cNvPr descr="desktop_computer_stylized_medium" id="270" name="Google Shape;270;p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1" name="Google Shape;271;p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72" name="Google Shape;272;p6"/>
            <p:cNvGrpSpPr/>
            <p:nvPr/>
          </p:nvGrpSpPr>
          <p:grpSpPr>
            <a:xfrm>
              <a:off x="8032469" y="4201422"/>
              <a:ext cx="812800" cy="658812"/>
              <a:chOff x="-26" y="1473"/>
              <a:chExt cx="981" cy="1105"/>
            </a:xfrm>
          </p:grpSpPr>
          <p:pic>
            <p:nvPicPr>
              <p:cNvPr descr="desktop_computer_stylized_medium" id="273" name="Google Shape;273;p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26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4" name="Google Shape;274;p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75" name="Google Shape;275;p6"/>
            <p:cNvCxnSpPr/>
            <p:nvPr/>
          </p:nvCxnSpPr>
          <p:spPr>
            <a:xfrm rot="10800000">
              <a:off x="6872122" y="3639236"/>
              <a:ext cx="25483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276" name="Google Shape;276;p6"/>
            <p:cNvGrpSpPr/>
            <p:nvPr/>
          </p:nvGrpSpPr>
          <p:grpSpPr>
            <a:xfrm>
              <a:off x="5984944" y="5952710"/>
              <a:ext cx="812800" cy="658813"/>
              <a:chOff x="-44" y="1473"/>
              <a:chExt cx="981" cy="1105"/>
            </a:xfrm>
          </p:grpSpPr>
          <p:pic>
            <p:nvPicPr>
              <p:cNvPr descr="desktop_computer_stylized_medium" id="277" name="Google Shape;277;p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8" name="Google Shape;278;p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279" name="Google Shape;279;p6"/>
            <p:cNvSpPr txBox="1"/>
            <p:nvPr/>
          </p:nvSpPr>
          <p:spPr>
            <a:xfrm>
              <a:off x="7019858" y="3246090"/>
              <a:ext cx="1425483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137.196.7.78</a:t>
              </a:r>
              <a:endParaRPr/>
            </a:p>
          </p:txBody>
        </p:sp>
        <p:sp>
          <p:nvSpPr>
            <p:cNvPr id="280" name="Google Shape;280;p6"/>
            <p:cNvSpPr txBox="1"/>
            <p:nvPr/>
          </p:nvSpPr>
          <p:spPr>
            <a:xfrm>
              <a:off x="8056009" y="5130248"/>
              <a:ext cx="1425483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137.196.7.14</a:t>
              </a:r>
              <a:endParaRPr/>
            </a:p>
          </p:txBody>
        </p:sp>
        <p:sp>
          <p:nvSpPr>
            <p:cNvPr id="281" name="Google Shape;281;p6"/>
            <p:cNvSpPr txBox="1"/>
            <p:nvPr/>
          </p:nvSpPr>
          <p:spPr>
            <a:xfrm>
              <a:off x="6899276" y="5947742"/>
              <a:ext cx="1425483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137.196.7.88</a:t>
              </a:r>
              <a:endParaRPr/>
            </a:p>
          </p:txBody>
        </p:sp>
        <p:sp>
          <p:nvSpPr>
            <p:cNvPr id="282" name="Google Shape;282;p6"/>
            <p:cNvSpPr txBox="1"/>
            <p:nvPr/>
          </p:nvSpPr>
          <p:spPr>
            <a:xfrm>
              <a:off x="3974753" y="5170004"/>
              <a:ext cx="1425483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137.196.7.23</a:t>
              </a:r>
              <a:endParaRPr/>
            </a:p>
          </p:txBody>
        </p:sp>
      </p:grpSp>
      <p:grpSp>
        <p:nvGrpSpPr>
          <p:cNvPr id="283" name="Google Shape;283;p6"/>
          <p:cNvGrpSpPr/>
          <p:nvPr/>
        </p:nvGrpSpPr>
        <p:grpSpPr>
          <a:xfrm>
            <a:off x="1446381" y="2663687"/>
            <a:ext cx="3708015" cy="2923999"/>
            <a:chOff x="1446381" y="2663687"/>
            <a:chExt cx="3708015" cy="2923999"/>
          </a:xfrm>
        </p:grpSpPr>
        <p:grpSp>
          <p:nvGrpSpPr>
            <p:cNvPr id="284" name="Google Shape;284;p6"/>
            <p:cNvGrpSpPr/>
            <p:nvPr/>
          </p:nvGrpSpPr>
          <p:grpSpPr>
            <a:xfrm>
              <a:off x="2754559" y="2663687"/>
              <a:ext cx="534121" cy="437323"/>
              <a:chOff x="2317237" y="2601212"/>
              <a:chExt cx="534121" cy="437323"/>
            </a:xfrm>
          </p:grpSpPr>
          <p:sp>
            <p:nvSpPr>
              <p:cNvPr id="285" name="Google Shape;285;p6"/>
              <p:cNvSpPr/>
              <p:nvPr/>
            </p:nvSpPr>
            <p:spPr>
              <a:xfrm>
                <a:off x="2381605" y="2654222"/>
                <a:ext cx="344557" cy="384313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6" name="Google Shape;286;p6"/>
              <p:cNvSpPr txBox="1"/>
              <p:nvPr/>
            </p:nvSpPr>
            <p:spPr>
              <a:xfrm>
                <a:off x="2317237" y="2601212"/>
                <a:ext cx="534121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Times New Roman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ARP</a:t>
                </a:r>
                <a:endParaRPr/>
              </a:p>
            </p:txBody>
          </p:sp>
        </p:grpSp>
        <p:grpSp>
          <p:nvGrpSpPr>
            <p:cNvPr id="287" name="Google Shape;287;p6"/>
            <p:cNvGrpSpPr/>
            <p:nvPr/>
          </p:nvGrpSpPr>
          <p:grpSpPr>
            <a:xfrm>
              <a:off x="2463958" y="5150363"/>
              <a:ext cx="534121" cy="437323"/>
              <a:chOff x="2317237" y="2601212"/>
              <a:chExt cx="534121" cy="437323"/>
            </a:xfrm>
          </p:grpSpPr>
          <p:sp>
            <p:nvSpPr>
              <p:cNvPr id="288" name="Google Shape;288;p6"/>
              <p:cNvSpPr/>
              <p:nvPr/>
            </p:nvSpPr>
            <p:spPr>
              <a:xfrm>
                <a:off x="2381605" y="2654222"/>
                <a:ext cx="344557" cy="384313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9" name="Google Shape;289;p6"/>
              <p:cNvSpPr txBox="1"/>
              <p:nvPr/>
            </p:nvSpPr>
            <p:spPr>
              <a:xfrm>
                <a:off x="2317237" y="2601212"/>
                <a:ext cx="534121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Times New Roman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ARP</a:t>
                </a:r>
                <a:endParaRPr/>
              </a:p>
            </p:txBody>
          </p:sp>
        </p:grpSp>
        <p:grpSp>
          <p:nvGrpSpPr>
            <p:cNvPr id="290" name="Google Shape;290;p6"/>
            <p:cNvGrpSpPr/>
            <p:nvPr/>
          </p:nvGrpSpPr>
          <p:grpSpPr>
            <a:xfrm>
              <a:off x="1446381" y="3530757"/>
              <a:ext cx="534121" cy="437323"/>
              <a:chOff x="2317237" y="2601212"/>
              <a:chExt cx="534121" cy="437323"/>
            </a:xfrm>
          </p:grpSpPr>
          <p:sp>
            <p:nvSpPr>
              <p:cNvPr id="291" name="Google Shape;291;p6"/>
              <p:cNvSpPr/>
              <p:nvPr/>
            </p:nvSpPr>
            <p:spPr>
              <a:xfrm>
                <a:off x="2381605" y="2654222"/>
                <a:ext cx="344557" cy="384313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2" name="Google Shape;292;p6"/>
              <p:cNvSpPr txBox="1"/>
              <p:nvPr/>
            </p:nvSpPr>
            <p:spPr>
              <a:xfrm>
                <a:off x="2317237" y="2601212"/>
                <a:ext cx="534121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Times New Roman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ARP</a:t>
                </a:r>
                <a:endParaRPr/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4620275" y="3785389"/>
              <a:ext cx="534121" cy="437323"/>
              <a:chOff x="2317237" y="2601212"/>
              <a:chExt cx="534121" cy="437323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2381605" y="2654222"/>
                <a:ext cx="344557" cy="384313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5" name="Google Shape;295;p6"/>
              <p:cNvSpPr txBox="1"/>
              <p:nvPr/>
            </p:nvSpPr>
            <p:spPr>
              <a:xfrm>
                <a:off x="2317237" y="2601212"/>
                <a:ext cx="534121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Times New Roman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ARP</a:t>
                </a:r>
                <a:endParaRPr/>
              </a:p>
            </p:txBody>
          </p:sp>
        </p:grpSp>
      </p:grpSp>
      <p:sp>
        <p:nvSpPr>
          <p:cNvPr id="296" name="Google Shape;296;p6"/>
          <p:cNvSpPr txBox="1"/>
          <p:nvPr/>
        </p:nvSpPr>
        <p:spPr>
          <a:xfrm>
            <a:off x="5785443" y="3298343"/>
            <a:ext cx="5472170" cy="29075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IP/MAC address mappings for some LAN nodes: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r>
              <a:rPr b="0" i="0" lang="en-US" sz="2000" u="none" cap="none" strike="noStrike">
                <a:solidFill>
                  <a:srgbClr val="0000A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 IP address; MAC address; TTL&gt;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TTL (Time To Live): time after which address mapping will be forgotten (typically 20 min)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2" name="Google Shape;302;p7"/>
          <p:cNvCxnSpPr/>
          <p:nvPr/>
        </p:nvCxnSpPr>
        <p:spPr>
          <a:xfrm>
            <a:off x="5103533" y="4310144"/>
            <a:ext cx="901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7"/>
          <p:cNvCxnSpPr/>
          <p:nvPr/>
        </p:nvCxnSpPr>
        <p:spPr>
          <a:xfrm>
            <a:off x="6888024" y="3390291"/>
            <a:ext cx="0" cy="6556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7"/>
          <p:cNvCxnSpPr/>
          <p:nvPr/>
        </p:nvCxnSpPr>
        <p:spPr>
          <a:xfrm rot="10800000">
            <a:off x="6664393" y="5337533"/>
            <a:ext cx="0" cy="438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5" name="Google Shape;305;p7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Times New Roman"/>
              <a:buNone/>
            </a:pPr>
            <a:r>
              <a:rPr b="0" lang="en-US">
                <a:solidFill>
                  <a:srgbClr val="000099"/>
                </a:solidFill>
              </a:rPr>
              <a:t>ARP protocol in action</a:t>
            </a:r>
            <a:endParaRPr b="0" sz="4400"/>
          </a:p>
        </p:txBody>
      </p:sp>
      <p:sp>
        <p:nvSpPr>
          <p:cNvPr id="306" name="Google Shape;306;p7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Times New Roman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5730736" y="3632282"/>
            <a:ext cx="2046288" cy="2049462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08" name="Google Shape;308;p7"/>
          <p:cNvCxnSpPr/>
          <p:nvPr/>
        </p:nvCxnSpPr>
        <p:spPr>
          <a:xfrm rot="10800000">
            <a:off x="7751624" y="4359151"/>
            <a:ext cx="7969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" name="Google Shape;309;p7"/>
          <p:cNvCxnSpPr/>
          <p:nvPr/>
        </p:nvCxnSpPr>
        <p:spPr>
          <a:xfrm rot="10800000">
            <a:off x="8310126" y="4475169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0" name="Google Shape;310;p7"/>
          <p:cNvSpPr txBox="1"/>
          <p:nvPr/>
        </p:nvSpPr>
        <p:spPr>
          <a:xfrm>
            <a:off x="8213996" y="4817733"/>
            <a:ext cx="166539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58-23-D7-FA-20-B0</a:t>
            </a:r>
            <a:endParaRPr/>
          </a:p>
        </p:txBody>
      </p:sp>
      <p:sp>
        <p:nvSpPr>
          <p:cNvPr id="311" name="Google Shape;311;p7"/>
          <p:cNvSpPr/>
          <p:nvPr/>
        </p:nvSpPr>
        <p:spPr>
          <a:xfrm>
            <a:off x="6793652" y="3392113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12" name="Google Shape;312;p7"/>
          <p:cNvGrpSpPr/>
          <p:nvPr/>
        </p:nvGrpSpPr>
        <p:grpSpPr>
          <a:xfrm>
            <a:off x="6335022" y="2859441"/>
            <a:ext cx="812800" cy="658813"/>
            <a:chOff x="-44" y="1473"/>
            <a:chExt cx="981" cy="1105"/>
          </a:xfrm>
        </p:grpSpPr>
        <p:pic>
          <p:nvPicPr>
            <p:cNvPr descr="desktop_computer_stylized_medium" id="313" name="Google Shape;313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4" name="Google Shape;314;p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15" name="Google Shape;315;p7"/>
          <p:cNvSpPr/>
          <p:nvPr/>
        </p:nvSpPr>
        <p:spPr>
          <a:xfrm>
            <a:off x="6592477" y="5645423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" name="Google Shape;316;p7"/>
          <p:cNvSpPr/>
          <p:nvPr/>
        </p:nvSpPr>
        <p:spPr>
          <a:xfrm rot="5400000">
            <a:off x="8336659" y="4240368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17" name="Google Shape;317;p7"/>
          <p:cNvGrpSpPr/>
          <p:nvPr/>
        </p:nvGrpSpPr>
        <p:grpSpPr>
          <a:xfrm>
            <a:off x="8184868" y="4087689"/>
            <a:ext cx="812800" cy="658812"/>
            <a:chOff x="-26" y="1473"/>
            <a:chExt cx="981" cy="1105"/>
          </a:xfrm>
        </p:grpSpPr>
        <p:pic>
          <p:nvPicPr>
            <p:cNvPr descr="desktop_computer_stylized_medium" id="318" name="Google Shape;318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26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9" name="Google Shape;319;p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20" name="Google Shape;320;p7"/>
          <p:cNvGrpSpPr/>
          <p:nvPr/>
        </p:nvGrpSpPr>
        <p:grpSpPr>
          <a:xfrm>
            <a:off x="6137343" y="5838977"/>
            <a:ext cx="812800" cy="658813"/>
            <a:chOff x="-44" y="1473"/>
            <a:chExt cx="981" cy="1105"/>
          </a:xfrm>
        </p:grpSpPr>
        <p:pic>
          <p:nvPicPr>
            <p:cNvPr descr="desktop_computer_stylized_medium" id="321" name="Google Shape;321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23" name="Google Shape;323;p7"/>
          <p:cNvSpPr txBox="1"/>
          <p:nvPr/>
        </p:nvSpPr>
        <p:spPr>
          <a:xfrm>
            <a:off x="8208408" y="5016515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137.196.7.14</a:t>
            </a:r>
            <a:endParaRPr/>
          </a:p>
        </p:txBody>
      </p:sp>
      <p:sp>
        <p:nvSpPr>
          <p:cNvPr id="324" name="Google Shape;324;p7"/>
          <p:cNvSpPr txBox="1"/>
          <p:nvPr/>
        </p:nvSpPr>
        <p:spPr>
          <a:xfrm>
            <a:off x="8196469" y="3835414"/>
            <a:ext cx="38985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325" name="Google Shape;325;p7"/>
          <p:cNvSpPr txBox="1"/>
          <p:nvPr/>
        </p:nvSpPr>
        <p:spPr>
          <a:xfrm>
            <a:off x="7116417" y="2702353"/>
            <a:ext cx="38985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326" name="Google Shape;326;p7"/>
          <p:cNvSpPr txBox="1"/>
          <p:nvPr/>
        </p:nvSpPr>
        <p:spPr>
          <a:xfrm>
            <a:off x="6871252" y="6088283"/>
            <a:ext cx="40748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327" name="Google Shape;327;p7"/>
          <p:cNvSpPr txBox="1"/>
          <p:nvPr/>
        </p:nvSpPr>
        <p:spPr>
          <a:xfrm>
            <a:off x="3664223" y="3615962"/>
            <a:ext cx="11661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TTL</a:t>
            </a:r>
            <a:endParaRPr/>
          </a:p>
        </p:txBody>
      </p:sp>
      <p:cxnSp>
        <p:nvCxnSpPr>
          <p:cNvPr id="328" name="Google Shape;328;p7"/>
          <p:cNvCxnSpPr/>
          <p:nvPr/>
        </p:nvCxnSpPr>
        <p:spPr>
          <a:xfrm rot="10800000">
            <a:off x="5305073" y="4465719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9" name="Google Shape;329;p7"/>
          <p:cNvSpPr txBox="1"/>
          <p:nvPr/>
        </p:nvSpPr>
        <p:spPr>
          <a:xfrm>
            <a:off x="4387498" y="4840369"/>
            <a:ext cx="15985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71-65-F7-2B-08-53</a:t>
            </a:r>
            <a:endParaRPr/>
          </a:p>
        </p:txBody>
      </p:sp>
      <p:sp>
        <p:nvSpPr>
          <p:cNvPr id="330" name="Google Shape;330;p7"/>
          <p:cNvSpPr/>
          <p:nvPr/>
        </p:nvSpPr>
        <p:spPr>
          <a:xfrm rot="5400000">
            <a:off x="5166994" y="4178448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31" name="Google Shape;331;p7"/>
          <p:cNvGrpSpPr/>
          <p:nvPr/>
        </p:nvGrpSpPr>
        <p:grpSpPr>
          <a:xfrm>
            <a:off x="4479021" y="3932319"/>
            <a:ext cx="812800" cy="658813"/>
            <a:chOff x="-44" y="1473"/>
            <a:chExt cx="981" cy="1105"/>
          </a:xfrm>
        </p:grpSpPr>
        <p:pic>
          <p:nvPicPr>
            <p:cNvPr descr="desktop_computer_stylized_medium" id="332" name="Google Shape;332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3" name="Google Shape;333;p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34" name="Google Shape;334;p7"/>
          <p:cNvSpPr txBox="1"/>
          <p:nvPr/>
        </p:nvSpPr>
        <p:spPr>
          <a:xfrm>
            <a:off x="4392191" y="5056271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137.196.7.23</a:t>
            </a:r>
            <a:endParaRPr/>
          </a:p>
        </p:txBody>
      </p:sp>
      <p:sp>
        <p:nvSpPr>
          <p:cNvPr id="335" name="Google Shape;335;p7"/>
          <p:cNvSpPr txBox="1"/>
          <p:nvPr/>
        </p:nvSpPr>
        <p:spPr>
          <a:xfrm>
            <a:off x="5274361" y="3775779"/>
            <a:ext cx="40748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grpSp>
        <p:nvGrpSpPr>
          <p:cNvPr id="336" name="Google Shape;336;p7"/>
          <p:cNvGrpSpPr/>
          <p:nvPr/>
        </p:nvGrpSpPr>
        <p:grpSpPr>
          <a:xfrm>
            <a:off x="1186072" y="3311953"/>
            <a:ext cx="3690728" cy="1373671"/>
            <a:chOff x="404194" y="2544417"/>
            <a:chExt cx="3690728" cy="1373671"/>
          </a:xfrm>
        </p:grpSpPr>
        <p:sp>
          <p:nvSpPr>
            <p:cNvPr id="337" name="Google Shape;337;p7"/>
            <p:cNvSpPr/>
            <p:nvPr/>
          </p:nvSpPr>
          <p:spPr>
            <a:xfrm>
              <a:off x="3617843" y="2842867"/>
              <a:ext cx="477079" cy="1075221"/>
            </a:xfrm>
            <a:custGeom>
              <a:rect b="b" l="l" r="r" t="t"/>
              <a:pathLst>
                <a:path extrusionOk="0" h="1051327" w="477079">
                  <a:moveTo>
                    <a:pt x="477079" y="357808"/>
                  </a:moveTo>
                  <a:lnTo>
                    <a:pt x="0" y="0"/>
                  </a:lnTo>
                  <a:lnTo>
                    <a:pt x="13253" y="1051327"/>
                  </a:lnTo>
                  <a:lnTo>
                    <a:pt x="384314" y="649356"/>
                  </a:lnTo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338" name="Google Shape;338;p7"/>
            <p:cNvGrpSpPr/>
            <p:nvPr/>
          </p:nvGrpSpPr>
          <p:grpSpPr>
            <a:xfrm>
              <a:off x="404194" y="2544417"/>
              <a:ext cx="3379301" cy="1368152"/>
              <a:chOff x="404194" y="2544417"/>
              <a:chExt cx="3379301" cy="1368152"/>
            </a:xfrm>
          </p:grpSpPr>
          <p:sp>
            <p:nvSpPr>
              <p:cNvPr id="339" name="Google Shape;339;p7"/>
              <p:cNvSpPr/>
              <p:nvPr/>
            </p:nvSpPr>
            <p:spPr>
              <a:xfrm>
                <a:off x="450575" y="2849217"/>
                <a:ext cx="3180521" cy="1060174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0" name="Google Shape;340;p7"/>
              <p:cNvSpPr txBox="1"/>
              <p:nvPr/>
            </p:nvSpPr>
            <p:spPr>
              <a:xfrm>
                <a:off x="530088" y="2544417"/>
                <a:ext cx="279620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Times New Roman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ARP table in </a:t>
                </a:r>
                <a:r>
                  <a:rPr b="0" i="0" lang="en-US" sz="1800" u="none" cap="none" strike="noStrike">
                    <a:solidFill>
                      <a:srgbClr val="0000A8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/>
              </a:p>
            </p:txBody>
          </p:sp>
          <p:cxnSp>
            <p:nvCxnSpPr>
              <p:cNvPr id="341" name="Google Shape;341;p7"/>
              <p:cNvCxnSpPr/>
              <p:nvPr/>
            </p:nvCxnSpPr>
            <p:spPr>
              <a:xfrm>
                <a:off x="437324" y="3173896"/>
                <a:ext cx="318052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42" name="Google Shape;342;p7"/>
              <p:cNvSpPr txBox="1"/>
              <p:nvPr/>
            </p:nvSpPr>
            <p:spPr>
              <a:xfrm>
                <a:off x="404194" y="2829339"/>
                <a:ext cx="93427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Times New Roman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IP addr</a:t>
                </a:r>
                <a:endParaRPr/>
              </a:p>
            </p:txBody>
          </p:sp>
          <p:sp>
            <p:nvSpPr>
              <p:cNvPr id="343" name="Google Shape;343;p7"/>
              <p:cNvSpPr txBox="1"/>
              <p:nvPr/>
            </p:nvSpPr>
            <p:spPr>
              <a:xfrm>
                <a:off x="1616766" y="2849217"/>
                <a:ext cx="1166189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Times New Roman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MAC addr</a:t>
                </a:r>
                <a:endParaRPr/>
              </a:p>
            </p:txBody>
          </p:sp>
          <p:cxnSp>
            <p:nvCxnSpPr>
              <p:cNvPr id="344" name="Google Shape;344;p7"/>
              <p:cNvCxnSpPr/>
              <p:nvPr/>
            </p:nvCxnSpPr>
            <p:spPr>
              <a:xfrm>
                <a:off x="1325218" y="2849218"/>
                <a:ext cx="0" cy="106335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5" name="Google Shape;345;p7"/>
              <p:cNvCxnSpPr/>
              <p:nvPr/>
            </p:nvCxnSpPr>
            <p:spPr>
              <a:xfrm>
                <a:off x="3240152" y="2848944"/>
                <a:ext cx="0" cy="10604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46" name="Google Shape;346;p7"/>
              <p:cNvSpPr txBox="1"/>
              <p:nvPr/>
            </p:nvSpPr>
            <p:spPr>
              <a:xfrm>
                <a:off x="3074505" y="2855842"/>
                <a:ext cx="70899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Times New Roman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TTL</a:t>
                </a:r>
                <a:endParaRPr/>
              </a:p>
            </p:txBody>
          </p:sp>
        </p:grpSp>
      </p:grpSp>
      <p:sp>
        <p:nvSpPr>
          <p:cNvPr id="347" name="Google Shape;347;p7"/>
          <p:cNvSpPr txBox="1"/>
          <p:nvPr/>
        </p:nvSpPr>
        <p:spPr>
          <a:xfrm>
            <a:off x="1049752" y="1211677"/>
            <a:ext cx="10068822" cy="8869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A wants to send datagram to B</a:t>
            </a:r>
            <a:endParaRPr/>
          </a:p>
          <a:p>
            <a:pPr indent="-234950" lvl="1" marL="3524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B’s MAC address not in A’s ARP table, so A uses ARP to find B’s MAC address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48" name="Google Shape;348;p7"/>
          <p:cNvGrpSpPr/>
          <p:nvPr/>
        </p:nvGrpSpPr>
        <p:grpSpPr>
          <a:xfrm>
            <a:off x="689113" y="2175367"/>
            <a:ext cx="5579166" cy="1292662"/>
            <a:chOff x="689113" y="2070437"/>
            <a:chExt cx="5579166" cy="1292662"/>
          </a:xfrm>
        </p:grpSpPr>
        <p:sp>
          <p:nvSpPr>
            <p:cNvPr id="349" name="Google Shape;349;p7"/>
            <p:cNvSpPr txBox="1"/>
            <p:nvPr/>
          </p:nvSpPr>
          <p:spPr>
            <a:xfrm>
              <a:off x="993914" y="2070437"/>
              <a:ext cx="5274365" cy="1292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31775" lvl="0" marL="231775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rgbClr val="0000A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broadcasts ARP query, containing B's IP addr</a:t>
              </a:r>
              <a:endParaRPr/>
            </a:p>
            <a:p>
              <a:pPr indent="-234950" lvl="1" marL="404813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destination MAC address = FF-FF-FF-FF-FF-FF</a:t>
              </a:r>
              <a:endParaRPr/>
            </a:p>
            <a:p>
              <a:pPr indent="-234950" lvl="1" marL="404813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all nodes on LAN receive ARP query </a:t>
              </a:r>
              <a:endParaRPr/>
            </a:p>
          </p:txBody>
        </p:sp>
        <p:grpSp>
          <p:nvGrpSpPr>
            <p:cNvPr id="350" name="Google Shape;350;p7"/>
            <p:cNvGrpSpPr/>
            <p:nvPr/>
          </p:nvGrpSpPr>
          <p:grpSpPr>
            <a:xfrm>
              <a:off x="689113" y="2438399"/>
              <a:ext cx="410817" cy="461665"/>
              <a:chOff x="2292626" y="5618921"/>
              <a:chExt cx="410817" cy="461665"/>
            </a:xfrm>
          </p:grpSpPr>
          <p:sp>
            <p:nvSpPr>
              <p:cNvPr id="351" name="Google Shape;351;p7"/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2" name="Google Shape;352;p7"/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/>
              </a:p>
            </p:txBody>
          </p:sp>
        </p:grpSp>
      </p:grpSp>
      <p:grpSp>
        <p:nvGrpSpPr>
          <p:cNvPr id="353" name="Google Shape;353;p7"/>
          <p:cNvGrpSpPr/>
          <p:nvPr/>
        </p:nvGrpSpPr>
        <p:grpSpPr>
          <a:xfrm>
            <a:off x="6633558" y="2781868"/>
            <a:ext cx="4272980" cy="1554072"/>
            <a:chOff x="7269663" y="106017"/>
            <a:chExt cx="4272980" cy="1554072"/>
          </a:xfrm>
        </p:grpSpPr>
        <p:sp>
          <p:nvSpPr>
            <p:cNvPr id="354" name="Google Shape;354;p7"/>
            <p:cNvSpPr/>
            <p:nvPr/>
          </p:nvSpPr>
          <p:spPr>
            <a:xfrm>
              <a:off x="7269663" y="168712"/>
              <a:ext cx="3357443" cy="1491377"/>
            </a:xfrm>
            <a:custGeom>
              <a:rect b="b" l="l" r="r" t="t"/>
              <a:pathLst>
                <a:path extrusionOk="0" h="1491377" w="3070984">
                  <a:moveTo>
                    <a:pt x="3" y="1165451"/>
                  </a:moveTo>
                  <a:cubicBezTo>
                    <a:pt x="145598" y="1121700"/>
                    <a:pt x="1219590" y="114212"/>
                    <a:pt x="1279362" y="0"/>
                  </a:cubicBezTo>
                  <a:cubicBezTo>
                    <a:pt x="1163476" y="1035639"/>
                    <a:pt x="985249" y="923350"/>
                    <a:pt x="3070984" y="923279"/>
                  </a:cubicBezTo>
                  <a:cubicBezTo>
                    <a:pt x="2279368" y="1124493"/>
                    <a:pt x="913470" y="1245953"/>
                    <a:pt x="311787" y="1491377"/>
                  </a:cubicBezTo>
                  <a:cubicBezTo>
                    <a:pt x="312912" y="1365065"/>
                    <a:pt x="-1122" y="1291763"/>
                    <a:pt x="3" y="1165451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67843"/>
                  </a:srgbClr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613913" y="106017"/>
              <a:ext cx="2743200" cy="1020417"/>
            </a:xfrm>
            <a:prstGeom prst="rect">
              <a:avLst/>
            </a:prstGeom>
            <a:solidFill>
              <a:srgbClr val="F2F2F2"/>
            </a:solidFill>
            <a:ln cap="flat" cmpd="sng" w="1270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6" name="Google Shape;356;p7"/>
            <p:cNvSpPr txBox="1"/>
            <p:nvPr/>
          </p:nvSpPr>
          <p:spPr>
            <a:xfrm>
              <a:off x="8610903" y="117460"/>
              <a:ext cx="2931740" cy="1292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Source MAC:  71-65-F7-2B-08-53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Source IP: 137.196.7.23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Target IP address: </a:t>
              </a:r>
              <a:r>
                <a:rPr b="0" i="0" lang="en-US" sz="1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137.196.7.14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…</a:t>
              </a:r>
              <a:endParaRPr/>
            </a:p>
          </p:txBody>
        </p:sp>
      </p:grpSp>
      <p:grpSp>
        <p:nvGrpSpPr>
          <p:cNvPr id="357" name="Google Shape;357;p7"/>
          <p:cNvGrpSpPr/>
          <p:nvPr/>
        </p:nvGrpSpPr>
        <p:grpSpPr>
          <a:xfrm>
            <a:off x="5367131" y="3596877"/>
            <a:ext cx="2849218" cy="2007708"/>
            <a:chOff x="437322" y="4803913"/>
            <a:chExt cx="2849218" cy="2007708"/>
          </a:xfrm>
        </p:grpSpPr>
        <p:sp>
          <p:nvSpPr>
            <p:cNvPr id="358" name="Google Shape;358;p7"/>
            <p:cNvSpPr/>
            <p:nvPr/>
          </p:nvSpPr>
          <p:spPr>
            <a:xfrm rot="5400000">
              <a:off x="1335154" y="6172202"/>
              <a:ext cx="1073429" cy="205408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9" name="Google Shape;359;p7"/>
            <p:cNvSpPr/>
            <p:nvPr/>
          </p:nvSpPr>
          <p:spPr>
            <a:xfrm rot="-5400000">
              <a:off x="1408044" y="5105399"/>
              <a:ext cx="775252" cy="172279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437322" y="5499652"/>
              <a:ext cx="2849218" cy="15902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361" name="Google Shape;361;p7"/>
            <p:cNvGrpSpPr/>
            <p:nvPr/>
          </p:nvGrpSpPr>
          <p:grpSpPr>
            <a:xfrm>
              <a:off x="1487255" y="5177985"/>
              <a:ext cx="587606" cy="741718"/>
              <a:chOff x="375561" y="297711"/>
              <a:chExt cx="1252683" cy="2138362"/>
            </a:xfrm>
          </p:grpSpPr>
          <p:sp>
            <p:nvSpPr>
              <p:cNvPr id="362" name="Google Shape;362;p7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3" name="Google Shape;363;p7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4" name="Google Shape;364;p7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365" name="Google Shape;365;p7"/>
          <p:cNvGrpSpPr/>
          <p:nvPr/>
        </p:nvGrpSpPr>
        <p:grpSpPr>
          <a:xfrm>
            <a:off x="5817705" y="4121995"/>
            <a:ext cx="410817" cy="461665"/>
            <a:chOff x="2292626" y="5618921"/>
            <a:chExt cx="410817" cy="461665"/>
          </a:xfrm>
        </p:grpSpPr>
        <p:sp>
          <p:nvSpPr>
            <p:cNvPr id="366" name="Google Shape;366;p7"/>
            <p:cNvSpPr/>
            <p:nvPr/>
          </p:nvSpPr>
          <p:spPr>
            <a:xfrm>
              <a:off x="2292626" y="5645426"/>
              <a:ext cx="410817" cy="410817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7" name="Google Shape;367;p7"/>
            <p:cNvSpPr txBox="1"/>
            <p:nvPr/>
          </p:nvSpPr>
          <p:spPr>
            <a:xfrm>
              <a:off x="2319130" y="5618921"/>
              <a:ext cx="34015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</p:grpSp>
      <p:sp>
        <p:nvSpPr>
          <p:cNvPr id="368" name="Google Shape;368;p7"/>
          <p:cNvSpPr txBox="1"/>
          <p:nvPr/>
        </p:nvSpPr>
        <p:spPr>
          <a:xfrm>
            <a:off x="7623617" y="2453566"/>
            <a:ext cx="398528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Ethernet frame (sent to FF-FF-FF-FF-FF-FF)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4" name="Google Shape;374;p8"/>
          <p:cNvCxnSpPr/>
          <p:nvPr/>
        </p:nvCxnSpPr>
        <p:spPr>
          <a:xfrm>
            <a:off x="5103533" y="4310144"/>
            <a:ext cx="901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" name="Google Shape;375;p8"/>
          <p:cNvCxnSpPr/>
          <p:nvPr/>
        </p:nvCxnSpPr>
        <p:spPr>
          <a:xfrm>
            <a:off x="6888024" y="3390291"/>
            <a:ext cx="0" cy="6556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" name="Google Shape;376;p8"/>
          <p:cNvCxnSpPr/>
          <p:nvPr/>
        </p:nvCxnSpPr>
        <p:spPr>
          <a:xfrm rot="10800000">
            <a:off x="6664393" y="5337533"/>
            <a:ext cx="0" cy="438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7" name="Google Shape;377;p8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Arial"/>
              <a:buNone/>
            </a:pPr>
            <a:r>
              <a:rPr b="0" lang="en-US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ARP protocol in action</a:t>
            </a:r>
            <a:endParaRPr b="0" sz="4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8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8"/>
          <p:cNvSpPr/>
          <p:nvPr/>
        </p:nvSpPr>
        <p:spPr>
          <a:xfrm>
            <a:off x="5730736" y="3632282"/>
            <a:ext cx="2046288" cy="2049462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0" name="Google Shape;380;p8"/>
          <p:cNvCxnSpPr/>
          <p:nvPr/>
        </p:nvCxnSpPr>
        <p:spPr>
          <a:xfrm rot="10800000">
            <a:off x="7751624" y="4359151"/>
            <a:ext cx="7969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" name="Google Shape;381;p8"/>
          <p:cNvCxnSpPr/>
          <p:nvPr/>
        </p:nvCxnSpPr>
        <p:spPr>
          <a:xfrm rot="10800000">
            <a:off x="8310126" y="4475169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2" name="Google Shape;382;p8"/>
          <p:cNvSpPr txBox="1"/>
          <p:nvPr/>
        </p:nvSpPr>
        <p:spPr>
          <a:xfrm>
            <a:off x="8213996" y="4817733"/>
            <a:ext cx="1739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58-23-D7-FA-20-B0</a:t>
            </a:r>
            <a:endParaRPr/>
          </a:p>
        </p:txBody>
      </p:sp>
      <p:sp>
        <p:nvSpPr>
          <p:cNvPr id="383" name="Google Shape;383;p8"/>
          <p:cNvSpPr/>
          <p:nvPr/>
        </p:nvSpPr>
        <p:spPr>
          <a:xfrm>
            <a:off x="6793652" y="3392113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84" name="Google Shape;384;p8"/>
          <p:cNvGrpSpPr/>
          <p:nvPr/>
        </p:nvGrpSpPr>
        <p:grpSpPr>
          <a:xfrm>
            <a:off x="6335022" y="2859441"/>
            <a:ext cx="812800" cy="658813"/>
            <a:chOff x="-44" y="1473"/>
            <a:chExt cx="981" cy="1105"/>
          </a:xfrm>
        </p:grpSpPr>
        <p:pic>
          <p:nvPicPr>
            <p:cNvPr descr="desktop_computer_stylized_medium" id="385" name="Google Shape;385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6" name="Google Shape;386;p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7" name="Google Shape;387;p8"/>
          <p:cNvSpPr/>
          <p:nvPr/>
        </p:nvSpPr>
        <p:spPr>
          <a:xfrm>
            <a:off x="6592477" y="5645423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88" name="Google Shape;388;p8"/>
          <p:cNvSpPr/>
          <p:nvPr/>
        </p:nvSpPr>
        <p:spPr>
          <a:xfrm rot="5400000">
            <a:off x="8336659" y="4240368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89" name="Google Shape;389;p8"/>
          <p:cNvGrpSpPr/>
          <p:nvPr/>
        </p:nvGrpSpPr>
        <p:grpSpPr>
          <a:xfrm>
            <a:off x="8184868" y="4087689"/>
            <a:ext cx="812800" cy="658812"/>
            <a:chOff x="-26" y="1473"/>
            <a:chExt cx="981" cy="1105"/>
          </a:xfrm>
        </p:grpSpPr>
        <p:pic>
          <p:nvPicPr>
            <p:cNvPr descr="desktop_computer_stylized_medium" id="390" name="Google Shape;390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26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2" name="Google Shape;392;p8"/>
          <p:cNvGrpSpPr/>
          <p:nvPr/>
        </p:nvGrpSpPr>
        <p:grpSpPr>
          <a:xfrm>
            <a:off x="6137343" y="5838977"/>
            <a:ext cx="812800" cy="658813"/>
            <a:chOff x="-44" y="1473"/>
            <a:chExt cx="981" cy="1105"/>
          </a:xfrm>
        </p:grpSpPr>
        <p:pic>
          <p:nvPicPr>
            <p:cNvPr descr="desktop_computer_stylized_medium" id="393" name="Google Shape;393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5" name="Google Shape;395;p8"/>
          <p:cNvSpPr txBox="1"/>
          <p:nvPr/>
        </p:nvSpPr>
        <p:spPr>
          <a:xfrm>
            <a:off x="8208408" y="5016515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137.196.7.14</a:t>
            </a:r>
            <a:endParaRPr/>
          </a:p>
        </p:txBody>
      </p:sp>
      <p:sp>
        <p:nvSpPr>
          <p:cNvPr id="396" name="Google Shape;396;p8"/>
          <p:cNvSpPr txBox="1"/>
          <p:nvPr/>
        </p:nvSpPr>
        <p:spPr>
          <a:xfrm>
            <a:off x="8196469" y="3835414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397" name="Google Shape;397;p8"/>
          <p:cNvSpPr txBox="1"/>
          <p:nvPr/>
        </p:nvSpPr>
        <p:spPr>
          <a:xfrm>
            <a:off x="7116417" y="2702353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398" name="Google Shape;398;p8"/>
          <p:cNvSpPr txBox="1"/>
          <p:nvPr/>
        </p:nvSpPr>
        <p:spPr>
          <a:xfrm>
            <a:off x="6871252" y="6088283"/>
            <a:ext cx="3738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399" name="Google Shape;399;p8"/>
          <p:cNvSpPr txBox="1"/>
          <p:nvPr/>
        </p:nvSpPr>
        <p:spPr>
          <a:xfrm>
            <a:off x="3664223" y="3615962"/>
            <a:ext cx="11661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TTL</a:t>
            </a:r>
            <a:endParaRPr/>
          </a:p>
        </p:txBody>
      </p:sp>
      <p:cxnSp>
        <p:nvCxnSpPr>
          <p:cNvPr id="400" name="Google Shape;400;p8"/>
          <p:cNvCxnSpPr/>
          <p:nvPr/>
        </p:nvCxnSpPr>
        <p:spPr>
          <a:xfrm rot="10800000">
            <a:off x="5305073" y="4465719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1" name="Google Shape;401;p8"/>
          <p:cNvSpPr txBox="1"/>
          <p:nvPr/>
        </p:nvSpPr>
        <p:spPr>
          <a:xfrm>
            <a:off x="4387498" y="4840369"/>
            <a:ext cx="1689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71-65-F7-2B-08-53</a:t>
            </a:r>
            <a:endParaRPr/>
          </a:p>
        </p:txBody>
      </p:sp>
      <p:sp>
        <p:nvSpPr>
          <p:cNvPr id="402" name="Google Shape;402;p8"/>
          <p:cNvSpPr/>
          <p:nvPr/>
        </p:nvSpPr>
        <p:spPr>
          <a:xfrm rot="5400000">
            <a:off x="5166994" y="4178448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403" name="Google Shape;403;p8"/>
          <p:cNvGrpSpPr/>
          <p:nvPr/>
        </p:nvGrpSpPr>
        <p:grpSpPr>
          <a:xfrm>
            <a:off x="4479021" y="3932319"/>
            <a:ext cx="812800" cy="658813"/>
            <a:chOff x="-44" y="1473"/>
            <a:chExt cx="981" cy="1105"/>
          </a:xfrm>
        </p:grpSpPr>
        <p:pic>
          <p:nvPicPr>
            <p:cNvPr descr="desktop_computer_stylized_medium" id="404" name="Google Shape;404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5" name="Google Shape;405;p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6" name="Google Shape;406;p8"/>
          <p:cNvSpPr txBox="1"/>
          <p:nvPr/>
        </p:nvSpPr>
        <p:spPr>
          <a:xfrm>
            <a:off x="4392191" y="5056271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137.196.7.23</a:t>
            </a:r>
            <a:endParaRPr/>
          </a:p>
        </p:txBody>
      </p:sp>
      <p:sp>
        <p:nvSpPr>
          <p:cNvPr id="407" name="Google Shape;407;p8"/>
          <p:cNvSpPr txBox="1"/>
          <p:nvPr/>
        </p:nvSpPr>
        <p:spPr>
          <a:xfrm>
            <a:off x="5274361" y="3775779"/>
            <a:ext cx="3706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grpSp>
        <p:nvGrpSpPr>
          <p:cNvPr id="408" name="Google Shape;408;p8"/>
          <p:cNvGrpSpPr/>
          <p:nvPr/>
        </p:nvGrpSpPr>
        <p:grpSpPr>
          <a:xfrm>
            <a:off x="1186072" y="3311953"/>
            <a:ext cx="3690728" cy="1373671"/>
            <a:chOff x="404194" y="2544417"/>
            <a:chExt cx="3690728" cy="1373671"/>
          </a:xfrm>
        </p:grpSpPr>
        <p:sp>
          <p:nvSpPr>
            <p:cNvPr id="409" name="Google Shape;409;p8"/>
            <p:cNvSpPr/>
            <p:nvPr/>
          </p:nvSpPr>
          <p:spPr>
            <a:xfrm>
              <a:off x="3617843" y="2842867"/>
              <a:ext cx="477079" cy="1075221"/>
            </a:xfrm>
            <a:custGeom>
              <a:rect b="b" l="l" r="r" t="t"/>
              <a:pathLst>
                <a:path extrusionOk="0" h="1051327" w="477079">
                  <a:moveTo>
                    <a:pt x="477079" y="357808"/>
                  </a:moveTo>
                  <a:lnTo>
                    <a:pt x="0" y="0"/>
                  </a:lnTo>
                  <a:lnTo>
                    <a:pt x="13253" y="1051327"/>
                  </a:lnTo>
                  <a:lnTo>
                    <a:pt x="384314" y="649356"/>
                  </a:lnTo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0" name="Google Shape;410;p8"/>
            <p:cNvGrpSpPr/>
            <p:nvPr/>
          </p:nvGrpSpPr>
          <p:grpSpPr>
            <a:xfrm>
              <a:off x="404194" y="2544417"/>
              <a:ext cx="3379301" cy="1368152"/>
              <a:chOff x="404194" y="2544417"/>
              <a:chExt cx="3379301" cy="1368152"/>
            </a:xfrm>
          </p:grpSpPr>
          <p:sp>
            <p:nvSpPr>
              <p:cNvPr id="411" name="Google Shape;411;p8"/>
              <p:cNvSpPr/>
              <p:nvPr/>
            </p:nvSpPr>
            <p:spPr>
              <a:xfrm>
                <a:off x="450575" y="2849217"/>
                <a:ext cx="3180521" cy="1060174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" name="Google Shape;412;p8"/>
              <p:cNvSpPr txBox="1"/>
              <p:nvPr/>
            </p:nvSpPr>
            <p:spPr>
              <a:xfrm>
                <a:off x="530088" y="2544417"/>
                <a:ext cx="279620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ARP table in </a:t>
                </a:r>
                <a:r>
                  <a:rPr b="0" i="0" lang="en-US" sz="1800" u="none" cap="none" strike="noStrike">
                    <a:solidFill>
                      <a:srgbClr val="0000A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cxnSp>
            <p:nvCxnSpPr>
              <p:cNvPr id="413" name="Google Shape;413;p8"/>
              <p:cNvCxnSpPr/>
              <p:nvPr/>
            </p:nvCxnSpPr>
            <p:spPr>
              <a:xfrm>
                <a:off x="437324" y="3173896"/>
                <a:ext cx="318052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14" name="Google Shape;414;p8"/>
              <p:cNvSpPr txBox="1"/>
              <p:nvPr/>
            </p:nvSpPr>
            <p:spPr>
              <a:xfrm>
                <a:off x="404194" y="2829339"/>
                <a:ext cx="93427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sp>
            <p:nvSpPr>
              <p:cNvPr id="415" name="Google Shape;415;p8"/>
              <p:cNvSpPr txBox="1"/>
              <p:nvPr/>
            </p:nvSpPr>
            <p:spPr>
              <a:xfrm>
                <a:off x="1616766" y="2849217"/>
                <a:ext cx="116618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MAC addr</a:t>
                </a:r>
                <a:endParaRPr/>
              </a:p>
            </p:txBody>
          </p:sp>
          <p:cxnSp>
            <p:nvCxnSpPr>
              <p:cNvPr id="416" name="Google Shape;416;p8"/>
              <p:cNvCxnSpPr/>
              <p:nvPr/>
            </p:nvCxnSpPr>
            <p:spPr>
              <a:xfrm>
                <a:off x="1325218" y="2849218"/>
                <a:ext cx="0" cy="106335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7" name="Google Shape;417;p8"/>
              <p:cNvCxnSpPr/>
              <p:nvPr/>
            </p:nvCxnSpPr>
            <p:spPr>
              <a:xfrm>
                <a:off x="3240152" y="2848944"/>
                <a:ext cx="0" cy="10604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18" name="Google Shape;418;p8"/>
              <p:cNvSpPr txBox="1"/>
              <p:nvPr/>
            </p:nvSpPr>
            <p:spPr>
              <a:xfrm>
                <a:off x="3074505" y="2855842"/>
                <a:ext cx="70899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TTL</a:t>
                </a:r>
                <a:endParaRPr/>
              </a:p>
            </p:txBody>
          </p:sp>
        </p:grpSp>
      </p:grpSp>
      <p:sp>
        <p:nvSpPr>
          <p:cNvPr id="419" name="Google Shape;419;p8"/>
          <p:cNvSpPr txBox="1"/>
          <p:nvPr/>
        </p:nvSpPr>
        <p:spPr>
          <a:xfrm>
            <a:off x="1049752" y="1211677"/>
            <a:ext cx="10068822" cy="9618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A wants to send datagram to B</a:t>
            </a:r>
            <a:endParaRPr/>
          </a:p>
          <a:p>
            <a:pPr indent="-234950" lvl="1" marL="3524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B’s MAC address not in A’s ARP table, so A uses ARP to find B’s MAC address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0" name="Google Shape;420;p8"/>
          <p:cNvGrpSpPr/>
          <p:nvPr/>
        </p:nvGrpSpPr>
        <p:grpSpPr>
          <a:xfrm>
            <a:off x="7730987" y="5422150"/>
            <a:ext cx="4222474" cy="769441"/>
            <a:chOff x="689113" y="2308977"/>
            <a:chExt cx="4222474" cy="769441"/>
          </a:xfrm>
        </p:grpSpPr>
        <p:sp>
          <p:nvSpPr>
            <p:cNvPr id="421" name="Google Shape;421;p8"/>
            <p:cNvSpPr txBox="1"/>
            <p:nvPr/>
          </p:nvSpPr>
          <p:spPr>
            <a:xfrm>
              <a:off x="1007166" y="2308977"/>
              <a:ext cx="3904421" cy="7694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2349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replies to A with ARP response, giving its MAC address</a:t>
              </a:r>
              <a:endParaRPr/>
            </a:p>
          </p:txBody>
        </p:sp>
        <p:grpSp>
          <p:nvGrpSpPr>
            <p:cNvPr id="422" name="Google Shape;422;p8"/>
            <p:cNvGrpSpPr/>
            <p:nvPr/>
          </p:nvGrpSpPr>
          <p:grpSpPr>
            <a:xfrm>
              <a:off x="689113" y="2438399"/>
              <a:ext cx="410817" cy="461665"/>
              <a:chOff x="2292626" y="5618921"/>
              <a:chExt cx="410817" cy="461665"/>
            </a:xfrm>
          </p:grpSpPr>
          <p:sp>
            <p:nvSpPr>
              <p:cNvPr id="423" name="Google Shape;423;p8"/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8"/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</p:grpSp>
      <p:grpSp>
        <p:nvGrpSpPr>
          <p:cNvPr id="425" name="Google Shape;425;p8"/>
          <p:cNvGrpSpPr/>
          <p:nvPr/>
        </p:nvGrpSpPr>
        <p:grpSpPr>
          <a:xfrm>
            <a:off x="6633558" y="2781868"/>
            <a:ext cx="4272980" cy="1554072"/>
            <a:chOff x="7269663" y="106017"/>
            <a:chExt cx="4272980" cy="1554072"/>
          </a:xfrm>
        </p:grpSpPr>
        <p:sp>
          <p:nvSpPr>
            <p:cNvPr id="426" name="Google Shape;426;p8"/>
            <p:cNvSpPr/>
            <p:nvPr/>
          </p:nvSpPr>
          <p:spPr>
            <a:xfrm>
              <a:off x="7269663" y="168712"/>
              <a:ext cx="3357443" cy="1491377"/>
            </a:xfrm>
            <a:custGeom>
              <a:rect b="b" l="l" r="r" t="t"/>
              <a:pathLst>
                <a:path extrusionOk="0" h="1491377" w="3070984">
                  <a:moveTo>
                    <a:pt x="3" y="1165451"/>
                  </a:moveTo>
                  <a:cubicBezTo>
                    <a:pt x="145598" y="1121700"/>
                    <a:pt x="1219590" y="114212"/>
                    <a:pt x="1279362" y="0"/>
                  </a:cubicBezTo>
                  <a:cubicBezTo>
                    <a:pt x="1163476" y="1035639"/>
                    <a:pt x="985249" y="923350"/>
                    <a:pt x="3070984" y="923279"/>
                  </a:cubicBezTo>
                  <a:cubicBezTo>
                    <a:pt x="2279368" y="1124493"/>
                    <a:pt x="913470" y="1245953"/>
                    <a:pt x="311787" y="1491377"/>
                  </a:cubicBezTo>
                  <a:cubicBezTo>
                    <a:pt x="312912" y="1365065"/>
                    <a:pt x="-1122" y="1291763"/>
                    <a:pt x="3" y="1165451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67843"/>
                  </a:srgbClr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8613913" y="106017"/>
              <a:ext cx="2743200" cy="1020417"/>
            </a:xfrm>
            <a:prstGeom prst="rect">
              <a:avLst/>
            </a:prstGeom>
            <a:solidFill>
              <a:srgbClr val="F2F2F2"/>
            </a:solidFill>
            <a:ln cap="flat" cmpd="sng" w="1270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8"/>
            <p:cNvSpPr txBox="1"/>
            <p:nvPr/>
          </p:nvSpPr>
          <p:spPr>
            <a:xfrm>
              <a:off x="8610903" y="117460"/>
              <a:ext cx="2931740" cy="1046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Target IP address: </a:t>
              </a: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137.196.7.14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Target MAC address: </a:t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58-23-D7-FA-20-B0</a:t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grpSp>
        <p:nvGrpSpPr>
          <p:cNvPr id="429" name="Google Shape;429;p8"/>
          <p:cNvGrpSpPr/>
          <p:nvPr/>
        </p:nvGrpSpPr>
        <p:grpSpPr>
          <a:xfrm>
            <a:off x="5367131" y="3970949"/>
            <a:ext cx="2849218" cy="741718"/>
            <a:chOff x="5367131" y="3866019"/>
            <a:chExt cx="2849218" cy="741718"/>
          </a:xfrm>
        </p:grpSpPr>
        <p:sp>
          <p:nvSpPr>
            <p:cNvPr id="430" name="Google Shape;430;p8"/>
            <p:cNvSpPr/>
            <p:nvPr/>
          </p:nvSpPr>
          <p:spPr>
            <a:xfrm rot="10800000">
              <a:off x="5367131" y="4187686"/>
              <a:ext cx="2849218" cy="15902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1" name="Google Shape;431;p8"/>
            <p:cNvGrpSpPr/>
            <p:nvPr/>
          </p:nvGrpSpPr>
          <p:grpSpPr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432" name="Google Shape;432;p8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8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5" name="Google Shape;435;p8"/>
            <p:cNvGrpSpPr/>
            <p:nvPr/>
          </p:nvGrpSpPr>
          <p:grpSpPr>
            <a:xfrm>
              <a:off x="7434470" y="4043570"/>
              <a:ext cx="410817" cy="461665"/>
              <a:chOff x="2292626" y="5618921"/>
              <a:chExt cx="410817" cy="461665"/>
            </a:xfrm>
          </p:grpSpPr>
          <p:sp>
            <p:nvSpPr>
              <p:cNvPr id="436" name="Google Shape;436;p8"/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8"/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</p:grpSp>
      <p:sp>
        <p:nvSpPr>
          <p:cNvPr id="438" name="Google Shape;438;p8"/>
          <p:cNvSpPr txBox="1"/>
          <p:nvPr/>
        </p:nvSpPr>
        <p:spPr>
          <a:xfrm>
            <a:off x="7901911" y="2228279"/>
            <a:ext cx="295161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ARP message into Ethernet frame (sent to 71-65-F7-2B-08-53)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4" name="Google Shape;444;p9"/>
          <p:cNvCxnSpPr/>
          <p:nvPr/>
        </p:nvCxnSpPr>
        <p:spPr>
          <a:xfrm>
            <a:off x="5103533" y="4310144"/>
            <a:ext cx="901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" name="Google Shape;445;p9"/>
          <p:cNvCxnSpPr/>
          <p:nvPr/>
        </p:nvCxnSpPr>
        <p:spPr>
          <a:xfrm>
            <a:off x="6888024" y="3390291"/>
            <a:ext cx="0" cy="6556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" name="Google Shape;446;p9"/>
          <p:cNvCxnSpPr/>
          <p:nvPr/>
        </p:nvCxnSpPr>
        <p:spPr>
          <a:xfrm rot="10800000">
            <a:off x="6664393" y="5337533"/>
            <a:ext cx="0" cy="438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7" name="Google Shape;447;p9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Arial"/>
              <a:buNone/>
            </a:pPr>
            <a:r>
              <a:rPr b="0" lang="en-US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ARP protocol in action</a:t>
            </a:r>
            <a:endParaRPr b="0" sz="4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9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9"/>
          <p:cNvSpPr/>
          <p:nvPr/>
        </p:nvSpPr>
        <p:spPr>
          <a:xfrm>
            <a:off x="5730736" y="3632282"/>
            <a:ext cx="2046288" cy="2049462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0" name="Google Shape;450;p9"/>
          <p:cNvCxnSpPr/>
          <p:nvPr/>
        </p:nvCxnSpPr>
        <p:spPr>
          <a:xfrm rot="10800000">
            <a:off x="7751624" y="4359151"/>
            <a:ext cx="7969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9"/>
          <p:cNvCxnSpPr/>
          <p:nvPr/>
        </p:nvCxnSpPr>
        <p:spPr>
          <a:xfrm rot="10800000">
            <a:off x="8310126" y="4475169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2" name="Google Shape;452;p9"/>
          <p:cNvSpPr txBox="1"/>
          <p:nvPr/>
        </p:nvSpPr>
        <p:spPr>
          <a:xfrm>
            <a:off x="8213996" y="4817733"/>
            <a:ext cx="1739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58-23-D7-FA-20-B0</a:t>
            </a:r>
            <a:endParaRPr/>
          </a:p>
        </p:txBody>
      </p:sp>
      <p:sp>
        <p:nvSpPr>
          <p:cNvPr id="453" name="Google Shape;453;p9"/>
          <p:cNvSpPr/>
          <p:nvPr/>
        </p:nvSpPr>
        <p:spPr>
          <a:xfrm>
            <a:off x="6793652" y="3392113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454" name="Google Shape;454;p9"/>
          <p:cNvGrpSpPr/>
          <p:nvPr/>
        </p:nvGrpSpPr>
        <p:grpSpPr>
          <a:xfrm>
            <a:off x="6335022" y="2859441"/>
            <a:ext cx="812800" cy="658813"/>
            <a:chOff x="-44" y="1473"/>
            <a:chExt cx="981" cy="1105"/>
          </a:xfrm>
        </p:grpSpPr>
        <p:pic>
          <p:nvPicPr>
            <p:cNvPr descr="desktop_computer_stylized_medium" id="455" name="Google Shape;455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6" name="Google Shape;456;p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7" name="Google Shape;457;p9"/>
          <p:cNvSpPr/>
          <p:nvPr/>
        </p:nvSpPr>
        <p:spPr>
          <a:xfrm>
            <a:off x="6592477" y="5645423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58" name="Google Shape;458;p9"/>
          <p:cNvSpPr/>
          <p:nvPr/>
        </p:nvSpPr>
        <p:spPr>
          <a:xfrm rot="5400000">
            <a:off x="8336659" y="4240368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459" name="Google Shape;459;p9"/>
          <p:cNvGrpSpPr/>
          <p:nvPr/>
        </p:nvGrpSpPr>
        <p:grpSpPr>
          <a:xfrm>
            <a:off x="8184868" y="4087689"/>
            <a:ext cx="812800" cy="658812"/>
            <a:chOff x="-26" y="1473"/>
            <a:chExt cx="981" cy="1105"/>
          </a:xfrm>
        </p:grpSpPr>
        <p:pic>
          <p:nvPicPr>
            <p:cNvPr descr="desktop_computer_stylized_medium" id="460" name="Google Shape;460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26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1" name="Google Shape;461;p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2" name="Google Shape;462;p9"/>
          <p:cNvGrpSpPr/>
          <p:nvPr/>
        </p:nvGrpSpPr>
        <p:grpSpPr>
          <a:xfrm>
            <a:off x="6137343" y="5838977"/>
            <a:ext cx="812800" cy="658813"/>
            <a:chOff x="-44" y="1473"/>
            <a:chExt cx="981" cy="1105"/>
          </a:xfrm>
        </p:grpSpPr>
        <p:pic>
          <p:nvPicPr>
            <p:cNvPr descr="desktop_computer_stylized_medium" id="463" name="Google Shape;46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4" name="Google Shape;464;p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5" name="Google Shape;465;p9"/>
          <p:cNvSpPr txBox="1"/>
          <p:nvPr/>
        </p:nvSpPr>
        <p:spPr>
          <a:xfrm>
            <a:off x="8208408" y="5016515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137.196.7.14</a:t>
            </a:r>
            <a:endParaRPr/>
          </a:p>
        </p:txBody>
      </p:sp>
      <p:sp>
        <p:nvSpPr>
          <p:cNvPr id="466" name="Google Shape;466;p9"/>
          <p:cNvSpPr txBox="1"/>
          <p:nvPr/>
        </p:nvSpPr>
        <p:spPr>
          <a:xfrm>
            <a:off x="8196469" y="3835414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467" name="Google Shape;467;p9"/>
          <p:cNvSpPr txBox="1"/>
          <p:nvPr/>
        </p:nvSpPr>
        <p:spPr>
          <a:xfrm>
            <a:off x="7116417" y="2702353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468" name="Google Shape;468;p9"/>
          <p:cNvSpPr txBox="1"/>
          <p:nvPr/>
        </p:nvSpPr>
        <p:spPr>
          <a:xfrm>
            <a:off x="6871252" y="6088283"/>
            <a:ext cx="3738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469" name="Google Shape;469;p9"/>
          <p:cNvSpPr txBox="1"/>
          <p:nvPr/>
        </p:nvSpPr>
        <p:spPr>
          <a:xfrm>
            <a:off x="3664223" y="3615962"/>
            <a:ext cx="11661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TTL</a:t>
            </a:r>
            <a:endParaRPr/>
          </a:p>
        </p:txBody>
      </p:sp>
      <p:cxnSp>
        <p:nvCxnSpPr>
          <p:cNvPr id="470" name="Google Shape;470;p9"/>
          <p:cNvCxnSpPr/>
          <p:nvPr/>
        </p:nvCxnSpPr>
        <p:spPr>
          <a:xfrm rot="10800000">
            <a:off x="5305073" y="4465719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1" name="Google Shape;471;p9"/>
          <p:cNvSpPr txBox="1"/>
          <p:nvPr/>
        </p:nvSpPr>
        <p:spPr>
          <a:xfrm>
            <a:off x="4387498" y="4840369"/>
            <a:ext cx="1689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71-65-F7-2B-08-53</a:t>
            </a:r>
            <a:endParaRPr/>
          </a:p>
        </p:txBody>
      </p:sp>
      <p:sp>
        <p:nvSpPr>
          <p:cNvPr id="472" name="Google Shape;472;p9"/>
          <p:cNvSpPr/>
          <p:nvPr/>
        </p:nvSpPr>
        <p:spPr>
          <a:xfrm rot="5400000">
            <a:off x="5166994" y="4178448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473" name="Google Shape;473;p9"/>
          <p:cNvGrpSpPr/>
          <p:nvPr/>
        </p:nvGrpSpPr>
        <p:grpSpPr>
          <a:xfrm>
            <a:off x="4479021" y="3932319"/>
            <a:ext cx="812800" cy="658813"/>
            <a:chOff x="-44" y="1473"/>
            <a:chExt cx="981" cy="1105"/>
          </a:xfrm>
        </p:grpSpPr>
        <p:pic>
          <p:nvPicPr>
            <p:cNvPr descr="desktop_computer_stylized_medium" id="474" name="Google Shape;474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6" name="Google Shape;476;p9"/>
          <p:cNvSpPr txBox="1"/>
          <p:nvPr/>
        </p:nvSpPr>
        <p:spPr>
          <a:xfrm>
            <a:off x="4392191" y="5056271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137.196.7.23</a:t>
            </a:r>
            <a:endParaRPr/>
          </a:p>
        </p:txBody>
      </p:sp>
      <p:sp>
        <p:nvSpPr>
          <p:cNvPr id="477" name="Google Shape;477;p9"/>
          <p:cNvSpPr txBox="1"/>
          <p:nvPr/>
        </p:nvSpPr>
        <p:spPr>
          <a:xfrm>
            <a:off x="5274361" y="3775779"/>
            <a:ext cx="3706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grpSp>
        <p:nvGrpSpPr>
          <p:cNvPr id="478" name="Google Shape;478;p9"/>
          <p:cNvGrpSpPr/>
          <p:nvPr/>
        </p:nvGrpSpPr>
        <p:grpSpPr>
          <a:xfrm>
            <a:off x="1186072" y="3311953"/>
            <a:ext cx="3690728" cy="1373671"/>
            <a:chOff x="404194" y="2544417"/>
            <a:chExt cx="3690728" cy="1373671"/>
          </a:xfrm>
        </p:grpSpPr>
        <p:sp>
          <p:nvSpPr>
            <p:cNvPr id="479" name="Google Shape;479;p9"/>
            <p:cNvSpPr/>
            <p:nvPr/>
          </p:nvSpPr>
          <p:spPr>
            <a:xfrm>
              <a:off x="3617843" y="2842867"/>
              <a:ext cx="477079" cy="1075221"/>
            </a:xfrm>
            <a:custGeom>
              <a:rect b="b" l="l" r="r" t="t"/>
              <a:pathLst>
                <a:path extrusionOk="0" h="1051327" w="477079">
                  <a:moveTo>
                    <a:pt x="477079" y="357808"/>
                  </a:moveTo>
                  <a:lnTo>
                    <a:pt x="0" y="0"/>
                  </a:lnTo>
                  <a:lnTo>
                    <a:pt x="13253" y="1051327"/>
                  </a:lnTo>
                  <a:lnTo>
                    <a:pt x="384314" y="649356"/>
                  </a:lnTo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0" name="Google Shape;480;p9"/>
            <p:cNvGrpSpPr/>
            <p:nvPr/>
          </p:nvGrpSpPr>
          <p:grpSpPr>
            <a:xfrm>
              <a:off x="404194" y="2544417"/>
              <a:ext cx="3379301" cy="1368152"/>
              <a:chOff x="404194" y="2544417"/>
              <a:chExt cx="3379301" cy="1368152"/>
            </a:xfrm>
          </p:grpSpPr>
          <p:sp>
            <p:nvSpPr>
              <p:cNvPr id="481" name="Google Shape;481;p9"/>
              <p:cNvSpPr/>
              <p:nvPr/>
            </p:nvSpPr>
            <p:spPr>
              <a:xfrm>
                <a:off x="450575" y="2849217"/>
                <a:ext cx="3180521" cy="1060174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p9"/>
              <p:cNvSpPr txBox="1"/>
              <p:nvPr/>
            </p:nvSpPr>
            <p:spPr>
              <a:xfrm>
                <a:off x="530088" y="2544417"/>
                <a:ext cx="279620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ARP table in </a:t>
                </a:r>
                <a:r>
                  <a:rPr b="0" i="0" lang="en-US" sz="1800" u="none" cap="none" strike="noStrike">
                    <a:solidFill>
                      <a:srgbClr val="0000A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cxnSp>
            <p:nvCxnSpPr>
              <p:cNvPr id="483" name="Google Shape;483;p9"/>
              <p:cNvCxnSpPr/>
              <p:nvPr/>
            </p:nvCxnSpPr>
            <p:spPr>
              <a:xfrm>
                <a:off x="437324" y="3173896"/>
                <a:ext cx="318052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84" name="Google Shape;484;p9"/>
              <p:cNvSpPr txBox="1"/>
              <p:nvPr/>
            </p:nvSpPr>
            <p:spPr>
              <a:xfrm>
                <a:off x="404194" y="2829339"/>
                <a:ext cx="93427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sp>
            <p:nvSpPr>
              <p:cNvPr id="485" name="Google Shape;485;p9"/>
              <p:cNvSpPr txBox="1"/>
              <p:nvPr/>
            </p:nvSpPr>
            <p:spPr>
              <a:xfrm>
                <a:off x="1616766" y="2849217"/>
                <a:ext cx="116618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MAC addr</a:t>
                </a:r>
                <a:endParaRPr/>
              </a:p>
            </p:txBody>
          </p:sp>
          <p:cxnSp>
            <p:nvCxnSpPr>
              <p:cNvPr id="486" name="Google Shape;486;p9"/>
              <p:cNvCxnSpPr/>
              <p:nvPr/>
            </p:nvCxnSpPr>
            <p:spPr>
              <a:xfrm>
                <a:off x="1325218" y="2849218"/>
                <a:ext cx="0" cy="106335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87" name="Google Shape;487;p9"/>
              <p:cNvCxnSpPr/>
              <p:nvPr/>
            </p:nvCxnSpPr>
            <p:spPr>
              <a:xfrm>
                <a:off x="3240152" y="2848944"/>
                <a:ext cx="0" cy="10604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88" name="Google Shape;488;p9"/>
              <p:cNvSpPr txBox="1"/>
              <p:nvPr/>
            </p:nvSpPr>
            <p:spPr>
              <a:xfrm>
                <a:off x="3074505" y="2855842"/>
                <a:ext cx="70899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TTL</a:t>
                </a:r>
                <a:endParaRPr/>
              </a:p>
            </p:txBody>
          </p:sp>
        </p:grpSp>
      </p:grpSp>
      <p:sp>
        <p:nvSpPr>
          <p:cNvPr id="489" name="Google Shape;489;p9"/>
          <p:cNvSpPr txBox="1"/>
          <p:nvPr/>
        </p:nvSpPr>
        <p:spPr>
          <a:xfrm>
            <a:off x="1049752" y="1211677"/>
            <a:ext cx="10068822" cy="946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A wants to send datagram to B</a:t>
            </a:r>
            <a:endParaRPr/>
          </a:p>
          <a:p>
            <a:pPr indent="-234950" lvl="1" marL="3524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B’s MAC address not in A’s ARP table, so A uses ARP to find B’s MAC address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0" name="Google Shape;490;p9"/>
          <p:cNvGrpSpPr/>
          <p:nvPr/>
        </p:nvGrpSpPr>
        <p:grpSpPr>
          <a:xfrm>
            <a:off x="1144656" y="5342636"/>
            <a:ext cx="4222474" cy="769441"/>
            <a:chOff x="689113" y="2308977"/>
            <a:chExt cx="4222474" cy="769441"/>
          </a:xfrm>
        </p:grpSpPr>
        <p:sp>
          <p:nvSpPr>
            <p:cNvPr id="491" name="Google Shape;491;p9"/>
            <p:cNvSpPr txBox="1"/>
            <p:nvPr/>
          </p:nvSpPr>
          <p:spPr>
            <a:xfrm>
              <a:off x="1007166" y="2308977"/>
              <a:ext cx="3904421" cy="7694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2349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receives B’s reply, adds B entry into its local ARP table</a:t>
              </a:r>
              <a:endParaRPr/>
            </a:p>
          </p:txBody>
        </p:sp>
        <p:grpSp>
          <p:nvGrpSpPr>
            <p:cNvPr id="492" name="Google Shape;492;p9"/>
            <p:cNvGrpSpPr/>
            <p:nvPr/>
          </p:nvGrpSpPr>
          <p:grpSpPr>
            <a:xfrm>
              <a:off x="689113" y="2438399"/>
              <a:ext cx="410817" cy="461665"/>
              <a:chOff x="2292626" y="5618921"/>
              <a:chExt cx="410817" cy="461665"/>
            </a:xfrm>
          </p:grpSpPr>
          <p:sp>
            <p:nvSpPr>
              <p:cNvPr id="493" name="Google Shape;493;p9"/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9"/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</p:grpSp>
      <p:grpSp>
        <p:nvGrpSpPr>
          <p:cNvPr id="495" name="Google Shape;495;p9"/>
          <p:cNvGrpSpPr/>
          <p:nvPr/>
        </p:nvGrpSpPr>
        <p:grpSpPr>
          <a:xfrm>
            <a:off x="5367131" y="3970949"/>
            <a:ext cx="1637539" cy="741718"/>
            <a:chOff x="5367131" y="3866019"/>
            <a:chExt cx="1637539" cy="741718"/>
          </a:xfrm>
        </p:grpSpPr>
        <p:sp>
          <p:nvSpPr>
            <p:cNvPr id="496" name="Google Shape;496;p9"/>
            <p:cNvSpPr/>
            <p:nvPr/>
          </p:nvSpPr>
          <p:spPr>
            <a:xfrm rot="10800000">
              <a:off x="5367131" y="4187685"/>
              <a:ext cx="1060173" cy="172279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97" name="Google Shape;497;p9"/>
            <p:cNvGrpSpPr/>
            <p:nvPr/>
          </p:nvGrpSpPr>
          <p:grpSpPr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498" name="Google Shape;498;p9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9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9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1" name="Google Shape;501;p9"/>
          <p:cNvGrpSpPr/>
          <p:nvPr/>
        </p:nvGrpSpPr>
        <p:grpSpPr>
          <a:xfrm>
            <a:off x="1217886" y="3923211"/>
            <a:ext cx="3224987" cy="523220"/>
            <a:chOff x="1217886" y="3818281"/>
            <a:chExt cx="3224987" cy="523220"/>
          </a:xfrm>
        </p:grpSpPr>
        <p:sp>
          <p:nvSpPr>
            <p:cNvPr id="502" name="Google Shape;502;p9"/>
            <p:cNvSpPr txBox="1"/>
            <p:nvPr/>
          </p:nvSpPr>
          <p:spPr>
            <a:xfrm>
              <a:off x="1217886" y="3818281"/>
              <a:ext cx="88036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137.196.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   7.14</a:t>
              </a:r>
              <a:endParaRPr/>
            </a:p>
          </p:txBody>
        </p:sp>
        <p:sp>
          <p:nvSpPr>
            <p:cNvPr id="503" name="Google Shape;503;p9"/>
            <p:cNvSpPr txBox="1"/>
            <p:nvPr/>
          </p:nvSpPr>
          <p:spPr>
            <a:xfrm>
              <a:off x="2217388" y="3897795"/>
              <a:ext cx="17399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58-23-D7-FA-20-B0</a:t>
              </a:r>
              <a:endParaRPr/>
            </a:p>
          </p:txBody>
        </p:sp>
        <p:sp>
          <p:nvSpPr>
            <p:cNvPr id="504" name="Google Shape;504;p9"/>
            <p:cNvSpPr txBox="1"/>
            <p:nvPr/>
          </p:nvSpPr>
          <p:spPr>
            <a:xfrm>
              <a:off x="3960049" y="3891169"/>
              <a:ext cx="48282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500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t/>
            </a:r>
            <a:endParaRPr/>
          </a:p>
        </p:txBody>
      </p:sp>
      <p:pic>
        <p:nvPicPr>
          <p:cNvPr id="510" name="Google Shape;51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0324" y="326350"/>
            <a:ext cx="7299175" cy="7551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t/>
            </a:r>
            <a:endParaRPr/>
          </a:p>
        </p:txBody>
      </p:sp>
      <p:pic>
        <p:nvPicPr>
          <p:cNvPr id="516" name="Google Shape;51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123488">
            <a:off x="2601468" y="134754"/>
            <a:ext cx="2907951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7209631" y="2457905"/>
            <a:ext cx="173834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t/>
            </a:r>
            <a:endParaRPr/>
          </a:p>
        </p:txBody>
      </p:sp>
      <p:pic>
        <p:nvPicPr>
          <p:cNvPr id="523" name="Google Shape;52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503783" y="-1491914"/>
            <a:ext cx="1569445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24" name="Google Shape;524;p12"/>
          <p:cNvGraphicFramePr/>
          <p:nvPr/>
        </p:nvGraphicFramePr>
        <p:xfrm>
          <a:off x="2323966" y="30030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{35AD707E-BF3E-4E7E-9F9D-EEFBA6D1AFE9}</a:tableStyleId>
              </a:tblPr>
              <a:tblGrid>
                <a:gridCol w="1257350"/>
                <a:gridCol w="628675"/>
                <a:gridCol w="628675"/>
                <a:gridCol w="1257350"/>
              </a:tblGrid>
              <a:tr h="310850"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2"/>
                        </a:solidFill>
                      </a:endParaRPr>
                    </a:p>
                  </a:txBody>
                  <a:tcPr marT="45725" marB="45725" marR="91450" marL="91450">
                    <a:solidFill>
                      <a:schemeClr val="accent3">
                        <a:alpha val="58823"/>
                      </a:schemeClr>
                    </a:solidFill>
                  </a:tcPr>
                </a:tc>
                <a:tc hMerge="1"/>
                <a:tc hMerge="1"/>
                <a:tc hMerge="1"/>
              </a:tr>
              <a:tr h="310850"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2"/>
                        </a:solidFill>
                      </a:endParaRPr>
                    </a:p>
                  </a:txBody>
                  <a:tcPr marT="45725" marB="45725" marR="91450" marL="91450">
                    <a:solidFill>
                      <a:schemeClr val="accent3">
                        <a:alpha val="58823"/>
                      </a:schemeClr>
                    </a:solidFill>
                  </a:tcPr>
                </a:tc>
                <a:tc hMerge="1"/>
                <a:tc hMerge="1"/>
                <a:tc hMerge="1"/>
              </a:tr>
              <a:tr h="370850"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2"/>
                        </a:solidFill>
                      </a:endParaRPr>
                    </a:p>
                  </a:txBody>
                  <a:tcPr marT="45725" marB="45725" marR="91450" marL="91450">
                    <a:solidFill>
                      <a:schemeClr val="accent3">
                        <a:alpha val="58823"/>
                      </a:schemeClr>
                    </a:solidFill>
                  </a:tcPr>
                </a:tc>
                <a:tc hMerge="1"/>
                <a:tc hMerge="1"/>
                <a:tc hMerge="1"/>
              </a:tr>
              <a:tr h="370850"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2"/>
                        </a:solidFill>
                      </a:endParaRPr>
                    </a:p>
                  </a:txBody>
                  <a:tcPr marT="45725" marB="45725" marR="91450" marL="91450">
                    <a:solidFill>
                      <a:schemeClr val="accent3">
                        <a:alpha val="58823"/>
                      </a:schemeClr>
                    </a:solidFill>
                  </a:tcPr>
                </a:tc>
                <a:tc hMerge="1"/>
                <a:tc hMerge="1"/>
                <a:tc hMerge="1"/>
              </a:tr>
              <a:tr h="3708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EE599">
                        <a:alpha val="58823"/>
                      </a:srgbClr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EE599">
                        <a:alpha val="58823"/>
                      </a:srgbClr>
                    </a:solidFill>
                  </a:tcPr>
                </a:tc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EE599">
                        <a:alpha val="58823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EE599">
                        <a:alpha val="58823"/>
                      </a:srgbClr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EE599">
                        <a:alpha val="58823"/>
                      </a:srgbClr>
                    </a:solidFill>
                  </a:tcPr>
                </a:tc>
              </a:tr>
              <a:tr h="370850"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EE599">
                        <a:alpha val="58823"/>
                      </a:srgbClr>
                    </a:solidFill>
                  </a:tcPr>
                </a:tc>
                <a:tc hMerge="1"/>
                <a:tc hMerge="1"/>
                <a:tc hMerge="1"/>
              </a:tr>
              <a:tr h="370850"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EE599">
                        <a:alpha val="58823"/>
                      </a:srgbClr>
                    </a:solidFill>
                  </a:tcPr>
                </a:tc>
                <a:tc hMerge="1"/>
                <a:tc hMerge="1"/>
                <a:tc hMerge="1"/>
              </a:tr>
              <a:tr h="370850"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EE599">
                        <a:alpha val="58823"/>
                      </a:srgbClr>
                    </a:solidFill>
                  </a:tcPr>
                </a:tc>
                <a:tc hMerge="1"/>
                <a:tc hMerge="1"/>
                <a:tc hMerge="1"/>
              </a:tr>
              <a:tr h="370850"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2"/>
                        </a:solidFill>
                      </a:endParaRPr>
                    </a:p>
                  </a:txBody>
                  <a:tcPr marT="45725" marB="45725" marR="91450" marL="91450">
                    <a:solidFill>
                      <a:schemeClr val="accent3">
                        <a:alpha val="58823"/>
                      </a:schemeClr>
                    </a:solidFill>
                  </a:tcPr>
                </a:tc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525" name="Google Shape;525;p12"/>
          <p:cNvGraphicFramePr/>
          <p:nvPr/>
        </p:nvGraphicFramePr>
        <p:xfrm>
          <a:off x="6968154" y="30030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{35AD707E-BF3E-4E7E-9F9D-EEFBA6D1AFE9}</a:tableStyleId>
              </a:tblPr>
              <a:tblGrid>
                <a:gridCol w="1257350"/>
                <a:gridCol w="628675"/>
                <a:gridCol w="628675"/>
                <a:gridCol w="1257350"/>
              </a:tblGrid>
              <a:tr h="330100"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chemeClr val="accent3"/>
                    </a:solidFill>
                  </a:tcPr>
                </a:tc>
                <a:tc hMerge="1"/>
                <a:tc hMerge="1"/>
                <a:tc hMerge="1"/>
              </a:tr>
              <a:tr h="370850"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chemeClr val="accent3"/>
                    </a:solidFill>
                  </a:tcPr>
                </a:tc>
                <a:tc hMerge="1"/>
                <a:tc hMerge="1"/>
                <a:tc hMerge="1"/>
              </a:tr>
              <a:tr h="370850"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chemeClr val="accent3"/>
                    </a:solidFill>
                  </a:tcPr>
                </a:tc>
                <a:tc hMerge="1"/>
                <a:tc hMerge="1"/>
                <a:tc hMerge="1"/>
              </a:tr>
              <a:tr h="3708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chemeClr val="accent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chemeClr val="accent3"/>
                    </a:solidFill>
                  </a:tcPr>
                </a:tc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EE599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EE599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EE599"/>
                    </a:solidFill>
                  </a:tcPr>
                </a:tc>
              </a:tr>
              <a:tr h="370850"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EE599"/>
                    </a:solidFill>
                  </a:tcPr>
                </a:tc>
                <a:tc hMerge="1"/>
                <a:tc hMerge="1"/>
                <a:tc hMerge="1"/>
              </a:tr>
              <a:tr h="370850"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EE599"/>
                    </a:solidFill>
                  </a:tcPr>
                </a:tc>
                <a:tc hMerge="1"/>
                <a:tc hMerge="1"/>
                <a:tc hMerge="1"/>
              </a:tr>
              <a:tr h="460550"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EE599"/>
                    </a:solidFill>
                  </a:tcPr>
                </a:tc>
                <a:tc hMerge="1"/>
                <a:tc hMerge="1"/>
                <a:tc hMerge="1"/>
              </a:tr>
              <a:tr h="370850"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EE599"/>
                    </a:solidFill>
                  </a:tcPr>
                </a:tc>
                <a:tc hMerge="1"/>
                <a:tc hMerge="1"/>
                <a:tc hMerge="1"/>
              </a:tr>
              <a:tr h="370850"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chemeClr val="accent3"/>
                    </a:solidFill>
                  </a:tcPr>
                </a:tc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526" name="Google Shape;526;p12"/>
          <p:cNvGraphicFramePr/>
          <p:nvPr/>
        </p:nvGraphicFramePr>
        <p:xfrm>
          <a:off x="404260" y="29008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{35AD707E-BF3E-4E7E-9F9D-EEFBA6D1AFE9}</a:tableStyleId>
              </a:tblPr>
              <a:tblGrid>
                <a:gridCol w="1561175"/>
              </a:tblGrid>
              <a:tr h="416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Dest MAC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2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SRC MAC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2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ARP frame type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2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Ethernet/IP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3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MAC=6/IP4/rq=1, rp=2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2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SRC MAC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2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DEST MAC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2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DEST IP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2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Checksum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3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0" lang="en-US" sz="4000">
                <a:latin typeface="Times New Roman"/>
                <a:ea typeface="Times New Roman"/>
                <a:cs typeface="Times New Roman"/>
                <a:sym typeface="Times New Roman"/>
              </a:rPr>
              <a:t>Ethernet CSMA/CD algorithm</a:t>
            </a:r>
            <a:endParaRPr/>
          </a:p>
        </p:txBody>
      </p:sp>
      <p:sp>
        <p:nvSpPr>
          <p:cNvPr id="533" name="Google Shape;533;p13"/>
          <p:cNvSpPr txBox="1"/>
          <p:nvPr/>
        </p:nvSpPr>
        <p:spPr>
          <a:xfrm>
            <a:off x="804379" y="1513440"/>
            <a:ext cx="7730021" cy="2422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2702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Times New Roman"/>
              <a:buAutoNum type="arabi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Ethernet receives datagram from network layer, creates frame</a:t>
            </a:r>
            <a:endParaRPr/>
          </a:p>
          <a:p>
            <a:pPr indent="-327025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Times New Roman"/>
              <a:buAutoNum type="arabi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Ethernet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senses channel:</a:t>
            </a:r>
            <a:endParaRPr/>
          </a:p>
          <a:p>
            <a:pPr indent="50800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b="0" i="0" lang="en-US" sz="2400" u="none" cap="none" strike="noStrike">
                <a:solidFill>
                  <a:srgbClr val="0000A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idle: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 frame transmission. </a:t>
            </a:r>
            <a:endParaRPr/>
          </a:p>
          <a:p>
            <a:pPr indent="50800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b="0" i="0" lang="en-US" sz="2400" u="none" cap="none" strike="noStrike">
                <a:solidFill>
                  <a:srgbClr val="0000A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busy: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wait until channel idle, then transmit</a:t>
            </a:r>
            <a:endParaRPr/>
          </a:p>
          <a:p>
            <a:pPr indent="-339725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Times New Roman"/>
              <a:buAutoNum type="arabi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entire frame transmitted without collision - done!</a:t>
            </a:r>
            <a:endParaRPr/>
          </a:p>
        </p:txBody>
      </p:sp>
      <p:sp>
        <p:nvSpPr>
          <p:cNvPr id="534" name="Google Shape;534;p13"/>
          <p:cNvSpPr txBox="1"/>
          <p:nvPr/>
        </p:nvSpPr>
        <p:spPr>
          <a:xfrm>
            <a:off x="848786" y="3990199"/>
            <a:ext cx="9043360" cy="2493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702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Times New Roman"/>
              <a:buAutoNum type="arabicPeriod" startAt="4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another transmission detected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sending: abort, send jam signal</a:t>
            </a:r>
            <a:endParaRPr/>
          </a:p>
          <a:p>
            <a:pPr indent="-327025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Times New Roman"/>
              <a:buAutoNum type="arabicPeriod" startAt="4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aborting, enter </a:t>
            </a:r>
            <a:r>
              <a:rPr b="0" i="1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(exponential) backoff: </a:t>
            </a:r>
            <a:endParaRPr/>
          </a:p>
          <a:p>
            <a:pPr indent="-274638" lvl="1" marL="10858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 collision, chooses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random from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{0,1,2, …, 2</a:t>
            </a:r>
            <a:r>
              <a:rPr b="1" baseline="3000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-1}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Ethernet waits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·512 bit times, returns to Step 2</a:t>
            </a:r>
            <a:endParaRPr/>
          </a:p>
          <a:p>
            <a:pPr indent="-274638" lvl="1" marL="10858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collisions: longer backoff interval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5" name="Google Shape;535;p13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Link Layer </a:t>
            </a:r>
            <a:fld id="{00000000-1234-1234-1234-123412341234}" type="slidenum"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6" name="Google Shape;536;p13"/>
          <p:cNvSpPr/>
          <p:nvPr/>
        </p:nvSpPr>
        <p:spPr>
          <a:xfrm>
            <a:off x="8922327" y="1244048"/>
            <a:ext cx="2798618" cy="1928643"/>
          </a:xfrm>
          <a:prstGeom prst="cloud">
            <a:avLst/>
          </a:prstGeom>
          <a:solidFill>
            <a:srgbClr val="FEE599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Why 512 bit times?</a:t>
            </a: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2026-04-13T04:12:06Z</dcterms:created>
  <dc:creator>Microsoft Office User</dc:creator>
</cp:coreProperties>
</file>