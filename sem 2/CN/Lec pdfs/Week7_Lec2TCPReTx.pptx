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5" r:id="rId2"/>
    <p:sldId id="273" r:id="rId3"/>
    <p:sldId id="267" r:id="rId4"/>
    <p:sldId id="266" r:id="rId5"/>
    <p:sldId id="269" r:id="rId6"/>
    <p:sldId id="270" r:id="rId7"/>
    <p:sldId id="258" r:id="rId8"/>
    <p:sldId id="271" r:id="rId9"/>
    <p:sldId id="272" r:id="rId10"/>
    <p:sldId id="259" r:id="rId11"/>
    <p:sldId id="260" r:id="rId12"/>
    <p:sldId id="26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74"/>
    <p:restoredTop sz="96154"/>
  </p:normalViewPr>
  <p:slideViewPr>
    <p:cSldViewPr snapToGrid="0" snapToObjects="1">
      <p:cViewPr varScale="1">
        <p:scale>
          <a:sx n="93" d="100"/>
          <a:sy n="93" d="100"/>
        </p:scale>
        <p:origin x="216" y="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FBB57E-29C2-044A-A2F9-620B91A6F8C6}" type="datetimeFigureOut">
              <a:rPr lang="en-US" smtClean="0"/>
              <a:t>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2D6365-40B7-6E45-84D9-D31BA50840F4}" type="slidenum">
              <a:rPr lang="en-US" smtClean="0"/>
              <a:t>‹#›</a:t>
            </a:fld>
            <a:endParaRPr lang="en-US"/>
          </a:p>
        </p:txBody>
      </p:sp>
    </p:spTree>
    <p:extLst>
      <p:ext uri="{BB962C8B-B14F-4D97-AF65-F5344CB8AC3E}">
        <p14:creationId xmlns:p14="http://schemas.microsoft.com/office/powerpoint/2010/main" val="276484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unACKed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921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cement our understanding of TCP reliability, let’s look a a few retransmission scenarios</a:t>
            </a:r>
          </a:p>
          <a:p>
            <a:endParaRPr lang="en-US" dirty="0"/>
          </a:p>
          <a:p>
            <a:r>
              <a:rPr lang="en-US" dirty="0"/>
              <a:t>In the first case a TCP segments is transmitted and the ACK is lost, and the TCP timeout mechanism results in another copy of being transmitted and then re-ACKed a the sender</a:t>
            </a:r>
          </a:p>
          <a:p>
            <a:endParaRPr lang="en-US" dirty="0"/>
          </a:p>
          <a:p>
            <a:r>
              <a:rPr lang="en-US" dirty="0"/>
              <a:t>In the second example two segments are sent and acknowledged, but there is a premature timeout e for the first segment, which is retransmitted.  Note that when this retransmitted segment is received, the receiver has already received the first two segments, and so resends a cumulative ACK for both segments received so far, rather than an ACK for just this fist segment.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6464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3032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This is how TCP re-computes the estimated RTT each time a new SampleRTT is taken.</a:t>
            </a:r>
          </a:p>
          <a:p>
            <a:r>
              <a:rPr lang="en-US" dirty="0"/>
              <a:t>The process is knows as an exponentially weighted moving average, shown by the equation here.</a:t>
            </a:r>
          </a:p>
          <a:p>
            <a:r>
              <a:rPr lang="en-US" dirty="0"/>
              <a:t>&lt;say it&gt;</a:t>
            </a:r>
          </a:p>
          <a:p>
            <a:r>
              <a:rPr lang="en-US" dirty="0"/>
              <a:t>Where alpha reflects the influence of the most recent measurements on the estimated RTT; a typical value of alpha used in implementations is .125</a:t>
            </a:r>
          </a:p>
          <a:p>
            <a:endParaRPr lang="en-US" dirty="0"/>
          </a:p>
          <a:p>
            <a:r>
              <a:rPr lang="en-US" dirty="0"/>
              <a:t>The graph at the bottom show measured RTTs between a host in the Massachusetts and a host in France, as well as the estimated, “smoothed”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9810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this value of the estimated RTT, TCP computes the timeout interval to be the estimated RTT plus a “safety margin”</a:t>
            </a:r>
          </a:p>
          <a:p>
            <a:r>
              <a:rPr lang="en-US" dirty="0"/>
              <a:t> </a:t>
            </a:r>
          </a:p>
          <a:p>
            <a:r>
              <a:rPr lang="en-US" dirty="0"/>
              <a:t>And the intuition is that if we are seeing a large variation in SAMPLERTT – the RTT estimates are fluctuating a lot - then we’ll want a larger safety margin</a:t>
            </a:r>
          </a:p>
          <a:p>
            <a:endParaRPr lang="en-US" dirty="0"/>
          </a:p>
          <a:p>
            <a:r>
              <a:rPr lang="en-US" dirty="0"/>
              <a:t>So TCP computes the Timeout interval to be the Estimated RTT plus 4 times a measure of deviation in the RTT.</a:t>
            </a:r>
          </a:p>
          <a:p>
            <a:endParaRPr lang="en-US" dirty="0"/>
          </a:p>
          <a:p>
            <a:r>
              <a:rPr lang="en-US" dirty="0"/>
              <a:t>The deviation in the RTT is computed as the eWMA of the difference between the most recently measured SampleRTT from the Estimated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4421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Given these details of TCP sequence numbers, acks, and timers, we can now describe the big picture view of how the TCP sender and receiver operate</a:t>
            </a:r>
          </a:p>
          <a:p>
            <a:endParaRPr lang="en-US" dirty="0"/>
          </a:p>
          <a:p>
            <a:r>
              <a:rPr lang="en-US" dirty="0"/>
              <a:t>You can check out FSMs in book; let’s just give an English text description here and let’s start with the sender.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6547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Rather than immediately Acknowledging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6461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DCB4462-4A09-A44C-BF98-52FDB6F2CBE4}" type="datetimeFigureOut">
              <a:rPr lang="en-US" smtClean="0"/>
              <a:t>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7B734-CD18-344F-8F0B-D3395A1B2BFF}" type="slidenum">
              <a:rPr lang="en-US" smtClean="0"/>
              <a:t>‹#›</a:t>
            </a:fld>
            <a:endParaRPr lang="en-US"/>
          </a:p>
        </p:txBody>
      </p:sp>
    </p:spTree>
    <p:extLst>
      <p:ext uri="{BB962C8B-B14F-4D97-AF65-F5344CB8AC3E}">
        <p14:creationId xmlns:p14="http://schemas.microsoft.com/office/powerpoint/2010/main" val="1317284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CB4462-4A09-A44C-BF98-52FDB6F2CBE4}" type="datetimeFigureOut">
              <a:rPr lang="en-US" smtClean="0"/>
              <a:t>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7B734-CD18-344F-8F0B-D3395A1B2BFF}" type="slidenum">
              <a:rPr lang="en-US" smtClean="0"/>
              <a:t>‹#›</a:t>
            </a:fld>
            <a:endParaRPr lang="en-US"/>
          </a:p>
        </p:txBody>
      </p:sp>
    </p:spTree>
    <p:extLst>
      <p:ext uri="{BB962C8B-B14F-4D97-AF65-F5344CB8AC3E}">
        <p14:creationId xmlns:p14="http://schemas.microsoft.com/office/powerpoint/2010/main" val="1186229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DCB4462-4A09-A44C-BF98-52FDB6F2CBE4}" type="datetimeFigureOut">
              <a:rPr lang="en-US" smtClean="0"/>
              <a:t>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7B734-CD18-344F-8F0B-D3395A1B2BFF}" type="slidenum">
              <a:rPr lang="en-US" smtClean="0"/>
              <a:t>‹#›</a:t>
            </a:fld>
            <a:endParaRPr lang="en-US"/>
          </a:p>
        </p:txBody>
      </p:sp>
    </p:spTree>
    <p:extLst>
      <p:ext uri="{BB962C8B-B14F-4D97-AF65-F5344CB8AC3E}">
        <p14:creationId xmlns:p14="http://schemas.microsoft.com/office/powerpoint/2010/main" val="1861939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DCB4462-4A09-A44C-BF98-52FDB6F2CBE4}" type="datetimeFigureOut">
              <a:rPr lang="en-US" smtClean="0"/>
              <a:t>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7B734-CD18-344F-8F0B-D3395A1B2BFF}" type="slidenum">
              <a:rPr lang="en-US" smtClean="0"/>
              <a:t>‹#›</a:t>
            </a:fld>
            <a:endParaRPr lang="en-US"/>
          </a:p>
        </p:txBody>
      </p:sp>
    </p:spTree>
    <p:extLst>
      <p:ext uri="{BB962C8B-B14F-4D97-AF65-F5344CB8AC3E}">
        <p14:creationId xmlns:p14="http://schemas.microsoft.com/office/powerpoint/2010/main" val="491556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DCB4462-4A09-A44C-BF98-52FDB6F2CBE4}" type="datetimeFigureOut">
              <a:rPr lang="en-US" smtClean="0"/>
              <a:t>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47B734-CD18-344F-8F0B-D3395A1B2BFF}" type="slidenum">
              <a:rPr lang="en-US" smtClean="0"/>
              <a:t>‹#›</a:t>
            </a:fld>
            <a:endParaRPr lang="en-US"/>
          </a:p>
        </p:txBody>
      </p:sp>
    </p:spTree>
    <p:extLst>
      <p:ext uri="{BB962C8B-B14F-4D97-AF65-F5344CB8AC3E}">
        <p14:creationId xmlns:p14="http://schemas.microsoft.com/office/powerpoint/2010/main" val="221345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DCB4462-4A09-A44C-BF98-52FDB6F2CBE4}" type="datetimeFigureOut">
              <a:rPr lang="en-US" smtClean="0"/>
              <a:t>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7B734-CD18-344F-8F0B-D3395A1B2BFF}" type="slidenum">
              <a:rPr lang="en-US" smtClean="0"/>
              <a:t>‹#›</a:t>
            </a:fld>
            <a:endParaRPr lang="en-US"/>
          </a:p>
        </p:txBody>
      </p:sp>
    </p:spTree>
    <p:extLst>
      <p:ext uri="{BB962C8B-B14F-4D97-AF65-F5344CB8AC3E}">
        <p14:creationId xmlns:p14="http://schemas.microsoft.com/office/powerpoint/2010/main" val="717873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CB4462-4A09-A44C-BF98-52FDB6F2CBE4}" type="datetimeFigureOut">
              <a:rPr lang="en-US" smtClean="0"/>
              <a:t>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47B734-CD18-344F-8F0B-D3395A1B2BFF}" type="slidenum">
              <a:rPr lang="en-US" smtClean="0"/>
              <a:t>‹#›</a:t>
            </a:fld>
            <a:endParaRPr lang="en-US"/>
          </a:p>
        </p:txBody>
      </p:sp>
    </p:spTree>
    <p:extLst>
      <p:ext uri="{BB962C8B-B14F-4D97-AF65-F5344CB8AC3E}">
        <p14:creationId xmlns:p14="http://schemas.microsoft.com/office/powerpoint/2010/main" val="729777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DCB4462-4A09-A44C-BF98-52FDB6F2CBE4}" type="datetimeFigureOut">
              <a:rPr lang="en-US" smtClean="0"/>
              <a:t>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7B734-CD18-344F-8F0B-D3395A1B2BFF}" type="slidenum">
              <a:rPr lang="en-US" smtClean="0"/>
              <a:t>‹#›</a:t>
            </a:fld>
            <a:endParaRPr lang="en-US"/>
          </a:p>
        </p:txBody>
      </p:sp>
    </p:spTree>
    <p:extLst>
      <p:ext uri="{BB962C8B-B14F-4D97-AF65-F5344CB8AC3E}">
        <p14:creationId xmlns:p14="http://schemas.microsoft.com/office/powerpoint/2010/main" val="1085199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DCB4462-4A09-A44C-BF98-52FDB6F2CBE4}" type="datetimeFigureOut">
              <a:rPr lang="en-US" smtClean="0"/>
              <a:t>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7B734-CD18-344F-8F0B-D3395A1B2BFF}" type="slidenum">
              <a:rPr lang="en-US" smtClean="0"/>
              <a:t>‹#›</a:t>
            </a:fld>
            <a:endParaRPr lang="en-US"/>
          </a:p>
        </p:txBody>
      </p:sp>
    </p:spTree>
    <p:extLst>
      <p:ext uri="{BB962C8B-B14F-4D97-AF65-F5344CB8AC3E}">
        <p14:creationId xmlns:p14="http://schemas.microsoft.com/office/powerpoint/2010/main" val="376575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CB4462-4A09-A44C-BF98-52FDB6F2CBE4}" type="datetimeFigureOut">
              <a:rPr lang="en-US" smtClean="0"/>
              <a:t>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7B734-CD18-344F-8F0B-D3395A1B2BFF}" type="slidenum">
              <a:rPr lang="en-US" smtClean="0"/>
              <a:t>‹#›</a:t>
            </a:fld>
            <a:endParaRPr lang="en-US"/>
          </a:p>
        </p:txBody>
      </p:sp>
    </p:spTree>
    <p:extLst>
      <p:ext uri="{BB962C8B-B14F-4D97-AF65-F5344CB8AC3E}">
        <p14:creationId xmlns:p14="http://schemas.microsoft.com/office/powerpoint/2010/main" val="477263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CB4462-4A09-A44C-BF98-52FDB6F2CBE4}" type="datetimeFigureOut">
              <a:rPr lang="en-US" smtClean="0"/>
              <a:t>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7B734-CD18-344F-8F0B-D3395A1B2BFF}" type="slidenum">
              <a:rPr lang="en-US" smtClean="0"/>
              <a:t>‹#›</a:t>
            </a:fld>
            <a:endParaRPr lang="en-US"/>
          </a:p>
        </p:txBody>
      </p:sp>
    </p:spTree>
    <p:extLst>
      <p:ext uri="{BB962C8B-B14F-4D97-AF65-F5344CB8AC3E}">
        <p14:creationId xmlns:p14="http://schemas.microsoft.com/office/powerpoint/2010/main" val="52069361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B4462-4A09-A44C-BF98-52FDB6F2CBE4}" type="datetimeFigureOut">
              <a:rPr lang="en-US" smtClean="0"/>
              <a:t>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47B734-CD18-344F-8F0B-D3395A1B2BFF}" type="slidenum">
              <a:rPr lang="en-US" smtClean="0"/>
              <a:t>‹#›</a:t>
            </a:fld>
            <a:endParaRPr lang="en-US"/>
          </a:p>
        </p:txBody>
      </p:sp>
    </p:spTree>
    <p:extLst>
      <p:ext uri="{BB962C8B-B14F-4D97-AF65-F5344CB8AC3E}">
        <p14:creationId xmlns:p14="http://schemas.microsoft.com/office/powerpoint/2010/main" val="1513679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IT694</a:t>
            </a:r>
            <a:br>
              <a:rPr lang="en-US" dirty="0" smtClean="0"/>
            </a:br>
            <a:r>
              <a:rPr lang="en-US" dirty="0" smtClean="0"/>
              <a:t>Computer Networks</a:t>
            </a:r>
            <a:endParaRPr lang="en-US" dirty="0"/>
          </a:p>
        </p:txBody>
      </p:sp>
      <p:sp>
        <p:nvSpPr>
          <p:cNvPr id="3" name="Subtitle 2"/>
          <p:cNvSpPr>
            <a:spLocks noGrp="1"/>
          </p:cNvSpPr>
          <p:nvPr>
            <p:ph type="subTitle" idx="1"/>
          </p:nvPr>
        </p:nvSpPr>
        <p:spPr/>
        <p:txBody>
          <a:bodyPr/>
          <a:lstStyle/>
          <a:p>
            <a:r>
              <a:rPr lang="en-US" dirty="0" smtClean="0"/>
              <a:t>Week </a:t>
            </a:r>
            <a:r>
              <a:rPr lang="en-US" dirty="0" smtClean="0"/>
              <a:t>7_Lec2</a:t>
            </a:r>
            <a:endParaRPr lang="en-US" dirty="0"/>
          </a:p>
        </p:txBody>
      </p:sp>
    </p:spTree>
    <p:extLst>
      <p:ext uri="{BB962C8B-B14F-4D97-AF65-F5344CB8AC3E}">
        <p14:creationId xmlns:p14="http://schemas.microsoft.com/office/powerpoint/2010/main" val="17794719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fast retransmit</a:t>
            </a:r>
            <a:endParaRPr lang="en-US" sz="4400" b="0" dirty="0"/>
          </a:p>
        </p:txBody>
      </p:sp>
      <p:sp>
        <p:nvSpPr>
          <p:cNvPr id="62" name="Line 10">
            <a:extLst>
              <a:ext uri="{FF2B5EF4-FFF2-40B4-BE49-F238E27FC236}">
                <a16:creationId xmlns="" xmlns:a16="http://schemas.microsoft.com/office/drawing/2014/main" id="{D5DBB1B8-3A7B-2149-A7A5-727E44799BF4}"/>
              </a:ext>
            </a:extLst>
          </p:cNvPr>
          <p:cNvSpPr>
            <a:spLocks noChangeShapeType="1"/>
          </p:cNvSpPr>
          <p:nvPr/>
        </p:nvSpPr>
        <p:spPr bwMode="auto">
          <a:xfrm flipH="1">
            <a:off x="7137251" y="1928015"/>
            <a:ext cx="0" cy="441347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3" name="Line 11">
            <a:extLst>
              <a:ext uri="{FF2B5EF4-FFF2-40B4-BE49-F238E27FC236}">
                <a16:creationId xmlns="" xmlns:a16="http://schemas.microsoft.com/office/drawing/2014/main" id="{689C7DF6-5B6C-F34C-B350-3B553A4C7C71}"/>
              </a:ext>
            </a:extLst>
          </p:cNvPr>
          <p:cNvSpPr>
            <a:spLocks noChangeShapeType="1"/>
          </p:cNvSpPr>
          <p:nvPr/>
        </p:nvSpPr>
        <p:spPr bwMode="auto">
          <a:xfrm>
            <a:off x="10614518" y="2016469"/>
            <a:ext cx="14666" cy="43250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4" name="Text Box 34">
            <a:extLst>
              <a:ext uri="{FF2B5EF4-FFF2-40B4-BE49-F238E27FC236}">
                <a16:creationId xmlns="" xmlns:a16="http://schemas.microsoft.com/office/drawing/2014/main" id="{7F373F6A-C03C-9348-95D5-6812428E4AB9}"/>
              </a:ext>
            </a:extLst>
          </p:cNvPr>
          <p:cNvSpPr txBox="1">
            <a:spLocks noChangeArrowheads="1"/>
          </p:cNvSpPr>
          <p:nvPr/>
        </p:nvSpPr>
        <p:spPr bwMode="auto">
          <a:xfrm>
            <a:off x="9960336" y="1045159"/>
            <a:ext cx="1069083" cy="39067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75" name="Text Box 38">
            <a:extLst>
              <a:ext uri="{FF2B5EF4-FFF2-40B4-BE49-F238E27FC236}">
                <a16:creationId xmlns="" xmlns:a16="http://schemas.microsoft.com/office/drawing/2014/main" id="{DAC7237E-4C51-2843-8070-FFEA26334B0E}"/>
              </a:ext>
            </a:extLst>
          </p:cNvPr>
          <p:cNvSpPr txBox="1">
            <a:spLocks noChangeArrowheads="1"/>
          </p:cNvSpPr>
          <p:nvPr/>
        </p:nvSpPr>
        <p:spPr bwMode="auto">
          <a:xfrm>
            <a:off x="6733327" y="1065430"/>
            <a:ext cx="1073474" cy="39067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80" name="Group 78">
            <a:extLst>
              <a:ext uri="{FF2B5EF4-FFF2-40B4-BE49-F238E27FC236}">
                <a16:creationId xmlns="" xmlns:a16="http://schemas.microsoft.com/office/drawing/2014/main" id="{BFB3AB37-E716-1346-A8BA-2EFF122E1DFB}"/>
              </a:ext>
            </a:extLst>
          </p:cNvPr>
          <p:cNvGrpSpPr>
            <a:grpSpLocks/>
          </p:cNvGrpSpPr>
          <p:nvPr/>
        </p:nvGrpSpPr>
        <p:grpSpPr bwMode="auto">
          <a:xfrm>
            <a:off x="6606003" y="2250502"/>
            <a:ext cx="548811" cy="4090987"/>
            <a:chOff x="397" y="868"/>
            <a:chExt cx="250" cy="2220"/>
          </a:xfrm>
        </p:grpSpPr>
        <p:sp>
          <p:nvSpPr>
            <p:cNvPr id="81" name="Text Box 50">
              <a:extLst>
                <a:ext uri="{FF2B5EF4-FFF2-40B4-BE49-F238E27FC236}">
                  <a16:creationId xmlns="" xmlns:a16="http://schemas.microsoft.com/office/drawing/2014/main" id="{20D2BEC4-83BC-594C-9709-4963DF5C652E}"/>
                </a:ext>
              </a:extLst>
            </p:cNvPr>
            <p:cNvSpPr txBox="1">
              <a:spLocks noChangeArrowheads="1"/>
            </p:cNvSpPr>
            <p:nvPr/>
          </p:nvSpPr>
          <p:spPr bwMode="auto">
            <a:xfrm rot="10800000">
              <a:off x="397" y="1778"/>
              <a:ext cx="250" cy="4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82" name="Group 51">
              <a:extLst>
                <a:ext uri="{FF2B5EF4-FFF2-40B4-BE49-F238E27FC236}">
                  <a16:creationId xmlns=""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 name="Line 53">
                <a:extLst>
                  <a:ext uri="{FF2B5EF4-FFF2-40B4-BE49-F238E27FC236}">
                    <a16:creationId xmlns=""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83" name="Group 54">
              <a:extLst>
                <a:ext uri="{FF2B5EF4-FFF2-40B4-BE49-F238E27FC236}">
                  <a16:creationId xmlns=""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5" name="Line 56">
                <a:extLst>
                  <a:ext uri="{FF2B5EF4-FFF2-40B4-BE49-F238E27FC236}">
                    <a16:creationId xmlns=""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5" name="Group 4">
            <a:extLst>
              <a:ext uri="{FF2B5EF4-FFF2-40B4-BE49-F238E27FC236}">
                <a16:creationId xmlns="" xmlns:a16="http://schemas.microsoft.com/office/drawing/2014/main" id="{DFEC346A-D192-A745-962D-2F7187BE2EBA}"/>
              </a:ext>
            </a:extLst>
          </p:cNvPr>
          <p:cNvGrpSpPr/>
          <p:nvPr/>
        </p:nvGrpSpPr>
        <p:grpSpPr>
          <a:xfrm>
            <a:off x="7013299" y="3003106"/>
            <a:ext cx="3612455" cy="2092660"/>
            <a:chOff x="7013299" y="3003106"/>
            <a:chExt cx="3612455" cy="2092660"/>
          </a:xfrm>
        </p:grpSpPr>
        <p:sp>
          <p:nvSpPr>
            <p:cNvPr id="64" name="Line 12">
              <a:extLst>
                <a:ext uri="{FF2B5EF4-FFF2-40B4-BE49-F238E27FC236}">
                  <a16:creationId xmlns="" xmlns:a16="http://schemas.microsoft.com/office/drawing/2014/main"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8" name="Line 17">
              <a:extLst>
                <a:ext uri="{FF2B5EF4-FFF2-40B4-BE49-F238E27FC236}">
                  <a16:creationId xmlns=""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9" name="Line 18">
              <a:extLst>
                <a:ext uri="{FF2B5EF4-FFF2-40B4-BE49-F238E27FC236}">
                  <a16:creationId xmlns=""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0" name="Line 19">
              <a:extLst>
                <a:ext uri="{FF2B5EF4-FFF2-40B4-BE49-F238E27FC236}">
                  <a16:creationId xmlns=""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9" name="Text Box 43">
              <a:extLst>
                <a:ext uri="{FF2B5EF4-FFF2-40B4-BE49-F238E27FC236}">
                  <a16:creationId xmlns="" xmlns:a16="http://schemas.microsoft.com/office/drawing/2014/main" id="{239E35BD-73CE-0B47-977F-0F2E0F1170FF}"/>
                </a:ext>
              </a:extLst>
            </p:cNvPr>
            <p:cNvSpPr txBox="1">
              <a:spLocks noChangeArrowheads="1"/>
            </p:cNvSpPr>
            <p:nvPr/>
          </p:nvSpPr>
          <p:spPr bwMode="auto">
            <a:xfrm rot="20736981">
              <a:off x="7013299" y="3540991"/>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0" name="Text Box 67">
              <a:extLst>
                <a:ext uri="{FF2B5EF4-FFF2-40B4-BE49-F238E27FC236}">
                  <a16:creationId xmlns="" xmlns:a16="http://schemas.microsoft.com/office/drawing/2014/main" id="{0D263B80-AF59-D348-84FD-932DC45167E5}"/>
                </a:ext>
              </a:extLst>
            </p:cNvPr>
            <p:cNvSpPr txBox="1">
              <a:spLocks noChangeArrowheads="1"/>
            </p:cNvSpPr>
            <p:nvPr/>
          </p:nvSpPr>
          <p:spPr bwMode="auto">
            <a:xfrm rot="20635106">
              <a:off x="7025762" y="4030047"/>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3" name="Text Box 74">
              <a:extLst>
                <a:ext uri="{FF2B5EF4-FFF2-40B4-BE49-F238E27FC236}">
                  <a16:creationId xmlns="" xmlns:a16="http://schemas.microsoft.com/office/drawing/2014/main" id="{8EFF23A0-366A-E64A-A6E3-90FD7CB3D7C0}"/>
                </a:ext>
              </a:extLst>
            </p:cNvPr>
            <p:cNvSpPr txBox="1">
              <a:spLocks noChangeArrowheads="1"/>
            </p:cNvSpPr>
            <p:nvPr/>
          </p:nvSpPr>
          <p:spPr bwMode="auto">
            <a:xfrm rot="20657108">
              <a:off x="7017491" y="4400415"/>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6" name="Text Box 77">
              <a:extLst>
                <a:ext uri="{FF2B5EF4-FFF2-40B4-BE49-F238E27FC236}">
                  <a16:creationId xmlns="" xmlns:a16="http://schemas.microsoft.com/office/drawing/2014/main" id="{589E2F0E-5EA2-944C-B543-F8CCDFFE3457}"/>
                </a:ext>
              </a:extLst>
            </p:cNvPr>
            <p:cNvSpPr txBox="1">
              <a:spLocks noChangeArrowheads="1"/>
            </p:cNvSpPr>
            <p:nvPr/>
          </p:nvSpPr>
          <p:spPr bwMode="auto">
            <a:xfrm rot="20628354">
              <a:off x="7020313" y="4687228"/>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97" name="Rectangle 84">
            <a:extLst>
              <a:ext uri="{FF2B5EF4-FFF2-40B4-BE49-F238E27FC236}">
                <a16:creationId xmlns="" xmlns:a16="http://schemas.microsoft.com/office/drawing/2014/main" id="{DDC13008-E549-D946-9386-1DAF70895444}"/>
              </a:ext>
            </a:extLst>
          </p:cNvPr>
          <p:cNvSpPr>
            <a:spLocks noChangeArrowheads="1"/>
          </p:cNvSpPr>
          <p:nvPr/>
        </p:nvSpPr>
        <p:spPr bwMode="auto">
          <a:xfrm>
            <a:off x="7435805" y="2563776"/>
            <a:ext cx="1047131" cy="26167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 xmlns:a16="http://schemas.microsoft.com/office/drawing/2014/main" id="{A410A887-ABC6-3C43-BE7B-AF0C2FBB6C93}"/>
              </a:ext>
            </a:extLst>
          </p:cNvPr>
          <p:cNvGrpSpPr/>
          <p:nvPr/>
        </p:nvGrpSpPr>
        <p:grpSpPr>
          <a:xfrm>
            <a:off x="7137252" y="2219051"/>
            <a:ext cx="3503609" cy="1809741"/>
            <a:chOff x="7137252" y="2219051"/>
            <a:chExt cx="3503609" cy="1809741"/>
          </a:xfrm>
        </p:grpSpPr>
        <p:sp>
          <p:nvSpPr>
            <p:cNvPr id="60" name="Line 3">
              <a:extLst>
                <a:ext uri="{FF2B5EF4-FFF2-40B4-BE49-F238E27FC236}">
                  <a16:creationId xmlns="" xmlns:a16="http://schemas.microsoft.com/office/drawing/2014/main"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 name="Line 9">
              <a:extLst>
                <a:ext uri="{FF2B5EF4-FFF2-40B4-BE49-F238E27FC236}">
                  <a16:creationId xmlns="" xmlns:a16="http://schemas.microsoft.com/office/drawing/2014/main"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5" name="Line 14">
              <a:extLst>
                <a:ext uri="{FF2B5EF4-FFF2-40B4-BE49-F238E27FC236}">
                  <a16:creationId xmlns=""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6" name="Line 15">
              <a:extLst>
                <a:ext uri="{FF2B5EF4-FFF2-40B4-BE49-F238E27FC236}">
                  <a16:creationId xmlns=""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7" name="Line 16">
              <a:extLst>
                <a:ext uri="{FF2B5EF4-FFF2-40B4-BE49-F238E27FC236}">
                  <a16:creationId xmlns=""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1" name="Text Box 20">
              <a:extLst>
                <a:ext uri="{FF2B5EF4-FFF2-40B4-BE49-F238E27FC236}">
                  <a16:creationId xmlns="" xmlns:a16="http://schemas.microsoft.com/office/drawing/2014/main" id="{E876EFCF-EFAF-7745-82C0-69510059A681}"/>
                </a:ext>
              </a:extLst>
            </p:cNvPr>
            <p:cNvSpPr txBox="1">
              <a:spLocks noChangeArrowheads="1"/>
            </p:cNvSpPr>
            <p:nvPr/>
          </p:nvSpPr>
          <p:spPr bwMode="auto">
            <a:xfrm>
              <a:off x="9451039" y="2740684"/>
              <a:ext cx="390753" cy="53072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rial" charset="0"/>
                  <a:ea typeface="ＭＳ Ｐゴシック" charset="0"/>
                  <a:cs typeface="+mn-cs"/>
                </a:rPr>
                <a:t>X</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76" name="Text Box 40">
              <a:extLst>
                <a:ext uri="{FF2B5EF4-FFF2-40B4-BE49-F238E27FC236}">
                  <a16:creationId xmlns="" xmlns:a16="http://schemas.microsoft.com/office/drawing/2014/main" id="{9B99FD84-14B7-6845-8B4C-03596E083BDE}"/>
                </a:ext>
              </a:extLst>
            </p:cNvPr>
            <p:cNvSpPr txBox="1">
              <a:spLocks noChangeArrowheads="1"/>
            </p:cNvSpPr>
            <p:nvPr/>
          </p:nvSpPr>
          <p:spPr bwMode="auto">
            <a:xfrm rot="584648">
              <a:off x="7273253" y="2219051"/>
              <a:ext cx="2122193" cy="307777"/>
            </a:xfrm>
            <a:prstGeom prst="rect">
              <a:avLst/>
            </a:prstGeom>
            <a:no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98" name="Text Box 83">
              <a:extLst>
                <a:ext uri="{FF2B5EF4-FFF2-40B4-BE49-F238E27FC236}">
                  <a16:creationId xmlns="" xmlns:a16="http://schemas.microsoft.com/office/drawing/2014/main" id="{677E8A81-661D-AA46-A7ED-6BC634EAB244}"/>
                </a:ext>
              </a:extLst>
            </p:cNvPr>
            <p:cNvSpPr txBox="1">
              <a:spLocks noChangeArrowheads="1"/>
            </p:cNvSpPr>
            <p:nvPr/>
          </p:nvSpPr>
          <p:spPr bwMode="auto">
            <a:xfrm rot="665764">
              <a:off x="7287508" y="2545419"/>
              <a:ext cx="2313691" cy="30777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8" name="Group 7">
            <a:extLst>
              <a:ext uri="{FF2B5EF4-FFF2-40B4-BE49-F238E27FC236}">
                <a16:creationId xmlns="" xmlns:a16="http://schemas.microsoft.com/office/drawing/2014/main" id="{13A0E61A-342C-6348-8A8F-CA25838E85CE}"/>
              </a:ext>
            </a:extLst>
          </p:cNvPr>
          <p:cNvGrpSpPr/>
          <p:nvPr/>
        </p:nvGrpSpPr>
        <p:grpSpPr>
          <a:xfrm>
            <a:off x="6842436" y="5132585"/>
            <a:ext cx="3833549" cy="696610"/>
            <a:chOff x="6842436" y="5132585"/>
            <a:chExt cx="3833549" cy="696610"/>
          </a:xfrm>
        </p:grpSpPr>
        <p:sp>
          <p:nvSpPr>
            <p:cNvPr id="72" name="Line 24">
              <a:extLst>
                <a:ext uri="{FF2B5EF4-FFF2-40B4-BE49-F238E27FC236}">
                  <a16:creationId xmlns="" xmlns:a16="http://schemas.microsoft.com/office/drawing/2014/main"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 name="Rectangle 85">
              <a:extLst>
                <a:ext uri="{FF2B5EF4-FFF2-40B4-BE49-F238E27FC236}">
                  <a16:creationId xmlns="" xmlns:a16="http://schemas.microsoft.com/office/drawing/2014/main"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0" name="Text Box 86">
              <a:extLst>
                <a:ext uri="{FF2B5EF4-FFF2-40B4-BE49-F238E27FC236}">
                  <a16:creationId xmlns="" xmlns:a16="http://schemas.microsoft.com/office/drawing/2014/main" id="{DDF60828-DFE2-734F-A384-4D3CA07DDADD}"/>
                </a:ext>
              </a:extLst>
            </p:cNvPr>
            <p:cNvSpPr txBox="1">
              <a:spLocks noChangeArrowheads="1"/>
            </p:cNvSpPr>
            <p:nvPr/>
          </p:nvSpPr>
          <p:spPr bwMode="auto">
            <a:xfrm>
              <a:off x="6842436" y="5132585"/>
              <a:ext cx="3154565" cy="35381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101" name="Group 93">
            <a:extLst>
              <a:ext uri="{FF2B5EF4-FFF2-40B4-BE49-F238E27FC236}">
                <a16:creationId xmlns="" xmlns:a16="http://schemas.microsoft.com/office/drawing/2014/main" id="{90980625-BCFD-F546-BD95-6CC80FC48859}"/>
              </a:ext>
            </a:extLst>
          </p:cNvPr>
          <p:cNvGrpSpPr>
            <a:grpSpLocks/>
          </p:cNvGrpSpPr>
          <p:nvPr/>
        </p:nvGrpSpPr>
        <p:grpSpPr bwMode="auto">
          <a:xfrm>
            <a:off x="6608198" y="1343690"/>
            <a:ext cx="810044" cy="619176"/>
            <a:chOff x="-44" y="1473"/>
            <a:chExt cx="981" cy="1105"/>
          </a:xfrm>
        </p:grpSpPr>
        <p:pic>
          <p:nvPicPr>
            <p:cNvPr id="102" name="Picture 94" descr="desktop_computer_stylized_medium">
              <a:extLst>
                <a:ext uri="{FF2B5EF4-FFF2-40B4-BE49-F238E27FC236}">
                  <a16:creationId xmlns=""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4" name="Group 96">
            <a:extLst>
              <a:ext uri="{FF2B5EF4-FFF2-40B4-BE49-F238E27FC236}">
                <a16:creationId xmlns="" xmlns:a16="http://schemas.microsoft.com/office/drawing/2014/main" id="{30D13886-717C-5C49-84EB-DD7C28AC75E9}"/>
              </a:ext>
            </a:extLst>
          </p:cNvPr>
          <p:cNvGrpSpPr>
            <a:grpSpLocks/>
          </p:cNvGrpSpPr>
          <p:nvPr/>
        </p:nvGrpSpPr>
        <p:grpSpPr bwMode="auto">
          <a:xfrm flipH="1">
            <a:off x="10328620" y="1375018"/>
            <a:ext cx="749093" cy="672617"/>
            <a:chOff x="-44" y="1473"/>
            <a:chExt cx="981" cy="1105"/>
          </a:xfrm>
        </p:grpSpPr>
        <p:pic>
          <p:nvPicPr>
            <p:cNvPr id="105" name="Picture 97" descr="desktop_computer_stylized_medium">
              <a:extLst>
                <a:ext uri="{FF2B5EF4-FFF2-40B4-BE49-F238E27FC236}">
                  <a16:creationId xmlns=""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 name="Group 6">
            <a:extLst>
              <a:ext uri="{FF2B5EF4-FFF2-40B4-BE49-F238E27FC236}">
                <a16:creationId xmlns="" xmlns:a16="http://schemas.microsoft.com/office/drawing/2014/main" id="{96BABFE7-C970-8E4B-A16C-A7D788B9DA23}"/>
              </a:ext>
            </a:extLst>
          </p:cNvPr>
          <p:cNvGrpSpPr/>
          <p:nvPr/>
        </p:nvGrpSpPr>
        <p:grpSpPr>
          <a:xfrm>
            <a:off x="1803400" y="4591050"/>
            <a:ext cx="5319534" cy="1606314"/>
            <a:chOff x="1803400" y="4591050"/>
            <a:chExt cx="5319534" cy="1606314"/>
          </a:xfrm>
        </p:grpSpPr>
        <p:pic>
          <p:nvPicPr>
            <p:cNvPr id="52" name="Picture 2" descr="Image result for light bulb icon">
              <a:extLst>
                <a:ext uri="{FF2B5EF4-FFF2-40B4-BE49-F238E27FC236}">
                  <a16:creationId xmlns="" xmlns:a16="http://schemas.microsoft.com/office/drawing/2014/main" id="{F30DA35F-A671-6D4D-9DD4-D0D5E13E1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 xmlns:a16="http://schemas.microsoft.com/office/drawing/2014/main" id="{34AAC8DC-F059-7445-99BF-80AECC3E6614}"/>
                </a:ext>
              </a:extLst>
            </p:cNvPr>
            <p:cNvSpPr txBox="1">
              <a:spLocks noChangeArrowheads="1"/>
            </p:cNvSpPr>
            <p:nvPr/>
          </p:nvSpPr>
          <p:spPr bwMode="auto">
            <a:xfrm>
              <a:off x="2235200" y="4775436"/>
              <a:ext cx="4145527" cy="142192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Receipt of three duplicate ACKs indicates 3 segments received after a missing segment – lost segment is likely. So retransmit!</a:t>
              </a:r>
              <a:endParaRPr kumimoji="0" lang="en-US" sz="11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cxnSp>
          <p:nvCxnSpPr>
            <p:cNvPr id="6" name="Straight Connector 5">
              <a:extLst>
                <a:ext uri="{FF2B5EF4-FFF2-40B4-BE49-F238E27FC236}">
                  <a16:creationId xmlns="" xmlns:a16="http://schemas.microsoft.com/office/drawing/2014/main"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 xmlns:a16="http://schemas.microsoft.com/office/drawing/2014/main" id="{34962C80-D280-E449-81BD-84D3E53124DD}"/>
              </a:ext>
            </a:extLst>
          </p:cNvPr>
          <p:cNvGrpSpPr/>
          <p:nvPr/>
        </p:nvGrpSpPr>
        <p:grpSpPr>
          <a:xfrm>
            <a:off x="790711" y="1227535"/>
            <a:ext cx="5214977" cy="2878929"/>
            <a:chOff x="7089911" y="1681505"/>
            <a:chExt cx="5214977" cy="2878929"/>
          </a:xfrm>
        </p:grpSpPr>
        <p:sp>
          <p:nvSpPr>
            <p:cNvPr id="58" name="Rectangle 5">
              <a:extLst>
                <a:ext uri="{FF2B5EF4-FFF2-40B4-BE49-F238E27FC236}">
                  <a16:creationId xmlns="" xmlns:a16="http://schemas.microsoft.com/office/drawing/2014/main" id="{F5C10379-FA54-C34D-B355-F07F5DA409A8}"/>
                </a:ext>
              </a:extLst>
            </p:cNvPr>
            <p:cNvSpPr>
              <a:spLocks noChangeArrowheads="1"/>
            </p:cNvSpPr>
            <p:nvPr/>
          </p:nvSpPr>
          <p:spPr bwMode="auto">
            <a:xfrm>
              <a:off x="7360355" y="2207758"/>
              <a:ext cx="4809067" cy="226377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sender receives 3 additional ACKs for same data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triple duplicate ACKs”),</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resend unACKed segment with smallest seq #</a:t>
              </a:r>
            </a:p>
            <a:p>
              <a:pPr marL="463550" marR="0" lvl="1" indent="-2381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likely that unACKed segment lost, so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wait for timeout</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9" name="Rectangle 6">
              <a:extLst>
                <a:ext uri="{FF2B5EF4-FFF2-40B4-BE49-F238E27FC236}">
                  <a16:creationId xmlns="" xmlns:a16="http://schemas.microsoft.com/office/drawing/2014/main"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07" name="Text Box 7">
              <a:extLst>
                <a:ext uri="{FF2B5EF4-FFF2-40B4-BE49-F238E27FC236}">
                  <a16:creationId xmlns="" xmlns:a16="http://schemas.microsoft.com/office/drawing/2014/main" id="{F5EE31CA-1C9B-9E4F-8E15-A0B0919A3B54}"/>
                </a:ext>
              </a:extLst>
            </p:cNvPr>
            <p:cNvSpPr txBox="1">
              <a:spLocks noChangeArrowheads="1"/>
            </p:cNvSpPr>
            <p:nvPr/>
          </p:nvSpPr>
          <p:spPr bwMode="auto">
            <a:xfrm>
              <a:off x="7348953" y="1681505"/>
              <a:ext cx="2773363" cy="45720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C0000"/>
                  </a:solidFill>
                  <a:effectLst/>
                  <a:uLnTx/>
                  <a:uFillTx/>
                  <a:latin typeface="Tahoma" charset="0"/>
                  <a:ea typeface="ＭＳ Ｐゴシック" charset="0"/>
                  <a:cs typeface="+mn-cs"/>
                </a:rPr>
                <a:t>TCP fast retransmit</a:t>
              </a:r>
            </a:p>
          </p:txBody>
        </p:sp>
      </p:grpSp>
      <p:sp>
        <p:nvSpPr>
          <p:cNvPr id="53" name="Slide Number Placeholder 2">
            <a:extLst>
              <a:ext uri="{FF2B5EF4-FFF2-40B4-BE49-F238E27FC236}">
                <a16:creationId xmlns="" xmlns:a16="http://schemas.microsoft.com/office/drawing/2014/main" id="{16A9B416-8E8B-FD4A-BF46-FBBC16EEB4F4}"/>
              </a:ext>
            </a:extLst>
          </p:cNvPr>
          <p:cNvSpPr>
            <a:spLocks noGrp="1"/>
          </p:cNvSpPr>
          <p:nvPr>
            <p:ph type="sldNum" sz="quarter" idx="4294967295"/>
          </p:nvPr>
        </p:nvSpPr>
        <p:spPr>
          <a:xfrm>
            <a:off x="9219616" y="6443089"/>
            <a:ext cx="2743200" cy="365125"/>
          </a:xfrm>
          <a:prstGeom prst="rect">
            <a:avLst/>
          </a:prstGeom>
        </p:spPr>
        <p:txBody>
          <a:bodyPr/>
          <a:lstStyle/>
          <a:p>
            <a:r>
              <a:rPr lang="en-US" dirty="0"/>
              <a:t>Transport Layer: 3-</a:t>
            </a:r>
            <a:fld id="{C4204591-24BD-A542-B9D5-F8D8A88D2FEE}" type="slidenum">
              <a:rPr lang="en-US" smtClean="0"/>
              <a:pPr/>
              <a:t>2</a:t>
            </a:fld>
            <a:endParaRPr lang="en-US" dirty="0"/>
          </a:p>
        </p:txBody>
      </p:sp>
    </p:spTree>
    <p:extLst>
      <p:ext uri="{BB962C8B-B14F-4D97-AF65-F5344CB8AC3E}">
        <p14:creationId xmlns:p14="http://schemas.microsoft.com/office/powerpoint/2010/main" val="1486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retransmission scenarios</a:t>
            </a:r>
            <a:endParaRPr lang="en-US" sz="4400" b="0" dirty="0"/>
          </a:p>
        </p:txBody>
      </p:sp>
      <p:sp>
        <p:nvSpPr>
          <p:cNvPr id="169" name="Text Box 105">
            <a:extLst>
              <a:ext uri="{FF2B5EF4-FFF2-40B4-BE49-F238E27FC236}">
                <a16:creationId xmlns="" xmlns:a16="http://schemas.microsoft.com/office/drawing/2014/main" id="{BFF25F7B-7978-5140-B991-E71AA865A711}"/>
              </a:ext>
            </a:extLst>
          </p:cNvPr>
          <p:cNvSpPr txBox="1">
            <a:spLocks noChangeArrowheads="1"/>
          </p:cNvSpPr>
          <p:nvPr/>
        </p:nvSpPr>
        <p:spPr bwMode="auto">
          <a:xfrm>
            <a:off x="2236856" y="5873422"/>
            <a:ext cx="1922463"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lost ACK scenario</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3" name="Text Box 107">
            <a:extLst>
              <a:ext uri="{FF2B5EF4-FFF2-40B4-BE49-F238E27FC236}">
                <a16:creationId xmlns="" xmlns:a16="http://schemas.microsoft.com/office/drawing/2014/main" id="{F3A3ACB5-362A-6544-B734-58B0D301B082}"/>
              </a:ext>
            </a:extLst>
          </p:cNvPr>
          <p:cNvSpPr txBox="1">
            <a:spLocks noChangeArrowheads="1"/>
          </p:cNvSpPr>
          <p:nvPr/>
        </p:nvSpPr>
        <p:spPr bwMode="auto">
          <a:xfrm>
            <a:off x="3970406" y="1183947"/>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74" name="Text Box 111">
            <a:extLst>
              <a:ext uri="{FF2B5EF4-FFF2-40B4-BE49-F238E27FC236}">
                <a16:creationId xmlns="" xmlns:a16="http://schemas.microsoft.com/office/drawing/2014/main" id="{C335325B-B5CF-6043-990C-413A908C3855}"/>
              </a:ext>
            </a:extLst>
          </p:cNvPr>
          <p:cNvSpPr txBox="1">
            <a:spLocks noChangeArrowheads="1"/>
          </p:cNvSpPr>
          <p:nvPr/>
        </p:nvSpPr>
        <p:spPr bwMode="auto">
          <a:xfrm>
            <a:off x="1636781" y="1201410"/>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4" name="Group 3">
            <a:extLst>
              <a:ext uri="{FF2B5EF4-FFF2-40B4-BE49-F238E27FC236}">
                <a16:creationId xmlns="" xmlns:a16="http://schemas.microsoft.com/office/drawing/2014/main" id="{47AB30F9-BD3F-264E-8DF5-3B4B9CA352A7}"/>
              </a:ext>
            </a:extLst>
          </p:cNvPr>
          <p:cNvGrpSpPr/>
          <p:nvPr/>
        </p:nvGrpSpPr>
        <p:grpSpPr>
          <a:xfrm>
            <a:off x="2032069" y="2342822"/>
            <a:ext cx="2346325" cy="571500"/>
            <a:chOff x="2032069" y="2342822"/>
            <a:chExt cx="2346325" cy="571500"/>
          </a:xfrm>
        </p:grpSpPr>
        <p:sp>
          <p:nvSpPr>
            <p:cNvPr id="171" name="Line 100">
              <a:extLst>
                <a:ext uri="{FF2B5EF4-FFF2-40B4-BE49-F238E27FC236}">
                  <a16:creationId xmlns="" xmlns:a16="http://schemas.microsoft.com/office/drawing/2014/main" id="{9BCB851E-085B-9D4B-8A34-064757F2C932}"/>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5" name="Rectangle 112">
              <a:extLst>
                <a:ext uri="{FF2B5EF4-FFF2-40B4-BE49-F238E27FC236}">
                  <a16:creationId xmlns="" xmlns:a16="http://schemas.microsoft.com/office/drawing/2014/main" id="{B9ED3E7B-3C38-A24B-9528-FA547DDE0CDC}"/>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6" name="Text Box 113">
              <a:extLst>
                <a:ext uri="{FF2B5EF4-FFF2-40B4-BE49-F238E27FC236}">
                  <a16:creationId xmlns="" xmlns:a16="http://schemas.microsoft.com/office/drawing/2014/main" id="{08010453-6652-E348-AC57-7E9E8D356969}"/>
                </a:ext>
              </a:extLst>
            </p:cNvPr>
            <p:cNvSpPr txBox="1">
              <a:spLocks noChangeArrowheads="1"/>
            </p:cNvSpPr>
            <p:nvPr/>
          </p:nvSpPr>
          <p:spPr bwMode="auto">
            <a:xfrm>
              <a:off x="2176531" y="2476172"/>
              <a:ext cx="208597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sp>
        <p:nvSpPr>
          <p:cNvPr id="179" name="Line 118">
            <a:extLst>
              <a:ext uri="{FF2B5EF4-FFF2-40B4-BE49-F238E27FC236}">
                <a16:creationId xmlns="" xmlns:a16="http://schemas.microsoft.com/office/drawing/2014/main" id="{5429E427-16E3-344A-A034-DAE0253AB97D}"/>
              </a:ext>
            </a:extLst>
          </p:cNvPr>
          <p:cNvSpPr>
            <a:spLocks noChangeShapeType="1"/>
          </p:cNvSpPr>
          <p:nvPr/>
        </p:nvSpPr>
        <p:spPr bwMode="auto">
          <a:xfrm>
            <a:off x="2011431" y="2101522"/>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0" name="Line 119">
            <a:extLst>
              <a:ext uri="{FF2B5EF4-FFF2-40B4-BE49-F238E27FC236}">
                <a16:creationId xmlns="" xmlns:a16="http://schemas.microsoft.com/office/drawing/2014/main" id="{B685EEAE-4766-CE43-A2A6-32288A3FE5E9}"/>
              </a:ext>
            </a:extLst>
          </p:cNvPr>
          <p:cNvSpPr>
            <a:spLocks noChangeShapeType="1"/>
          </p:cNvSpPr>
          <p:nvPr/>
        </p:nvSpPr>
        <p:spPr bwMode="auto">
          <a:xfrm>
            <a:off x="4438719" y="2096760"/>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8" name="Group 7">
            <a:extLst>
              <a:ext uri="{FF2B5EF4-FFF2-40B4-BE49-F238E27FC236}">
                <a16:creationId xmlns="" xmlns:a16="http://schemas.microsoft.com/office/drawing/2014/main" id="{F2169BDB-26D4-794C-AF29-1EBFE13D6C8F}"/>
              </a:ext>
            </a:extLst>
          </p:cNvPr>
          <p:cNvGrpSpPr/>
          <p:nvPr/>
        </p:nvGrpSpPr>
        <p:grpSpPr>
          <a:xfrm>
            <a:off x="2019369" y="4104947"/>
            <a:ext cx="2351087" cy="512763"/>
            <a:chOff x="2019369" y="4104947"/>
            <a:chExt cx="2351087" cy="512763"/>
          </a:xfrm>
        </p:grpSpPr>
        <p:sp>
          <p:nvSpPr>
            <p:cNvPr id="170" name="Line 99">
              <a:extLst>
                <a:ext uri="{FF2B5EF4-FFF2-40B4-BE49-F238E27FC236}">
                  <a16:creationId xmlns="" xmlns:a16="http://schemas.microsoft.com/office/drawing/2014/main" id="{79B38498-1004-6944-956A-ECE43F5BF0A1}"/>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1" name="Rectangle 122">
              <a:extLst>
                <a:ext uri="{FF2B5EF4-FFF2-40B4-BE49-F238E27FC236}">
                  <a16:creationId xmlns="" xmlns:a16="http://schemas.microsoft.com/office/drawing/2014/main" id="{60DDB655-86B1-2D4B-9108-1CEBCFF76AC9}"/>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2" name="Text Box 123">
              <a:extLst>
                <a:ext uri="{FF2B5EF4-FFF2-40B4-BE49-F238E27FC236}">
                  <a16:creationId xmlns="" xmlns:a16="http://schemas.microsoft.com/office/drawing/2014/main" id="{FB31845A-BC05-2942-A23F-7101518E3BF6}"/>
                </a:ext>
              </a:extLst>
            </p:cNvPr>
            <p:cNvSpPr txBox="1">
              <a:spLocks noChangeArrowheads="1"/>
            </p:cNvSpPr>
            <p:nvPr/>
          </p:nvSpPr>
          <p:spPr bwMode="auto">
            <a:xfrm>
              <a:off x="2165419" y="4185910"/>
              <a:ext cx="208597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grpSp>
        <p:nvGrpSpPr>
          <p:cNvPr id="6" name="Group 5">
            <a:extLst>
              <a:ext uri="{FF2B5EF4-FFF2-40B4-BE49-F238E27FC236}">
                <a16:creationId xmlns="" xmlns:a16="http://schemas.microsoft.com/office/drawing/2014/main" id="{BDFBEB0F-AD33-9841-96A8-08332FBAA960}"/>
              </a:ext>
            </a:extLst>
          </p:cNvPr>
          <p:cNvGrpSpPr/>
          <p:nvPr/>
        </p:nvGrpSpPr>
        <p:grpSpPr>
          <a:xfrm>
            <a:off x="2857569" y="3004810"/>
            <a:ext cx="1484312" cy="628650"/>
            <a:chOff x="2857569" y="3004810"/>
            <a:chExt cx="1484312" cy="628650"/>
          </a:xfrm>
        </p:grpSpPr>
        <p:sp>
          <p:nvSpPr>
            <p:cNvPr id="172" name="Line 104">
              <a:extLst>
                <a:ext uri="{FF2B5EF4-FFF2-40B4-BE49-F238E27FC236}">
                  <a16:creationId xmlns="" xmlns:a16="http://schemas.microsoft.com/office/drawing/2014/main" id="{CDD77362-C693-4645-AF99-2BBCF441D31A}"/>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7" name="Rectangle 114">
              <a:extLst>
                <a:ext uri="{FF2B5EF4-FFF2-40B4-BE49-F238E27FC236}">
                  <a16:creationId xmlns="" xmlns:a16="http://schemas.microsoft.com/office/drawing/2014/main" id="{8B525616-75BA-9C49-973A-BD0F57E70412}"/>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8" name="Text Box 115">
              <a:extLst>
                <a:ext uri="{FF2B5EF4-FFF2-40B4-BE49-F238E27FC236}">
                  <a16:creationId xmlns="" xmlns:a16="http://schemas.microsoft.com/office/drawing/2014/main" id="{F3EC555B-6627-3C46-9C43-7AB97835B780}"/>
                </a:ext>
              </a:extLst>
            </p:cNvPr>
            <p:cNvSpPr txBox="1">
              <a:spLocks noChangeArrowheads="1"/>
            </p:cNvSpPr>
            <p:nvPr/>
          </p:nvSpPr>
          <p:spPr bwMode="auto">
            <a:xfrm>
              <a:off x="3224281" y="3046085"/>
              <a:ext cx="94932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183" name="Text Box 124">
              <a:extLst>
                <a:ext uri="{FF2B5EF4-FFF2-40B4-BE49-F238E27FC236}">
                  <a16:creationId xmlns="" xmlns:a16="http://schemas.microsoft.com/office/drawing/2014/main" id="{41BA4870-FF33-4142-991E-EDDE2B5293A4}"/>
                </a:ext>
              </a:extLst>
            </p:cNvPr>
            <p:cNvSpPr txBox="1">
              <a:spLocks noChangeArrowheads="1"/>
            </p:cNvSpPr>
            <p:nvPr/>
          </p:nvSpPr>
          <p:spPr bwMode="auto">
            <a:xfrm>
              <a:off x="2857569" y="3236585"/>
              <a:ext cx="3587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grpSp>
      <p:grpSp>
        <p:nvGrpSpPr>
          <p:cNvPr id="9" name="Group 8">
            <a:extLst>
              <a:ext uri="{FF2B5EF4-FFF2-40B4-BE49-F238E27FC236}">
                <a16:creationId xmlns="" xmlns:a16="http://schemas.microsoft.com/office/drawing/2014/main" id="{CA465D82-8FEB-3440-B371-2468D04E80CF}"/>
              </a:ext>
            </a:extLst>
          </p:cNvPr>
          <p:cNvGrpSpPr/>
          <p:nvPr/>
        </p:nvGrpSpPr>
        <p:grpSpPr>
          <a:xfrm>
            <a:off x="2008256" y="4703435"/>
            <a:ext cx="2338388" cy="782637"/>
            <a:chOff x="2008256" y="4703435"/>
            <a:chExt cx="2338388" cy="782637"/>
          </a:xfrm>
        </p:grpSpPr>
        <p:sp>
          <p:nvSpPr>
            <p:cNvPr id="185" name="Line 127">
              <a:extLst>
                <a:ext uri="{FF2B5EF4-FFF2-40B4-BE49-F238E27FC236}">
                  <a16:creationId xmlns="" xmlns:a16="http://schemas.microsoft.com/office/drawing/2014/main" id="{6B2D3167-D859-5D44-BBF6-C9AD75BFE46D}"/>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6" name="Rectangle 128">
              <a:extLst>
                <a:ext uri="{FF2B5EF4-FFF2-40B4-BE49-F238E27FC236}">
                  <a16:creationId xmlns="" xmlns:a16="http://schemas.microsoft.com/office/drawing/2014/main" id="{37A3DBF6-24FE-EF4F-8D6C-4ABC3854148F}"/>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7" name="Text Box 129">
              <a:extLst>
                <a:ext uri="{FF2B5EF4-FFF2-40B4-BE49-F238E27FC236}">
                  <a16:creationId xmlns="" xmlns:a16="http://schemas.microsoft.com/office/drawing/2014/main" id="{06DE42B2-117E-D241-8A87-B070A56CDFEA}"/>
                </a:ext>
              </a:extLst>
            </p:cNvPr>
            <p:cNvSpPr txBox="1">
              <a:spLocks noChangeArrowheads="1"/>
            </p:cNvSpPr>
            <p:nvPr/>
          </p:nvSpPr>
          <p:spPr bwMode="auto">
            <a:xfrm>
              <a:off x="2762319" y="4916160"/>
              <a:ext cx="94932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7" name="Group 6">
            <a:extLst>
              <a:ext uri="{FF2B5EF4-FFF2-40B4-BE49-F238E27FC236}">
                <a16:creationId xmlns="" xmlns:a16="http://schemas.microsoft.com/office/drawing/2014/main" id="{9218D318-345A-1343-9E16-E2157D9EC9CA}"/>
              </a:ext>
            </a:extLst>
          </p:cNvPr>
          <p:cNvGrpSpPr/>
          <p:nvPr/>
        </p:nvGrpSpPr>
        <p:grpSpPr>
          <a:xfrm>
            <a:off x="1638369" y="2347585"/>
            <a:ext cx="396875" cy="1751012"/>
            <a:chOff x="1638369" y="2347585"/>
            <a:chExt cx="396875" cy="1751012"/>
          </a:xfrm>
        </p:grpSpPr>
        <p:sp>
          <p:nvSpPr>
            <p:cNvPr id="184" name="Text Box 126">
              <a:extLst>
                <a:ext uri="{FF2B5EF4-FFF2-40B4-BE49-F238E27FC236}">
                  <a16:creationId xmlns="" xmlns:a16="http://schemas.microsoft.com/office/drawing/2014/main" id="{708F4626-9140-0E43-9D62-AA0567E12965}"/>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188" name="Group 134">
              <a:extLst>
                <a:ext uri="{FF2B5EF4-FFF2-40B4-BE49-F238E27FC236}">
                  <a16:creationId xmlns="" xmlns:a16="http://schemas.microsoft.com/office/drawing/2014/main" id="{A9BA4A8C-06E2-9D49-BA1F-308DB5A5179B}"/>
                </a:ext>
              </a:extLst>
            </p:cNvPr>
            <p:cNvGrpSpPr>
              <a:grpSpLocks/>
            </p:cNvGrpSpPr>
            <p:nvPr/>
          </p:nvGrpSpPr>
          <p:grpSpPr bwMode="auto">
            <a:xfrm>
              <a:off x="1779656" y="2347585"/>
              <a:ext cx="104775" cy="508000"/>
              <a:chOff x="3099" y="1749"/>
              <a:chExt cx="66" cy="320"/>
            </a:xfrm>
          </p:grpSpPr>
          <p:sp>
            <p:nvSpPr>
              <p:cNvPr id="189" name="Line 132">
                <a:extLst>
                  <a:ext uri="{FF2B5EF4-FFF2-40B4-BE49-F238E27FC236}">
                    <a16:creationId xmlns="" xmlns:a16="http://schemas.microsoft.com/office/drawing/2014/main" id="{9EFE05E8-2CD9-1641-9F8B-2FBC570F2364}"/>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Line 133">
                <a:extLst>
                  <a:ext uri="{FF2B5EF4-FFF2-40B4-BE49-F238E27FC236}">
                    <a16:creationId xmlns="" xmlns:a16="http://schemas.microsoft.com/office/drawing/2014/main" id="{65E827A8-0207-644E-85CB-90C7657D1F32}"/>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91" name="Group 135">
              <a:extLst>
                <a:ext uri="{FF2B5EF4-FFF2-40B4-BE49-F238E27FC236}">
                  <a16:creationId xmlns="" xmlns:a16="http://schemas.microsoft.com/office/drawing/2014/main" id="{0EF52FA7-3D6C-FA40-A158-75B80E576A89}"/>
                </a:ext>
              </a:extLst>
            </p:cNvPr>
            <p:cNvGrpSpPr>
              <a:grpSpLocks/>
            </p:cNvGrpSpPr>
            <p:nvPr/>
          </p:nvGrpSpPr>
          <p:grpSpPr bwMode="auto">
            <a:xfrm rot="10800000">
              <a:off x="1774894" y="3590597"/>
              <a:ext cx="104775" cy="508000"/>
              <a:chOff x="3099" y="1749"/>
              <a:chExt cx="66" cy="320"/>
            </a:xfrm>
          </p:grpSpPr>
          <p:sp>
            <p:nvSpPr>
              <p:cNvPr id="192" name="Line 136">
                <a:extLst>
                  <a:ext uri="{FF2B5EF4-FFF2-40B4-BE49-F238E27FC236}">
                    <a16:creationId xmlns="" xmlns:a16="http://schemas.microsoft.com/office/drawing/2014/main" id="{5229B570-0DC5-A34A-9912-9DC1EC3AF608}"/>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3" name="Line 137">
                <a:extLst>
                  <a:ext uri="{FF2B5EF4-FFF2-40B4-BE49-F238E27FC236}">
                    <a16:creationId xmlns="" xmlns:a16="http://schemas.microsoft.com/office/drawing/2014/main" id="{F842F667-D30F-4D4B-9510-3CA19042994E}"/>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sp>
        <p:nvSpPr>
          <p:cNvPr id="194" name="Text Box 172">
            <a:extLst>
              <a:ext uri="{FF2B5EF4-FFF2-40B4-BE49-F238E27FC236}">
                <a16:creationId xmlns="" xmlns:a16="http://schemas.microsoft.com/office/drawing/2014/main" id="{5B3CEA4D-B0D0-D04E-ADE8-909B1EDA7441}"/>
              </a:ext>
            </a:extLst>
          </p:cNvPr>
          <p:cNvSpPr txBox="1">
            <a:spLocks noChangeArrowheads="1"/>
          </p:cNvSpPr>
          <p:nvPr/>
        </p:nvSpPr>
        <p:spPr bwMode="auto">
          <a:xfrm>
            <a:off x="7759116" y="5873422"/>
            <a:ext cx="2073275"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premature timeout</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8" name="Text Box 177">
            <a:extLst>
              <a:ext uri="{FF2B5EF4-FFF2-40B4-BE49-F238E27FC236}">
                <a16:creationId xmlns="" xmlns:a16="http://schemas.microsoft.com/office/drawing/2014/main" id="{970D57D0-6509-F14E-A7FF-FFA09672DA95}"/>
              </a:ext>
            </a:extLst>
          </p:cNvPr>
          <p:cNvSpPr txBox="1">
            <a:spLocks noChangeArrowheads="1"/>
          </p:cNvSpPr>
          <p:nvPr/>
        </p:nvSpPr>
        <p:spPr bwMode="auto">
          <a:xfrm>
            <a:off x="9567278" y="1183947"/>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99" name="Text Box 181">
            <a:extLst>
              <a:ext uri="{FF2B5EF4-FFF2-40B4-BE49-F238E27FC236}">
                <a16:creationId xmlns="" xmlns:a16="http://schemas.microsoft.com/office/drawing/2014/main" id="{5C9181D9-76B4-1547-B4C6-C03AC2F11CD9}"/>
              </a:ext>
            </a:extLst>
          </p:cNvPr>
          <p:cNvSpPr txBox="1">
            <a:spLocks noChangeArrowheads="1"/>
          </p:cNvSpPr>
          <p:nvPr/>
        </p:nvSpPr>
        <p:spPr bwMode="auto">
          <a:xfrm>
            <a:off x="7233653" y="1201410"/>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sp>
        <p:nvSpPr>
          <p:cNvPr id="205" name="Line 186">
            <a:extLst>
              <a:ext uri="{FF2B5EF4-FFF2-40B4-BE49-F238E27FC236}">
                <a16:creationId xmlns="" xmlns:a16="http://schemas.microsoft.com/office/drawing/2014/main" id="{DCFF6781-2E36-E241-A5F5-C0B04BC7CABB}"/>
              </a:ext>
            </a:extLst>
          </p:cNvPr>
          <p:cNvSpPr>
            <a:spLocks noChangeShapeType="1"/>
          </p:cNvSpPr>
          <p:nvPr/>
        </p:nvSpPr>
        <p:spPr bwMode="auto">
          <a:xfrm>
            <a:off x="7608303" y="2101522"/>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6" name="Line 187">
            <a:extLst>
              <a:ext uri="{FF2B5EF4-FFF2-40B4-BE49-F238E27FC236}">
                <a16:creationId xmlns="" xmlns:a16="http://schemas.microsoft.com/office/drawing/2014/main" id="{9C6DC5B3-2960-3047-BC8D-684B3D849A13}"/>
              </a:ext>
            </a:extLst>
          </p:cNvPr>
          <p:cNvSpPr>
            <a:spLocks noChangeShapeType="1"/>
          </p:cNvSpPr>
          <p:nvPr/>
        </p:nvSpPr>
        <p:spPr bwMode="auto">
          <a:xfrm>
            <a:off x="10013366" y="2096760"/>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7" name="Rectangle 188">
            <a:extLst>
              <a:ext uri="{FF2B5EF4-FFF2-40B4-BE49-F238E27FC236}">
                <a16:creationId xmlns="" xmlns:a16="http://schemas.microsoft.com/office/drawing/2014/main" id="{C15D63E4-15E1-BA4A-9606-42B07BDE7490}"/>
              </a:ext>
            </a:extLst>
          </p:cNvPr>
          <p:cNvSpPr>
            <a:spLocks noChangeArrowheads="1"/>
          </p:cNvSpPr>
          <p:nvPr/>
        </p:nvSpPr>
        <p:spPr bwMode="auto">
          <a:xfrm>
            <a:off x="8621128" y="4228772"/>
            <a:ext cx="1057275" cy="5080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3" name="Group 12">
            <a:extLst>
              <a:ext uri="{FF2B5EF4-FFF2-40B4-BE49-F238E27FC236}">
                <a16:creationId xmlns="" xmlns:a16="http://schemas.microsoft.com/office/drawing/2014/main" id="{B716CABB-9429-2844-BE7D-347FDDC00473}"/>
              </a:ext>
            </a:extLst>
          </p:cNvPr>
          <p:cNvGrpSpPr/>
          <p:nvPr/>
        </p:nvGrpSpPr>
        <p:grpSpPr>
          <a:xfrm>
            <a:off x="7595603" y="4111297"/>
            <a:ext cx="2441575" cy="668338"/>
            <a:chOff x="7595603" y="4111297"/>
            <a:chExt cx="2441575" cy="668338"/>
          </a:xfrm>
        </p:grpSpPr>
        <p:sp>
          <p:nvSpPr>
            <p:cNvPr id="195" name="Line 173">
              <a:extLst>
                <a:ext uri="{FF2B5EF4-FFF2-40B4-BE49-F238E27FC236}">
                  <a16:creationId xmlns="" xmlns:a16="http://schemas.microsoft.com/office/drawing/2014/main" id="{3966F5D7-3131-A64E-88FC-C5DD67C3305E}"/>
                </a:ext>
              </a:extLst>
            </p:cNvPr>
            <p:cNvSpPr>
              <a:spLocks noChangeShapeType="1"/>
            </p:cNvSpPr>
            <p:nvPr/>
          </p:nvSpPr>
          <p:spPr bwMode="auto">
            <a:xfrm>
              <a:off x="7595603" y="4111297"/>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8" name="Text Box 189">
              <a:extLst>
                <a:ext uri="{FF2B5EF4-FFF2-40B4-BE49-F238E27FC236}">
                  <a16:creationId xmlns="" xmlns:a16="http://schemas.microsoft.com/office/drawing/2014/main" id="{3EE494A8-6A2C-9F45-AA30-D5C659A717EE}"/>
                </a:ext>
              </a:extLst>
            </p:cNvPr>
            <p:cNvSpPr txBox="1">
              <a:spLocks noChangeArrowheads="1"/>
            </p:cNvSpPr>
            <p:nvPr/>
          </p:nvSpPr>
          <p:spPr bwMode="auto">
            <a:xfrm>
              <a:off x="8541753" y="4262110"/>
              <a:ext cx="1212850" cy="5175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bytes of data</a:t>
              </a:r>
            </a:p>
          </p:txBody>
        </p:sp>
      </p:grpSp>
      <p:sp>
        <p:nvSpPr>
          <p:cNvPr id="211" name="Rectangle 193">
            <a:extLst>
              <a:ext uri="{FF2B5EF4-FFF2-40B4-BE49-F238E27FC236}">
                <a16:creationId xmlns="" xmlns:a16="http://schemas.microsoft.com/office/drawing/2014/main" id="{1BAF70E7-D466-2441-88C5-22FFEB1CAF5E}"/>
              </a:ext>
            </a:extLst>
          </p:cNvPr>
          <p:cNvSpPr>
            <a:spLocks noChangeArrowheads="1"/>
          </p:cNvSpPr>
          <p:nvPr/>
        </p:nvSpPr>
        <p:spPr bwMode="auto">
          <a:xfrm>
            <a:off x="8460791" y="5071735"/>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 name="Group 14">
            <a:extLst>
              <a:ext uri="{FF2B5EF4-FFF2-40B4-BE49-F238E27FC236}">
                <a16:creationId xmlns="" xmlns:a16="http://schemas.microsoft.com/office/drawing/2014/main" id="{9E6A0178-9B0F-8A48-942B-60D872AAAD83}"/>
              </a:ext>
            </a:extLst>
          </p:cNvPr>
          <p:cNvGrpSpPr/>
          <p:nvPr/>
        </p:nvGrpSpPr>
        <p:grpSpPr>
          <a:xfrm>
            <a:off x="7627353" y="4814560"/>
            <a:ext cx="2338388" cy="782637"/>
            <a:chOff x="7627353" y="4814560"/>
            <a:chExt cx="2338388" cy="782637"/>
          </a:xfrm>
        </p:grpSpPr>
        <p:sp>
          <p:nvSpPr>
            <p:cNvPr id="210" name="Line 192">
              <a:extLst>
                <a:ext uri="{FF2B5EF4-FFF2-40B4-BE49-F238E27FC236}">
                  <a16:creationId xmlns="" xmlns:a16="http://schemas.microsoft.com/office/drawing/2014/main" id="{3827C940-37F6-2042-821B-DC7FC5969C64}"/>
                </a:ext>
              </a:extLst>
            </p:cNvPr>
            <p:cNvSpPr>
              <a:spLocks noChangeShapeType="1"/>
            </p:cNvSpPr>
            <p:nvPr/>
          </p:nvSpPr>
          <p:spPr bwMode="auto">
            <a:xfrm flipH="1">
              <a:off x="7627353" y="4814560"/>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2" name="Text Box 194">
              <a:extLst>
                <a:ext uri="{FF2B5EF4-FFF2-40B4-BE49-F238E27FC236}">
                  <a16:creationId xmlns="" xmlns:a16="http://schemas.microsoft.com/office/drawing/2014/main" id="{7D3D6198-BDB0-DC4C-B2A5-2DBD9359B868}"/>
                </a:ext>
              </a:extLst>
            </p:cNvPr>
            <p:cNvSpPr txBox="1">
              <a:spLocks noChangeArrowheads="1"/>
            </p:cNvSpPr>
            <p:nvPr/>
          </p:nvSpPr>
          <p:spPr bwMode="auto">
            <a:xfrm>
              <a:off x="8381416" y="5027285"/>
              <a:ext cx="94932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10" name="Group 9">
            <a:extLst>
              <a:ext uri="{FF2B5EF4-FFF2-40B4-BE49-F238E27FC236}">
                <a16:creationId xmlns="" xmlns:a16="http://schemas.microsoft.com/office/drawing/2014/main" id="{31CBCB81-D9E2-8D44-8B58-3A8203D0290F}"/>
              </a:ext>
            </a:extLst>
          </p:cNvPr>
          <p:cNvGrpSpPr/>
          <p:nvPr/>
        </p:nvGrpSpPr>
        <p:grpSpPr>
          <a:xfrm>
            <a:off x="7235241" y="2347585"/>
            <a:ext cx="396875" cy="1751012"/>
            <a:chOff x="7235241" y="2347585"/>
            <a:chExt cx="396875" cy="1751012"/>
          </a:xfrm>
        </p:grpSpPr>
        <p:sp>
          <p:nvSpPr>
            <p:cNvPr id="209" name="Text Box 191">
              <a:extLst>
                <a:ext uri="{FF2B5EF4-FFF2-40B4-BE49-F238E27FC236}">
                  <a16:creationId xmlns="" xmlns:a16="http://schemas.microsoft.com/office/drawing/2014/main" id="{D65DE059-0ADE-BA43-86FA-261D968382D9}"/>
                </a:ext>
              </a:extLst>
            </p:cNvPr>
            <p:cNvSpPr txBox="1">
              <a:spLocks noChangeArrowheads="1"/>
            </p:cNvSpPr>
            <p:nvPr/>
          </p:nvSpPr>
          <p:spPr bwMode="auto">
            <a:xfrm rot="10800000">
              <a:off x="7235241"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213" name="Group 195">
              <a:extLst>
                <a:ext uri="{FF2B5EF4-FFF2-40B4-BE49-F238E27FC236}">
                  <a16:creationId xmlns="" xmlns:a16="http://schemas.microsoft.com/office/drawing/2014/main" id="{FD63DE3D-F3EB-7747-87C5-F31E049B82E4}"/>
                </a:ext>
              </a:extLst>
            </p:cNvPr>
            <p:cNvGrpSpPr>
              <a:grpSpLocks/>
            </p:cNvGrpSpPr>
            <p:nvPr/>
          </p:nvGrpSpPr>
          <p:grpSpPr bwMode="auto">
            <a:xfrm>
              <a:off x="7376528" y="2347585"/>
              <a:ext cx="104775" cy="508000"/>
              <a:chOff x="3099" y="1749"/>
              <a:chExt cx="66" cy="320"/>
            </a:xfrm>
          </p:grpSpPr>
          <p:sp>
            <p:nvSpPr>
              <p:cNvPr id="214" name="Line 196">
                <a:extLst>
                  <a:ext uri="{FF2B5EF4-FFF2-40B4-BE49-F238E27FC236}">
                    <a16:creationId xmlns="" xmlns:a16="http://schemas.microsoft.com/office/drawing/2014/main" id="{F7116EE1-F7FA-8E4C-BC16-6BA1240EF8FC}"/>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5" name="Line 197">
                <a:extLst>
                  <a:ext uri="{FF2B5EF4-FFF2-40B4-BE49-F238E27FC236}">
                    <a16:creationId xmlns="" xmlns:a16="http://schemas.microsoft.com/office/drawing/2014/main" id="{057CB57E-4B2F-8C47-97F5-D0924F70DC97}"/>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16" name="Group 198">
              <a:extLst>
                <a:ext uri="{FF2B5EF4-FFF2-40B4-BE49-F238E27FC236}">
                  <a16:creationId xmlns="" xmlns:a16="http://schemas.microsoft.com/office/drawing/2014/main" id="{2E37771D-0A96-C34C-9C6B-504E80416ADC}"/>
                </a:ext>
              </a:extLst>
            </p:cNvPr>
            <p:cNvGrpSpPr>
              <a:grpSpLocks/>
            </p:cNvGrpSpPr>
            <p:nvPr/>
          </p:nvGrpSpPr>
          <p:grpSpPr bwMode="auto">
            <a:xfrm rot="10800000">
              <a:off x="7371766" y="3590597"/>
              <a:ext cx="104775" cy="508000"/>
              <a:chOff x="3099" y="1749"/>
              <a:chExt cx="66" cy="320"/>
            </a:xfrm>
          </p:grpSpPr>
          <p:sp>
            <p:nvSpPr>
              <p:cNvPr id="217" name="Line 199">
                <a:extLst>
                  <a:ext uri="{FF2B5EF4-FFF2-40B4-BE49-F238E27FC236}">
                    <a16:creationId xmlns="" xmlns:a16="http://schemas.microsoft.com/office/drawing/2014/main" id="{8E20D991-E195-FF4D-88F7-684DF42E9E14}"/>
                  </a:ext>
                </a:extLst>
              </p:cNvPr>
              <p:cNvSpPr>
                <a:spLocks noChangeShapeType="1"/>
              </p:cNvSpPr>
              <p:nvPr/>
            </p:nvSpPr>
            <p:spPr bwMode="auto">
              <a:xfrm flipV="1">
                <a:off x="3137"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8" name="Line 200">
                <a:extLst>
                  <a:ext uri="{FF2B5EF4-FFF2-40B4-BE49-F238E27FC236}">
                    <a16:creationId xmlns="" xmlns:a16="http://schemas.microsoft.com/office/drawing/2014/main" id="{22C60B84-78BE-7345-BBC2-2490BC4DEFD3}"/>
                  </a:ext>
                </a:extLst>
              </p:cNvPr>
              <p:cNvSpPr>
                <a:spLocks noChangeShapeType="1"/>
              </p:cNvSpPr>
              <p:nvPr/>
            </p:nvSpPr>
            <p:spPr bwMode="auto">
              <a:xfrm>
                <a:off x="3107"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12" name="Group 11">
            <a:extLst>
              <a:ext uri="{FF2B5EF4-FFF2-40B4-BE49-F238E27FC236}">
                <a16:creationId xmlns="" xmlns:a16="http://schemas.microsoft.com/office/drawing/2014/main" id="{A4259714-F109-3243-BC51-888D64DBCE91}"/>
              </a:ext>
            </a:extLst>
          </p:cNvPr>
          <p:cNvGrpSpPr/>
          <p:nvPr/>
        </p:nvGrpSpPr>
        <p:grpSpPr>
          <a:xfrm>
            <a:off x="7603541" y="3004810"/>
            <a:ext cx="2339975" cy="1944687"/>
            <a:chOff x="7603541" y="3004810"/>
            <a:chExt cx="2339975" cy="1944687"/>
          </a:xfrm>
        </p:grpSpPr>
        <p:sp>
          <p:nvSpPr>
            <p:cNvPr id="197" name="Line 175">
              <a:extLst>
                <a:ext uri="{FF2B5EF4-FFF2-40B4-BE49-F238E27FC236}">
                  <a16:creationId xmlns="" xmlns:a16="http://schemas.microsoft.com/office/drawing/2014/main" id="{C6151221-64CD-0A4D-8DCC-7243A0014631}"/>
                </a:ext>
              </a:extLst>
            </p:cNvPr>
            <p:cNvSpPr>
              <a:spLocks noChangeShapeType="1"/>
            </p:cNvSpPr>
            <p:nvPr/>
          </p:nvSpPr>
          <p:spPr bwMode="auto">
            <a:xfrm flipH="1">
              <a:off x="7603541" y="3004810"/>
              <a:ext cx="2335212" cy="1589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2" name="Group 202">
              <a:extLst>
                <a:ext uri="{FF2B5EF4-FFF2-40B4-BE49-F238E27FC236}">
                  <a16:creationId xmlns="" xmlns:a16="http://schemas.microsoft.com/office/drawing/2014/main" id="{D30CD59C-C944-CF4F-B17A-64886A573C0F}"/>
                </a:ext>
              </a:extLst>
            </p:cNvPr>
            <p:cNvGrpSpPr>
              <a:grpSpLocks/>
            </p:cNvGrpSpPr>
            <p:nvPr/>
          </p:nvGrpSpPr>
          <p:grpSpPr bwMode="auto">
            <a:xfrm>
              <a:off x="8505241" y="3496935"/>
              <a:ext cx="949325" cy="304800"/>
              <a:chOff x="4215" y="2253"/>
              <a:chExt cx="598" cy="192"/>
            </a:xfrm>
          </p:grpSpPr>
          <p:sp>
            <p:nvSpPr>
              <p:cNvPr id="203" name="Rectangle 184">
                <a:extLst>
                  <a:ext uri="{FF2B5EF4-FFF2-40B4-BE49-F238E27FC236}">
                    <a16:creationId xmlns="" xmlns:a16="http://schemas.microsoft.com/office/drawing/2014/main" id="{38FC2E88-8043-CE4C-A502-AFA317824443}"/>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4" name="Text Box 185">
                <a:extLst>
                  <a:ext uri="{FF2B5EF4-FFF2-40B4-BE49-F238E27FC236}">
                    <a16:creationId xmlns="" xmlns:a16="http://schemas.microsoft.com/office/drawing/2014/main" id="{7BF7DF1E-2F02-9D41-B7BC-991A51E982F6}"/>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223" name="Line 207">
              <a:extLst>
                <a:ext uri="{FF2B5EF4-FFF2-40B4-BE49-F238E27FC236}">
                  <a16:creationId xmlns="" xmlns:a16="http://schemas.microsoft.com/office/drawing/2014/main" id="{00ED8980-6CB4-9148-B161-8172F2430A06}"/>
                </a:ext>
              </a:extLst>
            </p:cNvPr>
            <p:cNvSpPr>
              <a:spLocks noChangeShapeType="1"/>
            </p:cNvSpPr>
            <p:nvPr/>
          </p:nvSpPr>
          <p:spPr bwMode="auto">
            <a:xfrm flipH="1">
              <a:off x="7608303" y="3360410"/>
              <a:ext cx="2335213" cy="1589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4" name="Group 208">
              <a:extLst>
                <a:ext uri="{FF2B5EF4-FFF2-40B4-BE49-F238E27FC236}">
                  <a16:creationId xmlns="" xmlns:a16="http://schemas.microsoft.com/office/drawing/2014/main" id="{6EE49A40-BE68-654E-AAC3-24E6E2BB625A}"/>
                </a:ext>
              </a:extLst>
            </p:cNvPr>
            <p:cNvGrpSpPr>
              <a:grpSpLocks/>
            </p:cNvGrpSpPr>
            <p:nvPr/>
          </p:nvGrpSpPr>
          <p:grpSpPr bwMode="auto">
            <a:xfrm>
              <a:off x="8744953" y="3773160"/>
              <a:ext cx="949325" cy="304800"/>
              <a:chOff x="4215" y="2253"/>
              <a:chExt cx="598" cy="192"/>
            </a:xfrm>
          </p:grpSpPr>
          <p:sp>
            <p:nvSpPr>
              <p:cNvPr id="225" name="Rectangle 209">
                <a:extLst>
                  <a:ext uri="{FF2B5EF4-FFF2-40B4-BE49-F238E27FC236}">
                    <a16:creationId xmlns="" xmlns:a16="http://schemas.microsoft.com/office/drawing/2014/main" id="{25CA1210-B468-0040-9898-13C2587BDB0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6" name="Text Box 210">
                <a:extLst>
                  <a:ext uri="{FF2B5EF4-FFF2-40B4-BE49-F238E27FC236}">
                    <a16:creationId xmlns="" xmlns:a16="http://schemas.microsoft.com/office/drawing/2014/main" id="{8918B79C-3FE7-FC4C-B606-5C7CA33715A9}"/>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grpSp>
        <p:nvGrpSpPr>
          <p:cNvPr id="14" name="Group 13">
            <a:extLst>
              <a:ext uri="{FF2B5EF4-FFF2-40B4-BE49-F238E27FC236}">
                <a16:creationId xmlns="" xmlns:a16="http://schemas.microsoft.com/office/drawing/2014/main" id="{CD914285-EBDF-1947-9C97-6E8CD760020F}"/>
              </a:ext>
            </a:extLst>
          </p:cNvPr>
          <p:cNvGrpSpPr/>
          <p:nvPr/>
        </p:nvGrpSpPr>
        <p:grpSpPr>
          <a:xfrm>
            <a:off x="6241466" y="4416097"/>
            <a:ext cx="1382712" cy="646113"/>
            <a:chOff x="6241466" y="4416097"/>
            <a:chExt cx="1382712" cy="646113"/>
          </a:xfrm>
        </p:grpSpPr>
        <p:sp>
          <p:nvSpPr>
            <p:cNvPr id="227" name="Text Box 211">
              <a:extLst>
                <a:ext uri="{FF2B5EF4-FFF2-40B4-BE49-F238E27FC236}">
                  <a16:creationId xmlns="" xmlns:a16="http://schemas.microsoft.com/office/drawing/2014/main" id="{1E82E105-7918-0E47-A934-825752F52D6B}"/>
                </a:ext>
              </a:extLst>
            </p:cNvPr>
            <p:cNvSpPr txBox="1">
              <a:spLocks noChangeArrowheads="1"/>
            </p:cNvSpPr>
            <p:nvPr/>
          </p:nvSpPr>
          <p:spPr bwMode="auto">
            <a:xfrm>
              <a:off x="6241466" y="4416097"/>
              <a:ext cx="136366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SendBase=100</a:t>
              </a:r>
            </a:p>
          </p:txBody>
        </p:sp>
        <p:sp>
          <p:nvSpPr>
            <p:cNvPr id="228" name="Text Box 212">
              <a:extLst>
                <a:ext uri="{FF2B5EF4-FFF2-40B4-BE49-F238E27FC236}">
                  <a16:creationId xmlns="" xmlns:a16="http://schemas.microsoft.com/office/drawing/2014/main" id="{387E9E87-069A-FA4A-9F20-9DB5B471A427}"/>
                </a:ext>
              </a:extLst>
            </p:cNvPr>
            <p:cNvSpPr txBox="1">
              <a:spLocks noChangeArrowheads="1"/>
            </p:cNvSpPr>
            <p:nvPr/>
          </p:nvSpPr>
          <p:spPr bwMode="auto">
            <a:xfrm>
              <a:off x="6260516" y="4757410"/>
              <a:ext cx="136366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SendBase=120</a:t>
              </a:r>
            </a:p>
          </p:txBody>
        </p:sp>
      </p:grpSp>
      <p:sp>
        <p:nvSpPr>
          <p:cNvPr id="229" name="Text Box 213">
            <a:extLst>
              <a:ext uri="{FF2B5EF4-FFF2-40B4-BE49-F238E27FC236}">
                <a16:creationId xmlns="" xmlns:a16="http://schemas.microsoft.com/office/drawing/2014/main" id="{31AD8D03-5F21-0F49-8D71-B6031900CD41}"/>
              </a:ext>
            </a:extLst>
          </p:cNvPr>
          <p:cNvSpPr txBox="1">
            <a:spLocks noChangeArrowheads="1"/>
          </p:cNvSpPr>
          <p:nvPr/>
        </p:nvSpPr>
        <p:spPr bwMode="auto">
          <a:xfrm>
            <a:off x="6279566" y="5432097"/>
            <a:ext cx="136366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SendBase=120</a:t>
            </a:r>
          </a:p>
        </p:txBody>
      </p:sp>
      <p:grpSp>
        <p:nvGrpSpPr>
          <p:cNvPr id="11" name="Group 10">
            <a:extLst>
              <a:ext uri="{FF2B5EF4-FFF2-40B4-BE49-F238E27FC236}">
                <a16:creationId xmlns="" xmlns:a16="http://schemas.microsoft.com/office/drawing/2014/main" id="{5474E6BB-CCA6-CC47-8617-346673F363BD}"/>
              </a:ext>
            </a:extLst>
          </p:cNvPr>
          <p:cNvGrpSpPr/>
          <p:nvPr/>
        </p:nvGrpSpPr>
        <p:grpSpPr>
          <a:xfrm>
            <a:off x="6306553" y="2187247"/>
            <a:ext cx="3668713" cy="1112838"/>
            <a:chOff x="6306553" y="2187247"/>
            <a:chExt cx="3668713" cy="1112838"/>
          </a:xfrm>
        </p:grpSpPr>
        <p:sp>
          <p:nvSpPr>
            <p:cNvPr id="196" name="Line 174">
              <a:extLst>
                <a:ext uri="{FF2B5EF4-FFF2-40B4-BE49-F238E27FC236}">
                  <a16:creationId xmlns="" xmlns:a16="http://schemas.microsoft.com/office/drawing/2014/main" id="{FF81BD19-4683-8144-8837-5193B3691D8F}"/>
                </a:ext>
              </a:extLst>
            </p:cNvPr>
            <p:cNvSpPr>
              <a:spLocks noChangeShapeType="1"/>
            </p:cNvSpPr>
            <p:nvPr/>
          </p:nvSpPr>
          <p:spPr bwMode="auto">
            <a:xfrm>
              <a:off x="7628941"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0" name="Rectangle 182">
              <a:extLst>
                <a:ext uri="{FF2B5EF4-FFF2-40B4-BE49-F238E27FC236}">
                  <a16:creationId xmlns="" xmlns:a16="http://schemas.microsoft.com/office/drawing/2014/main" id="{C74BFDE4-D3AE-5C4E-B670-449D49B67C22}"/>
                </a:ext>
              </a:extLst>
            </p:cNvPr>
            <p:cNvSpPr>
              <a:spLocks noChangeArrowheads="1"/>
            </p:cNvSpPr>
            <p:nvPr/>
          </p:nvSpPr>
          <p:spPr bwMode="auto">
            <a:xfrm>
              <a:off x="8332203"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1" name="Text Box 183">
              <a:extLst>
                <a:ext uri="{FF2B5EF4-FFF2-40B4-BE49-F238E27FC236}">
                  <a16:creationId xmlns="" xmlns:a16="http://schemas.microsoft.com/office/drawing/2014/main" id="{B8140015-E345-EE4A-90B6-3552DAC43E5C}"/>
                </a:ext>
              </a:extLst>
            </p:cNvPr>
            <p:cNvSpPr txBox="1">
              <a:spLocks noChangeArrowheads="1"/>
            </p:cNvSpPr>
            <p:nvPr/>
          </p:nvSpPr>
          <p:spPr bwMode="auto">
            <a:xfrm>
              <a:off x="7773403" y="2476172"/>
              <a:ext cx="208597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nvGrpSpPr>
            <p:cNvPr id="219" name="Group 206">
              <a:extLst>
                <a:ext uri="{FF2B5EF4-FFF2-40B4-BE49-F238E27FC236}">
                  <a16:creationId xmlns="" xmlns:a16="http://schemas.microsoft.com/office/drawing/2014/main" id="{C3DB656C-371F-854E-81A2-904083BC4AF6}"/>
                </a:ext>
              </a:extLst>
            </p:cNvPr>
            <p:cNvGrpSpPr>
              <a:grpSpLocks/>
            </p:cNvGrpSpPr>
            <p:nvPr/>
          </p:nvGrpSpPr>
          <p:grpSpPr bwMode="auto">
            <a:xfrm>
              <a:off x="7614653" y="2728585"/>
              <a:ext cx="2346325" cy="571500"/>
              <a:chOff x="3759" y="1622"/>
              <a:chExt cx="1478" cy="360"/>
            </a:xfrm>
          </p:grpSpPr>
          <p:sp>
            <p:nvSpPr>
              <p:cNvPr id="220" name="Line 203">
                <a:extLst>
                  <a:ext uri="{FF2B5EF4-FFF2-40B4-BE49-F238E27FC236}">
                    <a16:creationId xmlns="" xmlns:a16="http://schemas.microsoft.com/office/drawing/2014/main" id="{90E12E5A-5437-8944-A28F-2F13C852A4D2}"/>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1" name="Rectangle 204">
                <a:extLst>
                  <a:ext uri="{FF2B5EF4-FFF2-40B4-BE49-F238E27FC236}">
                    <a16:creationId xmlns="" xmlns:a16="http://schemas.microsoft.com/office/drawing/2014/main" id="{7550E74D-2DAE-BC48-88DC-FF5E0936D8AA}"/>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2" name="Text Box 205">
                <a:extLst>
                  <a:ext uri="{FF2B5EF4-FFF2-40B4-BE49-F238E27FC236}">
                    <a16:creationId xmlns="" xmlns:a16="http://schemas.microsoft.com/office/drawing/2014/main" id="{1863CB88-8ADD-294C-BE46-8D80EEB9E9FE}"/>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sp>
          <p:nvSpPr>
            <p:cNvPr id="230" name="Text Box 214">
              <a:extLst>
                <a:ext uri="{FF2B5EF4-FFF2-40B4-BE49-F238E27FC236}">
                  <a16:creationId xmlns="" xmlns:a16="http://schemas.microsoft.com/office/drawing/2014/main" id="{8333BF3A-4F52-4F44-921F-4BAD57A4119A}"/>
                </a:ext>
              </a:extLst>
            </p:cNvPr>
            <p:cNvSpPr txBox="1">
              <a:spLocks noChangeArrowheads="1"/>
            </p:cNvSpPr>
            <p:nvPr/>
          </p:nvSpPr>
          <p:spPr bwMode="auto">
            <a:xfrm>
              <a:off x="6306553" y="2187247"/>
              <a:ext cx="1266825" cy="3048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SendBase=92</a:t>
              </a:r>
            </a:p>
          </p:txBody>
        </p:sp>
      </p:grpSp>
      <p:grpSp>
        <p:nvGrpSpPr>
          <p:cNvPr id="231" name="Group 219">
            <a:extLst>
              <a:ext uri="{FF2B5EF4-FFF2-40B4-BE49-F238E27FC236}">
                <a16:creationId xmlns="" xmlns:a16="http://schemas.microsoft.com/office/drawing/2014/main" id="{2259D372-4B08-6D4E-A450-9719B81C5E51}"/>
              </a:ext>
            </a:extLst>
          </p:cNvPr>
          <p:cNvGrpSpPr>
            <a:grpSpLocks/>
          </p:cNvGrpSpPr>
          <p:nvPr/>
        </p:nvGrpSpPr>
        <p:grpSpPr bwMode="auto">
          <a:xfrm>
            <a:off x="7186028" y="1463347"/>
            <a:ext cx="630238" cy="533400"/>
            <a:chOff x="-44" y="1473"/>
            <a:chExt cx="981" cy="1105"/>
          </a:xfrm>
        </p:grpSpPr>
        <p:pic>
          <p:nvPicPr>
            <p:cNvPr id="232" name="Picture 220" descr="desktop_computer_stylized_medium">
              <a:extLst>
                <a:ext uri="{FF2B5EF4-FFF2-40B4-BE49-F238E27FC236}">
                  <a16:creationId xmlns="" xmlns:a16="http://schemas.microsoft.com/office/drawing/2014/main" id="{2D27C27D-9556-884F-AE7C-167179E6E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221">
              <a:extLst>
                <a:ext uri="{FF2B5EF4-FFF2-40B4-BE49-F238E27FC236}">
                  <a16:creationId xmlns="" xmlns:a16="http://schemas.microsoft.com/office/drawing/2014/main" id="{7E825289-4A0B-4346-8F90-2D5646E5B4C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4" name="Group 225">
            <a:extLst>
              <a:ext uri="{FF2B5EF4-FFF2-40B4-BE49-F238E27FC236}">
                <a16:creationId xmlns="" xmlns:a16="http://schemas.microsoft.com/office/drawing/2014/main" id="{E20B8076-92C2-A04F-B618-A3527994FF6A}"/>
              </a:ext>
            </a:extLst>
          </p:cNvPr>
          <p:cNvGrpSpPr>
            <a:grpSpLocks/>
          </p:cNvGrpSpPr>
          <p:nvPr/>
        </p:nvGrpSpPr>
        <p:grpSpPr bwMode="auto">
          <a:xfrm flipH="1">
            <a:off x="9753016" y="1469697"/>
            <a:ext cx="631825" cy="622300"/>
            <a:chOff x="-44" y="1473"/>
            <a:chExt cx="981" cy="1105"/>
          </a:xfrm>
        </p:grpSpPr>
        <p:pic>
          <p:nvPicPr>
            <p:cNvPr id="235" name="Picture 226" descr="desktop_computer_stylized_medium">
              <a:extLst>
                <a:ext uri="{FF2B5EF4-FFF2-40B4-BE49-F238E27FC236}">
                  <a16:creationId xmlns="" xmlns:a16="http://schemas.microsoft.com/office/drawing/2014/main" id="{892509C8-70E3-9344-BECE-67F22233D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 name="Freeform 227">
              <a:extLst>
                <a:ext uri="{FF2B5EF4-FFF2-40B4-BE49-F238E27FC236}">
                  <a16:creationId xmlns="" xmlns:a16="http://schemas.microsoft.com/office/drawing/2014/main" id="{36FE986B-8994-0941-B989-B811ADDEEE3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7" name="Group 228">
            <a:extLst>
              <a:ext uri="{FF2B5EF4-FFF2-40B4-BE49-F238E27FC236}">
                <a16:creationId xmlns="" xmlns:a16="http://schemas.microsoft.com/office/drawing/2014/main" id="{F8939732-2442-144E-A5BB-23D63EE09D71}"/>
              </a:ext>
            </a:extLst>
          </p:cNvPr>
          <p:cNvGrpSpPr>
            <a:grpSpLocks/>
          </p:cNvGrpSpPr>
          <p:nvPr/>
        </p:nvGrpSpPr>
        <p:grpSpPr bwMode="auto">
          <a:xfrm>
            <a:off x="1601856" y="1474460"/>
            <a:ext cx="630238" cy="533400"/>
            <a:chOff x="-44" y="1473"/>
            <a:chExt cx="981" cy="1105"/>
          </a:xfrm>
        </p:grpSpPr>
        <p:pic>
          <p:nvPicPr>
            <p:cNvPr id="238" name="Picture 229" descr="desktop_computer_stylized_medium">
              <a:extLst>
                <a:ext uri="{FF2B5EF4-FFF2-40B4-BE49-F238E27FC236}">
                  <a16:creationId xmlns="" xmlns:a16="http://schemas.microsoft.com/office/drawing/2014/main" id="{D7F5765B-05B0-5245-99DA-1820CD6F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Freeform 230">
              <a:extLst>
                <a:ext uri="{FF2B5EF4-FFF2-40B4-BE49-F238E27FC236}">
                  <a16:creationId xmlns="" xmlns:a16="http://schemas.microsoft.com/office/drawing/2014/main" id="{D897DE15-A97F-F848-8C0A-B28F47B3323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0" name="Group 231">
            <a:extLst>
              <a:ext uri="{FF2B5EF4-FFF2-40B4-BE49-F238E27FC236}">
                <a16:creationId xmlns="" xmlns:a16="http://schemas.microsoft.com/office/drawing/2014/main" id="{E145A84A-1570-9C46-A817-B68A25E966D9}"/>
              </a:ext>
            </a:extLst>
          </p:cNvPr>
          <p:cNvGrpSpPr>
            <a:grpSpLocks/>
          </p:cNvGrpSpPr>
          <p:nvPr/>
        </p:nvGrpSpPr>
        <p:grpSpPr bwMode="auto">
          <a:xfrm flipH="1">
            <a:off x="4179956" y="1458585"/>
            <a:ext cx="709613" cy="600075"/>
            <a:chOff x="-44" y="1473"/>
            <a:chExt cx="981" cy="1105"/>
          </a:xfrm>
        </p:grpSpPr>
        <p:pic>
          <p:nvPicPr>
            <p:cNvPr id="241" name="Picture 232" descr="desktop_computer_stylized_medium">
              <a:extLst>
                <a:ext uri="{FF2B5EF4-FFF2-40B4-BE49-F238E27FC236}">
                  <a16:creationId xmlns="" xmlns:a16="http://schemas.microsoft.com/office/drawing/2014/main" id="{332C004D-ED3A-7348-8EC0-DF65AFEC6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 name="Freeform 233">
              <a:extLst>
                <a:ext uri="{FF2B5EF4-FFF2-40B4-BE49-F238E27FC236}">
                  <a16:creationId xmlns="" xmlns:a16="http://schemas.microsoft.com/office/drawing/2014/main" id="{A74C9FB1-2D29-F14B-8569-8E203840CFB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9" name="TextBox 18">
            <a:extLst>
              <a:ext uri="{FF2B5EF4-FFF2-40B4-BE49-F238E27FC236}">
                <a16:creationId xmlns="" xmlns:a16="http://schemas.microsoft.com/office/drawing/2014/main" id="{8C70D25B-261A-724E-991C-E91D345300FB}"/>
              </a:ext>
            </a:extLst>
          </p:cNvPr>
          <p:cNvSpPr txBox="1"/>
          <p:nvPr/>
        </p:nvSpPr>
        <p:spPr>
          <a:xfrm>
            <a:off x="9973410" y="4508500"/>
            <a:ext cx="1591398" cy="5355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a:ea typeface="+mn-ea"/>
                <a:cs typeface="+mn-cs"/>
              </a:rPr>
              <a:t>send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a:ea typeface="+mn-ea"/>
                <a:cs typeface="+mn-cs"/>
              </a:rPr>
              <a:t>ACK for 120</a:t>
            </a:r>
          </a:p>
        </p:txBody>
      </p:sp>
      <p:sp>
        <p:nvSpPr>
          <p:cNvPr id="89" name="Slide Number Placeholder 2">
            <a:extLst>
              <a:ext uri="{FF2B5EF4-FFF2-40B4-BE49-F238E27FC236}">
                <a16:creationId xmlns="" xmlns:a16="http://schemas.microsoft.com/office/drawing/2014/main" id="{9219ABA9-4F40-D04C-A34A-87A2AE31AF28}"/>
              </a:ext>
            </a:extLst>
          </p:cNvPr>
          <p:cNvSpPr>
            <a:spLocks noGrp="1"/>
          </p:cNvSpPr>
          <p:nvPr>
            <p:ph type="sldNum" sz="quarter" idx="4294967295"/>
          </p:nvPr>
        </p:nvSpPr>
        <p:spPr>
          <a:xfrm>
            <a:off x="9219616" y="6443089"/>
            <a:ext cx="2743200" cy="365125"/>
          </a:xfrm>
          <a:prstGeom prst="rect">
            <a:avLst/>
          </a:prstGeom>
        </p:spPr>
        <p:txBody>
          <a:bodyPr/>
          <a:lstStyle/>
          <a:p>
            <a:r>
              <a:rPr lang="en-US" dirty="0"/>
              <a:t>Transport Layer: 3-</a:t>
            </a:r>
            <a:fld id="{C4204591-24BD-A542-B9D5-F8D8A88D2FEE}" type="slidenum">
              <a:rPr lang="en-US" smtClean="0"/>
              <a:pPr/>
              <a:t>3</a:t>
            </a:fld>
            <a:endParaRPr lang="en-US" dirty="0"/>
          </a:p>
        </p:txBody>
      </p:sp>
    </p:spTree>
    <p:extLst>
      <p:ext uri="{BB962C8B-B14F-4D97-AF65-F5344CB8AC3E}">
        <p14:creationId xmlns:p14="http://schemas.microsoft.com/office/powerpoint/2010/main" val="22470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righ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500"/>
                            </p:stCondLst>
                            <p:childTnLst>
                              <p:par>
                                <p:cTn id="31" presetID="22" presetClass="entr" presetSubtype="2"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500"/>
                                        <p:tgtEl>
                                          <p:spTgt spid="12"/>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dissolve">
                                      <p:cBhvr>
                                        <p:cTn id="50" dur="500"/>
                                        <p:tgtEl>
                                          <p:spTgt spid="19"/>
                                        </p:tgtEl>
                                      </p:cBhvr>
                                    </p:animEffect>
                                  </p:childTnLst>
                                </p:cTn>
                              </p:par>
                            </p:childTnLst>
                          </p:cTn>
                        </p:par>
                        <p:par>
                          <p:cTn id="51" fill="hold">
                            <p:stCondLst>
                              <p:cond delay="1500"/>
                            </p:stCondLst>
                            <p:childTnLst>
                              <p:par>
                                <p:cTn id="52" presetID="22" presetClass="entr" presetSubtype="2"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right)">
                                      <p:cBhvr>
                                        <p:cTn id="54" dur="500"/>
                                        <p:tgtEl>
                                          <p:spTgt spid="15"/>
                                        </p:tgtEl>
                                      </p:cBhvr>
                                    </p:animEffect>
                                  </p:childTnLst>
                                </p:cTn>
                              </p:par>
                            </p:childTnLst>
                          </p:cTn>
                        </p:par>
                        <p:par>
                          <p:cTn id="55" fill="hold">
                            <p:stCondLst>
                              <p:cond delay="2000"/>
                            </p:stCondLst>
                            <p:childTnLst>
                              <p:par>
                                <p:cTn id="56" presetID="9" presetClass="entr" presetSubtype="0" fill="hold" grpId="0" nodeType="afterEffect">
                                  <p:stCondLst>
                                    <p:cond delay="0"/>
                                  </p:stCondLst>
                                  <p:childTnLst>
                                    <p:set>
                                      <p:cBhvr>
                                        <p:cTn id="57" dur="1" fill="hold">
                                          <p:stCondLst>
                                            <p:cond delay="0"/>
                                          </p:stCondLst>
                                        </p:cTn>
                                        <p:tgtEl>
                                          <p:spTgt spid="229"/>
                                        </p:tgtEl>
                                        <p:attrNameLst>
                                          <p:attrName>style.visibility</p:attrName>
                                        </p:attrNameLst>
                                      </p:cBhvr>
                                      <p:to>
                                        <p:strVal val="visible"/>
                                      </p:to>
                                    </p:set>
                                    <p:animEffect transition="in" filter="dissolve">
                                      <p:cBhvr>
                                        <p:cTn id="58"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TCP </a:t>
            </a:r>
            <a:r>
              <a:rPr lang="en-US" dirty="0" err="1" smtClean="0"/>
              <a:t>ReTransmissions</a:t>
            </a:r>
            <a:endParaRPr lang="en-US" dirty="0"/>
          </a:p>
        </p:txBody>
      </p:sp>
      <p:sp>
        <p:nvSpPr>
          <p:cNvPr id="3" name="Content Placeholder 2"/>
          <p:cNvSpPr>
            <a:spLocks noGrp="1"/>
          </p:cNvSpPr>
          <p:nvPr>
            <p:ph idx="1"/>
          </p:nvPr>
        </p:nvSpPr>
        <p:spPr/>
        <p:txBody>
          <a:bodyPr/>
          <a:lstStyle/>
          <a:p>
            <a:r>
              <a:rPr lang="en-US" dirty="0" smtClean="0"/>
              <a:t> </a:t>
            </a:r>
            <a:r>
              <a:rPr lang="en-US" dirty="0"/>
              <a:t>Delays on one connection vary over time</a:t>
            </a:r>
          </a:p>
          <a:p>
            <a:r>
              <a:rPr lang="en-US" dirty="0" smtClean="0"/>
              <a:t>Delays </a:t>
            </a:r>
            <a:r>
              <a:rPr lang="en-US" dirty="0"/>
              <a:t>vary widely between connections</a:t>
            </a:r>
          </a:p>
          <a:p>
            <a:r>
              <a:rPr lang="en-US" dirty="0"/>
              <a:t>Fixed value for timeout will fail</a:t>
            </a:r>
          </a:p>
          <a:p>
            <a:pPr lvl="1"/>
            <a:r>
              <a:rPr lang="en-US" dirty="0" smtClean="0"/>
              <a:t>Waiting </a:t>
            </a:r>
            <a:r>
              <a:rPr lang="en-US" dirty="0"/>
              <a:t>too long introduces unnecessary delay</a:t>
            </a:r>
          </a:p>
          <a:p>
            <a:pPr lvl="1"/>
            <a:r>
              <a:rPr lang="en-US" dirty="0" smtClean="0"/>
              <a:t>Not </a:t>
            </a:r>
            <a:r>
              <a:rPr lang="en-US" dirty="0"/>
              <a:t>waiting long enough wastes network </a:t>
            </a:r>
            <a:r>
              <a:rPr lang="en-US" dirty="0" smtClean="0"/>
              <a:t>bandwidth with </a:t>
            </a:r>
            <a:r>
              <a:rPr lang="en-US" dirty="0"/>
              <a:t>unnecessary retransmission</a:t>
            </a:r>
          </a:p>
          <a:p>
            <a:r>
              <a:rPr lang="en-US" dirty="0"/>
              <a:t>Retransmission strategy must be adaptive</a:t>
            </a:r>
          </a:p>
          <a:p>
            <a:endParaRPr lang="en-US" dirty="0"/>
          </a:p>
        </p:txBody>
      </p:sp>
    </p:spTree>
    <p:extLst>
      <p:ext uri="{BB962C8B-B14F-4D97-AF65-F5344CB8AC3E}">
        <p14:creationId xmlns:p14="http://schemas.microsoft.com/office/powerpoint/2010/main" val="12100529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29" name="Rectangle 1027">
            <a:extLst>
              <a:ext uri="{FF2B5EF4-FFF2-40B4-BE49-F238E27FC236}">
                <a16:creationId xmlns="" xmlns:a16="http://schemas.microsoft.com/office/drawing/2014/main" id="{E2121436-377D-9943-817E-B014539AAB14}"/>
              </a:ext>
            </a:extLst>
          </p:cNvPr>
          <p:cNvSpPr txBox="1">
            <a:spLocks noChangeArrowheads="1"/>
          </p:cNvSpPr>
          <p:nvPr/>
        </p:nvSpPr>
        <p:spPr>
          <a:xfrm>
            <a:off x="673789" y="1393136"/>
            <a:ext cx="5213444"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1" u="sng" strike="noStrike" kern="1200" cap="none" spc="0" normalizeH="0" baseline="0" noProof="0" dirty="0">
                <a:ln>
                  <a:noFill/>
                </a:ln>
                <a:solidFill>
                  <a:srgbClr val="C00000"/>
                </a:solidFill>
                <a:effectLst/>
                <a:uLnTx/>
                <a:uFillTx/>
                <a:latin typeface="Calibri" panose="020F0502020204030204"/>
                <a:ea typeface="+mn-ea"/>
                <a:cs typeface="+mn-cs"/>
              </a:rPr>
              <a:t>Q:</a:t>
            </a: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how to set TCP timeout value?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longer than RTT, but RTT varies!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too short:</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premature timeout, unnecessary retransmissions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too long:</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slow reaction to segment loss</a:t>
            </a:r>
          </a:p>
        </p:txBody>
      </p:sp>
      <p:sp>
        <p:nvSpPr>
          <p:cNvPr id="5" name="Slide Number Placeholder 2">
            <a:extLst>
              <a:ext uri="{FF2B5EF4-FFF2-40B4-BE49-F238E27FC236}">
                <a16:creationId xmlns="" xmlns:a16="http://schemas.microsoft.com/office/drawing/2014/main" id="{969C69A2-4389-474B-8FF4-E0D66DDE428E}"/>
              </a:ext>
            </a:extLst>
          </p:cNvPr>
          <p:cNvSpPr>
            <a:spLocks noGrp="1"/>
          </p:cNvSpPr>
          <p:nvPr>
            <p:ph type="sldNum" sz="quarter" idx="4294967295"/>
          </p:nvPr>
        </p:nvSpPr>
        <p:spPr>
          <a:xfrm>
            <a:off x="9219616" y="6443089"/>
            <a:ext cx="2743200" cy="365125"/>
          </a:xfrm>
          <a:prstGeom prst="rect">
            <a:avLst/>
          </a:prstGeom>
        </p:spPr>
        <p:txBody>
          <a:bodyPr/>
          <a:lstStyle/>
          <a:p>
            <a:r>
              <a:rPr lang="en-US" dirty="0"/>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14943591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Adaptive </a:t>
            </a:r>
            <a:r>
              <a:rPr lang="en-US" dirty="0" err="1" smtClean="0"/>
              <a:t>ReTx</a:t>
            </a:r>
            <a:endParaRPr lang="en-US" dirty="0"/>
          </a:p>
        </p:txBody>
      </p:sp>
      <p:sp>
        <p:nvSpPr>
          <p:cNvPr id="5" name="Content Placeholder 4"/>
          <p:cNvSpPr>
            <a:spLocks noGrp="1"/>
          </p:cNvSpPr>
          <p:nvPr>
            <p:ph idx="1"/>
          </p:nvPr>
        </p:nvSpPr>
        <p:spPr>
          <a:xfrm>
            <a:off x="838200" y="1825625"/>
            <a:ext cx="4786745" cy="4351338"/>
          </a:xfrm>
        </p:spPr>
        <p:txBody>
          <a:bodyPr/>
          <a:lstStyle/>
          <a:p>
            <a:r>
              <a:rPr lang="en-US" dirty="0"/>
              <a:t>TCP keeps </a:t>
            </a:r>
            <a:endParaRPr lang="en-US" dirty="0" smtClean="0"/>
          </a:p>
          <a:p>
            <a:pPr lvl="1"/>
            <a:r>
              <a:rPr lang="en-US" dirty="0" smtClean="0"/>
              <a:t>estimate </a:t>
            </a:r>
            <a:r>
              <a:rPr lang="en-US" dirty="0"/>
              <a:t>of round-trip time (RTT) on </a:t>
            </a:r>
            <a:r>
              <a:rPr lang="en-US" dirty="0" smtClean="0"/>
              <a:t>each connection</a:t>
            </a:r>
            <a:endParaRPr lang="en-US" dirty="0"/>
          </a:p>
          <a:p>
            <a:pPr lvl="1"/>
            <a:r>
              <a:rPr lang="en-US" dirty="0"/>
              <a:t>Round-trip estimate derived </a:t>
            </a:r>
            <a:r>
              <a:rPr lang="en-US" dirty="0" smtClean="0"/>
              <a:t>from</a:t>
            </a:r>
          </a:p>
          <a:p>
            <a:pPr lvl="2"/>
            <a:r>
              <a:rPr lang="en-US" dirty="0" smtClean="0"/>
              <a:t> </a:t>
            </a:r>
            <a:r>
              <a:rPr lang="en-US" dirty="0"/>
              <a:t>observed delay </a:t>
            </a:r>
            <a:r>
              <a:rPr lang="en-US" dirty="0" smtClean="0"/>
              <a:t>between sending </a:t>
            </a:r>
            <a:r>
              <a:rPr lang="en-US" dirty="0"/>
              <a:t>segment and receiving acknowledgement</a:t>
            </a:r>
          </a:p>
          <a:p>
            <a:r>
              <a:rPr lang="en-US" dirty="0"/>
              <a:t>Timeout for retransmission based on current </a:t>
            </a:r>
            <a:r>
              <a:rPr lang="en-US" dirty="0" smtClean="0"/>
              <a:t>round-trip estimate</a:t>
            </a:r>
            <a:endParaRPr lang="en-US" dirty="0"/>
          </a:p>
          <a:p>
            <a:endParaRPr lang="en-US" dirty="0"/>
          </a:p>
        </p:txBody>
      </p:sp>
      <p:sp>
        <p:nvSpPr>
          <p:cNvPr id="6" name="Rectangle 1028">
            <a:extLst>
              <a:ext uri="{FF2B5EF4-FFF2-40B4-BE49-F238E27FC236}">
                <a16:creationId xmlns="" xmlns:a16="http://schemas.microsoft.com/office/drawing/2014/main" id="{EBDCCB72-DE33-3D44-BBEA-E4C6F08C3D8E}"/>
              </a:ext>
            </a:extLst>
          </p:cNvPr>
          <p:cNvSpPr txBox="1">
            <a:spLocks noChangeArrowheads="1"/>
          </p:cNvSpPr>
          <p:nvPr/>
        </p:nvSpPr>
        <p:spPr>
          <a:xfrm>
            <a:off x="6258838" y="1393136"/>
            <a:ext cx="5565913"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sng"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Q</a:t>
            </a:r>
            <a:r>
              <a:rPr kumimoji="0" lang="en-US" altLang="en-US" sz="3200" b="0" i="0" u="sng"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t>
            </a: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how to estimate RTT?</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000099"/>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measured time from segment transmission until ACK receipt</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ignore retransmissions</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r>
              <a:rPr kumimoji="0" lang="en-US" altLang="en-US" sz="2800" b="0" i="0" u="none" strike="noStrike" kern="1200" cap="none" spc="0" normalizeH="0" baseline="0" noProof="0" dirty="0">
                <a:ln>
                  <a:noFill/>
                </a:ln>
                <a:solidFill>
                  <a:srgbClr val="0000A8"/>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will vary, want estimated RTT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smoother</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endPar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average several </a:t>
            </a:r>
            <a:r>
              <a:rPr kumimoji="0" lang="en-US" altLang="en-US" sz="24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recent</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measurements, not just current </a:t>
            </a:r>
            <a:r>
              <a:rPr kumimoji="0" lang="en-US" altLang="en-US" sz="2400" b="0" i="0" u="none" strike="noStrike" kern="1200" cap="none" spc="0" normalizeH="0" baseline="0" noProof="0" dirty="0">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p>
        </p:txBody>
      </p:sp>
    </p:spTree>
    <p:extLst>
      <p:ext uri="{BB962C8B-B14F-4D97-AF65-F5344CB8AC3E}">
        <p14:creationId xmlns:p14="http://schemas.microsoft.com/office/powerpoint/2010/main" val="145409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 xmlns:a16="http://schemas.microsoft.com/office/drawing/2014/main" id="{3F844AE2-7CBB-B241-ABD8-7F7D48828D4B}"/>
              </a:ext>
            </a:extLst>
          </p:cNvPr>
          <p:cNvSpPr/>
          <p:nvPr/>
        </p:nvSpPr>
        <p:spPr>
          <a:xfrm>
            <a:off x="876300" y="1261543"/>
            <a:ext cx="8974869" cy="4616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28" name="Text Box 3">
            <a:extLst>
              <a:ext uri="{FF2B5EF4-FFF2-40B4-BE49-F238E27FC236}">
                <a16:creationId xmlns="" xmlns:a16="http://schemas.microsoft.com/office/drawing/2014/main" id="{6466E19A-B1DF-1A42-B002-F49CA04A4C03}"/>
              </a:ext>
            </a:extLst>
          </p:cNvPr>
          <p:cNvSpPr txBox="1">
            <a:spLocks noChangeArrowheads="1"/>
          </p:cNvSpPr>
          <p:nvPr/>
        </p:nvSpPr>
        <p:spPr bwMode="auto">
          <a:xfrm>
            <a:off x="399345" y="1307709"/>
            <a:ext cx="10099730" cy="46166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EstimatedRTT = </a:t>
            </a:r>
            <a:r>
              <a:rPr kumimoji="0" lang="en-US" sz="2400" b="1" i="0" u="none" strike="noStrike" kern="1200" cap="none" spc="0" normalizeH="0" baseline="0" noProof="0" dirty="0" smtClean="0">
                <a:ln>
                  <a:noFill/>
                </a:ln>
                <a:solidFill>
                  <a:srgbClr val="000000"/>
                </a:solidFill>
                <a:effectLst/>
                <a:uLnTx/>
                <a:uFillTx/>
                <a:latin typeface="Courier New" charset="0"/>
                <a:ea typeface="ＭＳ Ｐゴシック" charset="0"/>
                <a:cs typeface="+mn-cs"/>
              </a:rPr>
              <a:t>(1- </a:t>
            </a:r>
            <a:r>
              <a:rPr kumimoji="0" lang="en-US" sz="2400" b="1" i="0" u="none" strike="noStrike" kern="1200" cap="none" spc="0" normalizeH="0" baseline="0" noProof="0" dirty="0" smtClean="0">
                <a:ln>
                  <a:noFill/>
                </a:ln>
                <a:solidFill>
                  <a:srgbClr val="000000"/>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smtClean="0">
                <a:ln>
                  <a:noFill/>
                </a:ln>
                <a:solidFill>
                  <a:srgbClr val="000000"/>
                </a:solidFill>
                <a:effectLst/>
                <a:uLnTx/>
                <a:uFillTx/>
                <a:latin typeface="Courier New" charset="0"/>
                <a:ea typeface="ＭＳ Ｐゴシック" charset="0"/>
                <a:cs typeface="+mn-cs"/>
              </a:rPr>
              <a: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EstimatedRTT + </a:t>
            </a:r>
            <a:r>
              <a:rPr lang="en-US" sz="2400" b="1" dirty="0" smtClean="0">
                <a:solidFill>
                  <a:srgbClr val="000000"/>
                </a:solidFill>
                <a:latin typeface="Courier New" charset="0"/>
                <a:sym typeface="Symbol" charset="0"/>
              </a:rPr>
              <a:t></a:t>
            </a:r>
            <a:r>
              <a:rPr kumimoji="0" lang="en-US" sz="2400" b="1" i="0" u="none" strike="noStrike" kern="1200" cap="none" spc="0" normalizeH="0" baseline="0" noProof="0" dirty="0" smtClean="0">
                <a:ln>
                  <a:noFill/>
                </a:ln>
                <a:solidFill>
                  <a:srgbClr val="000000"/>
                </a:solidFill>
                <a:effectLst/>
                <a:uLnTx/>
                <a:uFillTx/>
                <a:latin typeface="Courier New" charset="0"/>
                <a:ea typeface="ＭＳ Ｐゴシック" charset="0"/>
                <a:cs typeface="+mn-cs"/>
              </a:rPr>
              <a:t>*</a:t>
            </a:r>
            <a:r>
              <a:rPr kumimoji="0" lang="en-US" sz="2400" b="1" i="0" u="none" strike="noStrike" kern="1200" cap="none" spc="0" normalizeH="0" baseline="0" noProof="0" dirty="0" err="1" smtClean="0">
                <a:ln>
                  <a:noFill/>
                </a:ln>
                <a:solidFill>
                  <a:srgbClr val="000000"/>
                </a:solidFill>
                <a:effectLst/>
                <a:uLnTx/>
                <a:uFillTx/>
                <a:latin typeface="Courier New" charset="0"/>
                <a:ea typeface="ＭＳ Ｐゴシック" charset="0"/>
                <a:cs typeface="+mn-cs"/>
              </a:rPr>
              <a:t>SampleRTT</a:t>
            </a:r>
            <a:endPar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sp>
        <p:nvSpPr>
          <p:cNvPr id="31" name="Rectangle 4">
            <a:extLst>
              <a:ext uri="{FF2B5EF4-FFF2-40B4-BE49-F238E27FC236}">
                <a16:creationId xmlns="" xmlns:a16="http://schemas.microsoft.com/office/drawing/2014/main" id="{4A4474B4-4EC5-0C4B-8B43-3433BA1CD706}"/>
              </a:ext>
            </a:extLst>
          </p:cNvPr>
          <p:cNvSpPr>
            <a:spLocks noChangeArrowheads="1"/>
          </p:cNvSpPr>
          <p:nvPr/>
        </p:nvSpPr>
        <p:spPr bwMode="auto">
          <a:xfrm>
            <a:off x="951602" y="1857328"/>
            <a:ext cx="3961921" cy="2257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e</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xponential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w</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eighted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oving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verage (EWMA</a:t>
            </a:r>
            <a:r>
              <a:rPr kumimoji="0" lang="en-US" sz="2400" b="0" i="0" u="none" strike="noStrike" kern="1200" cap="none" spc="0" normalizeH="0" baseline="0" noProof="0" dirty="0" smtClean="0">
                <a:ln>
                  <a:noFill/>
                </a:ln>
                <a:solidFill>
                  <a:srgbClr val="000000"/>
                </a:solidFill>
                <a:effectLst/>
                <a:uLnTx/>
                <a:uFillTx/>
                <a:latin typeface="Calibri" panose="020F0502020204030204"/>
                <a:ea typeface="ＭＳ Ｐゴシック" charset="0"/>
                <a:cs typeface="+mn-cs"/>
              </a:rPr>
              <a: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5" name="Group 4">
            <a:extLst>
              <a:ext uri="{FF2B5EF4-FFF2-40B4-BE49-F238E27FC236}">
                <a16:creationId xmlns="" xmlns:a16="http://schemas.microsoft.com/office/drawing/2014/main" id="{F081A723-2F83-4149-BCD6-BF02F3F3BE24}"/>
              </a:ext>
            </a:extLst>
          </p:cNvPr>
          <p:cNvGrpSpPr/>
          <p:nvPr/>
        </p:nvGrpSpPr>
        <p:grpSpPr>
          <a:xfrm>
            <a:off x="5514391" y="1857328"/>
            <a:ext cx="6448425" cy="4292600"/>
            <a:chOff x="1531938" y="2565400"/>
            <a:chExt cx="6448425" cy="4292600"/>
          </a:xfrm>
        </p:grpSpPr>
        <p:grpSp>
          <p:nvGrpSpPr>
            <p:cNvPr id="25" name="Group 14">
              <a:extLst>
                <a:ext uri="{FF2B5EF4-FFF2-40B4-BE49-F238E27FC236}">
                  <a16:creationId xmlns="" xmlns:a16="http://schemas.microsoft.com/office/drawing/2014/main" id="{B47CB747-71BF-F246-8D51-35EDB4E56B20}"/>
                </a:ext>
              </a:extLst>
            </p:cNvPr>
            <p:cNvGrpSpPr>
              <a:grpSpLocks/>
            </p:cNvGrpSpPr>
            <p:nvPr/>
          </p:nvGrpSpPr>
          <p:grpSpPr bwMode="auto">
            <a:xfrm>
              <a:off x="1708150" y="2565400"/>
              <a:ext cx="6272213" cy="4292600"/>
              <a:chOff x="782" y="1865"/>
              <a:chExt cx="3951" cy="2704"/>
            </a:xfrm>
          </p:grpSpPr>
          <p:pic>
            <p:nvPicPr>
              <p:cNvPr id="26" name="Picture 12">
                <a:extLst>
                  <a:ext uri="{FF2B5EF4-FFF2-40B4-BE49-F238E27FC236}">
                    <a16:creationId xmlns="" xmlns:a16="http://schemas.microsoft.com/office/drawing/2014/main" id="{1B79C964-96AD-AA4A-B4CF-C6377C29E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 y="1865"/>
                <a:ext cx="3951" cy="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13">
                <a:extLst>
                  <a:ext uri="{FF2B5EF4-FFF2-40B4-BE49-F238E27FC236}">
                    <a16:creationId xmlns="" xmlns:a16="http://schemas.microsoft.com/office/drawing/2014/main" id="{92FABEFD-E51C-0A49-A008-5D94B930D232}"/>
                  </a:ext>
                </a:extLst>
              </p:cNvPr>
              <p:cNvSpPr>
                <a:spLocks noChangeArrowheads="1"/>
              </p:cNvSpPr>
              <p:nvPr/>
            </p:nvSpPr>
            <p:spPr bwMode="auto">
              <a:xfrm>
                <a:off x="2070" y="1926"/>
                <a:ext cx="1404" cy="16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2" name="Text Box 18">
              <a:extLst>
                <a:ext uri="{FF2B5EF4-FFF2-40B4-BE49-F238E27FC236}">
                  <a16:creationId xmlns="" xmlns:a16="http://schemas.microsoft.com/office/drawing/2014/main" id="{F9CA757D-88CC-BF41-8C8F-6A16BC6C043B}"/>
                </a:ext>
              </a:extLst>
            </p:cNvPr>
            <p:cNvSpPr txBox="1">
              <a:spLocks noChangeArrowheads="1"/>
            </p:cNvSpPr>
            <p:nvPr/>
          </p:nvSpPr>
          <p:spPr bwMode="auto">
            <a:xfrm rot="10800000">
              <a:off x="1531938" y="3535363"/>
              <a:ext cx="428625" cy="17478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RTT (milliseconds)</a:t>
              </a:r>
            </a:p>
          </p:txBody>
        </p:sp>
        <p:sp>
          <p:nvSpPr>
            <p:cNvPr id="33" name="Text Box 19">
              <a:extLst>
                <a:ext uri="{FF2B5EF4-FFF2-40B4-BE49-F238E27FC236}">
                  <a16:creationId xmlns="" xmlns:a16="http://schemas.microsoft.com/office/drawing/2014/main" id="{5783915F-0896-D04A-9D0B-BE930F53923F}"/>
                </a:ext>
              </a:extLst>
            </p:cNvPr>
            <p:cNvSpPr txBox="1">
              <a:spLocks noChangeArrowheads="1"/>
            </p:cNvSpPr>
            <p:nvPr/>
          </p:nvSpPr>
          <p:spPr bwMode="auto">
            <a:xfrm>
              <a:off x="2265363" y="3168650"/>
              <a:ext cx="3867150" cy="3048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RTT:</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gaia.cs.umass.edu</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to</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fantasia.eurecom.fr</a:t>
              </a:r>
            </a:p>
          </p:txBody>
        </p:sp>
        <p:sp>
          <p:nvSpPr>
            <p:cNvPr id="34" name="Text Box 20">
              <a:extLst>
                <a:ext uri="{FF2B5EF4-FFF2-40B4-BE49-F238E27FC236}">
                  <a16:creationId xmlns="" xmlns:a16="http://schemas.microsoft.com/office/drawing/2014/main" id="{FDF3CC5E-05FF-9348-AFEA-B37BF0709D00}"/>
                </a:ext>
              </a:extLst>
            </p:cNvPr>
            <p:cNvSpPr txBox="1">
              <a:spLocks noChangeArrowheads="1"/>
            </p:cNvSpPr>
            <p:nvPr/>
          </p:nvSpPr>
          <p:spPr bwMode="auto">
            <a:xfrm>
              <a:off x="6221413" y="5230813"/>
              <a:ext cx="118110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sampleRTT</a:t>
              </a:r>
            </a:p>
          </p:txBody>
        </p:sp>
        <p:sp>
          <p:nvSpPr>
            <p:cNvPr id="35" name="Text Box 21">
              <a:extLst>
                <a:ext uri="{FF2B5EF4-FFF2-40B4-BE49-F238E27FC236}">
                  <a16:creationId xmlns="" xmlns:a16="http://schemas.microsoft.com/office/drawing/2014/main" id="{F17B9932-059C-5C46-AFDC-5141617F4B50}"/>
                </a:ext>
              </a:extLst>
            </p:cNvPr>
            <p:cNvSpPr txBox="1">
              <a:spLocks noChangeArrowheads="1"/>
            </p:cNvSpPr>
            <p:nvPr/>
          </p:nvSpPr>
          <p:spPr bwMode="auto">
            <a:xfrm>
              <a:off x="6215063" y="5548313"/>
              <a:ext cx="14319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EstimatedRTT</a:t>
              </a:r>
            </a:p>
          </p:txBody>
        </p:sp>
        <p:sp>
          <p:nvSpPr>
            <p:cNvPr id="36" name="AutoShape 22">
              <a:extLst>
                <a:ext uri="{FF2B5EF4-FFF2-40B4-BE49-F238E27FC236}">
                  <a16:creationId xmlns="" xmlns:a16="http://schemas.microsoft.com/office/drawing/2014/main" id="{5C984DD6-69E3-6841-B32A-69B38C890B14}"/>
                </a:ext>
              </a:extLst>
            </p:cNvPr>
            <p:cNvSpPr>
              <a:spLocks noChangeArrowheads="1"/>
            </p:cNvSpPr>
            <p:nvPr/>
          </p:nvSpPr>
          <p:spPr bwMode="auto">
            <a:xfrm>
              <a:off x="6005513" y="5343525"/>
              <a:ext cx="147637" cy="142875"/>
            </a:xfrm>
            <a:prstGeom prst="diamond">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7" name="AutoShape 23">
              <a:extLst>
                <a:ext uri="{FF2B5EF4-FFF2-40B4-BE49-F238E27FC236}">
                  <a16:creationId xmlns="" xmlns:a16="http://schemas.microsoft.com/office/drawing/2014/main" id="{949FCF6B-A257-E540-8887-09B596633DCF}"/>
                </a:ext>
              </a:extLst>
            </p:cNvPr>
            <p:cNvSpPr>
              <a:spLocks noChangeArrowheads="1"/>
            </p:cNvSpPr>
            <p:nvPr/>
          </p:nvSpPr>
          <p:spPr bwMode="auto">
            <a:xfrm rot="2776382">
              <a:off x="6011069" y="5633244"/>
              <a:ext cx="147637" cy="142875"/>
            </a:xfrm>
            <a:prstGeom prst="diamond">
              <a:avLst/>
            </a:prstGeom>
            <a:solidFill>
              <a:srgbClr val="FF66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8" name="Rectangle 24">
              <a:extLst>
                <a:ext uri="{FF2B5EF4-FFF2-40B4-BE49-F238E27FC236}">
                  <a16:creationId xmlns="" xmlns:a16="http://schemas.microsoft.com/office/drawing/2014/main" id="{1C4D877B-9F3D-6342-9DFB-B8DAC5F2E1C6}"/>
                </a:ext>
              </a:extLst>
            </p:cNvPr>
            <p:cNvSpPr>
              <a:spLocks noChangeArrowheads="1"/>
            </p:cNvSpPr>
            <p:nvPr/>
          </p:nvSpPr>
          <p:spPr bwMode="auto">
            <a:xfrm>
              <a:off x="4108450" y="6389688"/>
              <a:ext cx="1863725" cy="46831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9" name="Group 15">
              <a:extLst>
                <a:ext uri="{FF2B5EF4-FFF2-40B4-BE49-F238E27FC236}">
                  <a16:creationId xmlns="" xmlns:a16="http://schemas.microsoft.com/office/drawing/2014/main" id="{46A7C35C-F55E-D448-9F19-A868DE731AA0}"/>
                </a:ext>
              </a:extLst>
            </p:cNvPr>
            <p:cNvGrpSpPr>
              <a:grpSpLocks/>
            </p:cNvGrpSpPr>
            <p:nvPr/>
          </p:nvGrpSpPr>
          <p:grpSpPr bwMode="auto">
            <a:xfrm>
              <a:off x="4041775" y="6386513"/>
              <a:ext cx="1512888" cy="336550"/>
              <a:chOff x="2343" y="3645"/>
              <a:chExt cx="953" cy="212"/>
            </a:xfrm>
          </p:grpSpPr>
          <p:sp>
            <p:nvSpPr>
              <p:cNvPr id="40" name="Rectangle 16">
                <a:extLst>
                  <a:ext uri="{FF2B5EF4-FFF2-40B4-BE49-F238E27FC236}">
                    <a16:creationId xmlns="" xmlns:a16="http://schemas.microsoft.com/office/drawing/2014/main" id="{76A5B688-5F66-A646-903E-26608C06EFAA}"/>
                  </a:ext>
                </a:extLst>
              </p:cNvPr>
              <p:cNvSpPr>
                <a:spLocks noChangeArrowheads="1"/>
              </p:cNvSpPr>
              <p:nvPr/>
            </p:nvSpPr>
            <p:spPr bwMode="auto">
              <a:xfrm>
                <a:off x="2592" y="3695"/>
                <a:ext cx="527" cy="9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 name="Text Box 17">
                <a:extLst>
                  <a:ext uri="{FF2B5EF4-FFF2-40B4-BE49-F238E27FC236}">
                    <a16:creationId xmlns="" xmlns:a16="http://schemas.microsoft.com/office/drawing/2014/main" id="{9530FDC0-AF61-1C41-8AC4-6B29BC1A8D3C}"/>
                  </a:ext>
                </a:extLst>
              </p:cNvPr>
              <p:cNvSpPr txBox="1">
                <a:spLocks noChangeArrowheads="1"/>
              </p:cNvSpPr>
              <p:nvPr/>
            </p:nvSpPr>
            <p:spPr bwMode="auto">
              <a:xfrm>
                <a:off x="2343" y="3645"/>
                <a:ext cx="953"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time (seconds)</a:t>
                </a:r>
              </a:p>
            </p:txBody>
          </p:sp>
        </p:grpSp>
      </p:grpSp>
      <p:sp>
        <p:nvSpPr>
          <p:cNvPr id="20" name="Slide Number Placeholder 2">
            <a:extLst>
              <a:ext uri="{FF2B5EF4-FFF2-40B4-BE49-F238E27FC236}">
                <a16:creationId xmlns="" xmlns:a16="http://schemas.microsoft.com/office/drawing/2014/main" id="{80D2031C-D174-0C4C-B2D2-3D6ED6240314}"/>
              </a:ext>
            </a:extLst>
          </p:cNvPr>
          <p:cNvSpPr>
            <a:spLocks noGrp="1"/>
          </p:cNvSpPr>
          <p:nvPr>
            <p:ph type="sldNum" sz="quarter" idx="4294967295"/>
          </p:nvPr>
        </p:nvSpPr>
        <p:spPr>
          <a:xfrm>
            <a:off x="9219616" y="6443089"/>
            <a:ext cx="2743200" cy="365125"/>
          </a:xfrm>
          <a:prstGeom prst="rect">
            <a:avLst/>
          </a:prstGeom>
        </p:spPr>
        <p:txBody>
          <a:bodyPr/>
          <a:lstStyle/>
          <a:p>
            <a:r>
              <a:rPr lang="en-US" dirty="0"/>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1513010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b="1" dirty="0"/>
              <a:t>H</a:t>
            </a:r>
            <a:r>
              <a:rPr lang="en-US" b="1" dirty="0" smtClean="0"/>
              <a:t>ow much one unusually large RTT measurement affects the overall estimate</a:t>
            </a:r>
            <a:r>
              <a:rPr lang="en-US" dirty="0"/>
              <a:t>?</a:t>
            </a:r>
            <a:r>
              <a:rPr lang="en-US" dirty="0" smtClean="0"/>
              <a:t/>
            </a:r>
            <a:br>
              <a:rPr lang="en-US" dirty="0" smtClean="0"/>
            </a:br>
            <a:endParaRPr lang="en-US" dirty="0"/>
          </a:p>
        </p:txBody>
      </p:sp>
      <p:sp>
        <p:nvSpPr>
          <p:cNvPr id="6" name="Content Placeholder 5"/>
          <p:cNvSpPr>
            <a:spLocks noGrp="1"/>
          </p:cNvSpPr>
          <p:nvPr>
            <p:ph idx="1"/>
          </p:nvPr>
        </p:nvSpPr>
        <p:spPr>
          <a:xfrm>
            <a:off x="290945" y="2147453"/>
            <a:ext cx="5805055" cy="3422073"/>
          </a:xfrm>
        </p:spPr>
        <p:txBody>
          <a:bodyPr>
            <a:normAutofit fontScale="92500" lnSpcReduction="20000"/>
          </a:bodyPr>
          <a:lstStyle/>
          <a:p>
            <a:endParaRPr lang="en-US" dirty="0"/>
          </a:p>
          <a:p>
            <a:r>
              <a:rPr lang="en-US" b="1" dirty="0"/>
              <a:t>Large α (e.g., 0.8)</a:t>
            </a:r>
          </a:p>
          <a:p>
            <a:r>
              <a:rPr lang="en-US" dirty="0"/>
              <a:t>Gives </a:t>
            </a:r>
            <a:r>
              <a:rPr lang="en-US" u="sng" dirty="0">
                <a:solidFill>
                  <a:srgbClr val="FF0000"/>
                </a:solidFill>
              </a:rPr>
              <a:t>more weight to the new </a:t>
            </a:r>
            <a:r>
              <a:rPr lang="en-US" u="sng" dirty="0" err="1">
                <a:solidFill>
                  <a:srgbClr val="FF0000"/>
                </a:solidFill>
              </a:rPr>
              <a:t>SampleRTT</a:t>
            </a:r>
            <a:endParaRPr lang="en-US" u="sng" dirty="0">
              <a:solidFill>
                <a:srgbClr val="FF0000"/>
              </a:solidFill>
            </a:endParaRPr>
          </a:p>
          <a:p>
            <a:r>
              <a:rPr lang="en-US" dirty="0"/>
              <a:t>The estimate changes quickly</a:t>
            </a:r>
          </a:p>
          <a:p>
            <a:r>
              <a:rPr lang="en-US" dirty="0"/>
              <a:t>If one RTT spike happens (e.g., temporary congestion), the </a:t>
            </a:r>
            <a:r>
              <a:rPr lang="en-US" u="sng" dirty="0" err="1">
                <a:solidFill>
                  <a:srgbClr val="FF0000"/>
                </a:solidFill>
              </a:rPr>
              <a:t>EstimatedRTT</a:t>
            </a:r>
            <a:r>
              <a:rPr lang="en-US" u="sng" dirty="0">
                <a:solidFill>
                  <a:srgbClr val="FF0000"/>
                </a:solidFill>
              </a:rPr>
              <a:t> jumps up sharply</a:t>
            </a:r>
          </a:p>
          <a:p>
            <a:r>
              <a:rPr lang="en-US" b="1" dirty="0"/>
              <a:t>More responsive, less </a:t>
            </a:r>
            <a:r>
              <a:rPr lang="en-US" b="1" dirty="0" smtClean="0"/>
              <a:t>stable</a:t>
            </a:r>
            <a:endParaRPr lang="en-US" dirty="0" smtClean="0"/>
          </a:p>
          <a:p>
            <a:endParaRPr lang="en-US" b="1" dirty="0"/>
          </a:p>
          <a:p>
            <a:endParaRPr lang="en-US" dirty="0"/>
          </a:p>
        </p:txBody>
      </p:sp>
      <p:sp>
        <p:nvSpPr>
          <p:cNvPr id="7" name="Rectangle 6"/>
          <p:cNvSpPr/>
          <p:nvPr/>
        </p:nvSpPr>
        <p:spPr>
          <a:xfrm>
            <a:off x="6428510" y="2147453"/>
            <a:ext cx="5077690" cy="3046988"/>
          </a:xfrm>
          <a:prstGeom prst="rect">
            <a:avLst/>
          </a:prstGeom>
        </p:spPr>
        <p:txBody>
          <a:bodyPr wrap="square">
            <a:spAutoFit/>
          </a:bodyPr>
          <a:lstStyle/>
          <a:p>
            <a:pPr>
              <a:buFont typeface="Arial" charset="0"/>
              <a:buChar char="•"/>
            </a:pPr>
            <a:r>
              <a:rPr lang="en-US" sz="2400" b="0" i="0" dirty="0" smtClean="0">
                <a:solidFill>
                  <a:srgbClr val="000000"/>
                </a:solidFill>
                <a:effectLst/>
              </a:rPr>
              <a:t>Current </a:t>
            </a:r>
            <a:r>
              <a:rPr lang="en-US" sz="2400" b="0" i="0" dirty="0" err="1" smtClean="0">
                <a:solidFill>
                  <a:srgbClr val="000000"/>
                </a:solidFill>
                <a:effectLst/>
              </a:rPr>
              <a:t>EstimatedRTT</a:t>
            </a:r>
            <a:r>
              <a:rPr lang="en-US" sz="2400" b="0" i="0" dirty="0" smtClean="0">
                <a:solidFill>
                  <a:srgbClr val="000000"/>
                </a:solidFill>
                <a:effectLst/>
              </a:rPr>
              <a:t> = 100 </a:t>
            </a:r>
            <a:r>
              <a:rPr lang="en-US" sz="2400" b="0" i="0" dirty="0" err="1" smtClean="0">
                <a:solidFill>
                  <a:srgbClr val="000000"/>
                </a:solidFill>
                <a:effectLst/>
              </a:rPr>
              <a:t>ms</a:t>
            </a:r>
            <a:endParaRPr lang="en-US" sz="2400" b="0" i="0" dirty="0" smtClean="0">
              <a:solidFill>
                <a:srgbClr val="000000"/>
              </a:solidFill>
              <a:effectLst/>
            </a:endParaRPr>
          </a:p>
          <a:p>
            <a:pPr>
              <a:buFont typeface="Arial" charset="0"/>
              <a:buChar char="•"/>
            </a:pPr>
            <a:r>
              <a:rPr lang="en-US" sz="2400" b="0" i="0" dirty="0" smtClean="0">
                <a:solidFill>
                  <a:srgbClr val="000000"/>
                </a:solidFill>
                <a:effectLst/>
              </a:rPr>
              <a:t>New </a:t>
            </a:r>
            <a:r>
              <a:rPr lang="en-US" sz="2400" b="0" i="0" dirty="0" err="1" smtClean="0">
                <a:solidFill>
                  <a:srgbClr val="000000"/>
                </a:solidFill>
                <a:effectLst/>
              </a:rPr>
              <a:t>SampleRTT</a:t>
            </a:r>
            <a:r>
              <a:rPr lang="en-US" sz="2400" b="0" i="0" dirty="0" smtClean="0">
                <a:solidFill>
                  <a:srgbClr val="000000"/>
                </a:solidFill>
                <a:effectLst/>
              </a:rPr>
              <a:t> = 300 </a:t>
            </a:r>
            <a:r>
              <a:rPr lang="en-US" sz="2400" b="0" i="0" dirty="0" err="1" smtClean="0">
                <a:solidFill>
                  <a:srgbClr val="000000"/>
                </a:solidFill>
                <a:effectLst/>
              </a:rPr>
              <a:t>ms</a:t>
            </a:r>
            <a:r>
              <a:rPr lang="en-US" sz="2400" b="0" i="0" dirty="0" smtClean="0">
                <a:solidFill>
                  <a:srgbClr val="000000"/>
                </a:solidFill>
                <a:effectLst/>
              </a:rPr>
              <a:t> (a temporary spike)</a:t>
            </a:r>
          </a:p>
          <a:p>
            <a:endParaRPr lang="en-US" sz="2400" b="1" i="0" dirty="0" smtClean="0">
              <a:solidFill>
                <a:srgbClr val="000000"/>
              </a:solidFill>
              <a:effectLst/>
            </a:endParaRPr>
          </a:p>
          <a:p>
            <a:r>
              <a:rPr lang="en-US" sz="2400" b="1" i="0" dirty="0" smtClean="0">
                <a:solidFill>
                  <a:srgbClr val="000000"/>
                </a:solidFill>
                <a:effectLst/>
              </a:rPr>
              <a:t> α = 0.8 (large)</a:t>
            </a:r>
          </a:p>
          <a:p>
            <a:r>
              <a:rPr lang="en-US" sz="2400" b="0" i="0" dirty="0" smtClean="0">
                <a:solidFill>
                  <a:srgbClr val="000000"/>
                </a:solidFill>
                <a:effectLst/>
              </a:rPr>
              <a:t>=0.2(100)+0.8(300)=20+240=260 </a:t>
            </a:r>
            <a:r>
              <a:rPr lang="en-US" sz="2400" b="0" i="0" dirty="0" err="1" smtClean="0">
                <a:solidFill>
                  <a:srgbClr val="000000"/>
                </a:solidFill>
                <a:effectLst/>
              </a:rPr>
              <a:t>ms</a:t>
            </a:r>
            <a:r>
              <a:rPr lang="en-US" sz="2400" b="0" i="0" dirty="0" smtClean="0">
                <a:solidFill>
                  <a:srgbClr val="000000"/>
                </a:solidFill>
                <a:effectLst/>
              </a:rPr>
              <a:t>=0.2(100)+0.8(300)=20+240=260 </a:t>
            </a:r>
            <a:r>
              <a:rPr lang="en-US" sz="2400" b="0" i="0" dirty="0" err="1" smtClean="0">
                <a:solidFill>
                  <a:srgbClr val="000000"/>
                </a:solidFill>
                <a:effectLst/>
              </a:rPr>
              <a:t>msHuge</a:t>
            </a:r>
            <a:r>
              <a:rPr lang="en-US" sz="2400" b="0" i="0" dirty="0" smtClean="0">
                <a:solidFill>
                  <a:srgbClr val="000000"/>
                </a:solidFill>
                <a:effectLst/>
              </a:rPr>
              <a:t> jump → very sensitive to spike.</a:t>
            </a:r>
            <a:endParaRPr lang="en-US" sz="2400" b="0" i="0" dirty="0">
              <a:solidFill>
                <a:srgbClr val="000000"/>
              </a:solidFill>
              <a:effectLst/>
            </a:endParaRPr>
          </a:p>
        </p:txBody>
      </p:sp>
    </p:spTree>
    <p:extLst>
      <p:ext uri="{BB962C8B-B14F-4D97-AF65-F5344CB8AC3E}">
        <p14:creationId xmlns:p14="http://schemas.microsoft.com/office/powerpoint/2010/main" val="13582203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665019" y="1845255"/>
            <a:ext cx="6096000" cy="2677656"/>
          </a:xfrm>
          <a:prstGeom prst="rect">
            <a:avLst/>
          </a:prstGeom>
        </p:spPr>
        <p:txBody>
          <a:bodyPr>
            <a:spAutoFit/>
          </a:bodyPr>
          <a:lstStyle/>
          <a:p>
            <a:r>
              <a:rPr lang="en-US" sz="2400" b="1" dirty="0" smtClean="0"/>
              <a:t>Small α (e.g., 0.1)</a:t>
            </a:r>
          </a:p>
          <a:p>
            <a:r>
              <a:rPr lang="en-US" sz="2400" dirty="0" smtClean="0"/>
              <a:t>Gives </a:t>
            </a:r>
            <a:r>
              <a:rPr lang="en-US" sz="2400" u="sng" dirty="0" smtClean="0">
                <a:solidFill>
                  <a:srgbClr val="FF0000"/>
                </a:solidFill>
              </a:rPr>
              <a:t>more weight to the past estimate</a:t>
            </a:r>
          </a:p>
          <a:p>
            <a:r>
              <a:rPr lang="en-US" sz="2400" dirty="0" smtClean="0"/>
              <a:t>A single large delay only slightly changes </a:t>
            </a:r>
            <a:r>
              <a:rPr lang="en-US" sz="2400" dirty="0" err="1" smtClean="0"/>
              <a:t>EstimatedRTT</a:t>
            </a:r>
            <a:endParaRPr lang="en-US" sz="2400" dirty="0" smtClean="0"/>
          </a:p>
          <a:p>
            <a:r>
              <a:rPr lang="en-US" sz="2400" dirty="0" smtClean="0"/>
              <a:t>The estimate changes gradually</a:t>
            </a:r>
          </a:p>
          <a:p>
            <a:r>
              <a:rPr lang="en-US" sz="2400" b="1" dirty="0" smtClean="0"/>
              <a:t>More stable, less affected by one spike</a:t>
            </a:r>
            <a:endParaRPr lang="en-US" sz="2400" dirty="0" smtClean="0"/>
          </a:p>
          <a:p>
            <a:endParaRPr lang="en-US" sz="2400" dirty="0"/>
          </a:p>
        </p:txBody>
      </p:sp>
      <p:sp>
        <p:nvSpPr>
          <p:cNvPr id="5" name="Rectangle 4"/>
          <p:cNvSpPr/>
          <p:nvPr/>
        </p:nvSpPr>
        <p:spPr>
          <a:xfrm>
            <a:off x="7342910" y="1845255"/>
            <a:ext cx="4378036" cy="1938992"/>
          </a:xfrm>
          <a:prstGeom prst="rect">
            <a:avLst/>
          </a:prstGeom>
        </p:spPr>
        <p:txBody>
          <a:bodyPr wrap="square">
            <a:spAutoFit/>
          </a:bodyPr>
          <a:lstStyle/>
          <a:p>
            <a:r>
              <a:rPr lang="en-US" sz="2400" b="1" i="0" dirty="0" smtClean="0">
                <a:solidFill>
                  <a:srgbClr val="000000"/>
                </a:solidFill>
                <a:effectLst/>
              </a:rPr>
              <a:t>α = 0.1 (small)</a:t>
            </a:r>
          </a:p>
          <a:p>
            <a:r>
              <a:rPr lang="en-US" sz="2400" b="0" i="0" dirty="0" smtClean="0">
                <a:solidFill>
                  <a:srgbClr val="000000"/>
                </a:solidFill>
                <a:effectLst/>
              </a:rPr>
              <a:t>=0.9(100)+0.1(300)=90+30=120 </a:t>
            </a:r>
            <a:r>
              <a:rPr lang="en-US" sz="2400" b="0" i="0" dirty="0" err="1" smtClean="0">
                <a:solidFill>
                  <a:srgbClr val="000000"/>
                </a:solidFill>
                <a:effectLst/>
              </a:rPr>
              <a:t>ms</a:t>
            </a:r>
            <a:r>
              <a:rPr lang="en-US" sz="2400" b="0" i="0" dirty="0" smtClean="0">
                <a:solidFill>
                  <a:srgbClr val="000000"/>
                </a:solidFill>
                <a:effectLst/>
              </a:rPr>
              <a:t>=0.9(100)+0.1(300)=90+30=120 </a:t>
            </a:r>
            <a:r>
              <a:rPr lang="en-US" sz="2400" b="0" i="0" dirty="0" err="1" smtClean="0">
                <a:solidFill>
                  <a:srgbClr val="000000"/>
                </a:solidFill>
                <a:effectLst/>
              </a:rPr>
              <a:t>msSmall</a:t>
            </a:r>
            <a:r>
              <a:rPr lang="en-US" sz="2400" b="0" i="0" dirty="0" smtClean="0">
                <a:solidFill>
                  <a:srgbClr val="000000"/>
                </a:solidFill>
                <a:effectLst/>
              </a:rPr>
              <a:t> change → much more stable.</a:t>
            </a:r>
            <a:endParaRPr lang="en-US" sz="2400" b="0" i="0" dirty="0">
              <a:solidFill>
                <a:srgbClr val="000000"/>
              </a:solidFill>
              <a:effectLst/>
            </a:endParaRPr>
          </a:p>
        </p:txBody>
      </p:sp>
      <p:sp>
        <p:nvSpPr>
          <p:cNvPr id="6" name="Rectangle 5"/>
          <p:cNvSpPr/>
          <p:nvPr/>
        </p:nvSpPr>
        <p:spPr>
          <a:xfrm>
            <a:off x="2438400" y="4810036"/>
            <a:ext cx="6096000" cy="1569660"/>
          </a:xfrm>
          <a:prstGeom prst="rect">
            <a:avLst/>
          </a:prstGeom>
        </p:spPr>
        <p:txBody>
          <a:bodyPr>
            <a:spAutoFit/>
          </a:bodyPr>
          <a:lstStyle/>
          <a:p>
            <a:pPr marL="285750" indent="-285750">
              <a:buFont typeface="Arial" charset="0"/>
              <a:buChar char="•"/>
            </a:pPr>
            <a:r>
              <a:rPr lang="en-US" sz="2400" dirty="0" smtClean="0"/>
              <a:t>The RTT estimate </a:t>
            </a:r>
            <a:r>
              <a:rPr lang="en-US" sz="2400" b="1" dirty="0" smtClean="0"/>
              <a:t>doesn’t fluctuate wildly</a:t>
            </a:r>
            <a:endParaRPr lang="en-US" sz="2400" dirty="0" smtClean="0"/>
          </a:p>
          <a:p>
            <a:pPr marL="285750" indent="-285750">
              <a:buFont typeface="Arial" charset="0"/>
              <a:buChar char="•"/>
            </a:pPr>
            <a:r>
              <a:rPr lang="en-US" sz="2400" dirty="0" smtClean="0"/>
              <a:t>It </a:t>
            </a:r>
            <a:r>
              <a:rPr lang="en-US" sz="2400" b="1" dirty="0" smtClean="0"/>
              <a:t>smooths out short-term noise</a:t>
            </a:r>
            <a:endParaRPr lang="en-US" sz="2400" dirty="0" smtClean="0"/>
          </a:p>
          <a:p>
            <a:pPr marL="285750" indent="-285750">
              <a:buFont typeface="Arial" charset="0"/>
              <a:buChar char="•"/>
            </a:pPr>
            <a:r>
              <a:rPr lang="en-US" sz="2400" dirty="0" smtClean="0"/>
              <a:t>It reflects long-term network behavior rather than one-off congestion events</a:t>
            </a:r>
            <a:endParaRPr lang="en-US" sz="2400" dirty="0"/>
          </a:p>
        </p:txBody>
      </p:sp>
    </p:spTree>
    <p:extLst>
      <p:ext uri="{BB962C8B-B14F-4D97-AF65-F5344CB8AC3E}">
        <p14:creationId xmlns:p14="http://schemas.microsoft.com/office/powerpoint/2010/main" val="174970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59" name="Rectangle 5">
            <a:extLst>
              <a:ext uri="{FF2B5EF4-FFF2-40B4-BE49-F238E27FC236}">
                <a16:creationId xmlns="" xmlns:a16="http://schemas.microsoft.com/office/drawing/2014/main" id="{818E497C-5ADD-8648-BF4A-762A1B89120F}"/>
              </a:ext>
            </a:extLst>
          </p:cNvPr>
          <p:cNvSpPr txBox="1">
            <a:spLocks noChangeArrowheads="1"/>
          </p:cNvSpPr>
          <p:nvPr/>
        </p:nvSpPr>
        <p:spPr>
          <a:xfrm>
            <a:off x="635138" y="1537841"/>
            <a:ext cx="11327678" cy="11291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timeout interval:</a:t>
            </a:r>
            <a:r>
              <a:rPr kumimoji="0" lang="en-US" altLang="en-US" sz="2800" b="1"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plus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safety margin”</a:t>
            </a:r>
          </a:p>
          <a:p>
            <a:pPr marL="695325" marR="0" lvl="1" indent="-231775" algn="l" defTabSz="914400" rtl="0" eaLnBrk="1" fontAlgn="auto" latinLnBrk="0" hangingPunct="1">
              <a:lnSpc>
                <a:spcPct val="90000"/>
              </a:lnSpc>
              <a:spcBef>
                <a:spcPts val="10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large variation in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want a larger safety margin</a:t>
            </a:r>
          </a:p>
        </p:txBody>
      </p:sp>
      <p:grpSp>
        <p:nvGrpSpPr>
          <p:cNvPr id="5" name="Group 4">
            <a:extLst>
              <a:ext uri="{FF2B5EF4-FFF2-40B4-BE49-F238E27FC236}">
                <a16:creationId xmlns="" xmlns:a16="http://schemas.microsoft.com/office/drawing/2014/main" id="{98DFD149-D3B6-7049-8FD3-A4E0D481C064}"/>
              </a:ext>
            </a:extLst>
          </p:cNvPr>
          <p:cNvGrpSpPr/>
          <p:nvPr/>
        </p:nvGrpSpPr>
        <p:grpSpPr>
          <a:xfrm>
            <a:off x="1061454" y="2679700"/>
            <a:ext cx="9532485" cy="1193800"/>
            <a:chOff x="858254" y="2667000"/>
            <a:chExt cx="9532485" cy="1193800"/>
          </a:xfrm>
        </p:grpSpPr>
        <p:sp>
          <p:nvSpPr>
            <p:cNvPr id="70" name="Rectangle 69">
              <a:extLst>
                <a:ext uri="{FF2B5EF4-FFF2-40B4-BE49-F238E27FC236}">
                  <a16:creationId xmlns="" xmlns:a16="http://schemas.microsoft.com/office/drawing/2014/main" id="{6D78BD41-D638-4D4B-B561-317912C0037E}"/>
                </a:ext>
              </a:extLst>
            </p:cNvPr>
            <p:cNvSpPr/>
            <p:nvPr/>
          </p:nvSpPr>
          <p:spPr>
            <a:xfrm>
              <a:off x="858254" y="2667000"/>
              <a:ext cx="9532485" cy="4616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 name="Rectangle 13">
              <a:extLst>
                <a:ext uri="{FF2B5EF4-FFF2-40B4-BE49-F238E27FC236}">
                  <a16:creationId xmlns="" xmlns:a16="http://schemas.microsoft.com/office/drawing/2014/main" id="{13338CC9-61FA-4847-87D5-4B4830DB87F4}"/>
                </a:ext>
              </a:extLst>
            </p:cNvPr>
            <p:cNvSpPr>
              <a:spLocks noChangeArrowheads="1"/>
            </p:cNvSpPr>
            <p:nvPr/>
          </p:nvSpPr>
          <p:spPr bwMode="auto">
            <a:xfrm>
              <a:off x="859979" y="2701243"/>
              <a:ext cx="7918450" cy="692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TimeoutInterval = EstimatedRTT + 4*DevRTT</a:t>
              </a:r>
            </a:p>
          </p:txBody>
        </p:sp>
        <p:sp>
          <p:nvSpPr>
            <p:cNvPr id="63" name="Text Box 14">
              <a:extLst>
                <a:ext uri="{FF2B5EF4-FFF2-40B4-BE49-F238E27FC236}">
                  <a16:creationId xmlns="" xmlns:a16="http://schemas.microsoft.com/office/drawing/2014/main" id="{29ECD817-A810-F04B-85CA-8D6E49B8D6DC}"/>
                </a:ext>
              </a:extLst>
            </p:cNvPr>
            <p:cNvSpPr txBox="1">
              <a:spLocks noChangeArrowheads="1"/>
            </p:cNvSpPr>
            <p:nvPr/>
          </p:nvSpPr>
          <p:spPr bwMode="auto">
            <a:xfrm>
              <a:off x="4304854" y="3442606"/>
              <a:ext cx="181133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99"/>
                  </a:solidFill>
                  <a:effectLst/>
                  <a:uLnTx/>
                  <a:uFillTx/>
                  <a:latin typeface="Tahoma" charset="0"/>
                  <a:ea typeface="ＭＳ Ｐゴシック" charset="0"/>
                  <a:cs typeface="+mn-cs"/>
                </a:rPr>
                <a:t>estimated RTT</a:t>
              </a:r>
            </a:p>
          </p:txBody>
        </p:sp>
        <p:sp>
          <p:nvSpPr>
            <p:cNvPr id="64" name="Text Box 16">
              <a:extLst>
                <a:ext uri="{FF2B5EF4-FFF2-40B4-BE49-F238E27FC236}">
                  <a16:creationId xmlns="" xmlns:a16="http://schemas.microsoft.com/office/drawing/2014/main" id="{B6E79AC7-559E-CA4D-B400-169E15D6448A}"/>
                </a:ext>
              </a:extLst>
            </p:cNvPr>
            <p:cNvSpPr txBox="1">
              <a:spLocks noChangeArrowheads="1"/>
            </p:cNvSpPr>
            <p:nvPr/>
          </p:nvSpPr>
          <p:spPr bwMode="auto">
            <a:xfrm>
              <a:off x="6736904" y="3461656"/>
              <a:ext cx="1917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r>
                <a:rPr kumimoji="0" lang="en-US" altLang="ja-JP"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rPr>
                <a:t>safety margin</a:t>
              </a: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endParaRPr kumimoji="0" lang="en-US" altLang="en-US"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endParaRPr>
            </a:p>
          </p:txBody>
        </p:sp>
        <p:sp>
          <p:nvSpPr>
            <p:cNvPr id="65" name="Line 17">
              <a:extLst>
                <a:ext uri="{FF2B5EF4-FFF2-40B4-BE49-F238E27FC236}">
                  <a16:creationId xmlns="" xmlns:a16="http://schemas.microsoft.com/office/drawing/2014/main" id="{FF049043-4FEA-C546-ADC2-E314E7D23CA5}"/>
                </a:ext>
              </a:extLst>
            </p:cNvPr>
            <p:cNvSpPr>
              <a:spLocks noChangeShapeType="1"/>
            </p:cNvSpPr>
            <p:nvPr/>
          </p:nvSpPr>
          <p:spPr bwMode="auto">
            <a:xfrm flipV="1">
              <a:off x="5101779" y="3082243"/>
              <a:ext cx="0" cy="44608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66" name="Line 19">
              <a:extLst>
                <a:ext uri="{FF2B5EF4-FFF2-40B4-BE49-F238E27FC236}">
                  <a16:creationId xmlns="" xmlns:a16="http://schemas.microsoft.com/office/drawing/2014/main" id="{F55903EC-FD0A-654A-913F-52F13FFBE690}"/>
                </a:ext>
              </a:extLst>
            </p:cNvPr>
            <p:cNvSpPr>
              <a:spLocks noChangeShapeType="1"/>
            </p:cNvSpPr>
            <p:nvPr/>
          </p:nvSpPr>
          <p:spPr bwMode="auto">
            <a:xfrm flipV="1">
              <a:off x="7673529" y="3088593"/>
              <a:ext cx="0" cy="44608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pic>
          <p:nvPicPr>
            <p:cNvPr id="67" name="Picture 20" descr="alarm_clock_ringing">
              <a:extLst>
                <a:ext uri="{FF2B5EF4-FFF2-40B4-BE49-F238E27FC236}">
                  <a16:creationId xmlns="" xmlns:a16="http://schemas.microsoft.com/office/drawing/2014/main" id="{DF906935-706B-2B43-B876-CAD3FE51C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043" y="3238052"/>
              <a:ext cx="646558" cy="62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8" name="TextBox 1">
            <a:extLst>
              <a:ext uri="{FF2B5EF4-FFF2-40B4-BE49-F238E27FC236}">
                <a16:creationId xmlns="" xmlns:a16="http://schemas.microsoft.com/office/drawing/2014/main" id="{04CEDEED-587A-DF46-A338-0F70AC9A28A9}"/>
              </a:ext>
            </a:extLst>
          </p:cNvPr>
          <p:cNvSpPr txBox="1">
            <a:spLocks noChangeArrowheads="1"/>
          </p:cNvSpPr>
          <p:nvPr/>
        </p:nvSpPr>
        <p:spPr bwMode="auto">
          <a:xfrm>
            <a:off x="876300" y="6343507"/>
            <a:ext cx="100186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h</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ttp://gaia.cs.umass.edu/kurose_ross/interactive/</a:t>
            </a:r>
          </a:p>
        </p:txBody>
      </p:sp>
      <p:grpSp>
        <p:nvGrpSpPr>
          <p:cNvPr id="4" name="Group 3">
            <a:extLst>
              <a:ext uri="{FF2B5EF4-FFF2-40B4-BE49-F238E27FC236}">
                <a16:creationId xmlns="" xmlns:a16="http://schemas.microsoft.com/office/drawing/2014/main" id="{32E77073-7604-A04F-8597-12BF5941CCE7}"/>
              </a:ext>
            </a:extLst>
          </p:cNvPr>
          <p:cNvGrpSpPr/>
          <p:nvPr/>
        </p:nvGrpSpPr>
        <p:grpSpPr>
          <a:xfrm>
            <a:off x="1304479" y="4827690"/>
            <a:ext cx="10446405" cy="940044"/>
            <a:chOff x="1837879" y="3151290"/>
            <a:chExt cx="10446405" cy="940044"/>
          </a:xfrm>
        </p:grpSpPr>
        <p:sp>
          <p:nvSpPr>
            <p:cNvPr id="69" name="Rectangle 68">
              <a:extLst>
                <a:ext uri="{FF2B5EF4-FFF2-40B4-BE49-F238E27FC236}">
                  <a16:creationId xmlns="" xmlns:a16="http://schemas.microsoft.com/office/drawing/2014/main" id="{6D88E7C6-ABA1-FA45-A2D5-10F964EB5DB8}"/>
                </a:ext>
              </a:extLst>
            </p:cNvPr>
            <p:cNvSpPr/>
            <p:nvPr/>
          </p:nvSpPr>
          <p:spPr>
            <a:xfrm>
              <a:off x="1837879" y="3151290"/>
              <a:ext cx="9532486" cy="5222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Text Box 7">
              <a:extLst>
                <a:ext uri="{FF2B5EF4-FFF2-40B4-BE49-F238E27FC236}">
                  <a16:creationId xmlns="" xmlns:a16="http://schemas.microsoft.com/office/drawing/2014/main" id="{2F6AE672-95B4-DF44-B435-567781B49E2D}"/>
                </a:ext>
              </a:extLst>
            </p:cNvPr>
            <p:cNvSpPr txBox="1">
              <a:spLocks noChangeArrowheads="1"/>
            </p:cNvSpPr>
            <p:nvPr/>
          </p:nvSpPr>
          <p:spPr bwMode="auto">
            <a:xfrm>
              <a:off x="1837879" y="3151831"/>
              <a:ext cx="10018644" cy="46166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DevRTT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(1-</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)*DevRTT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*|SampleRTT-EstimatedRTT|</a:t>
              </a:r>
            </a:p>
          </p:txBody>
        </p:sp>
        <p:sp>
          <p:nvSpPr>
            <p:cNvPr id="61" name="Text Box 12">
              <a:extLst>
                <a:ext uri="{FF2B5EF4-FFF2-40B4-BE49-F238E27FC236}">
                  <a16:creationId xmlns="" xmlns:a16="http://schemas.microsoft.com/office/drawing/2014/main" id="{D33A459F-5B30-B942-A281-437341BBF16B}"/>
                </a:ext>
              </a:extLst>
            </p:cNvPr>
            <p:cNvSpPr txBox="1">
              <a:spLocks noChangeArrowheads="1"/>
            </p:cNvSpPr>
            <p:nvPr/>
          </p:nvSpPr>
          <p:spPr bwMode="auto">
            <a:xfrm>
              <a:off x="8898147" y="3694459"/>
              <a:ext cx="3386137"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(typically, </a:t>
              </a:r>
              <a:r>
                <a:rPr kumimoji="0" lang="en-US" sz="2000" b="0"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0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 </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sym typeface="Symbol" charset="0"/>
                </a:rPr>
                <a:t>= 0.25)</a:t>
              </a:r>
            </a:p>
          </p:txBody>
        </p:sp>
      </p:grpSp>
      <p:sp>
        <p:nvSpPr>
          <p:cNvPr id="16" name="Rectangle 5">
            <a:extLst>
              <a:ext uri="{FF2B5EF4-FFF2-40B4-BE49-F238E27FC236}">
                <a16:creationId xmlns="" xmlns:a16="http://schemas.microsoft.com/office/drawing/2014/main" id="{4DBD9BE8-0206-984D-9734-DB015980BF63}"/>
              </a:ext>
            </a:extLst>
          </p:cNvPr>
          <p:cNvSpPr txBox="1">
            <a:spLocks noChangeArrowheads="1"/>
          </p:cNvSpPr>
          <p:nvPr/>
        </p:nvSpPr>
        <p:spPr>
          <a:xfrm>
            <a:off x="660538" y="4192141"/>
            <a:ext cx="11327678" cy="5449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DevRTT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EWMA of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SampleRTT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deviation from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p>
        </p:txBody>
      </p:sp>
      <p:sp>
        <p:nvSpPr>
          <p:cNvPr id="18" name="Slide Number Placeholder 2">
            <a:extLst>
              <a:ext uri="{FF2B5EF4-FFF2-40B4-BE49-F238E27FC236}">
                <a16:creationId xmlns="" xmlns:a16="http://schemas.microsoft.com/office/drawing/2014/main" id="{0FC6F86E-C16B-C949-B055-1DD32A860108}"/>
              </a:ext>
            </a:extLst>
          </p:cNvPr>
          <p:cNvSpPr>
            <a:spLocks noGrp="1"/>
          </p:cNvSpPr>
          <p:nvPr>
            <p:ph type="sldNum" sz="quarter" idx="4294967295"/>
          </p:nvPr>
        </p:nvSpPr>
        <p:spPr>
          <a:xfrm>
            <a:off x="9219616" y="6443089"/>
            <a:ext cx="2743200" cy="365125"/>
          </a:xfrm>
          <a:prstGeom prst="rect">
            <a:avLst/>
          </a:prstGeom>
        </p:spPr>
        <p:txBody>
          <a:bodyPr/>
          <a:lstStyle/>
          <a:p>
            <a:r>
              <a:rPr lang="en-US" dirty="0"/>
              <a:t>Transport Layer: 3-</a:t>
            </a:r>
            <a:fld id="{C4204591-24BD-A542-B9D5-F8D8A88D2FEE}" type="slidenum">
              <a:rPr lang="en-US" smtClean="0"/>
              <a:pPr/>
              <a:t>10</a:t>
            </a:fld>
            <a:endParaRPr lang="en-US" dirty="0"/>
          </a:p>
        </p:txBody>
      </p:sp>
    </p:spTree>
    <p:extLst>
      <p:ext uri="{BB962C8B-B14F-4D97-AF65-F5344CB8AC3E}">
        <p14:creationId xmlns:p14="http://schemas.microsoft.com/office/powerpoint/2010/main" val="188945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Sender </a:t>
            </a:r>
            <a:r>
              <a:rPr lang="en-US" sz="3600" dirty="0"/>
              <a:t>(simplified)</a:t>
            </a:r>
            <a:endParaRPr lang="en-US" sz="4400" b="0" dirty="0"/>
          </a:p>
        </p:txBody>
      </p:sp>
      <p:sp>
        <p:nvSpPr>
          <p:cNvPr id="6" name="Rectangle 3">
            <a:extLst>
              <a:ext uri="{FF2B5EF4-FFF2-40B4-BE49-F238E27FC236}">
                <a16:creationId xmlns="" xmlns:a16="http://schemas.microsoft.com/office/drawing/2014/main" id="{93E50F9F-34A2-434D-9CCF-7D058EEE958D}"/>
              </a:ext>
            </a:extLst>
          </p:cNvPr>
          <p:cNvSpPr txBox="1">
            <a:spLocks noChangeArrowheads="1"/>
          </p:cNvSpPr>
          <p:nvPr/>
        </p:nvSpPr>
        <p:spPr>
          <a:xfrm>
            <a:off x="798690" y="1384386"/>
            <a:ext cx="495300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event: data received from application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create segment with seq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seq # is byte-stream number of first data byte in  segment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start timer if not already running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think of timer as for oldest unACKed segment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expiration interval: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TimeOutInterval</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a:extLst>
              <a:ext uri="{FF2B5EF4-FFF2-40B4-BE49-F238E27FC236}">
                <a16:creationId xmlns="" xmlns:a16="http://schemas.microsoft.com/office/drawing/2014/main" id="{DA35D0F5-641B-DD43-98AE-2CF2FD980706}"/>
              </a:ext>
            </a:extLst>
          </p:cNvPr>
          <p:cNvSpPr txBox="1">
            <a:spLocks noChangeArrowheads="1"/>
          </p:cNvSpPr>
          <p:nvPr/>
        </p:nvSpPr>
        <p:spPr>
          <a:xfrm>
            <a:off x="6728208" y="1446144"/>
            <a:ext cx="3810000" cy="1943100"/>
          </a:xfrm>
          <a:prstGeom prst="rect">
            <a:avLst/>
          </a:prstGeom>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000" b="0" i="1" u="none" strike="noStrike" kern="1200" cap="none" spc="0" normalizeH="0" baseline="0" noProof="0" dirty="0">
                <a:ln>
                  <a:noFill/>
                </a:ln>
                <a:solidFill>
                  <a:srgbClr val="CC0000"/>
                </a:solidFill>
                <a:effectLst/>
                <a:uLnTx/>
                <a:uFillTx/>
                <a:latin typeface="Calibri" panose="020F0502020204030204"/>
                <a:ea typeface="+mn-ea"/>
                <a:cs typeface="+mn-cs"/>
              </a:rPr>
              <a:t>event: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retransmit segment that caused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restart timer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8" name="Rectangle 4">
            <a:extLst>
              <a:ext uri="{FF2B5EF4-FFF2-40B4-BE49-F238E27FC236}">
                <a16:creationId xmlns="" xmlns:a16="http://schemas.microsoft.com/office/drawing/2014/main" id="{7626FEA2-2ED1-6640-83D4-E13C73302CE0}"/>
              </a:ext>
            </a:extLst>
          </p:cNvPr>
          <p:cNvSpPr txBox="1">
            <a:spLocks noChangeArrowheads="1"/>
          </p:cNvSpPr>
          <p:nvPr/>
        </p:nvSpPr>
        <p:spPr>
          <a:xfrm>
            <a:off x="6728208" y="3392552"/>
            <a:ext cx="4920453" cy="319377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event: ACK received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if ACK acknowledges previously unACKed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update what is known to be ACKed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start timer if there are  still unACKed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lide Number Placeholder 2">
            <a:extLst>
              <a:ext uri="{FF2B5EF4-FFF2-40B4-BE49-F238E27FC236}">
                <a16:creationId xmlns="" xmlns:a16="http://schemas.microsoft.com/office/drawing/2014/main" id="{F7A5BD9A-E49F-7E4D-A1AC-729448A7B15E}"/>
              </a:ext>
            </a:extLst>
          </p:cNvPr>
          <p:cNvSpPr>
            <a:spLocks noGrp="1"/>
          </p:cNvSpPr>
          <p:nvPr>
            <p:ph type="sldNum" sz="quarter" idx="4294967295"/>
          </p:nvPr>
        </p:nvSpPr>
        <p:spPr>
          <a:xfrm>
            <a:off x="9219616" y="6443089"/>
            <a:ext cx="2743200" cy="365125"/>
          </a:xfrm>
          <a:prstGeom prst="rect">
            <a:avLst/>
          </a:prstGeom>
        </p:spPr>
        <p:txBody>
          <a:bodyPr/>
          <a:lstStyle/>
          <a:p>
            <a:r>
              <a:rPr lang="en-US" dirty="0"/>
              <a:t>Transport Layer: 3-</a:t>
            </a:r>
            <a:fld id="{C4204591-24BD-A542-B9D5-F8D8A88D2FEE}" type="slidenum">
              <a:rPr lang="en-US" smtClean="0"/>
              <a:pPr/>
              <a:t>11</a:t>
            </a:fld>
            <a:endParaRPr lang="en-US" dirty="0"/>
          </a:p>
        </p:txBody>
      </p:sp>
    </p:spTree>
    <p:extLst>
      <p:ext uri="{BB962C8B-B14F-4D97-AF65-F5344CB8AC3E}">
        <p14:creationId xmlns:p14="http://schemas.microsoft.com/office/powerpoint/2010/main" val="165707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Receiver: ACK generation </a:t>
            </a:r>
            <a:r>
              <a:rPr lang="en-US" sz="2400" b="0" dirty="0"/>
              <a:t>[RFC 5681]</a:t>
            </a:r>
            <a:endParaRPr lang="en-US" sz="4400" b="0" dirty="0"/>
          </a:p>
        </p:txBody>
      </p:sp>
      <p:sp>
        <p:nvSpPr>
          <p:cNvPr id="43" name="Text Box 3">
            <a:extLst>
              <a:ext uri="{FF2B5EF4-FFF2-40B4-BE49-F238E27FC236}">
                <a16:creationId xmlns="" xmlns:a16="http://schemas.microsoft.com/office/drawing/2014/main" id="{0C54E9E4-D2A0-C64E-B652-DCC0E63DDD71}"/>
              </a:ext>
            </a:extLst>
          </p:cNvPr>
          <p:cNvSpPr txBox="1">
            <a:spLocks noChangeArrowheads="1"/>
          </p:cNvSpPr>
          <p:nvPr/>
        </p:nvSpPr>
        <p:spPr bwMode="auto">
          <a:xfrm>
            <a:off x="2143953" y="1439289"/>
            <a:ext cx="3496406" cy="50644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Event at receiver</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All data up to</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already ACKed</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One other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has ACK pending</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out-of-order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higher-than-expect seq. #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Gap detected</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segment that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partially or completely fills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4" name="Text Box 4">
            <a:extLst>
              <a:ext uri="{FF2B5EF4-FFF2-40B4-BE49-F238E27FC236}">
                <a16:creationId xmlns="" xmlns:a16="http://schemas.microsoft.com/office/drawing/2014/main" id="{7D1A8937-7497-E947-B481-036DB6905786}"/>
              </a:ext>
            </a:extLst>
          </p:cNvPr>
          <p:cNvSpPr txBox="1">
            <a:spLocks noChangeArrowheads="1"/>
          </p:cNvSpPr>
          <p:nvPr/>
        </p:nvSpPr>
        <p:spPr bwMode="auto">
          <a:xfrm>
            <a:off x="5906328" y="1429764"/>
            <a:ext cx="4336956" cy="50575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TCP receiver action</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delayed ACK. Wait up to 500ms</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for next segment. If no next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 ACK</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single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ACK, ACKing both in-order segments </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a:t>
            </a:r>
            <a:r>
              <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duplicate ACK (</a:t>
            </a:r>
            <a:r>
              <a:rPr kumimoji="0" lang="en-US" sz="2000" b="0" i="1" u="none" strike="noStrike" kern="1200" cap="none" spc="0" normalizeH="0" baseline="0" noProof="0" dirty="0" err="1">
                <a:ln>
                  <a:noFill/>
                </a:ln>
                <a:solidFill>
                  <a:srgbClr val="CC0000"/>
                </a:solidFill>
                <a:effectLst/>
                <a:uLnTx/>
                <a:uFillTx/>
                <a:latin typeface="Calibri" panose="020F0502020204030204"/>
                <a:ea typeface="ＭＳ Ｐゴシック" charset="0"/>
                <a:cs typeface="+mn-cs"/>
              </a:rPr>
              <a:t>acking</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last correctly received in order byte)</a:t>
            </a:r>
            <a:r>
              <a:rPr kumimoji="0" lang="en-US" sz="20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indicating seq. # of next expected byte</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en-US" sz="2000" dirty="0">
                <a:solidFill>
                  <a:prstClr val="black"/>
                </a:solidFill>
                <a:latin typeface="Calibri" panose="020F0502020204030204"/>
              </a:rPr>
              <a:t>i</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mmediate</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send ACK, provided that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starts at lower end of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5" name="Line 9">
            <a:extLst>
              <a:ext uri="{FF2B5EF4-FFF2-40B4-BE49-F238E27FC236}">
                <a16:creationId xmlns="" xmlns:a16="http://schemas.microsoft.com/office/drawing/2014/main" id="{B5C333E2-4347-8B41-A67B-31280E7B23CD}"/>
              </a:ext>
            </a:extLst>
          </p:cNvPr>
          <p:cNvSpPr>
            <a:spLocks noChangeShapeType="1"/>
          </p:cNvSpPr>
          <p:nvPr/>
        </p:nvSpPr>
        <p:spPr bwMode="auto">
          <a:xfrm>
            <a:off x="5715828" y="1590101"/>
            <a:ext cx="0" cy="4352925"/>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6" name="Line 11">
            <a:extLst>
              <a:ext uri="{FF2B5EF4-FFF2-40B4-BE49-F238E27FC236}">
                <a16:creationId xmlns="" xmlns:a16="http://schemas.microsoft.com/office/drawing/2014/main" id="{A3C87D27-55A1-0740-A388-14FABFDCAECD}"/>
              </a:ext>
            </a:extLst>
          </p:cNvPr>
          <p:cNvSpPr>
            <a:spLocks noChangeShapeType="1"/>
          </p:cNvSpPr>
          <p:nvPr/>
        </p:nvSpPr>
        <p:spPr bwMode="auto">
          <a:xfrm>
            <a:off x="2159828" y="2029839"/>
            <a:ext cx="7494588"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7" name="Line 12">
            <a:extLst>
              <a:ext uri="{FF2B5EF4-FFF2-40B4-BE49-F238E27FC236}">
                <a16:creationId xmlns="" xmlns:a16="http://schemas.microsoft.com/office/drawing/2014/main" id="{BAEE28BF-45B4-7B4F-8643-BEFCF1817DB3}"/>
              </a:ext>
            </a:extLst>
          </p:cNvPr>
          <p:cNvSpPr>
            <a:spLocks noChangeShapeType="1"/>
          </p:cNvSpPr>
          <p:nvPr/>
        </p:nvSpPr>
        <p:spPr bwMode="auto">
          <a:xfrm>
            <a:off x="2143953" y="3083939"/>
            <a:ext cx="7494588"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8" name="Line 13">
            <a:extLst>
              <a:ext uri="{FF2B5EF4-FFF2-40B4-BE49-F238E27FC236}">
                <a16:creationId xmlns="" xmlns:a16="http://schemas.microsoft.com/office/drawing/2014/main" id="{497F621D-E3C3-D549-BCDE-B1C658BA2FF8}"/>
              </a:ext>
            </a:extLst>
          </p:cNvPr>
          <p:cNvSpPr>
            <a:spLocks noChangeShapeType="1"/>
          </p:cNvSpPr>
          <p:nvPr/>
        </p:nvSpPr>
        <p:spPr bwMode="auto">
          <a:xfrm>
            <a:off x="2161416" y="4182489"/>
            <a:ext cx="7494587"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9" name="Line 14">
            <a:extLst>
              <a:ext uri="{FF2B5EF4-FFF2-40B4-BE49-F238E27FC236}">
                <a16:creationId xmlns="" xmlns:a16="http://schemas.microsoft.com/office/drawing/2014/main" id="{B5CA7B9A-CEFE-9440-989C-72777EDC3F97}"/>
              </a:ext>
            </a:extLst>
          </p:cNvPr>
          <p:cNvSpPr>
            <a:spLocks noChangeShapeType="1"/>
          </p:cNvSpPr>
          <p:nvPr/>
        </p:nvSpPr>
        <p:spPr bwMode="auto">
          <a:xfrm>
            <a:off x="2155066" y="5271514"/>
            <a:ext cx="7494587"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 name="Rectangle 3">
            <a:extLst>
              <a:ext uri="{FF2B5EF4-FFF2-40B4-BE49-F238E27FC236}">
                <a16:creationId xmlns="" xmlns:a16="http://schemas.microsoft.com/office/drawing/2014/main" id="{446007AE-16BF-5641-9533-FDFCED5467B7}"/>
              </a:ext>
            </a:extLst>
          </p:cNvPr>
          <p:cNvSpPr/>
          <p:nvPr/>
        </p:nvSpPr>
        <p:spPr>
          <a:xfrm>
            <a:off x="2141951" y="2079321"/>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 xmlns:a16="http://schemas.microsoft.com/office/drawing/2014/main" id="{4788DE70-9425-C941-B687-5CDA29AFB818}"/>
              </a:ext>
            </a:extLst>
          </p:cNvPr>
          <p:cNvSpPr/>
          <p:nvPr/>
        </p:nvSpPr>
        <p:spPr>
          <a:xfrm>
            <a:off x="2006253" y="3158647"/>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Rectangle 12">
            <a:extLst>
              <a:ext uri="{FF2B5EF4-FFF2-40B4-BE49-F238E27FC236}">
                <a16:creationId xmlns="" xmlns:a16="http://schemas.microsoft.com/office/drawing/2014/main" id="{8A265DF2-3FEE-3D4C-9E18-1D8A86817D23}"/>
              </a:ext>
            </a:extLst>
          </p:cNvPr>
          <p:cNvSpPr/>
          <p:nvPr/>
        </p:nvSpPr>
        <p:spPr>
          <a:xfrm>
            <a:off x="2141950" y="4268405"/>
            <a:ext cx="8306415"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Rectangle 13">
            <a:extLst>
              <a:ext uri="{FF2B5EF4-FFF2-40B4-BE49-F238E27FC236}">
                <a16:creationId xmlns="" xmlns:a16="http://schemas.microsoft.com/office/drawing/2014/main" id="{03861685-9E67-3541-901D-AC152EC9F9C7}"/>
              </a:ext>
            </a:extLst>
          </p:cNvPr>
          <p:cNvSpPr/>
          <p:nvPr/>
        </p:nvSpPr>
        <p:spPr>
          <a:xfrm>
            <a:off x="2006253" y="5368718"/>
            <a:ext cx="8400544"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Slide Number Placeholder 2">
            <a:extLst>
              <a:ext uri="{FF2B5EF4-FFF2-40B4-BE49-F238E27FC236}">
                <a16:creationId xmlns="" xmlns:a16="http://schemas.microsoft.com/office/drawing/2014/main" id="{340791B0-4154-D14E-9DBD-0157764BBAE9}"/>
              </a:ext>
            </a:extLst>
          </p:cNvPr>
          <p:cNvSpPr>
            <a:spLocks noGrp="1"/>
          </p:cNvSpPr>
          <p:nvPr>
            <p:ph type="sldNum" sz="quarter" idx="4294967295"/>
          </p:nvPr>
        </p:nvSpPr>
        <p:spPr>
          <a:xfrm>
            <a:off x="9219616" y="6443089"/>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Transport Layer: 3-</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606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1416</Words>
  <Application>Microsoft Macintosh PowerPoint</Application>
  <PresentationFormat>Widescreen</PresentationFormat>
  <Paragraphs>205</Paragraphs>
  <Slides>12</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Calibri</vt:lpstr>
      <vt:lpstr>Calibri Light</vt:lpstr>
      <vt:lpstr>Courier</vt:lpstr>
      <vt:lpstr>Courier New</vt:lpstr>
      <vt:lpstr>ＭＳ Ｐゴシック</vt:lpstr>
      <vt:lpstr>Symbol</vt:lpstr>
      <vt:lpstr>Tahoma</vt:lpstr>
      <vt:lpstr>Times New Roman</vt:lpstr>
      <vt:lpstr>Wingdings</vt:lpstr>
      <vt:lpstr>Arial</vt:lpstr>
      <vt:lpstr>Office Theme</vt:lpstr>
      <vt:lpstr>IT694 Computer Networks</vt:lpstr>
      <vt:lpstr>TCP fast retransmit</vt:lpstr>
      <vt:lpstr>TCP: retransmission scenarios</vt:lpstr>
      <vt:lpstr>TCP ReTransmissions</vt:lpstr>
      <vt:lpstr>TCP round trip time, timeout</vt:lpstr>
      <vt:lpstr>Adaptive ReTx</vt:lpstr>
      <vt:lpstr>TCP round trip time, timeout</vt:lpstr>
      <vt:lpstr>How much one unusually large RTT measurement affects the overall estimate? </vt:lpstr>
      <vt:lpstr>PowerPoint Presentation</vt:lpstr>
      <vt:lpstr>TCP round trip time, timeout</vt:lpstr>
      <vt:lpstr>TCP Sender (simplified)</vt:lpstr>
      <vt:lpstr>TCP Receiver: ACK generation [RFC 5681]</vt:lpstr>
    </vt:vector>
  </TitlesOfParts>
  <Company/>
  <LinksUpToDate>false</LinksUpToDate>
  <SharedDoc>false</SharedDoc>
  <HyperlinksChanged>false</HyperlinksChanged>
  <AppVersion>15.0037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TCP round trip time, timeout</dc:title>
  <dc:creator>Microsoft Office User</dc:creator>
  <cp:lastModifiedBy>Microsoft Office User</cp:lastModifiedBy>
  <cp:revision>3</cp:revision>
  <dcterms:created xsi:type="dcterms:W3CDTF">2026-02-20T04:13:39Z</dcterms:created>
  <dcterms:modified xsi:type="dcterms:W3CDTF">2026-02-20T04:27:48Z</dcterms:modified>
</cp:coreProperties>
</file>