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1" name="Google Shape;381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" name="Google Shape;607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8" name="Google Shape;608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5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5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hyperlink" Target="https://www.youtube.com/watch?v=U9L4IjpSPUo" TargetMode="Externa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 lang="en-US"/>
          </a:p>
        </p:txBody>
      </p:sp>
      <p:sp>
        <p:nvSpPr>
          <p:cNvPr id="89" name="Google Shape;89;p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Fundamentals-I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 b="0"/>
              <a:t>Host: sends </a:t>
            </a:r>
            <a:r>
              <a:rPr lang="en-US" sz="5400" b="0" i="1"/>
              <a:t>packets</a:t>
            </a:r>
            <a:r>
              <a:rPr lang="en-US" sz="5400" b="0"/>
              <a:t> of data</a:t>
            </a:r>
            <a:endParaRPr sz="5400" b="0"/>
          </a:p>
        </p:txBody>
      </p:sp>
      <p:sp>
        <p:nvSpPr>
          <p:cNvPr id="96" name="Google Shape;96;p2"/>
          <p:cNvSpPr txBox="1"/>
          <p:nvPr/>
        </p:nvSpPr>
        <p:spPr>
          <a:xfrm>
            <a:off x="848710" y="1286477"/>
            <a:ext cx="5501619" cy="467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sending function: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application message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breaks into smaller chunks, known as </a:t>
            </a:r>
            <a:r>
              <a:rPr lang="en-US" sz="2800" b="0" i="1" u="sng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  <a:hlinkClick r:id="rId1"/>
              </a:rPr>
              <a:t>packets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of length </a:t>
            </a:r>
            <a:r>
              <a:rPr lang="en-US" sz="28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packet into access network at </a:t>
            </a:r>
            <a:r>
              <a:rPr lang="en-US" sz="28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transmission rate R</a:t>
            </a:r>
            <a:endParaRPr lang="en-US" sz="2800" b="0" i="1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rate, aka link </a:t>
            </a:r>
            <a:r>
              <a:rPr lang="en-US" sz="28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capacity, aka link bandwidth</a:t>
            </a:r>
            <a:endParaRPr lang="en-US" sz="2800" b="0" i="1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98" name="Google Shape;98;p2"/>
            <p:cNvSpPr/>
            <p:nvPr/>
          </p:nvSpPr>
          <p:spPr>
            <a:xfrm>
              <a:off x="375561" y="297711"/>
              <a:ext cx="971072" cy="2136471"/>
            </a:xfrm>
            <a:custGeom>
              <a:avLst/>
              <a:gdLst/>
              <a:ahLst/>
              <a:cxnLst/>
              <a:rect l="l" t="t" r="r" b="b"/>
              <a:pathLst>
                <a:path w="966787" h="2138362" extrusionOk="0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75561" y="309747"/>
              <a:ext cx="1247826" cy="770332"/>
            </a:xfrm>
            <a:custGeom>
              <a:avLst/>
              <a:gdLst/>
              <a:ahLst/>
              <a:cxnLst/>
              <a:rect l="l" t="t" r="r" b="b"/>
              <a:pathLst>
                <a:path w="1248448" h="758069" extrusionOk="0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" name="Google Shape;101;p2"/>
          <p:cNvCxnSpPr/>
          <p:nvPr/>
        </p:nvCxnSpPr>
        <p:spPr>
          <a:xfrm>
            <a:off x="8248979" y="3941159"/>
            <a:ext cx="2454275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2"/>
          <p:cNvSpPr txBox="1"/>
          <p:nvPr/>
        </p:nvSpPr>
        <p:spPr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R: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104" name="Google Shape;104;p2"/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/>
              <a:ahLst/>
              <a:cxnLst/>
              <a:rect l="l" t="t" r="r" b="b"/>
              <a:pathLst>
                <a:path w="966787" h="2138362" extrusionOk="0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/>
              <a:ahLst/>
              <a:cxnLst/>
              <a:rect l="l" t="t" r="r" b="b"/>
              <a:pathLst>
                <a:path w="1248448" h="758069" extrusionOk="0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7102804" y="3586433"/>
            <a:ext cx="1295400" cy="669051"/>
            <a:chOff x="1816230" y="5881531"/>
            <a:chExt cx="1843339" cy="976469"/>
          </a:xfrm>
        </p:grpSpPr>
        <p:pic>
          <p:nvPicPr>
            <p:cNvPr id="109" name="Google Shape;109;p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2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7222573" y="2132997"/>
            <a:ext cx="1449562" cy="987152"/>
            <a:chOff x="2362923" y="4309243"/>
            <a:chExt cx="1821888" cy="1441857"/>
          </a:xfrm>
        </p:grpSpPr>
        <p:pic>
          <p:nvPicPr>
            <p:cNvPr id="112" name="Google Shape;112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2"/>
            <p:cNvSpPr/>
            <p:nvPr/>
          </p:nvSpPr>
          <p:spPr>
            <a:xfrm rot="-9998178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2"/>
          <p:cNvCxnSpPr/>
          <p:nvPr/>
        </p:nvCxnSpPr>
        <p:spPr>
          <a:xfrm rot="10800000" flipH="1">
            <a:off x="8241042" y="2577497"/>
            <a:ext cx="1225550" cy="5651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2"/>
          <p:cNvSpPr txBox="1"/>
          <p:nvPr/>
        </p:nvSpPr>
        <p:spPr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packets,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each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119" name="Google Shape;119;p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/>
              <a:ahLst/>
              <a:cxnLst/>
              <a:rect l="l" t="t" r="r" b="b"/>
              <a:pathLst>
                <a:path w="3783724" h="1324303" extrusionOk="0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" name="Google Shape;121;p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26" name="Google Shape;126;p2"/>
          <p:cNvCxnSpPr/>
          <p:nvPr/>
        </p:nvCxnSpPr>
        <p:spPr>
          <a:xfrm rot="10800000">
            <a:off x="9264979" y="4020904"/>
            <a:ext cx="0" cy="4583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2"/>
          <p:cNvSpPr/>
          <p:nvPr/>
        </p:nvSpPr>
        <p:spPr>
          <a:xfrm>
            <a:off x="8311695" y="3223689"/>
            <a:ext cx="978408" cy="260093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2541108" y="5251754"/>
            <a:ext cx="6446724" cy="1077218"/>
            <a:chOff x="2541108" y="5251754"/>
            <a:chExt cx="6446724" cy="1077218"/>
          </a:xfrm>
        </p:grpSpPr>
        <p:sp>
          <p:nvSpPr>
            <p:cNvPr id="129" name="Google Shape;129;p2"/>
            <p:cNvSpPr txBox="1"/>
            <p:nvPr/>
          </p:nvSpPr>
          <p:spPr>
            <a:xfrm>
              <a:off x="2541108" y="5259812"/>
              <a:ext cx="17685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 needed to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 </a:t>
              </a: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-bit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into 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(bits)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(bits/sec)</a:t>
              </a:r>
              <a:endPara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2" name="Google Shape;132;p2"/>
            <p:cNvCxnSpPr/>
            <p:nvPr/>
          </p:nvCxnSpPr>
          <p:spPr>
            <a:xfrm>
              <a:off x="7603331" y="5796974"/>
              <a:ext cx="28687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2"/>
            <p:cNvSpPr txBox="1"/>
            <p:nvPr/>
          </p:nvSpPr>
          <p:spPr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Packet-switching: store-and-forward</a:t>
            </a:r>
            <a:endParaRPr lang="en-US"/>
          </a:p>
        </p:txBody>
      </p:sp>
      <p:sp>
        <p:nvSpPr>
          <p:cNvPr id="142" name="Google Shape;142;p3"/>
          <p:cNvSpPr txBox="1"/>
          <p:nvPr>
            <p:ph type="body" idx="1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7655" lvl="0" indent="-2876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Char char="•"/>
            </a:pPr>
            <a:r>
              <a:rPr lang="en-US" sz="2600">
                <a:solidFill>
                  <a:srgbClr val="C00000"/>
                </a:solidFill>
              </a:rPr>
              <a:t>packet transmission delay: </a:t>
            </a:r>
            <a:r>
              <a:rPr lang="en-US" sz="2600"/>
              <a:t>takes </a:t>
            </a:r>
            <a:r>
              <a:rPr lang="en-US" sz="2600" i="1"/>
              <a:t>L</a:t>
            </a:r>
            <a:r>
              <a:rPr lang="en-US" sz="2600"/>
              <a:t>/</a:t>
            </a:r>
            <a:r>
              <a:rPr lang="en-US" sz="2600" i="1"/>
              <a:t>R</a:t>
            </a:r>
            <a:r>
              <a:rPr lang="en-US" sz="2600"/>
              <a:t> seconds to transmit (push out) </a:t>
            </a:r>
            <a:r>
              <a:rPr lang="en-US" sz="2600" i="1"/>
              <a:t>L</a:t>
            </a:r>
            <a:r>
              <a:rPr lang="en-US" sz="2600"/>
              <a:t>-bit packet into link at </a:t>
            </a:r>
            <a:r>
              <a:rPr lang="en-US" sz="2600" i="1"/>
              <a:t>R</a:t>
            </a:r>
            <a:r>
              <a:rPr lang="en-US" sz="2600"/>
              <a:t> bps</a:t>
            </a:r>
            <a:endParaRPr lang="en-US" sz="2600"/>
          </a:p>
          <a:p>
            <a:pPr marL="287655" lvl="0" indent="-28765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2600"/>
              <a:buChar char="•"/>
            </a:pPr>
            <a:r>
              <a:rPr lang="en-US" sz="2600" i="1">
                <a:solidFill>
                  <a:srgbClr val="CC0000"/>
                </a:solidFill>
              </a:rPr>
              <a:t>store and forward:</a:t>
            </a:r>
            <a:r>
              <a:rPr lang="en-US" sz="2600" i="1">
                <a:solidFill>
                  <a:srgbClr val="FF0000"/>
                </a:solidFill>
              </a:rPr>
              <a:t> </a:t>
            </a:r>
            <a:r>
              <a:rPr lang="en-US" sz="2600" i="1"/>
              <a:t>entire</a:t>
            </a:r>
            <a:r>
              <a:rPr lang="en-US" sz="2600"/>
              <a:t> packet must  arrive at router before it can be transmitted on next link</a:t>
            </a:r>
            <a:endParaRPr lang="en-US" sz="2600"/>
          </a:p>
          <a:p>
            <a:pPr marL="287655" lvl="0" indent="-1098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174625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43" name="Google Shape;143;p3"/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3"/>
          <p:cNvGrpSpPr/>
          <p:nvPr/>
        </p:nvGrpSpPr>
        <p:grpSpPr>
          <a:xfrm>
            <a:off x="3152334" y="2565134"/>
            <a:ext cx="1074738" cy="595118"/>
            <a:chOff x="1816230" y="5881653"/>
            <a:chExt cx="1843339" cy="976347"/>
          </a:xfrm>
        </p:grpSpPr>
        <p:pic>
          <p:nvPicPr>
            <p:cNvPr id="145" name="Google Shape;145;p3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3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7" name="Google Shape;147;p3"/>
          <p:cNvCxnSpPr/>
          <p:nvPr/>
        </p:nvCxnSpPr>
        <p:spPr>
          <a:xfrm>
            <a:off x="4115946" y="2845927"/>
            <a:ext cx="173831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8" name="Google Shape;148;p3"/>
          <p:cNvGrpSpPr/>
          <p:nvPr/>
        </p:nvGrpSpPr>
        <p:grpSpPr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149" name="Google Shape;149;p3"/>
            <p:cNvGrpSpPr/>
            <p:nvPr/>
          </p:nvGrpSpPr>
          <p:grpSpPr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150" name="Google Shape;150;p3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p3"/>
              <p:cNvSpPr/>
              <p:nvPr/>
            </p:nvSpPr>
            <p:spPr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" name="Google Shape;154;p3"/>
            <p:cNvSpPr/>
            <p:nvPr/>
          </p:nvSpPr>
          <p:spPr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157" name="Google Shape;15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3"/>
            <p:cNvSpPr/>
            <p:nvPr/>
          </p:nvSpPr>
          <p:spPr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3317982" y="1241761"/>
            <a:ext cx="1122852" cy="737772"/>
            <a:chOff x="2363111" y="4309243"/>
            <a:chExt cx="1821512" cy="1441161"/>
          </a:xfrm>
        </p:grpSpPr>
        <p:pic>
          <p:nvPicPr>
            <p:cNvPr id="161" name="Google Shape;161;p3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3"/>
            <p:cNvSpPr/>
            <p:nvPr/>
          </p:nvSpPr>
          <p:spPr>
            <a:xfrm rot="-9998178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3"/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3"/>
          <p:cNvCxnSpPr/>
          <p:nvPr/>
        </p:nvCxnSpPr>
        <p:spPr>
          <a:xfrm>
            <a:off x="6506721" y="2850689"/>
            <a:ext cx="173831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5" name="Google Shape;165;p3"/>
          <p:cNvGrpSpPr/>
          <p:nvPr/>
        </p:nvGrpSpPr>
        <p:grpSpPr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id="166" name="Google Shape;166;p3" descr="desktop_computer_stylized_medium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3"/>
            <p:cNvSpPr/>
            <p:nvPr/>
          </p:nvSpPr>
          <p:spPr>
            <a:xfrm flipH="1">
              <a:off x="374" y="1580"/>
              <a:ext cx="474" cy="505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3"/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n-US"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3284096" y="1844214"/>
            <a:ext cx="2940082" cy="841375"/>
            <a:chOff x="593766" y="5264055"/>
            <a:chExt cx="3603006" cy="1011695"/>
          </a:xfrm>
        </p:grpSpPr>
        <p:grpSp>
          <p:nvGrpSpPr>
            <p:cNvPr id="173" name="Google Shape;173;p3"/>
            <p:cNvGrpSpPr/>
            <p:nvPr/>
          </p:nvGrpSpPr>
          <p:grpSpPr>
            <a:xfrm>
              <a:off x="3527499" y="5264055"/>
              <a:ext cx="616705" cy="927705"/>
              <a:chOff x="2106358" y="5387204"/>
              <a:chExt cx="616705" cy="927705"/>
            </a:xfrm>
          </p:grpSpPr>
          <p:sp>
            <p:nvSpPr>
              <p:cNvPr id="174" name="Google Shape;174;p3"/>
              <p:cNvSpPr/>
              <p:nvPr/>
            </p:nvSpPr>
            <p:spPr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/>
                <a:ahLst/>
                <a:cxnLst/>
                <a:rect l="l" t="t" r="r" b="b"/>
                <a:pathLst>
                  <a:path w="967997" h="1424095" extrusionOk="0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/>
                <a:ahLst/>
                <a:cxnLst/>
                <a:rect l="l" t="t" r="r" b="b"/>
                <a:pathLst>
                  <a:path w="1277416" h="814795" extrusionOk="0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/>
                <a:ahLst/>
                <a:cxnLst/>
                <a:rect l="l" t="t" r="r" b="b"/>
                <a:pathLst>
                  <a:path w="597877" h="646573" extrusionOk="0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8" name="Google Shape;178;p3"/>
              <p:cNvCxnSpPr>
                <a:stCxn id="177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3"/>
              <p:cNvCxnSpPr>
                <a:endCxn id="177" idx="4"/>
              </p:cNvCxnSpPr>
              <p:nvPr/>
            </p:nvCxnSpPr>
            <p:spPr>
              <a:xfrm rot="10800000" flipH="1">
                <a:off x="2567354" y="5719063"/>
                <a:ext cx="140700" cy="27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3"/>
              <p:cNvCxnSpPr>
                <a:endCxn id="177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3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2" name="Google Shape;182;p3"/>
            <p:cNvGrpSpPr/>
            <p:nvPr/>
          </p:nvGrpSpPr>
          <p:grpSpPr>
            <a:xfrm>
              <a:off x="1327199" y="5273580"/>
              <a:ext cx="616707" cy="927726"/>
              <a:chOff x="2106333" y="5387204"/>
              <a:chExt cx="616707" cy="927726"/>
            </a:xfrm>
          </p:grpSpPr>
          <p:sp>
            <p:nvSpPr>
              <p:cNvPr id="183" name="Google Shape;183;p3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/>
                <a:ahLst/>
                <a:cxnLst/>
                <a:rect l="l" t="t" r="r" b="b"/>
                <a:pathLst>
                  <a:path w="967997" h="1424095" extrusionOk="0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/>
                <a:ahLst/>
                <a:cxnLst/>
                <a:rect l="l" t="t" r="r" b="b"/>
                <a:pathLst>
                  <a:path w="1277416" h="814795" extrusionOk="0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/>
                <a:ahLst/>
                <a:cxnLst/>
                <a:rect l="l" t="t" r="r" b="b"/>
                <a:pathLst>
                  <a:path w="597877" h="646573" extrusionOk="0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7" name="Google Shape;187;p3"/>
              <p:cNvCxnSpPr>
                <a:stCxn id="186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3"/>
              <p:cNvCxnSpPr>
                <a:endCxn id="186" idx="4"/>
              </p:cNvCxnSpPr>
              <p:nvPr/>
            </p:nvCxnSpPr>
            <p:spPr>
              <a:xfrm rot="10800000" flipH="1">
                <a:off x="2567354" y="5719063"/>
                <a:ext cx="140700" cy="27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3"/>
              <p:cNvCxnSpPr>
                <a:endCxn id="186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3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1" name="Google Shape;191;p3"/>
            <p:cNvGrpSpPr/>
            <p:nvPr/>
          </p:nvGrpSpPr>
          <p:grpSpPr>
            <a:xfrm>
              <a:off x="971183" y="5294596"/>
              <a:ext cx="606979" cy="914343"/>
              <a:chOff x="333961" y="4406169"/>
              <a:chExt cx="1255305" cy="2136353"/>
            </a:xfrm>
          </p:grpSpPr>
          <p:sp>
            <p:nvSpPr>
              <p:cNvPr id="192" name="Google Shape;192;p3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/>
                <a:ahLst/>
                <a:cxnLst/>
                <a:rect l="l" t="t" r="r" b="b"/>
                <a:pathLst>
                  <a:path w="966787" h="2138362" extrusionOk="0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757496" extrusionOk="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" name="Google Shape;195;p3"/>
            <p:cNvSpPr/>
            <p:nvPr/>
          </p:nvSpPr>
          <p:spPr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" name="Google Shape;197;p3"/>
            <p:cNvGrpSpPr/>
            <p:nvPr/>
          </p:nvGrpSpPr>
          <p:grpSpPr>
            <a:xfrm>
              <a:off x="593766" y="5285053"/>
              <a:ext cx="605033" cy="914342"/>
              <a:chOff x="335231" y="4406992"/>
              <a:chExt cx="1251280" cy="2136350"/>
            </a:xfrm>
          </p:grpSpPr>
          <p:sp>
            <p:nvSpPr>
              <p:cNvPr id="198" name="Google Shape;198;p3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/>
                <a:ahLst/>
                <a:cxnLst/>
                <a:rect l="l" t="t" r="r" b="b"/>
                <a:pathLst>
                  <a:path w="966787" h="2138362" extrusionOk="0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757496" extrusionOk="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1" name="Google Shape;201;p3"/>
            <p:cNvSpPr/>
            <p:nvPr/>
          </p:nvSpPr>
          <p:spPr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3"/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packet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3"/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205" name="Google Shape;205;p3"/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rgbClr val="D8E2F3">
                <a:alpha val="4666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352425" marR="0" lvl="0" indent="-34163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One-hop numerical example:</a:t>
              </a:r>
              <a:endParaRPr lang="en-US" sz="2400" b="0" i="1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0" indent="-231775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 Kbits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0" indent="-231775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100 Mbps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0" indent="-231775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one-hop transmission delay = 0.1 msec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3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 lang="en-US"/>
          </a:p>
        </p:txBody>
      </p:sp>
      <p:grpSp>
        <p:nvGrpSpPr>
          <p:cNvPr id="214" name="Google Shape;214;p4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id="215" name="Google Shape;215;p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4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4"/>
          <p:cNvCxnSpPr/>
          <p:nvPr/>
        </p:nvCxnSpPr>
        <p:spPr>
          <a:xfrm rot="10800000" flipH="1">
            <a:off x="3807005" y="2371933"/>
            <a:ext cx="722173" cy="47699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4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4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4"/>
          <p:cNvCxnSpPr/>
          <p:nvPr/>
        </p:nvCxnSpPr>
        <p:spPr>
          <a:xfrm rot="10800000" flipH="1">
            <a:off x="8684793" y="1917070"/>
            <a:ext cx="604838" cy="3079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4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4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1" name="Google Shape;231;p4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sz="24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4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4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4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20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 b="0" i="0" u="none" strike="noStrike" cap="non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sz="18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4" descr="desktop_computer_stylized_medium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"/>
          <p:cNvSpPr/>
          <p:nvPr/>
        </p:nvSpPr>
        <p:spPr>
          <a:xfrm flipH="1">
            <a:off x="3198344" y="1602835"/>
            <a:ext cx="379005" cy="311133"/>
          </a:xfrm>
          <a:custGeom>
            <a:avLst/>
            <a:gdLst/>
            <a:ahLst/>
            <a:cxnLst/>
            <a:rect l="l" t="t" r="r" b="b"/>
            <a:pathLst>
              <a:path w="356" h="368" extrusionOk="0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4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id="245" name="Google Shape;245;p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4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id="248" name="Google Shape;248;p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4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id="251" name="Google Shape;251;p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4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254" name="Google Shape;254;p4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1" name="Google Shape;261;p4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262" name="Google Shape;262;p4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4" name="Google Shape;264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5" name="Google Shape;265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9" name="Google Shape;269;p4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270" name="Google Shape;270;p4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2" name="Google Shape;272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3" name="Google Shape;273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77" name="Google Shape;277;p4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278" name="Google Shape;278;p4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279" name="Google Shape;279;p4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4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4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4"/>
          <p:cNvCxnSpPr/>
          <p:nvPr/>
        </p:nvCxnSpPr>
        <p:spPr>
          <a:xfrm rot="10800000" flipH="1">
            <a:off x="4236079" y="2486552"/>
            <a:ext cx="248236" cy="15573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286;p4"/>
          <p:cNvCxnSpPr/>
          <p:nvPr/>
        </p:nvCxnSpPr>
        <p:spPr>
          <a:xfrm rot="10800000" flipH="1">
            <a:off x="5112260" y="2401255"/>
            <a:ext cx="17133" cy="641957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4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4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9" name="Google Shape;289;p4"/>
          <p:cNvGrpSpPr/>
          <p:nvPr/>
        </p:nvGrpSpPr>
        <p:grpSpPr>
          <a:xfrm>
            <a:off x="867906" y="3874035"/>
            <a:ext cx="9770367" cy="2270091"/>
            <a:chOff x="867905" y="3890077"/>
            <a:chExt cx="9770367" cy="2270091"/>
          </a:xfrm>
        </p:grpSpPr>
        <p:pic>
          <p:nvPicPr>
            <p:cNvPr id="290" name="Google Shape;290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542220" y="4680735"/>
              <a:ext cx="2211634" cy="145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4"/>
            <p:cNvSpPr txBox="1"/>
            <p:nvPr/>
          </p:nvSpPr>
          <p:spPr>
            <a:xfrm>
              <a:off x="867905" y="3890077"/>
              <a:ext cx="97703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Queueing</a:t>
              </a:r>
              <a:r>
                <a:rPr lang="en-US"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occurs when work arrives faster than it can be serviced:</a:t>
              </a:r>
              <a:endPara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2" name="Google Shape;292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487440" y="4679579"/>
              <a:ext cx="2575767" cy="1480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4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7705104" y="4695225"/>
              <a:ext cx="2241534" cy="1448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p4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 lang="en-US"/>
          </a:p>
        </p:txBody>
      </p:sp>
      <p:grpSp>
        <p:nvGrpSpPr>
          <p:cNvPr id="301" name="Google Shape;301;p5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id="302" name="Google Shape;302;p5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4" name="Google Shape;304;p5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5"/>
          <p:cNvCxnSpPr/>
          <p:nvPr/>
        </p:nvCxnSpPr>
        <p:spPr>
          <a:xfrm rot="10800000" flipH="1">
            <a:off x="3807005" y="2371933"/>
            <a:ext cx="722173" cy="47699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5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5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5"/>
          <p:cNvCxnSpPr/>
          <p:nvPr/>
        </p:nvCxnSpPr>
        <p:spPr>
          <a:xfrm rot="10800000" flipH="1">
            <a:off x="8684793" y="1917070"/>
            <a:ext cx="604838" cy="3079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5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5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8" name="Google Shape;318;p5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sz="24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5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5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5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20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 b="0" i="0" u="none" strike="noStrike" cap="non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sz="1800" b="0" i="0" u="none" strike="noStrike" cap="non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5" descr="desktop_computer_stylized_medium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"/>
          <p:cNvSpPr/>
          <p:nvPr/>
        </p:nvSpPr>
        <p:spPr>
          <a:xfrm flipH="1">
            <a:off x="3198344" y="1602835"/>
            <a:ext cx="379005" cy="311133"/>
          </a:xfrm>
          <a:custGeom>
            <a:avLst/>
            <a:gdLst/>
            <a:ahLst/>
            <a:cxnLst/>
            <a:rect l="l" t="t" r="r" b="b"/>
            <a:pathLst>
              <a:path w="356" h="368" extrusionOk="0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" name="Google Shape;331;p5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id="332" name="Google Shape;332;p5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5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id="335" name="Google Shape;335;p5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5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id="338" name="Google Shape;338;p5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5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341" name="Google Shape;341;p5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3" name="Google Shape;343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4" name="Google Shape;344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8" name="Google Shape;348;p5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349" name="Google Shape;349;p5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1" name="Google Shape;351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2" name="Google Shape;352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6" name="Google Shape;356;p5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357" name="Google Shape;357;p5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" name="Google Shape;359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0" name="Google Shape;360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64" name="Google Shape;364;p5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365" name="Google Shape;365;p5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366" name="Google Shape;366;p5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5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5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" name="Google Shape;372;p5"/>
          <p:cNvCxnSpPr/>
          <p:nvPr/>
        </p:nvCxnSpPr>
        <p:spPr>
          <a:xfrm rot="10800000" flipH="1">
            <a:off x="4236079" y="2486552"/>
            <a:ext cx="248236" cy="15573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5"/>
          <p:cNvCxnSpPr/>
          <p:nvPr/>
        </p:nvCxnSpPr>
        <p:spPr>
          <a:xfrm rot="10800000" flipH="1">
            <a:off x="5112260" y="2401255"/>
            <a:ext cx="17133" cy="641957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5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5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6" name="Google Shape;376;p5"/>
          <p:cNvSpPr txBox="1"/>
          <p:nvPr>
            <p:ph type="body" idx="1"/>
          </p:nvPr>
        </p:nvSpPr>
        <p:spPr>
          <a:xfrm>
            <a:off x="1353612" y="4213229"/>
            <a:ext cx="10347608" cy="2234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sz="3200" i="1">
                <a:solidFill>
                  <a:srgbClr val="C00000"/>
                </a:solidFill>
              </a:rPr>
              <a:t>Packet queuing and loss: </a:t>
            </a:r>
            <a:r>
              <a:rPr lang="en-US" sz="3200"/>
              <a:t>i</a:t>
            </a:r>
            <a:r>
              <a:rPr lang="en-US"/>
              <a:t>f arrival rate (in bps) to link exceeds transmission rate (bps) of link for some period of time:</a:t>
            </a:r>
            <a:endParaRPr lang="en-US"/>
          </a:p>
          <a:p>
            <a:pPr marL="287655" lvl="0" indent="-23050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packets will queue, waiting to be transmitted on output link </a:t>
            </a:r>
            <a:endParaRPr lang="en-US"/>
          </a:p>
          <a:p>
            <a:pPr marL="287655" lvl="0" indent="-23050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packets can be dropped (lost) if memory (buffer) in router fills up</a:t>
            </a: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377" name="Google Shape;377;p5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Alternative to packet switching: circuit switching</a:t>
            </a:r>
            <a:endParaRPr lang="en-US"/>
          </a:p>
        </p:txBody>
      </p:sp>
      <p:sp>
        <p:nvSpPr>
          <p:cNvPr id="384" name="Google Shape;384;p6"/>
          <p:cNvSpPr txBox="1"/>
          <p:nvPr>
            <p:ph type="body" idx="1"/>
          </p:nvPr>
        </p:nvSpPr>
        <p:spPr>
          <a:xfrm>
            <a:off x="895788" y="1434849"/>
            <a:ext cx="5692665" cy="53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" lvl="0" indent="-114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end-end resources allocated to, reserved for “call” between source and destination</a:t>
            </a:r>
            <a:endParaRPr lang="en-US">
              <a:solidFill>
                <a:srgbClr val="C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diagram, each link has four circuits. </a:t>
            </a:r>
            <a:endParaRPr lang="en-US" sz="2400"/>
          </a:p>
          <a:p>
            <a:pPr marL="682625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call gets 2</a:t>
            </a:r>
            <a:r>
              <a:rPr lang="en-US" baseline="30000"/>
              <a:t>nd</a:t>
            </a:r>
            <a:r>
              <a:rPr lang="en-US"/>
              <a:t> circuit in top link and 1</a:t>
            </a:r>
            <a:r>
              <a:rPr lang="en-US" baseline="30000"/>
              <a:t>st</a:t>
            </a:r>
            <a:r>
              <a:rPr lang="en-US"/>
              <a:t> circuit in right link.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dedicated resources: no sharing</a:t>
            </a:r>
            <a:endParaRPr lang="en-US" sz="2400"/>
          </a:p>
          <a:p>
            <a:pPr marL="682625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circuit-like (guaranteed) performance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circuit segment idle if not used by call </a:t>
            </a:r>
            <a:r>
              <a:rPr lang="en-US" sz="2400">
                <a:solidFill>
                  <a:srgbClr val="000099"/>
                </a:solidFill>
              </a:rPr>
              <a:t>(no sharing)</a:t>
            </a:r>
            <a:endParaRPr lang="en-US" sz="2400">
              <a:solidFill>
                <a:srgbClr val="000099"/>
              </a:solidFill>
            </a:endParaRPr>
          </a:p>
          <a:p>
            <a:pPr marL="174625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385" name="Google Shape;385;p6"/>
          <p:cNvSpPr/>
          <p:nvPr/>
        </p:nvSpPr>
        <p:spPr>
          <a:xfrm>
            <a:off x="8424977" y="2768303"/>
            <a:ext cx="1498678" cy="62755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8424977" y="2893815"/>
            <a:ext cx="1498678" cy="62755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8424977" y="2956570"/>
            <a:ext cx="1498678" cy="62756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9" name="Google Shape;389;p6"/>
          <p:cNvGrpSpPr/>
          <p:nvPr/>
        </p:nvGrpSpPr>
        <p:grpSpPr>
          <a:xfrm rot="5400000">
            <a:off x="7286178" y="3665819"/>
            <a:ext cx="1446965" cy="261561"/>
            <a:chOff x="4865941" y="1169772"/>
            <a:chExt cx="1752599" cy="304799"/>
          </a:xfrm>
        </p:grpSpPr>
        <p:sp>
          <p:nvSpPr>
            <p:cNvPr id="390" name="Google Shape;390;p6"/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6"/>
          <p:cNvGrpSpPr/>
          <p:nvPr/>
        </p:nvGrpSpPr>
        <p:grpSpPr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395" name="Google Shape;395;p6"/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Google Shape;399;p6"/>
          <p:cNvSpPr/>
          <p:nvPr/>
        </p:nvSpPr>
        <p:spPr>
          <a:xfrm rot="5400000">
            <a:off x="9755990" y="3772869"/>
            <a:ext cx="1446966" cy="65391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 rot="5400000">
            <a:off x="9690600" y="3772869"/>
            <a:ext cx="1446966" cy="6539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 rot="5400000">
            <a:off x="9625209" y="3772869"/>
            <a:ext cx="1446966" cy="65391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6"/>
          <p:cNvGrpSpPr/>
          <p:nvPr/>
        </p:nvGrpSpPr>
        <p:grpSpPr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id="404" name="Google Shape;404;p6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6"/>
          <p:cNvSpPr/>
          <p:nvPr/>
        </p:nvSpPr>
        <p:spPr>
          <a:xfrm rot="-8334563" flipH="1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7105364" y="4795380"/>
            <a:ext cx="493905" cy="683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6"/>
          <p:cNvSpPr/>
          <p:nvPr/>
        </p:nvSpPr>
        <p:spPr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 rot="5400000">
            <a:off x="7825925" y="5242087"/>
            <a:ext cx="493905" cy="683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"/>
          <p:cNvSpPr/>
          <p:nvPr/>
        </p:nvSpPr>
        <p:spPr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"/>
          <p:cNvSpPr/>
          <p:nvPr/>
        </p:nvSpPr>
        <p:spPr>
          <a:xfrm rot="10800000">
            <a:off x="10882518" y="4775822"/>
            <a:ext cx="493905" cy="683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6"/>
          <p:cNvSpPr/>
          <p:nvPr/>
        </p:nvSpPr>
        <p:spPr>
          <a:xfrm>
            <a:off x="7002625" y="2887816"/>
            <a:ext cx="493905" cy="683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10811014" y="2867389"/>
            <a:ext cx="493905" cy="683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"/>
          <p:cNvSpPr/>
          <p:nvPr/>
        </p:nvSpPr>
        <p:spPr>
          <a:xfrm rot="5400000">
            <a:off x="10115327" y="2348120"/>
            <a:ext cx="493905" cy="6833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6"/>
          <p:cNvGrpSpPr/>
          <p:nvPr/>
        </p:nvGrpSpPr>
        <p:grpSpPr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id="416" name="Google Shape;416;p6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6"/>
          <p:cNvGrpSpPr/>
          <p:nvPr/>
        </p:nvGrpSpPr>
        <p:grpSpPr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id="419" name="Google Shape;419;p6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6"/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422" name="Google Shape;422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4" name="Google Shape;424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Google Shape;425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9" name="Google Shape;429;p6"/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430" name="Google Shape;430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" name="Google Shape;432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3" name="Google Shape;433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7" name="Google Shape;437;p6"/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438" name="Google Shape;438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" name="Google Shape;440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1" name="Google Shape;441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5" name="Google Shape;445;p6"/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446" name="Google Shape;446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8" name="Google Shape;448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9" name="Google Shape;449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3" name="Google Shape;453;p6"/>
          <p:cNvSpPr/>
          <p:nvPr/>
        </p:nvSpPr>
        <p:spPr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"/>
          <p:cNvSpPr/>
          <p:nvPr/>
        </p:nvSpPr>
        <p:spPr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"/>
          <p:cNvSpPr/>
          <p:nvPr/>
        </p:nvSpPr>
        <p:spPr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"/>
          <p:cNvSpPr txBox="1"/>
          <p:nvPr/>
        </p:nvSpPr>
        <p:spPr>
          <a:xfrm>
            <a:off x="990600" y="6354126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* Check out the online interactive exercises for more examples: h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ttp://gaia.cs.umass.edu/kurose_ross/interactive</a:t>
            </a:r>
            <a:endParaRPr lang="en-US" sz="12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57" name="Google Shape;457;p6"/>
          <p:cNvSpPr txBox="1"/>
          <p:nvPr/>
        </p:nvSpPr>
        <p:spPr>
          <a:xfrm>
            <a:off x="893203" y="5522187"/>
            <a:ext cx="6884498" cy="90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commonly used in traditional telephone networks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4625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44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6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Circuit switching: FDM and TDM</a:t>
            </a:r>
            <a:endParaRPr lang="en-US"/>
          </a:p>
        </p:txBody>
      </p:sp>
      <p:grpSp>
        <p:nvGrpSpPr>
          <p:cNvPr id="465" name="Google Shape;465;p7"/>
          <p:cNvGrpSpPr/>
          <p:nvPr/>
        </p:nvGrpSpPr>
        <p:grpSpPr>
          <a:xfrm>
            <a:off x="6233238" y="2058564"/>
            <a:ext cx="5507831" cy="1770857"/>
            <a:chOff x="1379" y="1353"/>
            <a:chExt cx="3469" cy="1116"/>
          </a:xfrm>
        </p:grpSpPr>
        <p:cxnSp>
          <p:nvCxnSpPr>
            <p:cNvPr id="466" name="Google Shape;466;p7"/>
            <p:cNvCxnSpPr/>
            <p:nvPr/>
          </p:nvCxnSpPr>
          <p:spPr>
            <a:xfrm rot="10800000">
              <a:off x="1728" y="1392"/>
              <a:ext cx="0" cy="81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67" name="Google Shape;467;p7"/>
            <p:cNvSpPr txBox="1"/>
            <p:nvPr/>
          </p:nvSpPr>
          <p:spPr>
            <a:xfrm rot="-5400000">
              <a:off x="1069" y="1662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8" name="Google Shape;468;p7"/>
            <p:cNvCxnSpPr/>
            <p:nvPr/>
          </p:nvCxnSpPr>
          <p:spPr>
            <a:xfrm>
              <a:off x="1728" y="2208"/>
              <a:ext cx="312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69" name="Google Shape;469;p7"/>
            <p:cNvSpPr txBox="1"/>
            <p:nvPr/>
          </p:nvSpPr>
          <p:spPr>
            <a:xfrm>
              <a:off x="4376" y="2216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7"/>
          <p:cNvSpPr/>
          <p:nvPr/>
        </p:nvSpPr>
        <p:spPr>
          <a:xfrm>
            <a:off x="6851569" y="2438770"/>
            <a:ext cx="4572000" cy="228600"/>
          </a:xfrm>
          <a:prstGeom prst="rect">
            <a:avLst/>
          </a:prstGeom>
          <a:solidFill>
            <a:srgbClr val="3366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6851569" y="2667370"/>
            <a:ext cx="4572000" cy="2286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7"/>
          <p:cNvSpPr/>
          <p:nvPr/>
        </p:nvSpPr>
        <p:spPr>
          <a:xfrm>
            <a:off x="6851569" y="2895970"/>
            <a:ext cx="4572000" cy="2286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7"/>
          <p:cNvSpPr/>
          <p:nvPr/>
        </p:nvSpPr>
        <p:spPr>
          <a:xfrm>
            <a:off x="6851569" y="3124570"/>
            <a:ext cx="4572000" cy="2286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7"/>
          <p:cNvGrpSpPr/>
          <p:nvPr/>
        </p:nvGrpSpPr>
        <p:grpSpPr>
          <a:xfrm>
            <a:off x="6249113" y="4360441"/>
            <a:ext cx="5479256" cy="1739107"/>
            <a:chOff x="1397" y="2977"/>
            <a:chExt cx="3452" cy="1096"/>
          </a:xfrm>
        </p:grpSpPr>
        <p:cxnSp>
          <p:nvCxnSpPr>
            <p:cNvPr id="476" name="Google Shape;476;p7"/>
            <p:cNvCxnSpPr/>
            <p:nvPr/>
          </p:nvCxnSpPr>
          <p:spPr>
            <a:xfrm rot="10800000">
              <a:off x="1728" y="2977"/>
              <a:ext cx="0" cy="81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77" name="Google Shape;477;p7"/>
            <p:cNvSpPr txBox="1"/>
            <p:nvPr/>
          </p:nvSpPr>
          <p:spPr>
            <a:xfrm rot="-5400000">
              <a:off x="1087" y="3286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" name="Google Shape;478;p7"/>
            <p:cNvCxnSpPr/>
            <p:nvPr/>
          </p:nvCxnSpPr>
          <p:spPr>
            <a:xfrm>
              <a:off x="1728" y="3793"/>
              <a:ext cx="312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79" name="Google Shape;479;p7"/>
            <p:cNvSpPr txBox="1"/>
            <p:nvPr/>
          </p:nvSpPr>
          <p:spPr>
            <a:xfrm>
              <a:off x="4385" y="3820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7"/>
          <p:cNvGrpSpPr/>
          <p:nvPr/>
        </p:nvGrpSpPr>
        <p:grpSpPr>
          <a:xfrm>
            <a:off x="6851569" y="4664445"/>
            <a:ext cx="3886200" cy="914400"/>
            <a:chOff x="1776" y="3168"/>
            <a:chExt cx="2448" cy="576"/>
          </a:xfrm>
        </p:grpSpPr>
        <p:sp>
          <p:nvSpPr>
            <p:cNvPr id="482" name="Google Shape;482;p7"/>
            <p:cNvSpPr/>
            <p:nvPr/>
          </p:nvSpPr>
          <p:spPr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p7"/>
          <p:cNvGrpSpPr/>
          <p:nvPr/>
        </p:nvGrpSpPr>
        <p:grpSpPr>
          <a:xfrm>
            <a:off x="7080169" y="4664445"/>
            <a:ext cx="3886200" cy="914400"/>
            <a:chOff x="1920" y="3168"/>
            <a:chExt cx="2448" cy="576"/>
          </a:xfrm>
        </p:grpSpPr>
        <p:sp>
          <p:nvSpPr>
            <p:cNvPr id="488" name="Google Shape;488;p7"/>
            <p:cNvSpPr/>
            <p:nvPr/>
          </p:nvSpPr>
          <p:spPr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7"/>
          <p:cNvGrpSpPr/>
          <p:nvPr/>
        </p:nvGrpSpPr>
        <p:grpSpPr>
          <a:xfrm>
            <a:off x="7308769" y="4664445"/>
            <a:ext cx="3886200" cy="914400"/>
            <a:chOff x="2064" y="3168"/>
            <a:chExt cx="2448" cy="576"/>
          </a:xfrm>
        </p:grpSpPr>
        <p:sp>
          <p:nvSpPr>
            <p:cNvPr id="494" name="Google Shape;494;p7"/>
            <p:cNvSpPr/>
            <p:nvPr/>
          </p:nvSpPr>
          <p:spPr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7"/>
          <p:cNvGrpSpPr/>
          <p:nvPr/>
        </p:nvGrpSpPr>
        <p:grpSpPr>
          <a:xfrm>
            <a:off x="7537369" y="4664445"/>
            <a:ext cx="3886200" cy="914400"/>
            <a:chOff x="2208" y="3168"/>
            <a:chExt cx="2448" cy="576"/>
          </a:xfrm>
        </p:grpSpPr>
        <p:sp>
          <p:nvSpPr>
            <p:cNvPr id="500" name="Google Shape;500;p7"/>
            <p:cNvSpPr/>
            <p:nvPr/>
          </p:nvSpPr>
          <p:spPr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p7"/>
          <p:cNvGrpSpPr/>
          <p:nvPr/>
        </p:nvGrpSpPr>
        <p:grpSpPr>
          <a:xfrm>
            <a:off x="6851569" y="2667370"/>
            <a:ext cx="4572000" cy="457200"/>
            <a:chOff x="1776" y="1728"/>
            <a:chExt cx="2880" cy="288"/>
          </a:xfrm>
        </p:grpSpPr>
        <p:cxnSp>
          <p:nvCxnSpPr>
            <p:cNvPr id="506" name="Google Shape;506;p7"/>
            <p:cNvCxnSpPr/>
            <p:nvPr/>
          </p:nvCxnSpPr>
          <p:spPr>
            <a:xfrm>
              <a:off x="1776" y="1728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7"/>
            <p:cNvCxnSpPr/>
            <p:nvPr/>
          </p:nvCxnSpPr>
          <p:spPr>
            <a:xfrm>
              <a:off x="1776" y="1872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7"/>
            <p:cNvCxnSpPr/>
            <p:nvPr/>
          </p:nvCxnSpPr>
          <p:spPr>
            <a:xfrm>
              <a:off x="1776" y="2016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9" name="Google Shape;509;p7"/>
          <p:cNvGrpSpPr/>
          <p:nvPr/>
        </p:nvGrpSpPr>
        <p:grpSpPr>
          <a:xfrm>
            <a:off x="7080169" y="4664445"/>
            <a:ext cx="4114800" cy="914400"/>
            <a:chOff x="1920" y="3168"/>
            <a:chExt cx="2592" cy="576"/>
          </a:xfrm>
        </p:grpSpPr>
        <p:cxnSp>
          <p:nvCxnSpPr>
            <p:cNvPr id="510" name="Google Shape;510;p7"/>
            <p:cNvCxnSpPr/>
            <p:nvPr/>
          </p:nvCxnSpPr>
          <p:spPr>
            <a:xfrm>
              <a:off x="192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7"/>
            <p:cNvCxnSpPr/>
            <p:nvPr/>
          </p:nvCxnSpPr>
          <p:spPr>
            <a:xfrm>
              <a:off x="206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7"/>
            <p:cNvCxnSpPr/>
            <p:nvPr/>
          </p:nvCxnSpPr>
          <p:spPr>
            <a:xfrm>
              <a:off x="220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7"/>
            <p:cNvCxnSpPr/>
            <p:nvPr/>
          </p:nvCxnSpPr>
          <p:spPr>
            <a:xfrm>
              <a:off x="235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7"/>
            <p:cNvCxnSpPr/>
            <p:nvPr/>
          </p:nvCxnSpPr>
          <p:spPr>
            <a:xfrm>
              <a:off x="249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7"/>
            <p:cNvCxnSpPr/>
            <p:nvPr/>
          </p:nvCxnSpPr>
          <p:spPr>
            <a:xfrm>
              <a:off x="264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7"/>
            <p:cNvCxnSpPr/>
            <p:nvPr/>
          </p:nvCxnSpPr>
          <p:spPr>
            <a:xfrm>
              <a:off x="278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7"/>
            <p:cNvCxnSpPr/>
            <p:nvPr/>
          </p:nvCxnSpPr>
          <p:spPr>
            <a:xfrm>
              <a:off x="292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7"/>
            <p:cNvCxnSpPr/>
            <p:nvPr/>
          </p:nvCxnSpPr>
          <p:spPr>
            <a:xfrm>
              <a:off x="307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9" name="Google Shape;519;p7"/>
            <p:cNvCxnSpPr/>
            <p:nvPr/>
          </p:nvCxnSpPr>
          <p:spPr>
            <a:xfrm>
              <a:off x="321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0" name="Google Shape;520;p7"/>
            <p:cNvCxnSpPr/>
            <p:nvPr/>
          </p:nvCxnSpPr>
          <p:spPr>
            <a:xfrm>
              <a:off x="336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1" name="Google Shape;521;p7"/>
            <p:cNvCxnSpPr/>
            <p:nvPr/>
          </p:nvCxnSpPr>
          <p:spPr>
            <a:xfrm>
              <a:off x="350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" name="Google Shape;522;p7"/>
            <p:cNvCxnSpPr/>
            <p:nvPr/>
          </p:nvCxnSpPr>
          <p:spPr>
            <a:xfrm>
              <a:off x="364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" name="Google Shape;523;p7"/>
            <p:cNvCxnSpPr/>
            <p:nvPr/>
          </p:nvCxnSpPr>
          <p:spPr>
            <a:xfrm>
              <a:off x="379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4" name="Google Shape;524;p7"/>
            <p:cNvCxnSpPr/>
            <p:nvPr/>
          </p:nvCxnSpPr>
          <p:spPr>
            <a:xfrm>
              <a:off x="393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Google Shape;525;p7"/>
            <p:cNvCxnSpPr/>
            <p:nvPr/>
          </p:nvCxnSpPr>
          <p:spPr>
            <a:xfrm>
              <a:off x="408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6" name="Google Shape;526;p7"/>
            <p:cNvCxnSpPr/>
            <p:nvPr/>
          </p:nvCxnSpPr>
          <p:spPr>
            <a:xfrm>
              <a:off x="422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7"/>
            <p:cNvCxnSpPr/>
            <p:nvPr/>
          </p:nvCxnSpPr>
          <p:spPr>
            <a:xfrm>
              <a:off x="436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Google Shape;528;p7"/>
            <p:cNvCxnSpPr/>
            <p:nvPr/>
          </p:nvCxnSpPr>
          <p:spPr>
            <a:xfrm>
              <a:off x="451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9" name="Google Shape;529;p7"/>
          <p:cNvGrpSpPr/>
          <p:nvPr/>
        </p:nvGrpSpPr>
        <p:grpSpPr>
          <a:xfrm>
            <a:off x="6851569" y="2553070"/>
            <a:ext cx="4572000" cy="685800"/>
            <a:chOff x="1776" y="1656"/>
            <a:chExt cx="2880" cy="432"/>
          </a:xfrm>
        </p:grpSpPr>
        <p:cxnSp>
          <p:nvCxnSpPr>
            <p:cNvPr id="530" name="Google Shape;530;p7"/>
            <p:cNvCxnSpPr/>
            <p:nvPr/>
          </p:nvCxnSpPr>
          <p:spPr>
            <a:xfrm>
              <a:off x="1776" y="1656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7"/>
            <p:cNvCxnSpPr/>
            <p:nvPr/>
          </p:nvCxnSpPr>
          <p:spPr>
            <a:xfrm>
              <a:off x="1776" y="1800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7"/>
            <p:cNvCxnSpPr/>
            <p:nvPr/>
          </p:nvCxnSpPr>
          <p:spPr>
            <a:xfrm>
              <a:off x="1776" y="1944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7"/>
            <p:cNvCxnSpPr/>
            <p:nvPr/>
          </p:nvCxnSpPr>
          <p:spPr>
            <a:xfrm>
              <a:off x="1776" y="2088"/>
              <a:ext cx="28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4" name="Google Shape;534;p7"/>
          <p:cNvGrpSpPr/>
          <p:nvPr/>
        </p:nvGrpSpPr>
        <p:grpSpPr>
          <a:xfrm>
            <a:off x="6965869" y="4664445"/>
            <a:ext cx="4343400" cy="914400"/>
            <a:chOff x="1848" y="3168"/>
            <a:chExt cx="2736" cy="576"/>
          </a:xfrm>
        </p:grpSpPr>
        <p:cxnSp>
          <p:nvCxnSpPr>
            <p:cNvPr id="535" name="Google Shape;535;p7"/>
            <p:cNvCxnSpPr/>
            <p:nvPr/>
          </p:nvCxnSpPr>
          <p:spPr>
            <a:xfrm>
              <a:off x="184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7"/>
            <p:cNvCxnSpPr/>
            <p:nvPr/>
          </p:nvCxnSpPr>
          <p:spPr>
            <a:xfrm>
              <a:off x="199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7"/>
            <p:cNvCxnSpPr/>
            <p:nvPr/>
          </p:nvCxnSpPr>
          <p:spPr>
            <a:xfrm>
              <a:off x="213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7"/>
            <p:cNvCxnSpPr/>
            <p:nvPr/>
          </p:nvCxnSpPr>
          <p:spPr>
            <a:xfrm>
              <a:off x="228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9" name="Google Shape;539;p7"/>
            <p:cNvCxnSpPr/>
            <p:nvPr/>
          </p:nvCxnSpPr>
          <p:spPr>
            <a:xfrm>
              <a:off x="242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0" name="Google Shape;540;p7"/>
            <p:cNvCxnSpPr/>
            <p:nvPr/>
          </p:nvCxnSpPr>
          <p:spPr>
            <a:xfrm>
              <a:off x="256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1" name="Google Shape;541;p7"/>
            <p:cNvCxnSpPr/>
            <p:nvPr/>
          </p:nvCxnSpPr>
          <p:spPr>
            <a:xfrm>
              <a:off x="271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2" name="Google Shape;542;p7"/>
            <p:cNvCxnSpPr/>
            <p:nvPr/>
          </p:nvCxnSpPr>
          <p:spPr>
            <a:xfrm>
              <a:off x="285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7"/>
            <p:cNvCxnSpPr/>
            <p:nvPr/>
          </p:nvCxnSpPr>
          <p:spPr>
            <a:xfrm>
              <a:off x="300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7"/>
            <p:cNvCxnSpPr/>
            <p:nvPr/>
          </p:nvCxnSpPr>
          <p:spPr>
            <a:xfrm>
              <a:off x="314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7"/>
            <p:cNvCxnSpPr/>
            <p:nvPr/>
          </p:nvCxnSpPr>
          <p:spPr>
            <a:xfrm>
              <a:off x="328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7"/>
            <p:cNvCxnSpPr/>
            <p:nvPr/>
          </p:nvCxnSpPr>
          <p:spPr>
            <a:xfrm>
              <a:off x="343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7" name="Google Shape;547;p7"/>
            <p:cNvCxnSpPr/>
            <p:nvPr/>
          </p:nvCxnSpPr>
          <p:spPr>
            <a:xfrm>
              <a:off x="357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7"/>
            <p:cNvCxnSpPr/>
            <p:nvPr/>
          </p:nvCxnSpPr>
          <p:spPr>
            <a:xfrm>
              <a:off x="372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7"/>
            <p:cNvCxnSpPr/>
            <p:nvPr/>
          </p:nvCxnSpPr>
          <p:spPr>
            <a:xfrm>
              <a:off x="386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7"/>
            <p:cNvCxnSpPr/>
            <p:nvPr/>
          </p:nvCxnSpPr>
          <p:spPr>
            <a:xfrm>
              <a:off x="4008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51" name="Google Shape;551;p7"/>
            <p:cNvCxnSpPr/>
            <p:nvPr/>
          </p:nvCxnSpPr>
          <p:spPr>
            <a:xfrm>
              <a:off x="4152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7"/>
            <p:cNvCxnSpPr/>
            <p:nvPr/>
          </p:nvCxnSpPr>
          <p:spPr>
            <a:xfrm>
              <a:off x="4296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p7"/>
            <p:cNvCxnSpPr/>
            <p:nvPr/>
          </p:nvCxnSpPr>
          <p:spPr>
            <a:xfrm>
              <a:off x="4440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7"/>
            <p:cNvCxnSpPr/>
            <p:nvPr/>
          </p:nvCxnSpPr>
          <p:spPr>
            <a:xfrm>
              <a:off x="4584" y="3168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5" name="Google Shape;555;p7"/>
          <p:cNvGrpSpPr/>
          <p:nvPr/>
        </p:nvGrpSpPr>
        <p:grpSpPr>
          <a:xfrm>
            <a:off x="8985169" y="1632322"/>
            <a:ext cx="2438400" cy="523876"/>
            <a:chOff x="3648" y="266"/>
            <a:chExt cx="1536" cy="330"/>
          </a:xfrm>
        </p:grpSpPr>
        <p:sp>
          <p:nvSpPr>
            <p:cNvPr id="556" name="Google Shape;556;p7"/>
            <p:cNvSpPr txBox="1"/>
            <p:nvPr/>
          </p:nvSpPr>
          <p:spPr>
            <a:xfrm>
              <a:off x="3648" y="266"/>
              <a:ext cx="767" cy="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users</a:t>
              </a: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1" name="Google Shape;561;p7"/>
          <p:cNvSpPr txBox="1"/>
          <p:nvPr>
            <p:ph type="body" idx="1"/>
          </p:nvPr>
        </p:nvSpPr>
        <p:spPr>
          <a:xfrm>
            <a:off x="768431" y="1448157"/>
            <a:ext cx="5265052" cy="198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" lvl="0" indent="-114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None/>
            </a:pPr>
            <a:r>
              <a:rPr lang="en-US" sz="2400">
                <a:solidFill>
                  <a:srgbClr val="CC0000"/>
                </a:solidFill>
              </a:rPr>
              <a:t>F</a:t>
            </a:r>
            <a:r>
              <a:rPr lang="en-US">
                <a:solidFill>
                  <a:srgbClr val="CC0000"/>
                </a:solidFill>
              </a:rPr>
              <a:t>requency Division Multiplexing </a:t>
            </a:r>
            <a:r>
              <a:rPr lang="en-US" sz="2400">
                <a:solidFill>
                  <a:srgbClr val="CC0000"/>
                </a:solidFill>
              </a:rPr>
              <a:t>(FDM)</a:t>
            </a:r>
            <a:endParaRPr sz="2400">
              <a:solidFill>
                <a:srgbClr val="CC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optical, electromagnetic frequencies divided into (narrow) frequency bands</a:t>
            </a:r>
            <a:endParaRPr lang="en-US" sz="24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562" name="Google Shape;562;p7"/>
          <p:cNvSpPr txBox="1"/>
          <p:nvPr/>
        </p:nvSpPr>
        <p:spPr>
          <a:xfrm>
            <a:off x="851118" y="4389639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" marR="0" lvl="0" indent="-114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Division Multiplexing </a:t>
            </a: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(TDM)</a:t>
            </a:r>
            <a:endParaRPr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slots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7"/>
          <p:cNvSpPr txBox="1"/>
          <p:nvPr/>
        </p:nvSpPr>
        <p:spPr>
          <a:xfrm>
            <a:off x="758125" y="3253122"/>
            <a:ext cx="5265052" cy="103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its own band, can transmit at max rate of that narrow band 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577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7"/>
          <p:cNvSpPr txBox="1"/>
          <p:nvPr/>
        </p:nvSpPr>
        <p:spPr>
          <a:xfrm>
            <a:off x="848536" y="5261674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periodic slot(s), can transmit at maximum rate of (wider) frequency band (only)  during its time slot(s)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7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 lang="en-US"/>
          </a:p>
        </p:txBody>
      </p:sp>
      <p:sp>
        <p:nvSpPr>
          <p:cNvPr id="572" name="Google Shape;572;p8"/>
          <p:cNvSpPr txBox="1"/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31775" marR="0" lvl="0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Gb/s link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user: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21717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 panose="020B060402020209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Mb/s when “active”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21717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 panose="020B060402020209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10% of time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7055" marR="0" lvl="1" indent="-92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793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8"/>
          <p:cNvSpPr txBox="1"/>
          <p:nvPr/>
        </p:nvSpPr>
        <p:spPr>
          <a:xfrm>
            <a:off x="770020" y="3313964"/>
            <a:ext cx="1108509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users can use this network under circuit-switching and packet switching?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8"/>
          <p:cNvSpPr txBox="1"/>
          <p:nvPr/>
        </p:nvSpPr>
        <p:spPr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* Check out the online interactive exercises for more examples: h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ttp://gaia.cs.umass.edu/kurose_ross/interactive</a:t>
            </a:r>
            <a:endParaRPr lang="en-US" sz="12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575" name="Google Shape;575;p8"/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cxnSp>
          <p:nvCxnSpPr>
            <p:cNvPr id="576" name="Google Shape;576;p8"/>
            <p:cNvCxnSpPr/>
            <p:nvPr/>
          </p:nvCxnSpPr>
          <p:spPr>
            <a:xfrm>
              <a:off x="7197264" y="2684966"/>
              <a:ext cx="838200" cy="4572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7" name="Google Shape;577;p8"/>
            <p:cNvCxnSpPr/>
            <p:nvPr/>
          </p:nvCxnSpPr>
          <p:spPr>
            <a:xfrm>
              <a:off x="8027887" y="3142166"/>
              <a:ext cx="2038350" cy="0"/>
            </a:xfrm>
            <a:prstGeom prst="straightConnector1">
              <a:avLst/>
            </a:prstGeom>
            <a:noFill/>
            <a:ln w="28575" cap="flat" cmpd="sng">
              <a:solidFill>
                <a:srgbClr val="0000A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8" name="Google Shape;578;p8"/>
            <p:cNvCxnSpPr/>
            <p:nvPr/>
          </p:nvCxnSpPr>
          <p:spPr>
            <a:xfrm>
              <a:off x="8027887" y="3317507"/>
              <a:ext cx="2038350" cy="0"/>
            </a:xfrm>
            <a:prstGeom prst="straightConnector1">
              <a:avLst/>
            </a:prstGeom>
            <a:noFill/>
            <a:ln w="28575" cap="flat" cmpd="sng">
              <a:solidFill>
                <a:srgbClr val="0000A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9" name="Google Shape;579;p8"/>
            <p:cNvCxnSpPr/>
            <p:nvPr/>
          </p:nvCxnSpPr>
          <p:spPr>
            <a:xfrm rot="10800000" flipH="1">
              <a:off x="7273464" y="3317507"/>
              <a:ext cx="761999" cy="609599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0" name="Google Shape;580;p8"/>
            <p:cNvSpPr txBox="1"/>
            <p:nvPr/>
          </p:nvSpPr>
          <p:spPr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lang="en-US" sz="1800" b="0" i="1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18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 lang="en-US" sz="20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8"/>
            <p:cNvSpPr txBox="1"/>
            <p:nvPr/>
          </p:nvSpPr>
          <p:spPr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Gbps link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2" name="Google Shape;582;p8"/>
            <p:cNvCxnSpPr/>
            <p:nvPr/>
          </p:nvCxnSpPr>
          <p:spPr>
            <a:xfrm>
              <a:off x="9308639" y="3234599"/>
              <a:ext cx="1409700" cy="0"/>
            </a:xfrm>
            <a:prstGeom prst="straightConnector1">
              <a:avLst/>
            </a:prstGeom>
            <a:noFill/>
            <a:ln w="444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8"/>
            <p:cNvSpPr txBox="1"/>
            <p:nvPr/>
          </p:nvSpPr>
          <p:spPr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 panose="020B0604020202090204"/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…..</a:t>
              </a:r>
              <a:endParaRPr lang="en-US" sz="280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584" name="Google Shape;584;p8"/>
            <p:cNvGrpSpPr/>
            <p:nvPr/>
          </p:nvGrpSpPr>
          <p:grpSpPr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id="585" name="Google Shape;585;p8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6" name="Google Shape;586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7" name="Google Shape;587;p8"/>
            <p:cNvGrpSpPr/>
            <p:nvPr/>
          </p:nvGrpSpPr>
          <p:grpSpPr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id="588" name="Google Shape;588;p8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9" name="Google Shape;589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8"/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591" name="Google Shape;591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/>
                <a:ahLst/>
                <a:cxnLst/>
                <a:rect l="l" t="t" r="r" b="b"/>
                <a:pathLst>
                  <a:path w="8166683" h="3099826" extrusionOk="0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3" name="Google Shape;593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4" name="Google Shape;594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3016" h="1049866" extrusionOk="0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4718" h="903890" extrusionOk="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187" h="893380" extrusionOk="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5019" h="1418896" extrusionOk="0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98" name="Google Shape;598;p8"/>
          <p:cNvSpPr txBox="1"/>
          <p:nvPr/>
        </p:nvSpPr>
        <p:spPr>
          <a:xfrm>
            <a:off x="908221" y="3603662"/>
            <a:ext cx="4938590" cy="96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7055" marR="0" lvl="1" indent="-920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circuit-switching: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793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p8"/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600" name="Google Shape;600;p8"/>
            <p:cNvGrpSpPr/>
            <p:nvPr/>
          </p:nvGrpSpPr>
          <p:grpSpPr>
            <a:xfrm>
              <a:off x="6219664" y="3735970"/>
              <a:ext cx="4945068" cy="1660524"/>
              <a:chOff x="2915" y="2412"/>
              <a:chExt cx="3115" cy="1046"/>
            </a:xfrm>
          </p:grpSpPr>
          <p:sp>
            <p:nvSpPr>
              <p:cNvPr id="601" name="Google Shape;601;p8"/>
              <p:cNvSpPr txBox="1"/>
              <p:nvPr/>
            </p:nvSpPr>
            <p:spPr>
              <a:xfrm>
                <a:off x="2915" y="2412"/>
                <a:ext cx="311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lang="en-US" sz="2800" b="0" i="1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</a:t>
                </a:r>
                <a:r>
                  <a:rPr lang="en-US"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how did we get value 0.0004?</a:t>
                </a:r>
                <a:endParaRPr lang="en-US"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8"/>
              <p:cNvSpPr txBox="1"/>
              <p:nvPr/>
            </p:nvSpPr>
            <p:spPr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lang="en-US" sz="2800" b="0" i="1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</a:t>
                </a:r>
                <a:r>
                  <a:rPr lang="en-US"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HW problem </a:t>
                </a: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(for those with course in probability only)</a:t>
                </a: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3" name="Google Shape;603;p8"/>
            <p:cNvSpPr txBox="1"/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567055" marR="0" lvl="1" indent="-9207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0" indent="-231775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 b="0" i="1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switching:</a:t>
              </a:r>
              <a:r>
                <a:rPr lang="en-US"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35 users, probability &gt; 10 active at same time is less than .0004 *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0" indent="-79375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4" name="Google Shape;604;p8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 lang="en-US"/>
          </a:p>
        </p:txBody>
      </p:sp>
      <p:sp>
        <p:nvSpPr>
          <p:cNvPr id="611" name="Google Shape;611;p9"/>
          <p:cNvSpPr txBox="1"/>
          <p:nvPr/>
        </p:nvSpPr>
        <p:spPr>
          <a:xfrm>
            <a:off x="867714" y="1869451"/>
            <a:ext cx="10470588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7655" marR="0" lvl="0" indent="-2876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great for “bursty” data – sometimes has data to send, but at other times not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no call setup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655" marR="0" lvl="0" indent="-28765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excessive congestion possible: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packet delay and loss due to buffer overflow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 needed for reliable data transfer, congestion control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655" marR="0" lvl="0" indent="-28765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to provide circuit-like behavior with packet-switching?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“It’s complicated.” We’ll study various techniques that try to make packet switching as “circuit-like” as possible.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9"/>
          <p:cNvSpPr txBox="1"/>
          <p:nvPr/>
        </p:nvSpPr>
        <p:spPr>
          <a:xfrm>
            <a:off x="725805" y="1205865"/>
            <a:ext cx="874268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packet switching a “slam dunk winner”?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9"/>
          <p:cNvSpPr txBox="1"/>
          <p:nvPr/>
        </p:nvSpPr>
        <p:spPr>
          <a:xfrm>
            <a:off x="989983" y="5661104"/>
            <a:ext cx="1047133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human analogies of reserved resources (circuit switching) versus on-demand allocation (packet switching)?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9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3944</Words>
  <Application>WPS Presentation</Application>
  <PresentationFormat/>
  <Paragraphs>259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Microsoft YaHei</vt:lpstr>
      <vt:lpstr>汉仪旗黑</vt:lpstr>
      <vt:lpstr>Arial Unicode MS</vt:lpstr>
      <vt:lpstr>Thonburi</vt:lpstr>
      <vt:lpstr>宋体-简</vt:lpstr>
      <vt:lpstr>Office Theme</vt:lpstr>
      <vt:lpstr>IT694 Computer Networks</vt:lpstr>
      <vt:lpstr>Host: sends packets of data</vt:lpstr>
      <vt:lpstr>Packet-switching: store-and-forward</vt:lpstr>
      <vt:lpstr>Packet-switching: queueing</vt:lpstr>
      <vt:lpstr>Packet-switching: queueing</vt:lpstr>
      <vt:lpstr>Alternative to packet switching: circuit switching</vt:lpstr>
      <vt:lpstr>Circuit switching: FDM and TDM</vt:lpstr>
      <vt:lpstr>Packet switching versus circuit switching</vt:lpstr>
      <vt:lpstr>Packet switching versus circuit switching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prii</cp:lastModifiedBy>
  <cp:revision>3</cp:revision>
  <dcterms:created xsi:type="dcterms:W3CDTF">2026-02-09T19:09:15Z</dcterms:created>
  <dcterms:modified xsi:type="dcterms:W3CDTF">2026-02-09T19:09:15Z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9E575CAE0FCC78AF9B308A6926C8F1A0_42</vt:lpwstr>
  </property>
  <property fmtid="{D5CDD505-2E9C-101B-9397-08002B2CF9AE}" pid="3" name="KSOProductBuildVer">
    <vt:lpwstr>1033-12.1.23155.23155</vt:lpwstr>
  </property>
</Properties>
</file>