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2" r:id="rId3"/>
    <p:sldId id="263" r:id="rId4"/>
    <p:sldId id="259" r:id="rId5"/>
    <p:sldId id="257" r:id="rId6"/>
    <p:sldId id="258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31"/>
    <p:restoredTop sz="96386"/>
  </p:normalViewPr>
  <p:slideViewPr>
    <p:cSldViewPr snapToGrid="0" snapToObjects="1">
      <p:cViewPr varScale="1">
        <p:scale>
          <a:sx n="93" d="100"/>
          <a:sy n="93" d="100"/>
        </p:scale>
        <p:origin x="224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59EEF2-327A-AB43-B993-CA8DC78744E3}" type="datetimeFigureOut">
              <a:rPr lang="en-US" smtClean="0"/>
              <a:t>2/17/26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2867C0-A77B-114E-9909-81E4F1ED0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741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38534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1233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82360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22394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849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004A9-8991-214F-A404-939D40A94FD9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690F7-2195-2243-8F40-665CAA175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45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004A9-8991-214F-A404-939D40A94FD9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690F7-2195-2243-8F40-665CAA175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928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004A9-8991-214F-A404-939D40A94FD9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690F7-2195-2243-8F40-665CAA175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990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004A9-8991-214F-A404-939D40A94FD9}" type="datetimeFigureOut">
              <a:rPr lang="en-US" smtClean="0"/>
              <a:t>2/17/26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690F7-2195-2243-8F40-665CAA175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255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004A9-8991-214F-A404-939D40A94FD9}" type="datetimeFigureOut">
              <a:rPr lang="en-US" smtClean="0"/>
              <a:t>2/17/26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690F7-2195-2243-8F40-665CAA175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48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004A9-8991-214F-A404-939D40A94FD9}" type="datetimeFigureOut">
              <a:rPr lang="en-US" smtClean="0"/>
              <a:t>2/17/26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690F7-2195-2243-8F40-665CAA175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252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004A9-8991-214F-A404-939D40A94FD9}" type="datetimeFigureOut">
              <a:rPr lang="en-US" smtClean="0"/>
              <a:t>2/17/26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690F7-2195-2243-8F40-665CAA175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387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004A9-8991-214F-A404-939D40A94FD9}" type="datetimeFigureOut">
              <a:rPr lang="en-US" smtClean="0"/>
              <a:t>2/17/26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690F7-2195-2243-8F40-665CAA175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998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004A9-8991-214F-A404-939D40A94FD9}" type="datetimeFigureOut">
              <a:rPr lang="en-US" smtClean="0"/>
              <a:t>2/17/26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690F7-2195-2243-8F40-665CAA175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383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004A9-8991-214F-A404-939D40A94FD9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690F7-2195-2243-8F40-665CAA175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936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004A9-8991-214F-A404-939D40A94FD9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690F7-2195-2243-8F40-665CAA175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3528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0004A9-8991-214F-A404-939D40A94FD9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8690F7-2195-2243-8F40-665CAA175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899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IT694</a:t>
            </a:r>
            <a:br>
              <a:rPr lang="en-US" dirty="0" smtClean="0"/>
            </a:br>
            <a:r>
              <a:rPr lang="en-US" dirty="0" smtClean="0"/>
              <a:t>Computer Networks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Week 7_Lec1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171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TCP Congestion </a:t>
            </a:r>
            <a:endParaRPr 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3589962" cy="4351338"/>
          </a:xfrm>
        </p:spPr>
        <p:txBody>
          <a:bodyPr/>
          <a:lstStyle/>
          <a:p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What is congestion?</a:t>
            </a:r>
          </a:p>
          <a:p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Where does it occur?</a:t>
            </a:r>
          </a:p>
          <a:p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Why?</a:t>
            </a:r>
          </a:p>
          <a:p>
            <a:endParaRPr 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240694" y="623456"/>
            <a:ext cx="5502668" cy="1676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Times New Roman" charset="0"/>
                <a:ea typeface="Times New Roman" charset="0"/>
                <a:cs typeface="Times New Roman" charset="0"/>
              </a:rPr>
              <a:t>First, </a:t>
            </a:r>
            <a:r>
              <a:rPr lang="en-US" sz="2400" dirty="0" smtClean="0">
                <a:latin typeface="Times New Roman" charset="0"/>
                <a:ea typeface="Times New Roman" charset="0"/>
                <a:cs typeface="Times New Roman" charset="0"/>
              </a:rPr>
              <a:t>what should be done to UNDERSTAND congestion?</a:t>
            </a:r>
          </a:p>
          <a:p>
            <a:pPr lvl="1"/>
            <a:r>
              <a:rPr lang="en-US" sz="2000" dirty="0" smtClean="0">
                <a:latin typeface="Times New Roman" charset="0"/>
                <a:ea typeface="Times New Roman" charset="0"/>
                <a:cs typeface="Times New Roman" charset="0"/>
              </a:rPr>
              <a:t>Sender </a:t>
            </a:r>
          </a:p>
          <a:p>
            <a:pPr lvl="1"/>
            <a:r>
              <a:rPr lang="en-US" sz="2000" dirty="0" smtClean="0">
                <a:latin typeface="Times New Roman" charset="0"/>
                <a:ea typeface="Times New Roman" charset="0"/>
                <a:cs typeface="Times New Roman" charset="0"/>
              </a:rPr>
              <a:t>Receiver</a:t>
            </a:r>
          </a:p>
          <a:p>
            <a:endParaRPr lang="en-US" sz="2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84355" y="2558187"/>
            <a:ext cx="458542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charset="0"/>
              <a:buChar char="•"/>
            </a:pPr>
            <a:r>
              <a:rPr lang="en-US" sz="2400" dirty="0" smtClean="0">
                <a:latin typeface="Times New Roman" charset="0"/>
                <a:ea typeface="Times New Roman" charset="0"/>
                <a:cs typeface="Times New Roman" charset="0"/>
              </a:rPr>
              <a:t>how does a TCP sender limit the rate at which it sends traffic into its connection?</a:t>
            </a:r>
          </a:p>
        </p:txBody>
      </p:sp>
      <p:sp>
        <p:nvSpPr>
          <p:cNvPr id="6" name="Rectangle 5"/>
          <p:cNvSpPr/>
          <p:nvPr/>
        </p:nvSpPr>
        <p:spPr>
          <a:xfrm>
            <a:off x="4973782" y="4032742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Arial" charset="0"/>
              <a:buChar char="•"/>
            </a:pPr>
            <a:r>
              <a:rPr lang="en-US" sz="2400" dirty="0" smtClean="0">
                <a:latin typeface="Times New Roman" charset="0"/>
                <a:ea typeface="Times New Roman" charset="0"/>
                <a:cs typeface="Times New Roman" charset="0"/>
              </a:rPr>
              <a:t>Second, how does a TCP sender perceive that there is congestion on the path between itself and the destination? </a:t>
            </a:r>
          </a:p>
        </p:txBody>
      </p:sp>
      <p:sp>
        <p:nvSpPr>
          <p:cNvPr id="7" name="Rectangle 6"/>
          <p:cNvSpPr/>
          <p:nvPr/>
        </p:nvSpPr>
        <p:spPr>
          <a:xfrm>
            <a:off x="5356416" y="5530632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Arial" charset="0"/>
              <a:buChar char="•"/>
            </a:pPr>
            <a:r>
              <a:rPr lang="en-US" sz="2400" dirty="0" smtClean="0">
                <a:latin typeface="Times New Roman" charset="0"/>
                <a:ea typeface="Times New Roman" charset="0"/>
                <a:cs typeface="Times New Roman" charset="0"/>
              </a:rPr>
              <a:t>What logic/algorithm should the sender use to change its send rate as a function of perceived end-to-end congestion?</a:t>
            </a:r>
            <a:endParaRPr lang="en-US" sz="2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83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6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9036" y="1079500"/>
            <a:ext cx="5576455" cy="1222375"/>
          </a:xfrm>
        </p:spPr>
        <p:txBody>
          <a:bodyPr>
            <a:normAutofit/>
          </a:bodyPr>
          <a:lstStyle/>
          <a:p>
            <a:pPr algn="just"/>
            <a:r>
              <a:rPr lang="en-US" sz="2400" i="1" dirty="0">
                <a:latin typeface="Times New Roman" charset="0"/>
                <a:ea typeface="Times New Roman" charset="0"/>
                <a:cs typeface="Times New Roman" charset="0"/>
              </a:rPr>
              <a:t>A lost segment implies congestion, and hence, the TCP sender’s rate should </a:t>
            </a:r>
            <a:r>
              <a:rPr lang="en-US" sz="2400" i="1" dirty="0" smtClean="0">
                <a:latin typeface="Times New Roman" charset="0"/>
                <a:ea typeface="Times New Roman" charset="0"/>
                <a:cs typeface="Times New Roman" charset="0"/>
              </a:rPr>
              <a:t>be decreased </a:t>
            </a:r>
            <a:r>
              <a:rPr lang="en-US" sz="2400" i="1" dirty="0">
                <a:latin typeface="Times New Roman" charset="0"/>
                <a:ea typeface="Times New Roman" charset="0"/>
                <a:cs typeface="Times New Roman" charset="0"/>
              </a:rPr>
              <a:t>when a segment is lost</a:t>
            </a:r>
          </a:p>
          <a:p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5666509" y="5302682"/>
            <a:ext cx="6096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i="1" dirty="0" smtClean="0">
                <a:latin typeface="Times New Roman" charset="0"/>
                <a:ea typeface="Times New Roman" charset="0"/>
                <a:cs typeface="Times New Roman" charset="0"/>
              </a:rPr>
              <a:t>Bandwidth probing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544291" y="2681077"/>
            <a:ext cx="6096000" cy="1631216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 algn="just">
              <a:buFont typeface="Arial" charset="0"/>
              <a:buChar char="•"/>
            </a:pPr>
            <a:r>
              <a:rPr lang="en-US" sz="2000" i="1" dirty="0" smtClean="0">
                <a:latin typeface="Times New Roman" charset="0"/>
                <a:ea typeface="Times New Roman" charset="0"/>
                <a:cs typeface="Times New Roman" charset="0"/>
              </a:rPr>
              <a:t>An acknowledged segment indicates that the network is delivering the sender’s segments to the receiver, and hence, the sender’s rate can be increased when an ACK arrives for a previously unacknowledged segment.</a:t>
            </a:r>
            <a:endParaRPr lang="en-US" sz="2000" i="1" dirty="0" smtClean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207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2594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TCP congestion control: details</a:t>
            </a:r>
            <a:endParaRPr lang="en-US" sz="4400" b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E52FB642-7743-D04C-959D-0819117703FA}"/>
              </a:ext>
            </a:extLst>
          </p:cNvPr>
          <p:cNvGrpSpPr/>
          <p:nvPr/>
        </p:nvGrpSpPr>
        <p:grpSpPr>
          <a:xfrm>
            <a:off x="1116489" y="4838128"/>
            <a:ext cx="10034111" cy="1695450"/>
            <a:chOff x="1116489" y="4838128"/>
            <a:chExt cx="10034111" cy="169545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xmlns="" id="{0C3AD1E1-01ED-504A-8B9E-72DE11AF70D1}"/>
                </a:ext>
              </a:extLst>
            </p:cNvPr>
            <p:cNvSpPr/>
            <p:nvPr/>
          </p:nvSpPr>
          <p:spPr>
            <a:xfrm>
              <a:off x="5989208" y="4895568"/>
              <a:ext cx="5161392" cy="36512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" name="Rectangle 3">
              <a:extLst>
                <a:ext uri="{FF2B5EF4-FFF2-40B4-BE49-F238E27FC236}">
                  <a16:creationId xmlns:a16="http://schemas.microsoft.com/office/drawing/2014/main" xmlns="" id="{A0DE5D89-38AB-C14E-891D-428C6A0ADF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6489" y="4838128"/>
              <a:ext cx="9628822" cy="16954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FAA26D3D-D897-4be2-8F04-BA451C77F1D7}">
                <ma14:placeholderFlag xmlns:ma14="http://schemas.microsoft.com/office/mac/drawingml/2011/main" val="1"/>
              </a:ex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284163" indent="-284163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ＭＳ Ｐゴシック" charset="0"/>
                  <a:cs typeface="ＭＳ Ｐゴシック" charset="0"/>
                </a:defRPr>
              </a:lvl1pPr>
              <a:lvl2pPr marL="687388" indent="-230188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ＭＳ Ｐゴシック" charset="0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ea typeface="ＭＳ Ｐゴシック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Times New Roman" pitchFamily="-109" charset="0"/>
                  <a:ea typeface="ＭＳ Ｐゴシック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  <a:ea typeface="ＭＳ Ｐゴシック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9pPr>
            </a:lstStyle>
            <a:p>
              <a:pPr marL="284163" marR="0" lvl="0" indent="-284163" algn="l" defTabSz="914400" rtl="0" eaLnBrk="0" fontAlgn="base" latinLnBrk="0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charset="2"/>
                <a:buChar char="§"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TCP sender limits transmission:</a:t>
              </a:r>
            </a:p>
            <a:p>
              <a:pPr marL="284163" marR="0" lvl="0" indent="-284163" algn="l" defTabSz="914400" rtl="0" eaLnBrk="0" fontAlgn="base" latinLnBrk="0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charset="2"/>
                <a:buChar char="§"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" pitchFamily="2" charset="0"/>
                  <a:ea typeface="ＭＳ Ｐゴシック" charset="0"/>
                  <a:cs typeface="+mn-cs"/>
                </a:rPr>
                <a:t>cwnd </a:t>
              </a: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is dynamically adjusted in response to observed network congestion (implementing TCP congestion control)</a:t>
              </a:r>
            </a:p>
            <a:p>
              <a:pPr marL="284163" marR="0" lvl="0" indent="-284163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charset="2"/>
                <a:buChar char="§"/>
                <a:tabLst/>
                <a:defRPr/>
              </a:pPr>
              <a:endPara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/>
                <a:ea typeface="ＭＳ Ｐゴシック" charset="0"/>
                <a:cs typeface="+mn-cs"/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xmlns="" id="{33A34342-F85F-A641-8C18-F113159FACD0}"/>
                </a:ext>
              </a:extLst>
            </p:cNvPr>
            <p:cNvGrpSpPr/>
            <p:nvPr/>
          </p:nvGrpSpPr>
          <p:grpSpPr>
            <a:xfrm>
              <a:off x="6040008" y="4887177"/>
              <a:ext cx="4888123" cy="397144"/>
              <a:chOff x="5614194" y="4809655"/>
              <a:chExt cx="4888123" cy="397144"/>
            </a:xfrm>
          </p:grpSpPr>
          <p:sp>
            <p:nvSpPr>
              <p:cNvPr id="181" name="Text Box 71">
                <a:extLst>
                  <a:ext uri="{FF2B5EF4-FFF2-40B4-BE49-F238E27FC236}">
                    <a16:creationId xmlns:a16="http://schemas.microsoft.com/office/drawing/2014/main" xmlns="" id="{77C08B5B-9AE1-D240-830E-26ECD6D166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14194" y="4868630"/>
                <a:ext cx="4395788" cy="3381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marL="225425" indent="-225425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225425" marR="0" lvl="0" indent="-225425" algn="l" defTabSz="914400" rtl="0" eaLnBrk="0" fontAlgn="base" latinLnBrk="0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65000"/>
                  <a:buFont typeface="Wingdings" charset="0"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charset="0"/>
                    <a:ea typeface="ＭＳ Ｐゴシック" charset="0"/>
                    <a:cs typeface="+mn-cs"/>
                  </a:rPr>
                  <a:t>LastByteSent- LastByteAcked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xmlns="" id="{FED586FE-6CBA-AA48-85C7-A1A11BDABF7D}"/>
                  </a:ext>
                </a:extLst>
              </p:cNvPr>
              <p:cNvGrpSpPr/>
              <p:nvPr/>
            </p:nvGrpSpPr>
            <p:grpSpPr>
              <a:xfrm>
                <a:off x="9416467" y="4809655"/>
                <a:ext cx="1085850" cy="366713"/>
                <a:chOff x="7709188" y="4768381"/>
                <a:chExt cx="1085850" cy="366713"/>
              </a:xfrm>
            </p:grpSpPr>
            <p:grpSp>
              <p:nvGrpSpPr>
                <p:cNvPr id="182" name="Group 74">
                  <a:extLst>
                    <a:ext uri="{FF2B5EF4-FFF2-40B4-BE49-F238E27FC236}">
                      <a16:creationId xmlns:a16="http://schemas.microsoft.com/office/drawing/2014/main" xmlns="" id="{059D1AF2-00E8-024F-B782-BBF97100FEB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709188" y="4789019"/>
                  <a:ext cx="350837" cy="336550"/>
                  <a:chOff x="2059" y="2097"/>
                  <a:chExt cx="221" cy="212"/>
                </a:xfrm>
              </p:grpSpPr>
              <p:sp>
                <p:nvSpPr>
                  <p:cNvPr id="183" name="Text Box 72">
                    <a:extLst>
                      <a:ext uri="{FF2B5EF4-FFF2-40B4-BE49-F238E27FC236}">
                        <a16:creationId xmlns:a16="http://schemas.microsoft.com/office/drawing/2014/main" xmlns="" id="{50EA1644-3183-7A41-97FA-03AEA0F526B2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059" y="2097"/>
                    <a:ext cx="221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1pPr>
                    <a:lvl2pPr marL="742950" indent="-28575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2pPr>
                    <a:lvl3pPr marL="11430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3pPr>
                    <a:lvl4pPr marL="16002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4pPr>
                    <a:lvl5pPr marL="20574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6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homa" charset="0"/>
                        <a:ea typeface="ＭＳ Ｐゴシック" charset="0"/>
                        <a:cs typeface="+mn-cs"/>
                      </a:rPr>
                      <a:t>&lt;</a:t>
                    </a:r>
                  </a:p>
                </p:txBody>
              </p:sp>
              <p:sp>
                <p:nvSpPr>
                  <p:cNvPr id="184" name="Line 73">
                    <a:extLst>
                      <a:ext uri="{FF2B5EF4-FFF2-40B4-BE49-F238E27FC236}">
                        <a16:creationId xmlns:a16="http://schemas.microsoft.com/office/drawing/2014/main" xmlns="" id="{B966005D-C4C4-C547-86E3-65FDA3A33E1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133" y="2269"/>
                    <a:ext cx="85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charset="0"/>
                      <a:ea typeface="ＭＳ Ｐゴシック" charset="0"/>
                      <a:cs typeface="+mn-cs"/>
                    </a:endParaRPr>
                  </a:p>
                </p:txBody>
              </p:sp>
            </p:grpSp>
            <p:sp>
              <p:nvSpPr>
                <p:cNvPr id="185" name="Text Box 75">
                  <a:extLst>
                    <a:ext uri="{FF2B5EF4-FFF2-40B4-BE49-F238E27FC236}">
                      <a16:creationId xmlns:a16="http://schemas.microsoft.com/office/drawing/2014/main" xmlns="" id="{4F80A37A-B578-A447-95BD-D5D7AC31E66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064788" y="4768381"/>
                  <a:ext cx="730250" cy="36671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urier New" charset="0"/>
                      <a:ea typeface="ＭＳ Ｐゴシック" charset="0"/>
                      <a:cs typeface="+mn-cs"/>
                    </a:rPr>
                    <a:t>cwnd</a:t>
                  </a:r>
                </a:p>
              </p:txBody>
            </p:sp>
          </p:grpSp>
        </p:grpSp>
      </p:grpSp>
      <p:sp>
        <p:nvSpPr>
          <p:cNvPr id="165" name="Rectangle 47">
            <a:extLst>
              <a:ext uri="{FF2B5EF4-FFF2-40B4-BE49-F238E27FC236}">
                <a16:creationId xmlns:a16="http://schemas.microsoft.com/office/drawing/2014/main" xmlns="" id="{DE6B816E-28FD-F042-BAC6-6005321F73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4221" y="2927773"/>
            <a:ext cx="4503412" cy="10754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C2EB66EB-894C-A043-A360-C60A865F68A4}"/>
              </a:ext>
            </a:extLst>
          </p:cNvPr>
          <p:cNvGrpSpPr/>
          <p:nvPr/>
        </p:nvGrpSpPr>
        <p:grpSpPr>
          <a:xfrm>
            <a:off x="1289051" y="2849038"/>
            <a:ext cx="1267801" cy="861704"/>
            <a:chOff x="1289051" y="2849038"/>
            <a:chExt cx="1267801" cy="861704"/>
          </a:xfrm>
        </p:grpSpPr>
        <p:sp>
          <p:nvSpPr>
            <p:cNvPr id="168" name="Freeform 53">
              <a:extLst>
                <a:ext uri="{FF2B5EF4-FFF2-40B4-BE49-F238E27FC236}">
                  <a16:creationId xmlns:a16="http://schemas.microsoft.com/office/drawing/2014/main" xmlns="" id="{E3EEFD92-7050-9249-80C1-240C22D52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9283" y="2849038"/>
              <a:ext cx="187569" cy="464732"/>
            </a:xfrm>
            <a:custGeom>
              <a:avLst/>
              <a:gdLst>
                <a:gd name="T0" fmla="*/ 2147483647 w 91"/>
                <a:gd name="T1" fmla="*/ 0 h 242"/>
                <a:gd name="T2" fmla="*/ 2147483647 w 91"/>
                <a:gd name="T3" fmla="*/ 2147483647 h 242"/>
                <a:gd name="T4" fmla="*/ 0 w 91"/>
                <a:gd name="T5" fmla="*/ 2147483647 h 2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1" h="242">
                  <a:moveTo>
                    <a:pt x="91" y="0"/>
                  </a:moveTo>
                  <a:lnTo>
                    <a:pt x="88" y="242"/>
                  </a:lnTo>
                  <a:lnTo>
                    <a:pt x="0" y="242"/>
                  </a:lnTo>
                </a:path>
              </a:pathLst>
            </a:custGeom>
            <a:noFill/>
            <a:ln w="19050" cmpd="sng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0" name="Text Box 57">
              <a:extLst>
                <a:ext uri="{FF2B5EF4-FFF2-40B4-BE49-F238E27FC236}">
                  <a16:creationId xmlns:a16="http://schemas.microsoft.com/office/drawing/2014/main" xmlns="" id="{4DCFBA68-55DB-2E45-83BC-59D80627D5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9051" y="3119811"/>
              <a:ext cx="986168" cy="5909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last byte</a:t>
              </a:r>
            </a:p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ACKed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xmlns="" id="{A8C3752B-025F-E94F-8654-13F54E9C670F}"/>
              </a:ext>
            </a:extLst>
          </p:cNvPr>
          <p:cNvGrpSpPr/>
          <p:nvPr/>
        </p:nvGrpSpPr>
        <p:grpSpPr>
          <a:xfrm>
            <a:off x="3824084" y="2948877"/>
            <a:ext cx="1759290" cy="1283237"/>
            <a:chOff x="3824084" y="2948877"/>
            <a:chExt cx="1759290" cy="1283237"/>
          </a:xfrm>
        </p:grpSpPr>
        <p:sp>
          <p:nvSpPr>
            <p:cNvPr id="172" name="Text Box 59">
              <a:extLst>
                <a:ext uri="{FF2B5EF4-FFF2-40B4-BE49-F238E27FC236}">
                  <a16:creationId xmlns:a16="http://schemas.microsoft.com/office/drawing/2014/main" xmlns="" id="{44BFDC0C-7E1F-194B-B1D5-936A105689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9525" y="3890482"/>
              <a:ext cx="1603849" cy="3416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last byte sent</a:t>
              </a:r>
            </a:p>
          </p:txBody>
        </p:sp>
        <p:sp>
          <p:nvSpPr>
            <p:cNvPr id="180" name="Freeform 69">
              <a:extLst>
                <a:ext uri="{FF2B5EF4-FFF2-40B4-BE49-F238E27FC236}">
                  <a16:creationId xmlns:a16="http://schemas.microsoft.com/office/drawing/2014/main" xmlns="" id="{33A90F9A-C7CE-C44A-B81F-BFED1356069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824084" y="2948877"/>
              <a:ext cx="190240" cy="1102896"/>
            </a:xfrm>
            <a:custGeom>
              <a:avLst/>
              <a:gdLst>
                <a:gd name="T0" fmla="*/ 2147483647 w 91"/>
                <a:gd name="T1" fmla="*/ 0 h 242"/>
                <a:gd name="T2" fmla="*/ 2147483647 w 91"/>
                <a:gd name="T3" fmla="*/ 2147483647 h 242"/>
                <a:gd name="T4" fmla="*/ 0 w 91"/>
                <a:gd name="T5" fmla="*/ 2147483647 h 242"/>
                <a:gd name="T6" fmla="*/ 0 60000 65536"/>
                <a:gd name="T7" fmla="*/ 0 60000 65536"/>
                <a:gd name="T8" fmla="*/ 0 60000 65536"/>
                <a:gd name="connsiteX0" fmla="*/ 9412 w 9670"/>
                <a:gd name="connsiteY0" fmla="*/ 0 h 9938"/>
                <a:gd name="connsiteX1" fmla="*/ 9670 w 9670"/>
                <a:gd name="connsiteY1" fmla="*/ 9938 h 9938"/>
                <a:gd name="connsiteX2" fmla="*/ 0 w 9670"/>
                <a:gd name="connsiteY2" fmla="*/ 9938 h 9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70" h="9938">
                  <a:moveTo>
                    <a:pt x="9412" y="0"/>
                  </a:moveTo>
                  <a:lnTo>
                    <a:pt x="9670" y="9938"/>
                  </a:lnTo>
                  <a:lnTo>
                    <a:pt x="0" y="9938"/>
                  </a:lnTo>
                </a:path>
              </a:pathLst>
            </a:custGeom>
            <a:noFill/>
            <a:ln w="19050" cmpd="sng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42CF5997-36CB-D147-BC28-3AEB4C853BEA}"/>
              </a:ext>
            </a:extLst>
          </p:cNvPr>
          <p:cNvGrpSpPr/>
          <p:nvPr/>
        </p:nvGrpSpPr>
        <p:grpSpPr>
          <a:xfrm>
            <a:off x="1289051" y="1292332"/>
            <a:ext cx="4641849" cy="1497173"/>
            <a:chOff x="1289051" y="1292332"/>
            <a:chExt cx="4641849" cy="1497173"/>
          </a:xfrm>
        </p:grpSpPr>
        <p:sp>
          <p:nvSpPr>
            <p:cNvPr id="104" name="Rectangle 12">
              <a:extLst>
                <a:ext uri="{FF2B5EF4-FFF2-40B4-BE49-F238E27FC236}">
                  <a16:creationId xmlns:a16="http://schemas.microsoft.com/office/drawing/2014/main" xmlns="" id="{04993FEE-920A-A241-8D22-76E5FD7EE6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0854" y="2034797"/>
              <a:ext cx="86000" cy="752789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33CC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05" name="Rectangle 13">
              <a:extLst>
                <a:ext uri="{FF2B5EF4-FFF2-40B4-BE49-F238E27FC236}">
                  <a16:creationId xmlns:a16="http://schemas.microsoft.com/office/drawing/2014/main" xmlns="" id="{18E83275-ACB2-EC4C-B6DC-CBDA17C3A8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8805" y="2036716"/>
              <a:ext cx="85998" cy="752789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06" name="Rectangle 14">
              <a:extLst>
                <a:ext uri="{FF2B5EF4-FFF2-40B4-BE49-F238E27FC236}">
                  <a16:creationId xmlns:a16="http://schemas.microsoft.com/office/drawing/2014/main" xmlns="" id="{DAC860B7-5379-0C49-8B6D-4F42EEEC89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8852" y="2034797"/>
              <a:ext cx="85998" cy="752789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07" name="Rectangle 15">
              <a:extLst>
                <a:ext uri="{FF2B5EF4-FFF2-40B4-BE49-F238E27FC236}">
                  <a16:creationId xmlns:a16="http://schemas.microsoft.com/office/drawing/2014/main" xmlns="" id="{850E3686-28F1-ED45-BCA0-8626CD94C2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6801" y="2034797"/>
              <a:ext cx="86000" cy="752789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08" name="Rectangle 16">
              <a:extLst>
                <a:ext uri="{FF2B5EF4-FFF2-40B4-BE49-F238E27FC236}">
                  <a16:creationId xmlns:a16="http://schemas.microsoft.com/office/drawing/2014/main" xmlns="" id="{2B67993F-458E-AA4F-8BDA-DD554E74E9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2653" y="2034797"/>
              <a:ext cx="86000" cy="752789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09" name="Rectangle 17">
              <a:extLst>
                <a:ext uri="{FF2B5EF4-FFF2-40B4-BE49-F238E27FC236}">
                  <a16:creationId xmlns:a16="http://schemas.microsoft.com/office/drawing/2014/main" xmlns="" id="{0FAD288D-252F-5745-BF73-6A260AA674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0604" y="2034797"/>
              <a:ext cx="85998" cy="752789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0" name="Rectangle 18">
              <a:extLst>
                <a:ext uri="{FF2B5EF4-FFF2-40B4-BE49-F238E27FC236}">
                  <a16:creationId xmlns:a16="http://schemas.microsoft.com/office/drawing/2014/main" xmlns="" id="{F50804B5-A9B0-B741-A2CB-DC3CFBF386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2261" y="2034797"/>
              <a:ext cx="85998" cy="752789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1" name="Rectangle 19">
              <a:extLst>
                <a:ext uri="{FF2B5EF4-FFF2-40B4-BE49-F238E27FC236}">
                  <a16:creationId xmlns:a16="http://schemas.microsoft.com/office/drawing/2014/main" xmlns="" id="{E9319E92-5123-8943-BEB7-081DA31ABF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8113" y="2034797"/>
              <a:ext cx="85998" cy="752789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2" name="Rectangle 20">
              <a:extLst>
                <a:ext uri="{FF2B5EF4-FFF2-40B4-BE49-F238E27FC236}">
                  <a16:creationId xmlns:a16="http://schemas.microsoft.com/office/drawing/2014/main" xmlns="" id="{C56329EF-B8DA-E848-8471-F7AB6A81A0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3965" y="2034797"/>
              <a:ext cx="85998" cy="752789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3" name="Rectangle 21">
              <a:extLst>
                <a:ext uri="{FF2B5EF4-FFF2-40B4-BE49-F238E27FC236}">
                  <a16:creationId xmlns:a16="http://schemas.microsoft.com/office/drawing/2014/main" xmlns="" id="{B6EA82BD-4235-744C-8CC2-3D0E844633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4500" y="2034797"/>
              <a:ext cx="86000" cy="752789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4" name="Rectangle 22">
              <a:extLst>
                <a:ext uri="{FF2B5EF4-FFF2-40B4-BE49-F238E27FC236}">
                  <a16:creationId xmlns:a16="http://schemas.microsoft.com/office/drawing/2014/main" xmlns="" id="{3AB484C5-F544-AD4F-AC56-F33B38DBB9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4547" y="2036716"/>
              <a:ext cx="86000" cy="75278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5" name="Rectangle 23">
              <a:extLst>
                <a:ext uri="{FF2B5EF4-FFF2-40B4-BE49-F238E27FC236}">
                  <a16:creationId xmlns:a16="http://schemas.microsoft.com/office/drawing/2014/main" xmlns="" id="{1DD6947E-4A84-9D4E-B2FC-3A5E7F6D1E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2498" y="2034797"/>
              <a:ext cx="85998" cy="75278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6" name="Rectangle 24">
              <a:extLst>
                <a:ext uri="{FF2B5EF4-FFF2-40B4-BE49-F238E27FC236}">
                  <a16:creationId xmlns:a16="http://schemas.microsoft.com/office/drawing/2014/main" xmlns="" id="{2A55A81B-B032-0840-A48D-1D5352A231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0447" y="2034797"/>
              <a:ext cx="86000" cy="75278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7" name="Rectangle 25">
              <a:extLst>
                <a:ext uri="{FF2B5EF4-FFF2-40B4-BE49-F238E27FC236}">
                  <a16:creationId xmlns:a16="http://schemas.microsoft.com/office/drawing/2014/main" xmlns="" id="{EBC4122E-0CCF-1548-9A66-7DCD08E748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8397" y="2034797"/>
              <a:ext cx="85998" cy="75278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8" name="Rectangle 26">
              <a:extLst>
                <a:ext uri="{FF2B5EF4-FFF2-40B4-BE49-F238E27FC236}">
                  <a16:creationId xmlns:a16="http://schemas.microsoft.com/office/drawing/2014/main" xmlns="" id="{DB7235A0-624C-DB45-8BCC-3CE6B91647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4249" y="2034797"/>
              <a:ext cx="85998" cy="75278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9" name="Rectangle 27">
              <a:extLst>
                <a:ext uri="{FF2B5EF4-FFF2-40B4-BE49-F238E27FC236}">
                  <a16:creationId xmlns:a16="http://schemas.microsoft.com/office/drawing/2014/main" xmlns="" id="{345917A5-9719-BB4F-9C0B-ACD89A8BB0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5907" y="2034797"/>
              <a:ext cx="85998" cy="75278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0" name="Rectangle 28">
              <a:extLst>
                <a:ext uri="{FF2B5EF4-FFF2-40B4-BE49-F238E27FC236}">
                  <a16:creationId xmlns:a16="http://schemas.microsoft.com/office/drawing/2014/main" xmlns="" id="{4C1474B9-991E-6847-8B01-DE0C951385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1759" y="2034797"/>
              <a:ext cx="85998" cy="75278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1" name="Rectangle 29">
              <a:extLst>
                <a:ext uri="{FF2B5EF4-FFF2-40B4-BE49-F238E27FC236}">
                  <a16:creationId xmlns:a16="http://schemas.microsoft.com/office/drawing/2014/main" xmlns="" id="{1FEE069D-BAD8-8A43-9829-68BF4DBC50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9708" y="2034797"/>
              <a:ext cx="86000" cy="75278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2" name="Rectangle 30">
              <a:extLst>
                <a:ext uri="{FF2B5EF4-FFF2-40B4-BE49-F238E27FC236}">
                  <a16:creationId xmlns:a16="http://schemas.microsoft.com/office/drawing/2014/main" xmlns="" id="{F6A54E32-B859-A84C-B9EB-275C556CD8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7170" y="2034797"/>
              <a:ext cx="86000" cy="75278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3" name="Rectangle 31">
              <a:extLst>
                <a:ext uri="{FF2B5EF4-FFF2-40B4-BE49-F238E27FC236}">
                  <a16:creationId xmlns:a16="http://schemas.microsoft.com/office/drawing/2014/main" xmlns="" id="{F693AF70-5D12-874C-A1FE-39895AB51D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3022" y="2034797"/>
              <a:ext cx="86000" cy="75278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4" name="Rectangle 32">
              <a:extLst>
                <a:ext uri="{FF2B5EF4-FFF2-40B4-BE49-F238E27FC236}">
                  <a16:creationId xmlns:a16="http://schemas.microsoft.com/office/drawing/2014/main" xmlns="" id="{8AF2AC6B-DBDA-9B44-8499-2FA57D2193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6778" y="2032876"/>
              <a:ext cx="85998" cy="752789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5" name="Rectangle 33">
              <a:extLst>
                <a:ext uri="{FF2B5EF4-FFF2-40B4-BE49-F238E27FC236}">
                  <a16:creationId xmlns:a16="http://schemas.microsoft.com/office/drawing/2014/main" xmlns="" id="{3C5EC589-0EEE-AA43-956D-7E1A6B8E7B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8435" y="2032876"/>
              <a:ext cx="85998" cy="752789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6" name="Rectangle 34">
              <a:extLst>
                <a:ext uri="{FF2B5EF4-FFF2-40B4-BE49-F238E27FC236}">
                  <a16:creationId xmlns:a16="http://schemas.microsoft.com/office/drawing/2014/main" xmlns="" id="{00489FD8-0BA0-844E-AA41-BDE801D2E2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6384" y="2032876"/>
              <a:ext cx="86000" cy="752789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7" name="Rectangle 35">
              <a:extLst>
                <a:ext uri="{FF2B5EF4-FFF2-40B4-BE49-F238E27FC236}">
                  <a16:creationId xmlns:a16="http://schemas.microsoft.com/office/drawing/2014/main" xmlns="" id="{7CDE0EFB-7CC4-304D-AD89-8FC08C1FBD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2236" y="2032876"/>
              <a:ext cx="86000" cy="752789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8" name="Rectangle 36">
              <a:extLst>
                <a:ext uri="{FF2B5EF4-FFF2-40B4-BE49-F238E27FC236}">
                  <a16:creationId xmlns:a16="http://schemas.microsoft.com/office/drawing/2014/main" xmlns="" id="{6EECC216-B56D-D043-93ED-F50164EF4E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9698" y="2032876"/>
              <a:ext cx="86000" cy="752789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9" name="Rectangle 37">
              <a:extLst>
                <a:ext uri="{FF2B5EF4-FFF2-40B4-BE49-F238E27FC236}">
                  <a16:creationId xmlns:a16="http://schemas.microsoft.com/office/drawing/2014/main" xmlns="" id="{2DDF4004-027D-3448-8C19-8E608E2146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5550" y="2032876"/>
              <a:ext cx="86000" cy="752789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30" name="Rectangle 38">
              <a:extLst>
                <a:ext uri="{FF2B5EF4-FFF2-40B4-BE49-F238E27FC236}">
                  <a16:creationId xmlns:a16="http://schemas.microsoft.com/office/drawing/2014/main" xmlns="" id="{66B062CA-DE3B-DE43-ABC0-B0129B2679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3501" y="2034797"/>
              <a:ext cx="85998" cy="752789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31" name="Rectangle 39">
              <a:extLst>
                <a:ext uri="{FF2B5EF4-FFF2-40B4-BE49-F238E27FC236}">
                  <a16:creationId xmlns:a16="http://schemas.microsoft.com/office/drawing/2014/main" xmlns="" id="{B8FF22AA-6251-9B4A-8B71-33B1C663B3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1450" y="2036716"/>
              <a:ext cx="86000" cy="752789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32" name="Rectangle 40">
              <a:extLst>
                <a:ext uri="{FF2B5EF4-FFF2-40B4-BE49-F238E27FC236}">
                  <a16:creationId xmlns:a16="http://schemas.microsoft.com/office/drawing/2014/main" xmlns="" id="{FAB9104E-A760-C644-B315-33CD7DEB1C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9400" y="2034797"/>
              <a:ext cx="85998" cy="752789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33" name="Rectangle 41">
              <a:extLst>
                <a:ext uri="{FF2B5EF4-FFF2-40B4-BE49-F238E27FC236}">
                  <a16:creationId xmlns:a16="http://schemas.microsoft.com/office/drawing/2014/main" xmlns="" id="{84289F99-D270-C140-AA7A-F6C4AFA078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9448" y="2034797"/>
              <a:ext cx="85998" cy="752789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34" name="Rectangle 42">
              <a:extLst>
                <a:ext uri="{FF2B5EF4-FFF2-40B4-BE49-F238E27FC236}">
                  <a16:creationId xmlns:a16="http://schemas.microsoft.com/office/drawing/2014/main" xmlns="" id="{CDFBFB7B-6E55-9045-8777-DB8B3B13C3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5300" y="2034797"/>
              <a:ext cx="85998" cy="752789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37" name="Rectangle 43">
              <a:extLst>
                <a:ext uri="{FF2B5EF4-FFF2-40B4-BE49-F238E27FC236}">
                  <a16:creationId xmlns:a16="http://schemas.microsoft.com/office/drawing/2014/main" xmlns="" id="{AD3CDD9F-C7EC-964D-A02B-C8B9C75CCD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1152" y="2034797"/>
              <a:ext cx="85998" cy="752789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38" name="Rectangle 44">
              <a:extLst>
                <a:ext uri="{FF2B5EF4-FFF2-40B4-BE49-F238E27FC236}">
                  <a16:creationId xmlns:a16="http://schemas.microsoft.com/office/drawing/2014/main" xmlns="" id="{A68B931F-B222-6643-B4DE-15E3E8354B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2809" y="2034797"/>
              <a:ext cx="85998" cy="752789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63" name="Rectangle 45">
              <a:extLst>
                <a:ext uri="{FF2B5EF4-FFF2-40B4-BE49-F238E27FC236}">
                  <a16:creationId xmlns:a16="http://schemas.microsoft.com/office/drawing/2014/main" xmlns="" id="{7D3A9CBD-AC18-2744-9564-5C628A27F6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40759" y="2034797"/>
              <a:ext cx="86000" cy="752789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64" name="Rectangle 46">
              <a:extLst>
                <a:ext uri="{FF2B5EF4-FFF2-40B4-BE49-F238E27FC236}">
                  <a16:creationId xmlns:a16="http://schemas.microsoft.com/office/drawing/2014/main" xmlns="" id="{7BD5CB89-7651-AC4B-B6A7-CB76771F95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66611" y="2034797"/>
              <a:ext cx="86000" cy="752789"/>
            </a:xfrm>
            <a:prstGeom prst="rect">
              <a:avLst/>
            </a:prstGeom>
            <a:gradFill rotWithShape="1">
              <a:gsLst>
                <a:gs pos="0">
                  <a:srgbClr val="B2B2B2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66" name="Rectangle 48">
              <a:extLst>
                <a:ext uri="{FF2B5EF4-FFF2-40B4-BE49-F238E27FC236}">
                  <a16:creationId xmlns:a16="http://schemas.microsoft.com/office/drawing/2014/main" xmlns="" id="{22B83E8B-5347-B046-AB4A-F500B639B4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7488" y="1902290"/>
              <a:ext cx="4503412" cy="1075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73" name="Text Box 61">
              <a:extLst>
                <a:ext uri="{FF2B5EF4-FFF2-40B4-BE49-F238E27FC236}">
                  <a16:creationId xmlns:a16="http://schemas.microsoft.com/office/drawing/2014/main" xmlns="" id="{EC2166A2-B157-124D-AD95-CDDC7B2DDC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0882" y="1648799"/>
              <a:ext cx="805454" cy="3437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charset="0"/>
                  <a:ea typeface="ＭＳ Ｐゴシック" charset="0"/>
                  <a:cs typeface="+mn-cs"/>
                </a:rPr>
                <a:t>cwnd</a:t>
              </a:r>
              <a:endPara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74" name="Group 62">
              <a:extLst>
                <a:ext uri="{FF2B5EF4-FFF2-40B4-BE49-F238E27FC236}">
                  <a16:creationId xmlns:a16="http://schemas.microsoft.com/office/drawing/2014/main" xmlns="" id="{A2ECB346-2348-1D42-A5A0-3073BBFAF7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22141" y="1750580"/>
              <a:ext cx="591506" cy="142108"/>
              <a:chOff x="4250" y="1692"/>
              <a:chExt cx="374" cy="86"/>
            </a:xfrm>
          </p:grpSpPr>
          <p:sp>
            <p:nvSpPr>
              <p:cNvPr id="175" name="Line 63">
                <a:extLst>
                  <a:ext uri="{FF2B5EF4-FFF2-40B4-BE49-F238E27FC236}">
                    <a16:creationId xmlns:a16="http://schemas.microsoft.com/office/drawing/2014/main" xmlns="" id="{D8AB4372-6622-194F-8B2C-95E11AB4BD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50" y="1738"/>
                <a:ext cx="374" cy="0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76" name="Line 64">
                <a:extLst>
                  <a:ext uri="{FF2B5EF4-FFF2-40B4-BE49-F238E27FC236}">
                    <a16:creationId xmlns:a16="http://schemas.microsoft.com/office/drawing/2014/main" xmlns="" id="{90113FC4-9E6C-1344-9A19-D18BED38D2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21" y="1692"/>
                <a:ext cx="0" cy="8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grpSp>
          <p:nvGrpSpPr>
            <p:cNvPr id="177" name="Group 65">
              <a:extLst>
                <a:ext uri="{FF2B5EF4-FFF2-40B4-BE49-F238E27FC236}">
                  <a16:creationId xmlns:a16="http://schemas.microsoft.com/office/drawing/2014/main" xmlns="" id="{DA340DC1-A02D-8B4C-B20C-F58E960E37E4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>
              <a:off x="2650352" y="1773625"/>
              <a:ext cx="616676" cy="149790"/>
              <a:chOff x="4250" y="1692"/>
              <a:chExt cx="374" cy="86"/>
            </a:xfrm>
          </p:grpSpPr>
          <p:sp>
            <p:nvSpPr>
              <p:cNvPr id="178" name="Line 66">
                <a:extLst>
                  <a:ext uri="{FF2B5EF4-FFF2-40B4-BE49-F238E27FC236}">
                    <a16:creationId xmlns:a16="http://schemas.microsoft.com/office/drawing/2014/main" xmlns="" id="{996A9ACA-B6A9-274C-AF8C-6FDF8BEA33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60" y="1746"/>
                <a:ext cx="374" cy="0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79" name="Line 67">
                <a:extLst>
                  <a:ext uri="{FF2B5EF4-FFF2-40B4-BE49-F238E27FC236}">
                    <a16:creationId xmlns:a16="http://schemas.microsoft.com/office/drawing/2014/main" xmlns="" id="{1CAF8AD6-4F2D-AF41-B54A-FA702FB44D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32" y="1700"/>
                <a:ext cx="0" cy="8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187" name="Text Box 78">
              <a:extLst>
                <a:ext uri="{FF2B5EF4-FFF2-40B4-BE49-F238E27FC236}">
                  <a16:creationId xmlns:a16="http://schemas.microsoft.com/office/drawing/2014/main" xmlns="" id="{084366A9-52AF-9848-912D-70AD364BF8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9051" y="1292332"/>
              <a:ext cx="3220754" cy="3693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sender sequence number space </a:t>
              </a:r>
            </a:p>
          </p:txBody>
        </p:sp>
      </p:grpSp>
      <p:sp>
        <p:nvSpPr>
          <p:cNvPr id="198" name="Line 51">
            <a:extLst>
              <a:ext uri="{FF2B5EF4-FFF2-40B4-BE49-F238E27FC236}">
                <a16:creationId xmlns:a16="http://schemas.microsoft.com/office/drawing/2014/main" xmlns="" id="{E6E4B0C6-1414-3D4F-93A5-CCA3CEEBB668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8860" y="2875555"/>
            <a:ext cx="700041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xmlns="" id="{BF77D345-5DCD-C84A-8957-E4F03648FFCF}"/>
              </a:ext>
            </a:extLst>
          </p:cNvPr>
          <p:cNvGrpSpPr/>
          <p:nvPr/>
        </p:nvGrpSpPr>
        <p:grpSpPr>
          <a:xfrm>
            <a:off x="4204169" y="2959619"/>
            <a:ext cx="1759165" cy="950582"/>
            <a:chOff x="4204169" y="2959619"/>
            <a:chExt cx="1759165" cy="950582"/>
          </a:xfrm>
        </p:grpSpPr>
        <p:sp>
          <p:nvSpPr>
            <p:cNvPr id="199" name="Freeform 69">
              <a:extLst>
                <a:ext uri="{FF2B5EF4-FFF2-40B4-BE49-F238E27FC236}">
                  <a16:creationId xmlns:a16="http://schemas.microsoft.com/office/drawing/2014/main" xmlns="" id="{59B379E2-D8BE-6243-B6FF-8D00B68FA2F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204169" y="2959619"/>
              <a:ext cx="190240" cy="549834"/>
            </a:xfrm>
            <a:custGeom>
              <a:avLst/>
              <a:gdLst>
                <a:gd name="T0" fmla="*/ 2147483647 w 91"/>
                <a:gd name="T1" fmla="*/ 0 h 242"/>
                <a:gd name="T2" fmla="*/ 2147483647 w 91"/>
                <a:gd name="T3" fmla="*/ 2147483647 h 242"/>
                <a:gd name="T4" fmla="*/ 0 w 91"/>
                <a:gd name="T5" fmla="*/ 2147483647 h 242"/>
                <a:gd name="T6" fmla="*/ 0 60000 65536"/>
                <a:gd name="T7" fmla="*/ 0 60000 65536"/>
                <a:gd name="T8" fmla="*/ 0 60000 65536"/>
                <a:gd name="connsiteX0" fmla="*/ 9412 w 9670"/>
                <a:gd name="connsiteY0" fmla="*/ 0 h 9938"/>
                <a:gd name="connsiteX1" fmla="*/ 9670 w 9670"/>
                <a:gd name="connsiteY1" fmla="*/ 9938 h 9938"/>
                <a:gd name="connsiteX2" fmla="*/ 0 w 9670"/>
                <a:gd name="connsiteY2" fmla="*/ 9938 h 9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70" h="9938">
                  <a:moveTo>
                    <a:pt x="9412" y="0"/>
                  </a:moveTo>
                  <a:lnTo>
                    <a:pt x="9670" y="9938"/>
                  </a:lnTo>
                  <a:lnTo>
                    <a:pt x="0" y="9938"/>
                  </a:lnTo>
                </a:path>
              </a:pathLst>
            </a:custGeom>
            <a:noFill/>
            <a:ln w="19050" cmpd="sng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0" name="Text Box 59">
              <a:extLst>
                <a:ext uri="{FF2B5EF4-FFF2-40B4-BE49-F238E27FC236}">
                  <a16:creationId xmlns:a16="http://schemas.microsoft.com/office/drawing/2014/main" xmlns="" id="{D18ACC8C-E30F-2B43-A012-02A119CFD5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9485" y="3319270"/>
              <a:ext cx="1603849" cy="5909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available but not used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xmlns="" id="{9DAB0D8A-F035-A446-BFCD-CB14C1FE358B}"/>
              </a:ext>
            </a:extLst>
          </p:cNvPr>
          <p:cNvGrpSpPr/>
          <p:nvPr/>
        </p:nvGrpSpPr>
        <p:grpSpPr>
          <a:xfrm>
            <a:off x="7180262" y="1455737"/>
            <a:ext cx="4592627" cy="2538364"/>
            <a:chOff x="7180262" y="1455737"/>
            <a:chExt cx="4592627" cy="2538364"/>
          </a:xfrm>
        </p:grpSpPr>
        <p:sp>
          <p:nvSpPr>
            <p:cNvPr id="103" name="Rectangle 4">
              <a:extLst>
                <a:ext uri="{FF2B5EF4-FFF2-40B4-BE49-F238E27FC236}">
                  <a16:creationId xmlns:a16="http://schemas.microsoft.com/office/drawing/2014/main" xmlns="" id="{3906FFA2-1D5C-7540-9050-9ADF128402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80262" y="1455737"/>
              <a:ext cx="4592627" cy="24479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FAA26D3D-D897-4be2-8F04-BA451C77F1D7}">
                <ma14:placeholderFlag xmlns:ma14="http://schemas.microsoft.com/office/mac/drawingml/2011/main" val="1"/>
              </a:ex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284163" indent="-284163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ＭＳ Ｐゴシック" charset="0"/>
                  <a:cs typeface="ＭＳ Ｐゴシック" charset="0"/>
                </a:defRPr>
              </a:lvl1pPr>
              <a:lvl2pPr marL="687388" indent="-230188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ＭＳ Ｐゴシック" charset="0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ea typeface="ＭＳ Ｐゴシック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Times New Roman" pitchFamily="-109" charset="0"/>
                  <a:ea typeface="ＭＳ Ｐゴシック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  <a:ea typeface="ＭＳ Ｐゴシック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9pPr>
            </a:lstStyle>
            <a:p>
              <a:pPr marL="284163" marR="0" lvl="0" indent="-284163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charset="0"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TCP sending behavior:</a:t>
              </a:r>
            </a:p>
            <a:p>
              <a:pPr marL="284163" marR="0" lvl="0" indent="-284163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charset="2"/>
                <a:buChar char="§"/>
                <a:tabLst/>
                <a:defRPr/>
              </a:pPr>
              <a:r>
                <a:rPr kumimoji="0" lang="en-US" sz="28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roughly:</a:t>
              </a: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 send </a:t>
              </a: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" pitchFamily="2" charset="0"/>
                  <a:ea typeface="ＭＳ Ｐゴシック" charset="0"/>
                  <a:cs typeface="+mn-cs"/>
                </a:rPr>
                <a:t>cwnd</a:t>
              </a: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 bytes, wait RTT for ACKS, then send more bytes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xmlns="" id="{57FB518A-5432-5D44-890D-C8AC56EDFDD2}"/>
                </a:ext>
              </a:extLst>
            </p:cNvPr>
            <p:cNvGrpSpPr/>
            <p:nvPr/>
          </p:nvGrpSpPr>
          <p:grpSpPr>
            <a:xfrm>
              <a:off x="7513131" y="3110983"/>
              <a:ext cx="3751561" cy="883118"/>
              <a:chOff x="6839655" y="3035314"/>
              <a:chExt cx="3751561" cy="883118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xmlns="" id="{C803E68F-787C-134C-96B7-EA9979048F4F}"/>
                  </a:ext>
                </a:extLst>
              </p:cNvPr>
              <p:cNvSpPr/>
              <p:nvPr/>
            </p:nvSpPr>
            <p:spPr>
              <a:xfrm>
                <a:off x="6839655" y="3035314"/>
                <a:ext cx="3751561" cy="88311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xmlns="" id="{C32ED096-06AB-7A4D-A7B5-17961E51AD24}"/>
                  </a:ext>
                </a:extLst>
              </p:cNvPr>
              <p:cNvGrpSpPr/>
              <p:nvPr/>
            </p:nvGrpSpPr>
            <p:grpSpPr>
              <a:xfrm>
                <a:off x="6869571" y="3107218"/>
                <a:ext cx="3634909" cy="811214"/>
                <a:chOff x="6694950" y="3614743"/>
                <a:chExt cx="3634909" cy="811214"/>
              </a:xfrm>
            </p:grpSpPr>
            <p:sp>
              <p:nvSpPr>
                <p:cNvPr id="188" name="Text Box 79">
                  <a:extLst>
                    <a:ext uri="{FF2B5EF4-FFF2-40B4-BE49-F238E27FC236}">
                      <a16:creationId xmlns:a16="http://schemas.microsoft.com/office/drawing/2014/main" xmlns="" id="{15B5BFBD-DF38-5B40-87E5-F81F37DAA73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694950" y="3723809"/>
                  <a:ext cx="1390637" cy="5232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charset="0"/>
                      <a:cs typeface="+mn-cs"/>
                    </a:rPr>
                    <a:t>TCP rate</a:t>
                  </a: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endParaRPr>
                </a:p>
              </p:txBody>
            </p:sp>
            <p:grpSp>
              <p:nvGrpSpPr>
                <p:cNvPr id="189" name="Group 82">
                  <a:extLst>
                    <a:ext uri="{FF2B5EF4-FFF2-40B4-BE49-F238E27FC236}">
                      <a16:creationId xmlns:a16="http://schemas.microsoft.com/office/drawing/2014/main" xmlns="" id="{0CAF5E9A-5B2C-B84F-AC89-1EFE7DC4B6A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748588" y="3776663"/>
                  <a:ext cx="931863" cy="441325"/>
                  <a:chOff x="4214" y="2517"/>
                  <a:chExt cx="587" cy="278"/>
                </a:xfrm>
              </p:grpSpPr>
              <p:sp>
                <p:nvSpPr>
                  <p:cNvPr id="190" name="Text Box 80">
                    <a:extLst>
                      <a:ext uri="{FF2B5EF4-FFF2-40B4-BE49-F238E27FC236}">
                        <a16:creationId xmlns:a16="http://schemas.microsoft.com/office/drawing/2014/main" xmlns="" id="{36C86FAE-252E-5441-8D9C-64BC30C08F2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216" y="2517"/>
                    <a:ext cx="585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1pPr>
                    <a:lvl2pPr marL="742950" indent="-28575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2pPr>
                    <a:lvl3pPr marL="11430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3pPr>
                    <a:lvl4pPr marL="16002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4pPr>
                    <a:lvl5pPr marL="20574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homa" charset="0"/>
                        <a:ea typeface="ＭＳ Ｐゴシック" charset="0"/>
                        <a:cs typeface="+mn-cs"/>
                      </a:rPr>
                      <a:t>~</a:t>
                    </a:r>
                  </a:p>
                </p:txBody>
              </p:sp>
              <p:sp>
                <p:nvSpPr>
                  <p:cNvPr id="191" name="Text Box 81">
                    <a:extLst>
                      <a:ext uri="{FF2B5EF4-FFF2-40B4-BE49-F238E27FC236}">
                        <a16:creationId xmlns:a16="http://schemas.microsoft.com/office/drawing/2014/main" xmlns="" id="{CFDD21D8-7DD6-9E4E-82CD-89F60D95E895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214" y="2564"/>
                    <a:ext cx="585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1pPr>
                    <a:lvl2pPr marL="742950" indent="-28575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2pPr>
                    <a:lvl3pPr marL="11430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3pPr>
                    <a:lvl4pPr marL="16002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4pPr>
                    <a:lvl5pPr marL="20574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homa" charset="0"/>
                        <a:ea typeface="ＭＳ Ｐゴシック" charset="0"/>
                        <a:cs typeface="+mn-cs"/>
                      </a:rPr>
                      <a:t>~</a:t>
                    </a:r>
                  </a:p>
                </p:txBody>
              </p:sp>
            </p:grpSp>
            <p:grpSp>
              <p:nvGrpSpPr>
                <p:cNvPr id="192" name="Group 86">
                  <a:extLst>
                    <a:ext uri="{FF2B5EF4-FFF2-40B4-BE49-F238E27FC236}">
                      <a16:creationId xmlns:a16="http://schemas.microsoft.com/office/drawing/2014/main" xmlns="" id="{A6A8A6BC-4690-FD46-A7A2-F81368063A9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20082" y="3614743"/>
                  <a:ext cx="922336" cy="811214"/>
                  <a:chOff x="4335" y="2509"/>
                  <a:chExt cx="581" cy="511"/>
                </a:xfrm>
              </p:grpSpPr>
              <p:sp>
                <p:nvSpPr>
                  <p:cNvPr id="193" name="Text Box 83">
                    <a:extLst>
                      <a:ext uri="{FF2B5EF4-FFF2-40B4-BE49-F238E27FC236}">
                        <a16:creationId xmlns:a16="http://schemas.microsoft.com/office/drawing/2014/main" xmlns="" id="{2EABE0BC-E93A-7840-BC78-8917BD66E87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35" y="2509"/>
                    <a:ext cx="581" cy="29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1pPr>
                    <a:lvl2pPr marL="742950" indent="-28575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2pPr>
                    <a:lvl3pPr marL="11430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3pPr>
                    <a:lvl4pPr marL="16002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4pPr>
                    <a:lvl5pPr marL="20574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ourier" pitchFamily="2" charset="0"/>
                        <a:ea typeface="ＭＳ Ｐゴシック" charset="0"/>
                        <a:cs typeface="+mn-cs"/>
                      </a:rPr>
                      <a:t>cwnd</a:t>
                    </a:r>
                  </a:p>
                </p:txBody>
              </p:sp>
              <p:sp>
                <p:nvSpPr>
                  <p:cNvPr id="194" name="Text Box 84">
                    <a:extLst>
                      <a:ext uri="{FF2B5EF4-FFF2-40B4-BE49-F238E27FC236}">
                        <a16:creationId xmlns:a16="http://schemas.microsoft.com/office/drawing/2014/main" xmlns="" id="{FC380433-330D-4342-82B3-E71BEB72AF06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98" y="2729"/>
                    <a:ext cx="463" cy="29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1pPr>
                    <a:lvl2pPr marL="742950" indent="-28575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2pPr>
                    <a:lvl3pPr marL="11430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3pPr>
                    <a:lvl4pPr marL="16002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4pPr>
                    <a:lvl5pPr marL="20574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homa" charset="0"/>
                        <a:ea typeface="ＭＳ Ｐゴシック" charset="0"/>
                        <a:cs typeface="+mn-cs"/>
                      </a:rPr>
                      <a:t>RTT</a:t>
                    </a:r>
                  </a:p>
                </p:txBody>
              </p:sp>
              <p:sp>
                <p:nvSpPr>
                  <p:cNvPr id="195" name="Line 85">
                    <a:extLst>
                      <a:ext uri="{FF2B5EF4-FFF2-40B4-BE49-F238E27FC236}">
                        <a16:creationId xmlns:a16="http://schemas.microsoft.com/office/drawing/2014/main" xmlns="" id="{1B9F9DB8-E2FB-AE45-88BA-CC221F1D659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430" y="2763"/>
                    <a:ext cx="384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charset="0"/>
                      <a:ea typeface="ＭＳ Ｐゴシック" charset="0"/>
                      <a:cs typeface="+mn-cs"/>
                    </a:endParaRPr>
                  </a:p>
                </p:txBody>
              </p:sp>
            </p:grpSp>
            <p:sp>
              <p:nvSpPr>
                <p:cNvPr id="196" name="Text Box 87">
                  <a:extLst>
                    <a:ext uri="{FF2B5EF4-FFF2-40B4-BE49-F238E27FC236}">
                      <a16:creationId xmlns:a16="http://schemas.microsoft.com/office/drawing/2014/main" xmlns="" id="{2A51BBA4-2F14-2F4F-A04D-EFFFF36AF41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141713" y="3823464"/>
                  <a:ext cx="1188146" cy="4001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charset="0"/>
                      <a:cs typeface="+mn-cs"/>
                    </a:rPr>
                    <a:t>bytes/sec</a:t>
                  </a:r>
                </a:p>
              </p:txBody>
            </p:sp>
          </p:grp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xmlns="" id="{0B0449D2-8107-EC4E-BA6E-0B53574C5B7E}"/>
              </a:ext>
            </a:extLst>
          </p:cNvPr>
          <p:cNvGrpSpPr/>
          <p:nvPr/>
        </p:nvGrpSpPr>
        <p:grpSpPr>
          <a:xfrm>
            <a:off x="2327097" y="2874002"/>
            <a:ext cx="1660913" cy="1379180"/>
            <a:chOff x="2327097" y="2874002"/>
            <a:chExt cx="1660913" cy="1379180"/>
          </a:xfrm>
        </p:grpSpPr>
        <p:sp>
          <p:nvSpPr>
            <p:cNvPr id="171" name="Text Box 58">
              <a:extLst>
                <a:ext uri="{FF2B5EF4-FFF2-40B4-BE49-F238E27FC236}">
                  <a16:creationId xmlns:a16="http://schemas.microsoft.com/office/drawing/2014/main" xmlns="" id="{245049EB-D632-CE4C-A587-BA819860D4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7097" y="3412952"/>
              <a:ext cx="1660913" cy="840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sent, but not-yet ACKed </a:t>
              </a:r>
            </a:p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(“</a:t>
              </a:r>
              <a:r>
                <a:rPr kumimoji="0" lang="en-US" altLang="ja-JP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in-flight”)</a:t>
              </a: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xmlns="" id="{8036A4AF-C412-6643-BB9E-A6741086FD03}"/>
                </a:ext>
              </a:extLst>
            </p:cNvPr>
            <p:cNvGrpSpPr/>
            <p:nvPr/>
          </p:nvGrpSpPr>
          <p:grpSpPr>
            <a:xfrm>
              <a:off x="2644060" y="2874002"/>
              <a:ext cx="1201888" cy="658131"/>
              <a:chOff x="2644060" y="2874003"/>
              <a:chExt cx="1201888" cy="635450"/>
            </a:xfrm>
          </p:grpSpPr>
          <p:sp>
            <p:nvSpPr>
              <p:cNvPr id="167" name="Line 51">
                <a:extLst>
                  <a:ext uri="{FF2B5EF4-FFF2-40B4-BE49-F238E27FC236}">
                    <a16:creationId xmlns:a16="http://schemas.microsoft.com/office/drawing/2014/main" xmlns="" id="{82259C8B-8E68-3B45-95EF-6297D889F7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44060" y="2874003"/>
                <a:ext cx="1201888" cy="0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xmlns="" id="{9E977076-799D-1F4B-B884-156CBD02FF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50877" y="2898008"/>
                <a:ext cx="0" cy="6114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8" name="Slide Number Placeholder 2">
            <a:extLst>
              <a:ext uri="{FF2B5EF4-FFF2-40B4-BE49-F238E27FC236}">
                <a16:creationId xmlns:a16="http://schemas.microsoft.com/office/drawing/2014/main" xmlns="" id="{F3E09B12-4970-4049-B7E9-4060B63F1FB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665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390" y="25815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TCP congestion control: AIMD</a:t>
            </a:r>
            <a:endParaRPr lang="en-US" sz="4400" b="0" dirty="0"/>
          </a:p>
        </p:txBody>
      </p:sp>
      <p:sp>
        <p:nvSpPr>
          <p:cNvPr id="135" name="Rectangle 8">
            <a:extLst>
              <a:ext uri="{FF2B5EF4-FFF2-40B4-BE49-F238E27FC236}">
                <a16:creationId xmlns:a16="http://schemas.microsoft.com/office/drawing/2014/main" xmlns="" id="{C755821F-F513-514B-9B5B-FF9A16FD83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700" y="1168400"/>
            <a:ext cx="10274300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92100" marR="0" lvl="0" indent="-2921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approach: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senders can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increase sending rate until packet loss (congestion) occurs, then decrease sending rate on loss event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charset="0"/>
              <a:ea typeface="ＭＳ Ｐゴシック" charset="0"/>
              <a:cs typeface="+mn-cs"/>
            </a:endParaRPr>
          </a:p>
        </p:txBody>
      </p:sp>
      <p:sp>
        <p:nvSpPr>
          <p:cNvPr id="141" name="Text Box 13">
            <a:extLst>
              <a:ext uri="{FF2B5EF4-FFF2-40B4-BE49-F238E27FC236}">
                <a16:creationId xmlns:a16="http://schemas.microsoft.com/office/drawing/2014/main" xmlns="" id="{2FD36304-869C-CE42-8550-F12B5FFE23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8708" y="4380805"/>
            <a:ext cx="2769156" cy="150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13A3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AIMD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sawtooth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behavior: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13A3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probing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for bandwidth</a:t>
            </a:r>
          </a:p>
        </p:txBody>
      </p:sp>
      <p:sp>
        <p:nvSpPr>
          <p:cNvPr id="35" name="Rectangle 11">
            <a:extLst>
              <a:ext uri="{FF2B5EF4-FFF2-40B4-BE49-F238E27FC236}">
                <a16:creationId xmlns:a16="http://schemas.microsoft.com/office/drawing/2014/main" xmlns="" id="{F39215FA-39B5-484D-8395-F0F1A1C5D6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7339" y="3774454"/>
            <a:ext cx="6858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36" name="Line 19">
            <a:extLst>
              <a:ext uri="{FF2B5EF4-FFF2-40B4-BE49-F238E27FC236}">
                <a16:creationId xmlns:a16="http://schemas.microsoft.com/office/drawing/2014/main" xmlns="" id="{D3F6ABF2-92A9-2C40-8D08-91E54606260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98189" y="5196854"/>
            <a:ext cx="169863" cy="1698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37" name="Line 20">
            <a:extLst>
              <a:ext uri="{FF2B5EF4-FFF2-40B4-BE49-F238E27FC236}">
                <a16:creationId xmlns:a16="http://schemas.microsoft.com/office/drawing/2014/main" xmlns="" id="{38434DE2-13CB-044F-991F-ED186F200404}"/>
              </a:ext>
            </a:extLst>
          </p:cNvPr>
          <p:cNvSpPr>
            <a:spLocks noChangeShapeType="1"/>
          </p:cNvSpPr>
          <p:nvPr/>
        </p:nvSpPr>
        <p:spPr bwMode="auto">
          <a:xfrm>
            <a:off x="4079164" y="5185741"/>
            <a:ext cx="0" cy="6429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38" name="Line 21">
            <a:extLst>
              <a:ext uri="{FF2B5EF4-FFF2-40B4-BE49-F238E27FC236}">
                <a16:creationId xmlns:a16="http://schemas.microsoft.com/office/drawing/2014/main" xmlns="" id="{1937BB13-75B0-4947-8F7E-C6952635242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68052" y="4869829"/>
            <a:ext cx="982662" cy="9810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39" name="Line 22">
            <a:extLst>
              <a:ext uri="{FF2B5EF4-FFF2-40B4-BE49-F238E27FC236}">
                <a16:creationId xmlns:a16="http://schemas.microsoft.com/office/drawing/2014/main" xmlns="" id="{D3110501-FE57-9545-B9AC-7B103AF98E40}"/>
              </a:ext>
            </a:extLst>
          </p:cNvPr>
          <p:cNvSpPr>
            <a:spLocks noChangeShapeType="1"/>
          </p:cNvSpPr>
          <p:nvPr/>
        </p:nvSpPr>
        <p:spPr bwMode="auto">
          <a:xfrm>
            <a:off x="5039602" y="4871416"/>
            <a:ext cx="0" cy="8016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41" name="Line 23">
            <a:extLst>
              <a:ext uri="{FF2B5EF4-FFF2-40B4-BE49-F238E27FC236}">
                <a16:creationId xmlns:a16="http://schemas.microsoft.com/office/drawing/2014/main" xmlns="" id="{AAAA55BA-D404-204C-AECA-45F566AECF4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31664" y="5168279"/>
            <a:ext cx="525463" cy="5238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43" name="Line 24">
            <a:extLst>
              <a:ext uri="{FF2B5EF4-FFF2-40B4-BE49-F238E27FC236}">
                <a16:creationId xmlns:a16="http://schemas.microsoft.com/office/drawing/2014/main" xmlns="" id="{43AEBE7F-F2BB-5943-A7EA-ACC4591C9E55}"/>
              </a:ext>
            </a:extLst>
          </p:cNvPr>
          <p:cNvSpPr>
            <a:spLocks noChangeShapeType="1"/>
          </p:cNvSpPr>
          <p:nvPr/>
        </p:nvSpPr>
        <p:spPr bwMode="auto">
          <a:xfrm>
            <a:off x="5557127" y="5163516"/>
            <a:ext cx="0" cy="6889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44" name="Line 25">
            <a:extLst>
              <a:ext uri="{FF2B5EF4-FFF2-40B4-BE49-F238E27FC236}">
                <a16:creationId xmlns:a16="http://schemas.microsoft.com/office/drawing/2014/main" xmlns="" id="{6F7F0A4B-818C-8448-8543-A37DAD19EAB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68240" y="4849191"/>
            <a:ext cx="969963" cy="9810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45" name="Line 26">
            <a:extLst>
              <a:ext uri="{FF2B5EF4-FFF2-40B4-BE49-F238E27FC236}">
                <a16:creationId xmlns:a16="http://schemas.microsoft.com/office/drawing/2014/main" xmlns="" id="{19538173-60A5-BC46-A9E4-749776021102}"/>
              </a:ext>
            </a:extLst>
          </p:cNvPr>
          <p:cNvSpPr>
            <a:spLocks noChangeShapeType="1"/>
          </p:cNvSpPr>
          <p:nvPr/>
        </p:nvSpPr>
        <p:spPr bwMode="auto">
          <a:xfrm>
            <a:off x="6533440" y="4849191"/>
            <a:ext cx="11113" cy="8350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46" name="Line 29">
            <a:extLst>
              <a:ext uri="{FF2B5EF4-FFF2-40B4-BE49-F238E27FC236}">
                <a16:creationId xmlns:a16="http://schemas.microsoft.com/office/drawing/2014/main" xmlns="" id="{30FAE305-421D-C042-8E51-7C7D81EEF5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38202" y="5012704"/>
            <a:ext cx="666750" cy="6667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47" name="Line 30">
            <a:extLst>
              <a:ext uri="{FF2B5EF4-FFF2-40B4-BE49-F238E27FC236}">
                <a16:creationId xmlns:a16="http://schemas.microsoft.com/office/drawing/2014/main" xmlns="" id="{031213C2-BAEE-5346-905B-3F89E1716013}"/>
              </a:ext>
            </a:extLst>
          </p:cNvPr>
          <p:cNvSpPr>
            <a:spLocks noChangeShapeType="1"/>
          </p:cNvSpPr>
          <p:nvPr/>
        </p:nvSpPr>
        <p:spPr bwMode="auto">
          <a:xfrm>
            <a:off x="7204952" y="4998416"/>
            <a:ext cx="0" cy="7477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48" name="Line 31">
            <a:extLst>
              <a:ext uri="{FF2B5EF4-FFF2-40B4-BE49-F238E27FC236}">
                <a16:creationId xmlns:a16="http://schemas.microsoft.com/office/drawing/2014/main" xmlns="" id="{AEA390E0-709D-FA45-91DE-52C0460D608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95427" y="4746004"/>
            <a:ext cx="876300" cy="10144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xmlns="" id="{82C492E2-E058-BD40-8FFC-FCED8F0093C0}"/>
              </a:ext>
            </a:extLst>
          </p:cNvPr>
          <p:cNvGrpSpPr/>
          <p:nvPr/>
        </p:nvGrpSpPr>
        <p:grpSpPr>
          <a:xfrm>
            <a:off x="3439503" y="4254500"/>
            <a:ext cx="4602061" cy="2566366"/>
            <a:chOff x="4099903" y="3937000"/>
            <a:chExt cx="4602061" cy="2566366"/>
          </a:xfrm>
        </p:grpSpPr>
        <p:sp>
          <p:nvSpPr>
            <p:cNvPr id="54" name="Text Box 12">
              <a:extLst>
                <a:ext uri="{FF2B5EF4-FFF2-40B4-BE49-F238E27FC236}">
                  <a16:creationId xmlns:a16="http://schemas.microsoft.com/office/drawing/2014/main" xmlns="" id="{18CC901F-184A-1147-B991-15E650618D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3117142" y="4919761"/>
              <a:ext cx="2273300" cy="3077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TCP sender  Sending rate</a:t>
              </a:r>
            </a:p>
          </p:txBody>
        </p:sp>
        <p:sp>
          <p:nvSpPr>
            <p:cNvPr id="55" name="Line 17">
              <a:extLst>
                <a:ext uri="{FF2B5EF4-FFF2-40B4-BE49-F238E27FC236}">
                  <a16:creationId xmlns:a16="http://schemas.microsoft.com/office/drawing/2014/main" xmlns="" id="{EF2F6AD0-B3EF-0B4C-88EA-BCCC113FD5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58589" y="6176341"/>
              <a:ext cx="41433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6" name="Line 18">
              <a:extLst>
                <a:ext uri="{FF2B5EF4-FFF2-40B4-BE49-F238E27FC236}">
                  <a16:creationId xmlns:a16="http://schemas.microsoft.com/office/drawing/2014/main" xmlns="" id="{11B2DFEF-102F-D74F-9B47-304A5DF4E6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46600" y="4203700"/>
              <a:ext cx="877" cy="197422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8" name="Text Box 40">
              <a:extLst>
                <a:ext uri="{FF2B5EF4-FFF2-40B4-BE49-F238E27FC236}">
                  <a16:creationId xmlns:a16="http://schemas.microsoft.com/office/drawing/2014/main" xmlns="" id="{27E5BB5F-DA02-D949-9477-C50B724C71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25452" y="6166816"/>
              <a:ext cx="576262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time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xmlns="" id="{CE38AC8E-A4ED-7042-8221-EEFB417FF7BA}"/>
              </a:ext>
            </a:extLst>
          </p:cNvPr>
          <p:cNvGrpSpPr/>
          <p:nvPr/>
        </p:nvGrpSpPr>
        <p:grpSpPr>
          <a:xfrm>
            <a:off x="965200" y="2146300"/>
            <a:ext cx="5054600" cy="1905000"/>
            <a:chOff x="0" y="4533900"/>
            <a:chExt cx="4762500" cy="1905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xmlns="" id="{EA9A0FF2-0607-BD44-8404-E086F64972BE}"/>
                </a:ext>
              </a:extLst>
            </p:cNvPr>
            <p:cNvSpPr/>
            <p:nvPr/>
          </p:nvSpPr>
          <p:spPr>
            <a:xfrm>
              <a:off x="406846" y="4737100"/>
              <a:ext cx="4334880" cy="14351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0" name="Rectangle 8">
              <a:extLst>
                <a:ext uri="{FF2B5EF4-FFF2-40B4-BE49-F238E27FC236}">
                  <a16:creationId xmlns:a16="http://schemas.microsoft.com/office/drawing/2014/main" xmlns="" id="{83C5ED77-5FA7-AC4C-AB2A-245D62DB4E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991100"/>
              <a:ext cx="4762500" cy="1447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457200" marR="0" lvl="1" indent="0" algn="l" defTabSz="914400" rtl="0" eaLnBrk="1" fontAlgn="auto" latinLnBrk="0" hangingPunct="1">
                <a:lnSpc>
                  <a:spcPct val="85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0099"/>
                </a:buClr>
                <a:buSzTx/>
                <a:buFontTx/>
                <a:buNone/>
                <a:tabLst/>
                <a:defRPr/>
              </a:pPr>
              <a:r>
                <a:rPr kumimoji="0" lang="en-US" sz="2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charset="0"/>
                  <a:cs typeface="+mn-cs"/>
                </a:rPr>
                <a:t>increase sending rate </a:t>
              </a:r>
              <a:r>
                <a:rPr kumimoji="0" lang="en-US" sz="2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 charset="0"/>
                  <a:ea typeface="ＭＳ Ｐゴシック" charset="0"/>
                  <a:cs typeface="+mn-cs"/>
                </a:rPr>
                <a:t>by </a:t>
              </a:r>
              <a:r>
                <a:rPr kumimoji="0" lang="en-US" sz="2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1 maximum segment size every RTT until loss detected</a:t>
              </a:r>
              <a:endPara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136" name="Rectangle 8">
              <a:extLst>
                <a:ext uri="{FF2B5EF4-FFF2-40B4-BE49-F238E27FC236}">
                  <a16:creationId xmlns:a16="http://schemas.microsoft.com/office/drawing/2014/main" xmlns="" id="{91ECB6E6-4418-7243-B13D-E7E4DAE72D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000" y="4533900"/>
              <a:ext cx="2667000" cy="4445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0099"/>
                </a:buClr>
                <a:buSzTx/>
                <a:buFontTx/>
                <a:buNone/>
                <a:tabLst/>
                <a:defRPr/>
              </a:pPr>
              <a:r>
                <a:rPr kumimoji="0" lang="en-US" sz="2800" b="0" i="1" u="sng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A</a:t>
              </a:r>
              <a:r>
                <a:rPr kumimoji="0" lang="en-US" sz="2800" b="0" i="1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dditive </a:t>
              </a:r>
              <a:r>
                <a:rPr kumimoji="0" lang="en-US" sz="2800" b="0" i="1" u="sng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I</a:t>
              </a:r>
              <a:r>
                <a:rPr kumimoji="0" lang="en-US" sz="2800" b="0" i="1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ncrease</a:t>
              </a: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Gill Sans MT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xmlns="" id="{29F4C833-80E3-E14A-98F5-D02EBF4C0AC6}"/>
              </a:ext>
            </a:extLst>
          </p:cNvPr>
          <p:cNvGrpSpPr/>
          <p:nvPr/>
        </p:nvGrpSpPr>
        <p:grpSpPr>
          <a:xfrm>
            <a:off x="6007100" y="2197100"/>
            <a:ext cx="4749800" cy="1422400"/>
            <a:chOff x="38100" y="4533900"/>
            <a:chExt cx="4749800" cy="1422400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xmlns="" id="{7ED9889A-D576-6948-99EB-B6AAAAF94FF1}"/>
                </a:ext>
              </a:extLst>
            </p:cNvPr>
            <p:cNvSpPr/>
            <p:nvPr/>
          </p:nvSpPr>
          <p:spPr>
            <a:xfrm>
              <a:off x="342900" y="4686300"/>
              <a:ext cx="4267200" cy="12700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5" name="Rectangle 8">
              <a:extLst>
                <a:ext uri="{FF2B5EF4-FFF2-40B4-BE49-F238E27FC236}">
                  <a16:creationId xmlns:a16="http://schemas.microsoft.com/office/drawing/2014/main" xmlns="" id="{12492D08-6387-3C44-BE8F-DFB7A535E2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" y="4991100"/>
              <a:ext cx="4749800" cy="8255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457200" marR="0" lvl="1" indent="0" algn="l" defTabSz="914400" rtl="0" eaLnBrk="1" fontAlgn="auto" latinLnBrk="0" hangingPunct="1">
                <a:lnSpc>
                  <a:spcPct val="85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0099"/>
                </a:buClr>
                <a:buSzTx/>
                <a:buFontTx/>
                <a:buNone/>
                <a:tabLst/>
                <a:defRPr/>
              </a:pPr>
              <a:r>
                <a:rPr kumimoji="0" lang="en-US" sz="2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cut sending rate in half at each loss event</a:t>
              </a:r>
              <a:endPara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charset="0"/>
                <a:cs typeface="+mn-cs"/>
              </a:endParaRPr>
            </a:p>
            <a:p>
              <a:pPr marL="342900" marR="0" lvl="0" indent="-342900" algn="l" defTabSz="914400" rtl="0" eaLnBrk="1" fontAlgn="auto" latinLnBrk="0" hangingPunct="1">
                <a:lnSpc>
                  <a:spcPct val="85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0099"/>
                </a:buClr>
                <a:buSzPct val="65000"/>
                <a:buFont typeface="Wingdings" charset="0"/>
                <a:buChar char="v"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charset="0"/>
                <a:ea typeface="ＭＳ Ｐゴシック" charset="0"/>
                <a:cs typeface="+mn-cs"/>
              </a:endParaRPr>
            </a:p>
          </p:txBody>
        </p:sp>
        <p:sp>
          <p:nvSpPr>
            <p:cNvPr id="66" name="Rectangle 8">
              <a:extLst>
                <a:ext uri="{FF2B5EF4-FFF2-40B4-BE49-F238E27FC236}">
                  <a16:creationId xmlns:a16="http://schemas.microsoft.com/office/drawing/2014/main" xmlns="" id="{4FA342B4-82DA-FE44-A283-F18BBA2F6E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000" y="4533900"/>
              <a:ext cx="3746500" cy="4445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0099"/>
                </a:buClr>
                <a:buSzTx/>
                <a:buFontTx/>
                <a:buNone/>
                <a:tabLst/>
                <a:defRPr/>
              </a:pPr>
              <a:r>
                <a:rPr kumimoji="0" lang="en-US" sz="2800" b="0" i="1" u="sng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M</a:t>
              </a:r>
              <a:r>
                <a:rPr kumimoji="0" lang="en-US" sz="28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ultiplicative </a:t>
              </a:r>
              <a:r>
                <a:rPr kumimoji="0" lang="en-US" sz="2800" b="0" i="1" u="sng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D</a:t>
              </a:r>
              <a:r>
                <a:rPr kumimoji="0" lang="en-US" sz="28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ecrease</a:t>
              </a: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ill Sans MT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xmlns="" id="{08B9E571-5EFE-DF45-ABEE-F217088B731C}"/>
              </a:ext>
            </a:extLst>
          </p:cNvPr>
          <p:cNvGrpSpPr/>
          <p:nvPr/>
        </p:nvGrpSpPr>
        <p:grpSpPr>
          <a:xfrm>
            <a:off x="3952943" y="3784600"/>
            <a:ext cx="3599234" cy="1591283"/>
            <a:chOff x="3965643" y="3797300"/>
            <a:chExt cx="3599234" cy="1591283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xmlns="" id="{B98081F5-35B5-A849-A6DC-D92ECEF0752A}"/>
                </a:ext>
              </a:extLst>
            </p:cNvPr>
            <p:cNvGrpSpPr/>
            <p:nvPr/>
          </p:nvGrpSpPr>
          <p:grpSpPr>
            <a:xfrm>
              <a:off x="3965643" y="4159386"/>
              <a:ext cx="3599234" cy="1229197"/>
              <a:chOff x="3965643" y="4159386"/>
              <a:chExt cx="3599234" cy="1229197"/>
            </a:xfrm>
          </p:grpSpPr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xmlns="" id="{01079667-0DAA-D94E-A312-DB3C9977FD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72128" y="4163438"/>
                <a:ext cx="0" cy="1056262"/>
              </a:xfrm>
              <a:prstGeom prst="straightConnector1">
                <a:avLst/>
              </a:prstGeom>
              <a:ln w="127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xmlns="" id="{E4E7717F-1A0D-FF4E-812D-3FD618E538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80128" y="4163438"/>
                <a:ext cx="0" cy="1221362"/>
              </a:xfrm>
              <a:prstGeom prst="straightConnector1">
                <a:avLst/>
              </a:prstGeom>
              <a:ln w="127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xmlns="" id="{4D125F63-AD27-6B45-AE19-4ABD9BFAAB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95630" y="4163438"/>
                <a:ext cx="0" cy="1225145"/>
              </a:xfrm>
              <a:prstGeom prst="straightConnector1">
                <a:avLst/>
              </a:prstGeom>
              <a:ln w="127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xmlns="" id="{072EFC86-C803-E843-B374-808FCECBC3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64941" y="4171542"/>
                <a:ext cx="0" cy="1204339"/>
              </a:xfrm>
              <a:prstGeom prst="straightConnector1">
                <a:avLst/>
              </a:prstGeom>
              <a:ln w="127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>
                <a:extLst>
                  <a:ext uri="{FF2B5EF4-FFF2-40B4-BE49-F238E27FC236}">
                    <a16:creationId xmlns:a16="http://schemas.microsoft.com/office/drawing/2014/main" xmlns="" id="{519D5D13-5D07-4C47-B49B-8AC41BCDCF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94500" y="4165056"/>
                <a:ext cx="0" cy="1193800"/>
              </a:xfrm>
              <a:prstGeom prst="straightConnector1">
                <a:avLst/>
              </a:prstGeom>
              <a:ln w="127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Arrow Connector 74">
                <a:extLst>
                  <a:ext uri="{FF2B5EF4-FFF2-40B4-BE49-F238E27FC236}">
                    <a16:creationId xmlns:a16="http://schemas.microsoft.com/office/drawing/2014/main" xmlns="" id="{449C30FB-E09A-8645-AF59-0F93ED23D5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59743" y="4159386"/>
                <a:ext cx="0" cy="1106520"/>
              </a:xfrm>
              <a:prstGeom prst="straightConnector1">
                <a:avLst/>
              </a:prstGeom>
              <a:ln w="127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xmlns="" id="{9CE80244-8AE8-9244-8BD7-F7A494EF70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5643" y="4162357"/>
                <a:ext cx="3599234" cy="0"/>
              </a:xfrm>
              <a:prstGeom prst="line">
                <a:avLst/>
              </a:prstGeom>
              <a:ln w="127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xmlns="" id="{CA3311EB-6DA1-BE40-8300-E0A7E76CCC9C}"/>
                </a:ext>
              </a:extLst>
            </p:cNvPr>
            <p:cNvCxnSpPr/>
            <p:nvPr/>
          </p:nvCxnSpPr>
          <p:spPr>
            <a:xfrm>
              <a:off x="5651500" y="3797300"/>
              <a:ext cx="0" cy="381000"/>
            </a:xfrm>
            <a:prstGeom prst="straightConnector1">
              <a:avLst/>
            </a:prstGeom>
            <a:ln w="127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xmlns="" id="{46745885-D0C9-5C4A-8189-6C1C08532D61}"/>
              </a:ext>
            </a:extLst>
          </p:cNvPr>
          <p:cNvGrpSpPr/>
          <p:nvPr/>
        </p:nvGrpSpPr>
        <p:grpSpPr>
          <a:xfrm>
            <a:off x="4108450" y="3622675"/>
            <a:ext cx="3819526" cy="1695450"/>
            <a:chOff x="4108450" y="3622675"/>
            <a:chExt cx="3819526" cy="1695450"/>
          </a:xfrm>
        </p:grpSpPr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xmlns="" id="{CE8174FE-3375-6647-833E-1BBA1779B8E0}"/>
                </a:ext>
              </a:extLst>
            </p:cNvPr>
            <p:cNvGrpSpPr/>
            <p:nvPr/>
          </p:nvGrpSpPr>
          <p:grpSpPr>
            <a:xfrm>
              <a:off x="4108450" y="3975100"/>
              <a:ext cx="3819526" cy="1343025"/>
              <a:chOff x="4108450" y="3975100"/>
              <a:chExt cx="3819526" cy="1343025"/>
            </a:xfrm>
          </p:grpSpPr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xmlns="" id="{D9182BCB-9C63-4F4E-9BFE-C6ED53E7206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45350" y="3981450"/>
                <a:ext cx="679450" cy="1254125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Arrow Connector 97">
                <a:extLst>
                  <a:ext uri="{FF2B5EF4-FFF2-40B4-BE49-F238E27FC236}">
                    <a16:creationId xmlns:a16="http://schemas.microsoft.com/office/drawing/2014/main" xmlns="" id="{3A530988-F896-F240-A4FD-4D4D80C11F4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108450" y="3975100"/>
                <a:ext cx="3816350" cy="1339850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Arrow Connector 100">
                <a:extLst>
                  <a:ext uri="{FF2B5EF4-FFF2-40B4-BE49-F238E27FC236}">
                    <a16:creationId xmlns:a16="http://schemas.microsoft.com/office/drawing/2014/main" xmlns="" id="{6D2A9933-F916-0E46-A509-25FD8F00180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70475" y="3978275"/>
                <a:ext cx="2854325" cy="1298575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Arrow Connector 102">
                <a:extLst>
                  <a:ext uri="{FF2B5EF4-FFF2-40B4-BE49-F238E27FC236}">
                    <a16:creationId xmlns:a16="http://schemas.microsoft.com/office/drawing/2014/main" xmlns="" id="{BDE4AE1E-DD47-A648-8E75-B628D3E56B3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607050" y="3984625"/>
                <a:ext cx="2320926" cy="1333500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xmlns="" id="{2C801921-8F99-4345-AADF-C79B5379ABC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565900" y="3984625"/>
                <a:ext cx="1358900" cy="1193800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xmlns="" id="{E7A7E738-8F7C-B641-98A4-26125EAB1AA9}"/>
                </a:ext>
              </a:extLst>
            </p:cNvPr>
            <p:cNvCxnSpPr/>
            <p:nvPr/>
          </p:nvCxnSpPr>
          <p:spPr>
            <a:xfrm flipV="1">
              <a:off x="7921625" y="3622675"/>
              <a:ext cx="0" cy="35877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Slide Number Placeholder 2">
            <a:extLst>
              <a:ext uri="{FF2B5EF4-FFF2-40B4-BE49-F238E27FC236}">
                <a16:creationId xmlns:a16="http://schemas.microsoft.com/office/drawing/2014/main" xmlns="" id="{F67FBF66-1006-C849-9ABA-320AB4C17D7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187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50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0"/>
                            </p:stCondLst>
                            <p:childTnLst>
                              <p:par>
                                <p:cTn id="5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" grpId="0"/>
      <p:bldP spid="36" grpId="0" animBg="1"/>
      <p:bldP spid="37" grpId="0" animBg="1"/>
      <p:bldP spid="38" grpId="0" animBg="1"/>
      <p:bldP spid="39" grpId="0" animBg="1"/>
      <p:bldP spid="41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390" y="25815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b="0" dirty="0"/>
              <a:t>TCP AIMD: more</a:t>
            </a:r>
            <a:endParaRPr lang="en-US" sz="4400" b="0" dirty="0"/>
          </a:p>
        </p:txBody>
      </p:sp>
      <p:sp>
        <p:nvSpPr>
          <p:cNvPr id="135" name="Rectangle 8">
            <a:extLst>
              <a:ext uri="{FF2B5EF4-FFF2-40B4-BE49-F238E27FC236}">
                <a16:creationId xmlns:a16="http://schemas.microsoft.com/office/drawing/2014/main" xmlns="" id="{C755821F-F513-514B-9B5B-FF9A16FD83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700" y="1361440"/>
            <a:ext cx="9847580" cy="1767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Tx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Multiplicative decrease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detail:  sending rate is </a:t>
            </a:r>
          </a:p>
          <a:p>
            <a:pPr marL="406400" marR="0" lvl="0" indent="-3048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Cut in half on loss detected by triple duplicate ACK (TCP Reno)</a:t>
            </a:r>
          </a:p>
          <a:p>
            <a:pPr marL="406400" marR="0" lvl="0" indent="-3048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Cut to 1 MSS (maximum segment size) when loss detected by timeout (TCP Tahoe)</a:t>
            </a:r>
          </a:p>
          <a:p>
            <a:pPr marL="406400" marR="0" lvl="0" indent="-3048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  <a:p>
            <a:pPr marL="292100" marR="0" lvl="0" indent="-2921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charset="0"/>
              <a:ea typeface="ＭＳ Ｐゴシック" charset="0"/>
              <a:cs typeface="+mn-cs"/>
            </a:endParaRPr>
          </a:p>
        </p:txBody>
      </p:sp>
      <p:sp>
        <p:nvSpPr>
          <p:cNvPr id="49" name="Rectangle 8">
            <a:extLst>
              <a:ext uri="{FF2B5EF4-FFF2-40B4-BE49-F238E27FC236}">
                <a16:creationId xmlns:a16="http://schemas.microsoft.com/office/drawing/2014/main" xmlns="" id="{FEB15F8D-408A-A649-8405-2EA6EA7384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060" y="3362960"/>
            <a:ext cx="9847580" cy="1767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Why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</a:t>
            </a:r>
            <a:r>
              <a:rPr kumimoji="0" lang="en-US" sz="2800" b="0" i="0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I</a:t>
            </a:r>
            <a:r>
              <a:rPr kumimoji="0" lang="en-US" sz="2800" b="0" i="0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?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</a:t>
            </a:r>
          </a:p>
          <a:p>
            <a:pPr marL="406400" marR="0" lvl="0" indent="-3048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AIMD – a distributed, asynchronous algorithm – has been shown to:</a:t>
            </a:r>
          </a:p>
          <a:p>
            <a:pPr marL="690563" marR="0" lvl="1" indent="-284163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optimize congested flow rates network wide [Kelly]!</a:t>
            </a:r>
          </a:p>
          <a:p>
            <a:pPr marL="690563" marR="0" lvl="1" indent="-284163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have desirable stability properties</a:t>
            </a:r>
          </a:p>
          <a:p>
            <a:pPr marL="101600" marR="0" lvl="0" indent="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  <a:p>
            <a:pPr marL="292100" marR="0" lvl="0" indent="-2921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charset="0"/>
              <a:ea typeface="ＭＳ Ｐゴシック" charset="0"/>
              <a:cs typeface="+mn-cs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xmlns="" id="{1DCE9A74-28EC-4B49-833C-3052DE20980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0900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390" y="259719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TCP slow start </a:t>
            </a:r>
            <a:endParaRPr lang="en-US" sz="4400" b="0" dirty="0"/>
          </a:p>
        </p:txBody>
      </p:sp>
      <p:sp>
        <p:nvSpPr>
          <p:cNvPr id="88" name="Rectangle 3">
            <a:extLst>
              <a:ext uri="{FF2B5EF4-FFF2-40B4-BE49-F238E27FC236}">
                <a16:creationId xmlns:a16="http://schemas.microsoft.com/office/drawing/2014/main" xmlns="" id="{8A57114D-913B-0446-AF23-3E8C1F4B81CA}"/>
              </a:ext>
            </a:extLst>
          </p:cNvPr>
          <p:cNvSpPr txBox="1">
            <a:spLocks noChangeArrowheads="1"/>
          </p:cNvSpPr>
          <p:nvPr/>
        </p:nvSpPr>
        <p:spPr>
          <a:xfrm>
            <a:off x="1143000" y="1384299"/>
            <a:ext cx="5118100" cy="52142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93700" marR="0" lvl="0" indent="-26352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when connection begins, increase rate exponentially until first loss event: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initially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charset="0"/>
                <a:ea typeface="+mn-ea"/>
                <a:cs typeface="+mn-cs"/>
              </a:rPr>
              <a:t>cwnd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1 MSS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double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charset="0"/>
                <a:ea typeface="+mn-ea"/>
                <a:cs typeface="+mn-cs"/>
              </a:rPr>
              <a:t>cwnd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every RTT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done by incrementing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charset="0"/>
                <a:ea typeface="+mn-ea"/>
                <a:cs typeface="+mn-cs"/>
              </a:rPr>
              <a:t>cwnd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for every ACK received</a:t>
            </a:r>
          </a:p>
        </p:txBody>
      </p:sp>
      <p:sp>
        <p:nvSpPr>
          <p:cNvPr id="224" name="Line 6">
            <a:extLst>
              <a:ext uri="{FF2B5EF4-FFF2-40B4-BE49-F238E27FC236}">
                <a16:creationId xmlns:a16="http://schemas.microsoft.com/office/drawing/2014/main" xmlns="" id="{6A528287-EE91-2148-8BF9-9042AB1CFB64}"/>
              </a:ext>
            </a:extLst>
          </p:cNvPr>
          <p:cNvSpPr>
            <a:spLocks noChangeShapeType="1"/>
          </p:cNvSpPr>
          <p:nvPr/>
        </p:nvSpPr>
        <p:spPr bwMode="auto">
          <a:xfrm>
            <a:off x="7585075" y="2306590"/>
            <a:ext cx="2505075" cy="3524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25" name="Text Box 8">
            <a:extLst>
              <a:ext uri="{FF2B5EF4-FFF2-40B4-BE49-F238E27FC236}">
                <a16:creationId xmlns:a16="http://schemas.microsoft.com/office/drawing/2014/main" xmlns="" id="{BF8683E2-9BD1-4641-8269-1F97FE166C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81850" y="1168352"/>
            <a:ext cx="869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Host A</a:t>
            </a:r>
          </a:p>
        </p:txBody>
      </p:sp>
      <p:sp>
        <p:nvSpPr>
          <p:cNvPr id="226" name="Text Box 9">
            <a:extLst>
              <a:ext uri="{FF2B5EF4-FFF2-40B4-BE49-F238E27FC236}">
                <a16:creationId xmlns:a16="http://schemas.microsoft.com/office/drawing/2014/main" xmlns="" id="{C49CE5EE-9C21-9E4F-B95D-B87D2E6CA9D2}"/>
              </a:ext>
            </a:extLst>
          </p:cNvPr>
          <p:cNvSpPr txBox="1">
            <a:spLocks noChangeArrowheads="1"/>
          </p:cNvSpPr>
          <p:nvPr/>
        </p:nvSpPr>
        <p:spPr bwMode="auto">
          <a:xfrm rot="408567">
            <a:off x="8591550" y="2273252"/>
            <a:ext cx="12080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one segment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ＭＳ Ｐゴシック" charset="0"/>
              <a:cs typeface="+mn-cs"/>
            </a:endParaRPr>
          </a:p>
        </p:txBody>
      </p:sp>
      <p:sp>
        <p:nvSpPr>
          <p:cNvPr id="228" name="Text Box 12">
            <a:extLst>
              <a:ext uri="{FF2B5EF4-FFF2-40B4-BE49-F238E27FC236}">
                <a16:creationId xmlns:a16="http://schemas.microsoft.com/office/drawing/2014/main" xmlns="" id="{51858FD0-9B85-8441-9B12-8875189F66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18663" y="1154065"/>
            <a:ext cx="869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Host B</a:t>
            </a:r>
          </a:p>
        </p:txBody>
      </p:sp>
      <p:sp>
        <p:nvSpPr>
          <p:cNvPr id="229" name="Line 13">
            <a:extLst>
              <a:ext uri="{FF2B5EF4-FFF2-40B4-BE49-F238E27FC236}">
                <a16:creationId xmlns:a16="http://schemas.microsoft.com/office/drawing/2014/main" xmlns="" id="{A18AC8EC-DBD1-E34E-B3EA-D3876A530333}"/>
              </a:ext>
            </a:extLst>
          </p:cNvPr>
          <p:cNvSpPr>
            <a:spLocks noChangeShapeType="1"/>
          </p:cNvSpPr>
          <p:nvPr/>
        </p:nvSpPr>
        <p:spPr bwMode="auto">
          <a:xfrm>
            <a:off x="7580313" y="2120852"/>
            <a:ext cx="0" cy="3848100"/>
          </a:xfrm>
          <a:prstGeom prst="line">
            <a:avLst/>
          </a:prstGeom>
          <a:noFill/>
          <a:ln w="19050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30" name="Line 14">
            <a:extLst>
              <a:ext uri="{FF2B5EF4-FFF2-40B4-BE49-F238E27FC236}">
                <a16:creationId xmlns:a16="http://schemas.microsoft.com/office/drawing/2014/main" xmlns="" id="{77B3310E-1B60-414E-9423-328982307B1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94913" y="2158952"/>
            <a:ext cx="0" cy="3848100"/>
          </a:xfrm>
          <a:prstGeom prst="line">
            <a:avLst/>
          </a:prstGeom>
          <a:noFill/>
          <a:ln w="19050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E69B56F2-B7D2-5247-8C5B-11CDFE50D6C7}"/>
              </a:ext>
            </a:extLst>
          </p:cNvPr>
          <p:cNvGrpSpPr/>
          <p:nvPr/>
        </p:nvGrpSpPr>
        <p:grpSpPr>
          <a:xfrm>
            <a:off x="7254875" y="2270077"/>
            <a:ext cx="304800" cy="830263"/>
            <a:chOff x="7254875" y="2270077"/>
            <a:chExt cx="304800" cy="830263"/>
          </a:xfrm>
        </p:grpSpPr>
        <p:sp>
          <p:nvSpPr>
            <p:cNvPr id="227" name="Text Box 10">
              <a:extLst>
                <a:ext uri="{FF2B5EF4-FFF2-40B4-BE49-F238E27FC236}">
                  <a16:creationId xmlns:a16="http://schemas.microsoft.com/office/drawing/2014/main" xmlns="" id="{A25707E3-FE96-074A-AE26-F8222C4C39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7142956" y="2510584"/>
              <a:ext cx="528637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RTT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31" name="Line 15">
              <a:extLst>
                <a:ext uri="{FF2B5EF4-FFF2-40B4-BE49-F238E27FC236}">
                  <a16:creationId xmlns:a16="http://schemas.microsoft.com/office/drawing/2014/main" xmlns="" id="{1BE79FAE-9CDC-7B45-A6C0-E89FC9FC23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399338" y="2270077"/>
              <a:ext cx="4762" cy="2190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32" name="Line 16">
              <a:extLst>
                <a:ext uri="{FF2B5EF4-FFF2-40B4-BE49-F238E27FC236}">
                  <a16:creationId xmlns:a16="http://schemas.microsoft.com/office/drawing/2014/main" xmlns="" id="{59A77926-4B5A-AC4A-B560-0B735D6BC7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08863" y="2876502"/>
              <a:ext cx="4762" cy="22383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233" name="Line 17">
            <a:extLst>
              <a:ext uri="{FF2B5EF4-FFF2-40B4-BE49-F238E27FC236}">
                <a16:creationId xmlns:a16="http://schemas.microsoft.com/office/drawing/2014/main" xmlns="" id="{6F1B852B-55C3-8747-96CA-AA2F2AB5E52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61263" y="2711402"/>
            <a:ext cx="2505075" cy="3524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234" name="Group 18">
            <a:extLst>
              <a:ext uri="{FF2B5EF4-FFF2-40B4-BE49-F238E27FC236}">
                <a16:creationId xmlns:a16="http://schemas.microsoft.com/office/drawing/2014/main" xmlns="" id="{065B59AF-8C8D-9041-B965-0C2B0A5F8CEF}"/>
              </a:ext>
            </a:extLst>
          </p:cNvPr>
          <p:cNvGrpSpPr>
            <a:grpSpLocks/>
          </p:cNvGrpSpPr>
          <p:nvPr/>
        </p:nvGrpSpPr>
        <p:grpSpPr bwMode="auto">
          <a:xfrm>
            <a:off x="9809163" y="5453015"/>
            <a:ext cx="615950" cy="366712"/>
            <a:chOff x="3317" y="3527"/>
            <a:chExt cx="388" cy="231"/>
          </a:xfrm>
        </p:grpSpPr>
        <p:sp>
          <p:nvSpPr>
            <p:cNvPr id="235" name="Rectangle 19">
              <a:extLst>
                <a:ext uri="{FF2B5EF4-FFF2-40B4-BE49-F238E27FC236}">
                  <a16:creationId xmlns:a16="http://schemas.microsoft.com/office/drawing/2014/main" xmlns="" id="{87C76A64-BE9B-B84D-B23B-73554D8DC2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2" y="3576"/>
              <a:ext cx="324" cy="15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36" name="Text Box 20">
              <a:extLst>
                <a:ext uri="{FF2B5EF4-FFF2-40B4-BE49-F238E27FC236}">
                  <a16:creationId xmlns:a16="http://schemas.microsoft.com/office/drawing/2014/main" xmlns="" id="{0453126D-C0BC-5F4F-8DBD-30CD1FA8A1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7" y="3527"/>
              <a:ext cx="3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time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4100408E-3418-754E-97D5-873085045522}"/>
              </a:ext>
            </a:extLst>
          </p:cNvPr>
          <p:cNvGrpSpPr/>
          <p:nvPr/>
        </p:nvGrpSpPr>
        <p:grpSpPr>
          <a:xfrm>
            <a:off x="7585075" y="3087640"/>
            <a:ext cx="2509838" cy="438150"/>
            <a:chOff x="7585075" y="3087640"/>
            <a:chExt cx="2509838" cy="438150"/>
          </a:xfrm>
        </p:grpSpPr>
        <p:sp>
          <p:nvSpPr>
            <p:cNvPr id="237" name="Line 21">
              <a:extLst>
                <a:ext uri="{FF2B5EF4-FFF2-40B4-BE49-F238E27FC236}">
                  <a16:creationId xmlns:a16="http://schemas.microsoft.com/office/drawing/2014/main" xmlns="" id="{9884C69B-71B1-0942-8DD7-4BADAC4C58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89838" y="3087640"/>
              <a:ext cx="2505075" cy="352425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38" name="Line 22">
              <a:extLst>
                <a:ext uri="{FF2B5EF4-FFF2-40B4-BE49-F238E27FC236}">
                  <a16:creationId xmlns:a16="http://schemas.microsoft.com/office/drawing/2014/main" xmlns="" id="{51BC13AD-02C4-1049-8BE5-DF4431F841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85075" y="3173365"/>
              <a:ext cx="2505075" cy="352425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C604703D-5DBE-F940-8D53-F844A095856D}"/>
              </a:ext>
            </a:extLst>
          </p:cNvPr>
          <p:cNvGrpSpPr/>
          <p:nvPr/>
        </p:nvGrpSpPr>
        <p:grpSpPr>
          <a:xfrm>
            <a:off x="7558088" y="3697240"/>
            <a:ext cx="2555875" cy="612775"/>
            <a:chOff x="7558088" y="3697240"/>
            <a:chExt cx="2555875" cy="612775"/>
          </a:xfrm>
        </p:grpSpPr>
        <p:sp>
          <p:nvSpPr>
            <p:cNvPr id="239" name="Line 23">
              <a:extLst>
                <a:ext uri="{FF2B5EF4-FFF2-40B4-BE49-F238E27FC236}">
                  <a16:creationId xmlns:a16="http://schemas.microsoft.com/office/drawing/2014/main" xmlns="" id="{4B52376E-4BCD-9A4A-845B-15A59AA4FC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85075" y="3697240"/>
              <a:ext cx="2528888" cy="361950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0" name="Line 24">
              <a:extLst>
                <a:ext uri="{FF2B5EF4-FFF2-40B4-BE49-F238E27FC236}">
                  <a16:creationId xmlns:a16="http://schemas.microsoft.com/office/drawing/2014/main" xmlns="" id="{645C0ACA-0EDA-5E4A-9046-377D9678C0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58088" y="3957590"/>
              <a:ext cx="2505075" cy="352425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241" name="Text Box 25">
            <a:extLst>
              <a:ext uri="{FF2B5EF4-FFF2-40B4-BE49-F238E27FC236}">
                <a16:creationId xmlns:a16="http://schemas.microsoft.com/office/drawing/2014/main" xmlns="" id="{01076F6F-B790-D24D-9445-FAC03A5C45E4}"/>
              </a:ext>
            </a:extLst>
          </p:cNvPr>
          <p:cNvSpPr txBox="1">
            <a:spLocks noChangeArrowheads="1"/>
          </p:cNvSpPr>
          <p:nvPr/>
        </p:nvSpPr>
        <p:spPr bwMode="auto">
          <a:xfrm rot="408567">
            <a:off x="8589963" y="3059065"/>
            <a:ext cx="127793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two segments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ＭＳ Ｐゴシック" charset="0"/>
              <a:cs typeface="+mn-cs"/>
            </a:endParaRPr>
          </a:p>
        </p:txBody>
      </p:sp>
      <p:sp>
        <p:nvSpPr>
          <p:cNvPr id="242" name="Text Box 26">
            <a:extLst>
              <a:ext uri="{FF2B5EF4-FFF2-40B4-BE49-F238E27FC236}">
                <a16:creationId xmlns:a16="http://schemas.microsoft.com/office/drawing/2014/main" xmlns="" id="{1B8C0342-7E57-2343-86AD-47B5AB1AA675}"/>
              </a:ext>
            </a:extLst>
          </p:cNvPr>
          <p:cNvSpPr txBox="1">
            <a:spLocks noChangeArrowheads="1"/>
          </p:cNvSpPr>
          <p:nvPr/>
        </p:nvSpPr>
        <p:spPr bwMode="auto">
          <a:xfrm rot="408567">
            <a:off x="8682038" y="4073477"/>
            <a:ext cx="13065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four segments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ＭＳ Ｐゴシック" charset="0"/>
              <a:cs typeface="+mn-cs"/>
            </a:endParaRPr>
          </a:p>
        </p:txBody>
      </p:sp>
      <p:grpSp>
        <p:nvGrpSpPr>
          <p:cNvPr id="243" name="Group 27">
            <a:extLst>
              <a:ext uri="{FF2B5EF4-FFF2-40B4-BE49-F238E27FC236}">
                <a16:creationId xmlns:a16="http://schemas.microsoft.com/office/drawing/2014/main" xmlns="" id="{B634F089-4244-B04A-8749-7ACF0E0264A8}"/>
              </a:ext>
            </a:extLst>
          </p:cNvPr>
          <p:cNvGrpSpPr>
            <a:grpSpLocks/>
          </p:cNvGrpSpPr>
          <p:nvPr/>
        </p:nvGrpSpPr>
        <p:grpSpPr bwMode="auto">
          <a:xfrm>
            <a:off x="7580316" y="4092527"/>
            <a:ext cx="2519363" cy="652463"/>
            <a:chOff x="3954" y="2214"/>
            <a:chExt cx="1587" cy="411"/>
          </a:xfrm>
        </p:grpSpPr>
        <p:sp>
          <p:nvSpPr>
            <p:cNvPr id="244" name="Line 28">
              <a:extLst>
                <a:ext uri="{FF2B5EF4-FFF2-40B4-BE49-F238E27FC236}">
                  <a16:creationId xmlns:a16="http://schemas.microsoft.com/office/drawing/2014/main" xmlns="" id="{6F92F39D-0B5B-8944-8B48-2B288C8AA1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3" y="2214"/>
              <a:ext cx="1578" cy="222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5" name="Line 29">
              <a:extLst>
                <a:ext uri="{FF2B5EF4-FFF2-40B4-BE49-F238E27FC236}">
                  <a16:creationId xmlns:a16="http://schemas.microsoft.com/office/drawing/2014/main" xmlns="" id="{C48577E5-7DD4-034F-9CF0-3D303E956A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4" y="2274"/>
              <a:ext cx="1578" cy="222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6" name="Line 30">
              <a:extLst>
                <a:ext uri="{FF2B5EF4-FFF2-40B4-BE49-F238E27FC236}">
                  <a16:creationId xmlns:a16="http://schemas.microsoft.com/office/drawing/2014/main" xmlns="" id="{B96B9B7F-8E30-7743-AEDD-727B51D6B2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3" y="2340"/>
              <a:ext cx="1578" cy="222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7" name="Line 31">
              <a:extLst>
                <a:ext uri="{FF2B5EF4-FFF2-40B4-BE49-F238E27FC236}">
                  <a16:creationId xmlns:a16="http://schemas.microsoft.com/office/drawing/2014/main" xmlns="" id="{B83505EC-39A5-D64D-8E5C-39A07A090F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7" y="2403"/>
              <a:ext cx="1578" cy="222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248" name="Group 32">
            <a:extLst>
              <a:ext uri="{FF2B5EF4-FFF2-40B4-BE49-F238E27FC236}">
                <a16:creationId xmlns:a16="http://schemas.microsoft.com/office/drawing/2014/main" xmlns="" id="{00C5C000-11E9-BE42-9849-B1B7B9E99FE0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7866063" y="4473527"/>
            <a:ext cx="2228850" cy="604838"/>
            <a:chOff x="3954" y="2214"/>
            <a:chExt cx="1587" cy="411"/>
          </a:xfrm>
        </p:grpSpPr>
        <p:sp>
          <p:nvSpPr>
            <p:cNvPr id="249" name="Line 33">
              <a:extLst>
                <a:ext uri="{FF2B5EF4-FFF2-40B4-BE49-F238E27FC236}">
                  <a16:creationId xmlns:a16="http://schemas.microsoft.com/office/drawing/2014/main" xmlns="" id="{4332886D-58A3-5C48-9DD4-0435A9D316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3" y="2214"/>
              <a:ext cx="1578" cy="222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50" name="Line 34">
              <a:extLst>
                <a:ext uri="{FF2B5EF4-FFF2-40B4-BE49-F238E27FC236}">
                  <a16:creationId xmlns:a16="http://schemas.microsoft.com/office/drawing/2014/main" xmlns="" id="{C0026D13-F3ED-354E-AB62-DED685C67E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4" y="2274"/>
              <a:ext cx="1578" cy="220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51" name="Line 35">
              <a:extLst>
                <a:ext uri="{FF2B5EF4-FFF2-40B4-BE49-F238E27FC236}">
                  <a16:creationId xmlns:a16="http://schemas.microsoft.com/office/drawing/2014/main" xmlns="" id="{36EDBC83-2FCD-4D49-9A45-B0773BAEE3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3" y="2340"/>
              <a:ext cx="1578" cy="222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52" name="Line 36">
              <a:extLst>
                <a:ext uri="{FF2B5EF4-FFF2-40B4-BE49-F238E27FC236}">
                  <a16:creationId xmlns:a16="http://schemas.microsoft.com/office/drawing/2014/main" xmlns="" id="{8BA1B8D7-7D1E-2947-8988-7C4595578C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7" y="2403"/>
              <a:ext cx="1578" cy="222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253" name="Group 43">
            <a:extLst>
              <a:ext uri="{FF2B5EF4-FFF2-40B4-BE49-F238E27FC236}">
                <a16:creationId xmlns:a16="http://schemas.microsoft.com/office/drawing/2014/main" xmlns="" id="{D0982D30-E871-F344-B80E-157861960777}"/>
              </a:ext>
            </a:extLst>
          </p:cNvPr>
          <p:cNvGrpSpPr>
            <a:grpSpLocks/>
          </p:cNvGrpSpPr>
          <p:nvPr/>
        </p:nvGrpSpPr>
        <p:grpSpPr bwMode="auto">
          <a:xfrm>
            <a:off x="7142163" y="1492202"/>
            <a:ext cx="654050" cy="601663"/>
            <a:chOff x="-44" y="1473"/>
            <a:chExt cx="981" cy="1105"/>
          </a:xfrm>
        </p:grpSpPr>
        <p:pic>
          <p:nvPicPr>
            <p:cNvPr id="254" name="Picture 44" descr="desktop_computer_stylized_medium">
              <a:extLst>
                <a:ext uri="{FF2B5EF4-FFF2-40B4-BE49-F238E27FC236}">
                  <a16:creationId xmlns:a16="http://schemas.microsoft.com/office/drawing/2014/main" xmlns="" id="{0C5F9445-24EE-C948-8E49-3FEF71FC59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5" name="Freeform 45">
              <a:extLst>
                <a:ext uri="{FF2B5EF4-FFF2-40B4-BE49-F238E27FC236}">
                  <a16:creationId xmlns:a16="http://schemas.microsoft.com/office/drawing/2014/main" xmlns="" id="{568D3F7F-13C8-1742-BB47-FC4C8107BA4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56" name="Group 46">
            <a:extLst>
              <a:ext uri="{FF2B5EF4-FFF2-40B4-BE49-F238E27FC236}">
                <a16:creationId xmlns:a16="http://schemas.microsoft.com/office/drawing/2014/main" xmlns="" id="{514EF769-BED4-DE47-BE55-0913ABFB155D}"/>
              </a:ext>
            </a:extLst>
          </p:cNvPr>
          <p:cNvGrpSpPr>
            <a:grpSpLocks/>
          </p:cNvGrpSpPr>
          <p:nvPr/>
        </p:nvGrpSpPr>
        <p:grpSpPr bwMode="auto">
          <a:xfrm>
            <a:off x="9877425" y="1506490"/>
            <a:ext cx="337727" cy="547687"/>
            <a:chOff x="4140" y="429"/>
            <a:chExt cx="1425" cy="2396"/>
          </a:xfrm>
        </p:grpSpPr>
        <p:sp>
          <p:nvSpPr>
            <p:cNvPr id="257" name="Freeform 47">
              <a:extLst>
                <a:ext uri="{FF2B5EF4-FFF2-40B4-BE49-F238E27FC236}">
                  <a16:creationId xmlns:a16="http://schemas.microsoft.com/office/drawing/2014/main" xmlns="" id="{9A7FEAB4-C4F3-E042-96AB-2FC0D99EA40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8" name="Rectangle 48">
              <a:extLst>
                <a:ext uri="{FF2B5EF4-FFF2-40B4-BE49-F238E27FC236}">
                  <a16:creationId xmlns:a16="http://schemas.microsoft.com/office/drawing/2014/main" xmlns="" id="{0E59C13E-BE84-BA48-8D46-C29C027038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" y="429"/>
              <a:ext cx="1047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59" name="Freeform 49">
              <a:extLst>
                <a:ext uri="{FF2B5EF4-FFF2-40B4-BE49-F238E27FC236}">
                  <a16:creationId xmlns:a16="http://schemas.microsoft.com/office/drawing/2014/main" xmlns="" id="{CF502E49-4DFE-2340-8749-43933F8387F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0" name="Freeform 50">
              <a:extLst>
                <a:ext uri="{FF2B5EF4-FFF2-40B4-BE49-F238E27FC236}">
                  <a16:creationId xmlns:a16="http://schemas.microsoft.com/office/drawing/2014/main" xmlns="" id="{C8ED811D-DAEF-B141-A80E-204FE9D1919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1" name="Rectangle 51">
              <a:extLst>
                <a:ext uri="{FF2B5EF4-FFF2-40B4-BE49-F238E27FC236}">
                  <a16:creationId xmlns:a16="http://schemas.microsoft.com/office/drawing/2014/main" xmlns="" id="{E540E7B8-30E6-B846-823A-6925D96003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93"/>
              <a:ext cx="597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62" name="Group 52">
              <a:extLst>
                <a:ext uri="{FF2B5EF4-FFF2-40B4-BE49-F238E27FC236}">
                  <a16:creationId xmlns:a16="http://schemas.microsoft.com/office/drawing/2014/main" xmlns="" id="{DE3F2659-D2D6-6C4C-9DF4-EEDFBE720D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87" name="AutoShape 53">
                <a:extLst>
                  <a:ext uri="{FF2B5EF4-FFF2-40B4-BE49-F238E27FC236}">
                    <a16:creationId xmlns:a16="http://schemas.microsoft.com/office/drawing/2014/main" xmlns="" id="{0ABA0FE6-EF08-7D42-838B-AEB8F18739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5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88" name="AutoShape 54">
                <a:extLst>
                  <a:ext uri="{FF2B5EF4-FFF2-40B4-BE49-F238E27FC236}">
                    <a16:creationId xmlns:a16="http://schemas.microsoft.com/office/drawing/2014/main" xmlns="" id="{AD5B052B-FFFB-424E-B4B9-AC7809F4BB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79"/>
                <a:ext cx="694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63" name="Rectangle 55">
              <a:extLst>
                <a:ext uri="{FF2B5EF4-FFF2-40B4-BE49-F238E27FC236}">
                  <a16:creationId xmlns:a16="http://schemas.microsoft.com/office/drawing/2014/main" xmlns="" id="{E9301038-767E-E14B-8FDB-B55EE9CA10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3" y="1019"/>
              <a:ext cx="597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64" name="Group 56">
              <a:extLst>
                <a:ext uri="{FF2B5EF4-FFF2-40B4-BE49-F238E27FC236}">
                  <a16:creationId xmlns:a16="http://schemas.microsoft.com/office/drawing/2014/main" xmlns="" id="{2654E7B8-586D-8C4D-A5CD-CC6977E955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85" name="AutoShape 57">
                <a:extLst>
                  <a:ext uri="{FF2B5EF4-FFF2-40B4-BE49-F238E27FC236}">
                    <a16:creationId xmlns:a16="http://schemas.microsoft.com/office/drawing/2014/main" xmlns="" id="{4E195FC5-FC94-1542-9BBD-0BDFF1D5CB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5"/>
                <a:ext cx="723" cy="14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86" name="AutoShape 58">
                <a:extLst>
                  <a:ext uri="{FF2B5EF4-FFF2-40B4-BE49-F238E27FC236}">
                    <a16:creationId xmlns:a16="http://schemas.microsoft.com/office/drawing/2014/main" xmlns="" id="{7E2D9C3B-E255-964C-9508-E66C9FF597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0"/>
                <a:ext cx="694" cy="11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65" name="Rectangle 59">
              <a:extLst>
                <a:ext uri="{FF2B5EF4-FFF2-40B4-BE49-F238E27FC236}">
                  <a16:creationId xmlns:a16="http://schemas.microsoft.com/office/drawing/2014/main" xmlns="" id="{0D35C755-AFBC-C143-94D5-E34C8F2556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7" y="1360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66" name="Rectangle 60">
              <a:extLst>
                <a:ext uri="{FF2B5EF4-FFF2-40B4-BE49-F238E27FC236}">
                  <a16:creationId xmlns:a16="http://schemas.microsoft.com/office/drawing/2014/main" xmlns="" id="{8990E763-A8F8-E645-8A01-F6B16D8531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8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67" name="Group 61">
              <a:extLst>
                <a:ext uri="{FF2B5EF4-FFF2-40B4-BE49-F238E27FC236}">
                  <a16:creationId xmlns:a16="http://schemas.microsoft.com/office/drawing/2014/main" xmlns="" id="{6F65B17F-5946-9A47-9972-2B907C0598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83" name="AutoShape 62">
                <a:extLst>
                  <a:ext uri="{FF2B5EF4-FFF2-40B4-BE49-F238E27FC236}">
                    <a16:creationId xmlns:a16="http://schemas.microsoft.com/office/drawing/2014/main" xmlns="" id="{F08D8399-0C1A-1847-A17B-5B4FDBE7FA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71"/>
                <a:ext cx="722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84" name="AutoShape 63">
                <a:extLst>
                  <a:ext uri="{FF2B5EF4-FFF2-40B4-BE49-F238E27FC236}">
                    <a16:creationId xmlns:a16="http://schemas.microsoft.com/office/drawing/2014/main" xmlns="" id="{99FEA9D9-F58C-C34F-AA76-A96DFE0CE7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4"/>
                <a:ext cx="692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68" name="Freeform 64">
              <a:extLst>
                <a:ext uri="{FF2B5EF4-FFF2-40B4-BE49-F238E27FC236}">
                  <a16:creationId xmlns:a16="http://schemas.microsoft.com/office/drawing/2014/main" xmlns="" id="{76F83DEB-6CB2-5740-875B-1B89844BE26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69" name="Group 65">
              <a:extLst>
                <a:ext uri="{FF2B5EF4-FFF2-40B4-BE49-F238E27FC236}">
                  <a16:creationId xmlns:a16="http://schemas.microsoft.com/office/drawing/2014/main" xmlns="" id="{7398C74D-4650-204D-91E2-CBB3BD6419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81" name="AutoShape 66">
                <a:extLst>
                  <a:ext uri="{FF2B5EF4-FFF2-40B4-BE49-F238E27FC236}">
                    <a16:creationId xmlns:a16="http://schemas.microsoft.com/office/drawing/2014/main" xmlns="" id="{039023CA-977C-5946-9E46-D41AFAF2B1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9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82" name="AutoShape 67">
                <a:extLst>
                  <a:ext uri="{FF2B5EF4-FFF2-40B4-BE49-F238E27FC236}">
                    <a16:creationId xmlns:a16="http://schemas.microsoft.com/office/drawing/2014/main" xmlns="" id="{A95F4972-A071-D241-8DB3-965104C3ED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0"/>
                <a:ext cx="700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70" name="Rectangle 68">
              <a:extLst>
                <a:ext uri="{FF2B5EF4-FFF2-40B4-BE49-F238E27FC236}">
                  <a16:creationId xmlns:a16="http://schemas.microsoft.com/office/drawing/2014/main" xmlns="" id="{87EA3775-452B-1C4A-BCB4-1F82D746EB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5" cy="2292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71" name="Freeform 69">
              <a:extLst>
                <a:ext uri="{FF2B5EF4-FFF2-40B4-BE49-F238E27FC236}">
                  <a16:creationId xmlns:a16="http://schemas.microsoft.com/office/drawing/2014/main" xmlns="" id="{45913A8B-722F-4340-A919-72B4EE032A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2" name="Freeform 70">
              <a:extLst>
                <a:ext uri="{FF2B5EF4-FFF2-40B4-BE49-F238E27FC236}">
                  <a16:creationId xmlns:a16="http://schemas.microsoft.com/office/drawing/2014/main" xmlns="" id="{2676EFF8-49E0-8440-A1AD-B54B20D4F4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3" name="Oval 71">
              <a:extLst>
                <a:ext uri="{FF2B5EF4-FFF2-40B4-BE49-F238E27FC236}">
                  <a16:creationId xmlns:a16="http://schemas.microsoft.com/office/drawing/2014/main" xmlns="" id="{1F85A707-5AE3-F64D-94EF-B9C82DB6D4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10"/>
              <a:ext cx="47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74" name="Freeform 72">
              <a:extLst>
                <a:ext uri="{FF2B5EF4-FFF2-40B4-BE49-F238E27FC236}">
                  <a16:creationId xmlns:a16="http://schemas.microsoft.com/office/drawing/2014/main" xmlns="" id="{CAAAAF2D-30B7-D84B-BF96-1507DDCB2A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5" name="AutoShape 73">
              <a:extLst>
                <a:ext uri="{FF2B5EF4-FFF2-40B4-BE49-F238E27FC236}">
                  <a16:creationId xmlns:a16="http://schemas.microsoft.com/office/drawing/2014/main" xmlns="" id="{BA3EE2C3-2176-8A45-B380-5804587A38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200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76" name="AutoShape 74">
              <a:extLst>
                <a:ext uri="{FF2B5EF4-FFF2-40B4-BE49-F238E27FC236}">
                  <a16:creationId xmlns:a16="http://schemas.microsoft.com/office/drawing/2014/main" xmlns="" id="{08D47FAF-BF1B-1F44-985D-760303B47B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" y="2714"/>
              <a:ext cx="1070" cy="7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77" name="Oval 75">
              <a:extLst>
                <a:ext uri="{FF2B5EF4-FFF2-40B4-BE49-F238E27FC236}">
                  <a16:creationId xmlns:a16="http://schemas.microsoft.com/office/drawing/2014/main" xmlns="" id="{AF962D89-4DC3-CB40-AD48-4E975B0F29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1"/>
              <a:ext cx="160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78" name="Oval 76">
              <a:extLst>
                <a:ext uri="{FF2B5EF4-FFF2-40B4-BE49-F238E27FC236}">
                  <a16:creationId xmlns:a16="http://schemas.microsoft.com/office/drawing/2014/main" xmlns="" id="{BA8014D1-6702-5849-87C3-1AE05DDF60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7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79" name="Oval 77">
              <a:extLst>
                <a:ext uri="{FF2B5EF4-FFF2-40B4-BE49-F238E27FC236}">
                  <a16:creationId xmlns:a16="http://schemas.microsoft.com/office/drawing/2014/main" xmlns="" id="{3083C069-59B7-F047-91ED-17672B32B7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81"/>
              <a:ext cx="160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80" name="Rectangle 78">
              <a:extLst>
                <a:ext uri="{FF2B5EF4-FFF2-40B4-BE49-F238E27FC236}">
                  <a16:creationId xmlns:a16="http://schemas.microsoft.com/office/drawing/2014/main" xmlns="" id="{A0E616B9-1439-8B49-B42F-245B61F69E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2"/>
              <a:ext cx="83" cy="764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73" name="Rectangle 3">
            <a:extLst>
              <a:ext uri="{FF2B5EF4-FFF2-40B4-BE49-F238E27FC236}">
                <a16:creationId xmlns:a16="http://schemas.microsoft.com/office/drawing/2014/main" xmlns="" id="{E8DFB3C6-E718-DE4A-87C1-CF7178F7C295}"/>
              </a:ext>
            </a:extLst>
          </p:cNvPr>
          <p:cNvSpPr txBox="1">
            <a:spLocks noChangeArrowheads="1"/>
          </p:cNvSpPr>
          <p:nvPr/>
        </p:nvSpPr>
        <p:spPr>
          <a:xfrm>
            <a:off x="1168400" y="4597399"/>
            <a:ext cx="5118100" cy="1905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93700" marR="0" lvl="0" indent="-26352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summary: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initial rate is slow, but ramps up exponentially fast</a:t>
            </a:r>
          </a:p>
        </p:txBody>
      </p:sp>
      <p:sp>
        <p:nvSpPr>
          <p:cNvPr id="74" name="Slide Number Placeholder 2">
            <a:extLst>
              <a:ext uri="{FF2B5EF4-FFF2-40B4-BE49-F238E27FC236}">
                <a16:creationId xmlns:a16="http://schemas.microsoft.com/office/drawing/2014/main" xmlns="" id="{E6BF77EC-AB9F-944C-99D2-21B2DB400DB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72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" grpId="0" animBg="1"/>
      <p:bldP spid="226" grpId="0"/>
      <p:bldP spid="233" grpId="0" animBg="1"/>
      <p:bldP spid="241" grpId="0"/>
      <p:bldP spid="242" grpId="0"/>
      <p:bldP spid="7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2467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TCP: from slow start to congestion avoidance</a:t>
            </a:r>
            <a:endParaRPr lang="en-US" sz="4400" b="0" dirty="0"/>
          </a:p>
        </p:txBody>
      </p:sp>
      <p:sp>
        <p:nvSpPr>
          <p:cNvPr id="76" name="Rectangle 3">
            <a:extLst>
              <a:ext uri="{FF2B5EF4-FFF2-40B4-BE49-F238E27FC236}">
                <a16:creationId xmlns:a16="http://schemas.microsoft.com/office/drawing/2014/main" xmlns="" id="{2C9AD9FD-A93B-FF4D-B019-6827A14601C2}"/>
              </a:ext>
            </a:extLst>
          </p:cNvPr>
          <p:cNvSpPr txBox="1">
            <a:spLocks noChangeArrowheads="1"/>
          </p:cNvSpPr>
          <p:nvPr/>
        </p:nvSpPr>
        <p:spPr>
          <a:xfrm>
            <a:off x="952500" y="1382665"/>
            <a:ext cx="5054600" cy="1905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when should the exponential increase switch to linear? 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when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charset="0"/>
                <a:ea typeface="+mn-ea"/>
                <a:cs typeface="+mn-cs"/>
              </a:rPr>
              <a:t>cwnd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gets to 1/2 of its value before timeout.</a:t>
            </a:r>
          </a:p>
        </p:txBody>
      </p:sp>
      <p:sp>
        <p:nvSpPr>
          <p:cNvPr id="77" name="Rectangle 4">
            <a:extLst>
              <a:ext uri="{FF2B5EF4-FFF2-40B4-BE49-F238E27FC236}">
                <a16:creationId xmlns:a16="http://schemas.microsoft.com/office/drawing/2014/main" xmlns="" id="{38B71F69-39D9-954A-BA33-6A5861B7704D}"/>
              </a:ext>
            </a:extLst>
          </p:cNvPr>
          <p:cNvSpPr txBox="1">
            <a:spLocks noChangeArrowheads="1"/>
          </p:cNvSpPr>
          <p:nvPr/>
        </p:nvSpPr>
        <p:spPr>
          <a:xfrm>
            <a:off x="952500" y="3528965"/>
            <a:ext cx="4927600" cy="1905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Implementation: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variable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charset="0"/>
                <a:ea typeface="+mn-ea"/>
                <a:cs typeface="+mn-cs"/>
              </a:rPr>
              <a:t>ssthresh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charset="0"/>
                <a:ea typeface="+mn-ea"/>
                <a:cs typeface="+mn-cs"/>
              </a:rPr>
              <a:t> 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on loss event,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charset="0"/>
                <a:ea typeface="+mn-ea"/>
                <a:cs typeface="+mn-cs"/>
              </a:rPr>
              <a:t>ssthresh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is set to 1/2 of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charset="0"/>
                <a:ea typeface="+mn-ea"/>
                <a:cs typeface="+mn-cs"/>
              </a:rPr>
              <a:t>cwnd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charset="0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just before loss event</a:t>
            </a:r>
          </a:p>
        </p:txBody>
      </p:sp>
      <p:pic>
        <p:nvPicPr>
          <p:cNvPr id="79" name="Picture 7">
            <a:extLst>
              <a:ext uri="{FF2B5EF4-FFF2-40B4-BE49-F238E27FC236}">
                <a16:creationId xmlns:a16="http://schemas.microsoft.com/office/drawing/2014/main" xmlns="" id="{E19775EA-E95E-BD43-909F-67A89A00EF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1387" y="1889345"/>
            <a:ext cx="5536882" cy="3157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80" name="TextBox 1">
            <a:extLst>
              <a:ext uri="{FF2B5EF4-FFF2-40B4-BE49-F238E27FC236}">
                <a16:creationId xmlns:a16="http://schemas.microsoft.com/office/drawing/2014/main" xmlns="" id="{E6044695-E347-A24B-9CB7-78BC771318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135312"/>
            <a:ext cx="975677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* Check out the online interactive exercises for more examples: h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ttp://gaia.cs.umass.edu/kurose_ross/interactive/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7E5A3F5F-F42B-F04E-BB6A-D57835C29067}"/>
              </a:ext>
            </a:extLst>
          </p:cNvPr>
          <p:cNvSpPr/>
          <p:nvPr/>
        </p:nvSpPr>
        <p:spPr>
          <a:xfrm>
            <a:off x="7851775" y="3825875"/>
            <a:ext cx="850900" cy="200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79BEA2FA-AD20-B940-ADBA-D9DD40684573}"/>
              </a:ext>
            </a:extLst>
          </p:cNvPr>
          <p:cNvSpPr/>
          <p:nvPr/>
        </p:nvSpPr>
        <p:spPr>
          <a:xfrm>
            <a:off x="7677150" y="3924300"/>
            <a:ext cx="850900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D72B7EED-D8C9-284D-9A93-58D1D9D479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0300" y="3804496"/>
            <a:ext cx="1003300" cy="23410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F9E33F83-60EE-F54A-B838-917BE2E70995}"/>
              </a:ext>
            </a:extLst>
          </p:cNvPr>
          <p:cNvSpPr/>
          <p:nvPr/>
        </p:nvSpPr>
        <p:spPr>
          <a:xfrm>
            <a:off x="9194800" y="1892300"/>
            <a:ext cx="2133600" cy="248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7A184EDA-6A29-2941-A0A9-C122E26F942B}"/>
              </a:ext>
            </a:extLst>
          </p:cNvPr>
          <p:cNvSpPr txBox="1"/>
          <p:nvPr/>
        </p:nvSpPr>
        <p:spPr>
          <a:xfrm>
            <a:off x="9067800" y="219710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xmlns="" id="{632F645E-415D-7B49-B6B8-127E8033C54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1149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/>
      <p:bldP spid="80" grpId="0"/>
      <p:bldP spid="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507</Words>
  <Application>Microsoft Macintosh PowerPoint</Application>
  <PresentationFormat>Widescreen</PresentationFormat>
  <Paragraphs>87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9" baseType="lpstr">
      <vt:lpstr>Calibri</vt:lpstr>
      <vt:lpstr>Calibri Light</vt:lpstr>
      <vt:lpstr>Courier</vt:lpstr>
      <vt:lpstr>Courier New</vt:lpstr>
      <vt:lpstr>Gill Sans MT</vt:lpstr>
      <vt:lpstr>ＭＳ Ｐゴシック</vt:lpstr>
      <vt:lpstr>Tahoma</vt:lpstr>
      <vt:lpstr>Times New Roman</vt:lpstr>
      <vt:lpstr>Wingdings</vt:lpstr>
      <vt:lpstr>Arial</vt:lpstr>
      <vt:lpstr>Office Theme</vt:lpstr>
      <vt:lpstr>IT694 Computer Networks</vt:lpstr>
      <vt:lpstr>TCP Congestion </vt:lpstr>
      <vt:lpstr>PowerPoint Presentation</vt:lpstr>
      <vt:lpstr>TCP congestion control: details</vt:lpstr>
      <vt:lpstr>TCP congestion control: AIMD</vt:lpstr>
      <vt:lpstr>TCP AIMD: more</vt:lpstr>
      <vt:lpstr>TCP slow start </vt:lpstr>
      <vt:lpstr>TCP: from slow start to congestion avoidance</vt:lpstr>
    </vt:vector>
  </TitlesOfParts>
  <Company/>
  <LinksUpToDate>false</LinksUpToDate>
  <SharedDoc>false</SharedDoc>
  <HyperlinksChanged>false</HyperlinksChanged>
  <AppVersion>15.0037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IT694 Computer Networks</dc:title>
  <dc:creator>Microsoft Office User</dc:creator>
  <cp:lastModifiedBy>Microsoft Office User</cp:lastModifiedBy>
  <cp:revision>2</cp:revision>
  <dcterms:created xsi:type="dcterms:W3CDTF">2026-02-17T04:56:05Z</dcterms:created>
  <dcterms:modified xsi:type="dcterms:W3CDTF">2026-02-17T05:04:18Z</dcterms:modified>
</cp:coreProperties>
</file>