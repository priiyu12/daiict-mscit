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5"/>
    <p:restoredTop sz="96132"/>
  </p:normalViewPr>
  <p:slideViewPr>
    <p:cSldViewPr snapToGrid="0" snapToObjects="1">
      <p:cViewPr varScale="1">
        <p:scale>
          <a:sx n="87" d="100"/>
          <a:sy n="87" d="100"/>
        </p:scale>
        <p:origin x="208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87A68-21CF-1F4C-9C5C-85ADD21E7BC4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4FCEB1-761F-8748-8457-1DC7E4F4D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9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225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16570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132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07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63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032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978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910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474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291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400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307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3181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6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6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5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62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6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2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5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9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99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9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1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426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20081-84CE-EB4B-9F94-B0A0C8CC68A6}" type="datetimeFigureOut">
              <a:rPr lang="en-US" smtClean="0"/>
              <a:t>1/22/26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974D-97F0-9D46-8150-1B29E00969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6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Application Layer-I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Application layer: overview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defRPr/>
            </a:pPr>
            <a:r>
              <a:rPr lang="en-US" sz="32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/>
            <a:r>
              <a:rPr lang="en-US" altLang="en-US" sz="3200" dirty="0"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/>
            <a:r>
              <a:rPr lang="en-US" altLang="en-US" sz="3200" dirty="0"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9FDFE827-5196-3991-8F2B-0A802892356A}"/>
              </a:ext>
            </a:extLst>
          </p:cNvPr>
          <p:cNvGrpSpPr/>
          <p:nvPr/>
        </p:nvGrpSpPr>
        <p:grpSpPr>
          <a:xfrm>
            <a:off x="7021162" y="4181144"/>
            <a:ext cx="3127180" cy="1964824"/>
            <a:chOff x="1055076" y="3732975"/>
            <a:chExt cx="3313139" cy="24889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F56F9EFE-A1B4-4816-391B-F77C8E947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5076" y="3781578"/>
              <a:ext cx="3313139" cy="244032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10772240-C9BB-5CCD-82C0-554DBD4F278B}"/>
                </a:ext>
              </a:extLst>
            </p:cNvPr>
            <p:cNvSpPr/>
            <p:nvPr/>
          </p:nvSpPr>
          <p:spPr>
            <a:xfrm>
              <a:off x="1055076" y="3732975"/>
              <a:ext cx="3313139" cy="244549"/>
            </a:xfrm>
            <a:prstGeom prst="rect">
              <a:avLst/>
            </a:prstGeom>
            <a:solidFill>
              <a:srgbClr val="559BD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90842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Application </a:t>
            </a:r>
            <a:r>
              <a:rPr lang="en-US" altLang="en-US" dirty="0">
                <a:cs typeface="Calibri" panose="020F0502020204030204" pitchFamily="34" charset="0"/>
              </a:rPr>
              <a:t>l</a:t>
            </a:r>
            <a:r>
              <a:rPr lang="en-US" altLang="en-US" sz="4400" dirty="0">
                <a:cs typeface="Calibri" panose="020F0502020204030204" pitchFamily="34" charset="0"/>
              </a:rPr>
              <a:t>ayer: overview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747307" y="1406319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Our goals: </a:t>
            </a:r>
          </a:p>
          <a:p>
            <a:pPr marL="46037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conceptual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implementation aspects of application-layer protocols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transport-layer service models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client-server 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paradigm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16985" y="1399497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examining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application-layer protocols and infrastructure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V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ideo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systems, CDNs</a:t>
            </a:r>
          </a:p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en-US" sz="32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</a:t>
            </a:r>
            <a:r>
              <a:rPr kumimoji="0" lang="en-US" alt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rogramming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applications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socket API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xmlns="" id="{995738BC-ECEC-DD4F-BBFF-ED532C8518F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68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Some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 apps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914400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social media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multi-user network games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stored video (YouTube, Hulu, Netflix) 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P2P file sharing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8EDF5219-071B-3D4F-9DD6-1CD36C0FFD4F}"/>
              </a:ext>
            </a:extLst>
          </p:cNvPr>
          <p:cNvSpPr txBox="1">
            <a:spLocks/>
          </p:cNvSpPr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voice over IP </a:t>
            </a:r>
            <a:endParaRPr lang="en-US" altLang="en-US" sz="32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video conferencing (e.g., Zoom)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search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login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</a:t>
            </a: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xmlns="" id="{ADE588D6-94A2-B04E-8537-8635EBD4C9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65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xmlns="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xmlns="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xmlns="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xmlns="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xmlns="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xmlns="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xmlns="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xmlns="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xmlns="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xmlns="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xmlns="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xmlns="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xmlns="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xmlns="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xmlns="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xmlns="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xmlns="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xmlns="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xmlns="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xmlns="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xmlns="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xmlns="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xmlns="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xmlns="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xmlns="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xmlns="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xmlns="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xmlns="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xmlns="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xmlns="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xmlns="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xmlns="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xmlns="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xmlns="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xmlns="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xmlns="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xmlns="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xmlns="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xmlns="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xmlns="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xmlns="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xmlns="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xmlns="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xmlns="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xmlns="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xmlns="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xmlns="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xmlns="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xmlns="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xmlns="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xmlns="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xmlns="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xmlns="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xmlns="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xmlns="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xmlns="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xmlns="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xmlns="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xmlns="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xmlns="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xmlns="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xmlns="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xmlns="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xmlns="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xmlns="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xmlns="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xmlns="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xmlns="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xmlns="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xmlns="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xmlns="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xmlns="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xmlns="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xmlns="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xmlns="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xmlns="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xmlns="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xmlns="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xmlns="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xmlns="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xmlns="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xmlns="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xmlns="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xmlns="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xmlns="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xmlns="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xmlns="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xmlns="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xmlns="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xmlns="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xmlns="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xmlns="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xmlns="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xmlns="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xmlns="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xmlns="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xmlns="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xmlns="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xmlns="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xmlns="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xmlns="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xmlns="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xmlns="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xmlns="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xmlns="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xmlns="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xmlns="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xmlns="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xmlns="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xmlns="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xmlns="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xmlns="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xmlns="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xmlns="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xmlns="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xmlns="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xmlns="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xmlns="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xmlns="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xmlns="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xmlns="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xmlns="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xmlns="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xmlns="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xmlns="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xmlns="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xmlns="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xmlns="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xmlns="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xmlns="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xmlns="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xmlns="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xmlns="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xmlns="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xmlns="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xmlns="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xmlns="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xmlns="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xmlns="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xmlns="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xmlns="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xmlns="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xmlns="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xmlns="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xmlns="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xmlns="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xmlns="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xmlns="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xmlns="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xmlns="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xmlns="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xmlns="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xmlns="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xmlns="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xmlns="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xmlns="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xmlns="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xmlns="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xmlns="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xmlns="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xmlns="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xmlns="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xmlns="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xmlns="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xmlns="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xmlns="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xmlns="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xmlns="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xmlns="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xmlns="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xmlns="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xmlns="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xmlns="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xmlns="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xmlns="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xmlns="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xmlns="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xmlns="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xmlns="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xmlns="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xmlns="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xmlns="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xmlns="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xmlns="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xmlns="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xmlns="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xmlns="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xmlns="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xmlns="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xmlns="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xmlns="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xmlns="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xmlns="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xmlns="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xmlns="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xmlns="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xmlns="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xmlns="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xmlns="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xmlns="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xmlns="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xmlns="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xmlns="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xmlns="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xmlns="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xmlns="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xmlns="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xmlns="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xmlns="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xmlns="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xmlns="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xmlns="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xmlns="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xmlns="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xmlns="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xmlns="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xmlns="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xmlns="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xmlns="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xmlns="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xmlns="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xmlns="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xmlns="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xmlns="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xmlns="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xmlns="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xmlns="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xmlns="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xmlns="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xmlns="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xmlns="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xmlns="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xmlns="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xmlns="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xmlns="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xmlns="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xmlns="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xmlns="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xmlns="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xmlns="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xmlns="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xmlns="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xmlns="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xmlns="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xmlns="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xmlns="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xmlns="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xmlns="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xmlns="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xmlns="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xmlns="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xmlns="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xmlns="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xmlns="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xmlns="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xmlns="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xmlns="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xmlns="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xmlns="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xmlns="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xmlns="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xmlns="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xmlns="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xmlns="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xmlns="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xmlns="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xmlns="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xmlns="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xmlns="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xmlns="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xmlns="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xmlns="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xmlns="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xmlns="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xmlns="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xmlns="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xmlns="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xmlns="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xmlns="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xmlns="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xmlns="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xmlns="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xmlns="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xmlns="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xmlns="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xmlns="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xmlns="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xmlns="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xmlns="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xmlns="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xmlns="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xmlns="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xmlns="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xmlns="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xmlns="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xmlns="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xmlns="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xmlns="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xmlns="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xmlns="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xmlns="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xmlns="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xmlns="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xmlns="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xmlns="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xmlns="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xmlns="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xmlns="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xmlns="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xmlns="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xmlns="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xmlns="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xmlns="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xmlns="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xmlns="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xmlns="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xmlns="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xmlns="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xmlns="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xmlns="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xmlns="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xmlns="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xmlns="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xmlns="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xmlns="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xmlns="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xmlns="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xmlns="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xmlns="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xmlns="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xmlns="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xmlns="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xmlns="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xmlns="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xmlns="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xmlns="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xmlns="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xmlns="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xmlns="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xmlns="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xmlns="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xmlns="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xmlns="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xmlns="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xmlns="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xmlns="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xmlns="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xmlns="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xmlns="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xmlns="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xmlns="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xmlns="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xmlns="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xmlns="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xmlns="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xmlns="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xmlns="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xmlns="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xmlns="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xmlns="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xmlns="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xmlns="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xmlns="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xmlns="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xmlns="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xmlns="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xmlns="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xmlns="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xmlns="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xmlns="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xmlns="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xmlns="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xmlns="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xmlns="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xmlns="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xmlns="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xmlns="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xmlns="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xmlns="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xmlns="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xmlns="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xmlns="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xmlns="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xmlns="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xmlns="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xmlns="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xmlns="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xmlns="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xmlns="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xmlns="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xmlns="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xmlns="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xmlns="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xmlns="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xmlns="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xmlns="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xmlns="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xmlns="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xmlns="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xmlns="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xmlns="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xmlns="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xmlns="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xmlns="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xmlns="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xmlns="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xmlns="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xmlns="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xmlns="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xmlns="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xmlns="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xmlns="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xmlns="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xmlns="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xmlns="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xmlns="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xmlns="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xmlns="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xmlns="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xmlns="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xmlns="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xmlns="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xmlns="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xmlns="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xmlns="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xmlns="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xmlns="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xmlns="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xmlns="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xmlns="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xmlns="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xmlns="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xmlns="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xmlns="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xmlns="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xmlns="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xmlns="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xmlns="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xmlns="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xmlns="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xmlns="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xmlns="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1" name="Group 618">
            <a:extLst>
              <a:ext uri="{FF2B5EF4-FFF2-40B4-BE49-F238E27FC236}">
                <a16:creationId xmlns:a16="http://schemas.microsoft.com/office/drawing/2014/main" xmlns="" id="{580255E5-A809-CB45-994D-F69BD8D6F8D7}"/>
              </a:ext>
            </a:extLst>
          </p:cNvPr>
          <p:cNvGrpSpPr>
            <a:grpSpLocks/>
          </p:cNvGrpSpPr>
          <p:nvPr/>
        </p:nvGrpSpPr>
        <p:grpSpPr bwMode="auto"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72" name="Rectangle 227">
              <a:extLst>
                <a:ext uri="{FF2B5EF4-FFF2-40B4-BE49-F238E27FC236}">
                  <a16:creationId xmlns:a16="http://schemas.microsoft.com/office/drawing/2014/main" xmlns="" id="{B2F29371-16FD-D244-80BF-A52E1D7F8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Rectangle 228">
              <a:extLst>
                <a:ext uri="{FF2B5EF4-FFF2-40B4-BE49-F238E27FC236}">
                  <a16:creationId xmlns:a16="http://schemas.microsoft.com/office/drawing/2014/main" xmlns="" id="{E66B124A-4E8B-D846-A7C2-C34B559B7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Rectangle 229">
              <a:extLst>
                <a:ext uri="{FF2B5EF4-FFF2-40B4-BE49-F238E27FC236}">
                  <a16:creationId xmlns:a16="http://schemas.microsoft.com/office/drawing/2014/main" xmlns="" id="{80574F4D-DD94-2C4B-B4A1-D4DE0E2DC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Text Box 230">
              <a:extLst>
                <a:ext uri="{FF2B5EF4-FFF2-40B4-BE49-F238E27FC236}">
                  <a16:creationId xmlns:a16="http://schemas.microsoft.com/office/drawing/2014/main" xmlns="" id="{2EABDC18-53BF-7B40-AB0D-A755F80C0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0" name="Line 231">
              <a:extLst>
                <a:ext uri="{FF2B5EF4-FFF2-40B4-BE49-F238E27FC236}">
                  <a16:creationId xmlns:a16="http://schemas.microsoft.com/office/drawing/2014/main" xmlns="" id="{E5CDD0A1-21E2-6748-A493-24F315669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1" name="Line 232">
              <a:extLst>
                <a:ext uri="{FF2B5EF4-FFF2-40B4-BE49-F238E27FC236}">
                  <a16:creationId xmlns:a16="http://schemas.microsoft.com/office/drawing/2014/main" xmlns="" id="{CDA63567-EA65-5A46-877E-710FE9AD1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3" name="Line 233">
              <a:extLst>
                <a:ext uri="{FF2B5EF4-FFF2-40B4-BE49-F238E27FC236}">
                  <a16:creationId xmlns:a16="http://schemas.microsoft.com/office/drawing/2014/main" xmlns="" id="{7FE7B44D-4874-7642-8A70-AE45F5B80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4" name="Freeform 917">
              <a:extLst>
                <a:ext uri="{FF2B5EF4-FFF2-40B4-BE49-F238E27FC236}">
                  <a16:creationId xmlns:a16="http://schemas.microsoft.com/office/drawing/2014/main" xmlns="" id="{9FBAE6C1-0ABD-B849-B7B3-8C34910CE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1" name="Group 619">
            <a:extLst>
              <a:ext uri="{FF2B5EF4-FFF2-40B4-BE49-F238E27FC236}">
                <a16:creationId xmlns:a16="http://schemas.microsoft.com/office/drawing/2014/main" xmlns="" id="{14A407A0-EBD9-3449-9859-9B138D20D5AC}"/>
              </a:ext>
            </a:extLst>
          </p:cNvPr>
          <p:cNvGrpSpPr>
            <a:grpSpLocks/>
          </p:cNvGrpSpPr>
          <p:nvPr/>
        </p:nvGrpSpPr>
        <p:grpSpPr bwMode="auto"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632" name="Rectangle 227">
              <a:extLst>
                <a:ext uri="{FF2B5EF4-FFF2-40B4-BE49-F238E27FC236}">
                  <a16:creationId xmlns:a16="http://schemas.microsoft.com/office/drawing/2014/main" xmlns="" id="{875D12D0-0645-B449-8F48-0AC45EE18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3" name="Rectangle 228">
              <a:extLst>
                <a:ext uri="{FF2B5EF4-FFF2-40B4-BE49-F238E27FC236}">
                  <a16:creationId xmlns:a16="http://schemas.microsoft.com/office/drawing/2014/main" xmlns="" id="{F233A0F6-C3A3-1D47-A777-BFAC1494E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4" name="Rectangle 229">
              <a:extLst>
                <a:ext uri="{FF2B5EF4-FFF2-40B4-BE49-F238E27FC236}">
                  <a16:creationId xmlns:a16="http://schemas.microsoft.com/office/drawing/2014/main" xmlns="" id="{3B52AB0C-7235-834F-A249-28BBCC6D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6" name="Text Box 230">
              <a:extLst>
                <a:ext uri="{FF2B5EF4-FFF2-40B4-BE49-F238E27FC236}">
                  <a16:creationId xmlns:a16="http://schemas.microsoft.com/office/drawing/2014/main" xmlns="" id="{9B5B5523-DD29-8F46-BF07-8ECCDD6C7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7" name="Line 231">
              <a:extLst>
                <a:ext uri="{FF2B5EF4-FFF2-40B4-BE49-F238E27FC236}">
                  <a16:creationId xmlns:a16="http://schemas.microsoft.com/office/drawing/2014/main" xmlns="" id="{00E57763-CBA1-1542-B749-A48E642E0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Line 232">
              <a:extLst>
                <a:ext uri="{FF2B5EF4-FFF2-40B4-BE49-F238E27FC236}">
                  <a16:creationId xmlns:a16="http://schemas.microsoft.com/office/drawing/2014/main" xmlns="" id="{E4657539-B4FE-304C-816A-A074251AB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0" name="Line 233">
              <a:extLst>
                <a:ext uri="{FF2B5EF4-FFF2-40B4-BE49-F238E27FC236}">
                  <a16:creationId xmlns:a16="http://schemas.microsoft.com/office/drawing/2014/main" xmlns="" id="{DE0F6076-B3CE-C540-BD00-B77A1E45F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1" name="Freeform 917">
              <a:extLst>
                <a:ext uri="{FF2B5EF4-FFF2-40B4-BE49-F238E27FC236}">
                  <a16:creationId xmlns:a16="http://schemas.microsoft.com/office/drawing/2014/main" xmlns="" id="{0111663E-DD9D-6043-8338-8C5285F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2" name="Group 628">
            <a:extLst>
              <a:ext uri="{FF2B5EF4-FFF2-40B4-BE49-F238E27FC236}">
                <a16:creationId xmlns:a16="http://schemas.microsoft.com/office/drawing/2014/main" xmlns="" id="{F65FBC4E-EE37-D144-AFDB-E6C408428C1F}"/>
              </a:ext>
            </a:extLst>
          </p:cNvPr>
          <p:cNvGrpSpPr>
            <a:grpSpLocks/>
          </p:cNvGrpSpPr>
          <p:nvPr/>
        </p:nvGrpSpPr>
        <p:grpSpPr bwMode="auto"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643" name="Rectangle 227">
              <a:extLst>
                <a:ext uri="{FF2B5EF4-FFF2-40B4-BE49-F238E27FC236}">
                  <a16:creationId xmlns:a16="http://schemas.microsoft.com/office/drawing/2014/main" xmlns="" id="{E92C3AA2-F23F-C148-8F92-1D04CB500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4" name="Rectangle 228">
              <a:extLst>
                <a:ext uri="{FF2B5EF4-FFF2-40B4-BE49-F238E27FC236}">
                  <a16:creationId xmlns:a16="http://schemas.microsoft.com/office/drawing/2014/main" xmlns="" id="{6330CAEB-E474-6241-9D9F-EEB5C5091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5" name="Rectangle 229">
              <a:extLst>
                <a:ext uri="{FF2B5EF4-FFF2-40B4-BE49-F238E27FC236}">
                  <a16:creationId xmlns:a16="http://schemas.microsoft.com/office/drawing/2014/main" xmlns="" id="{AFA24D83-EF79-8246-AE25-393D0CCB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6" name="Text Box 230">
              <a:extLst>
                <a:ext uri="{FF2B5EF4-FFF2-40B4-BE49-F238E27FC236}">
                  <a16:creationId xmlns:a16="http://schemas.microsoft.com/office/drawing/2014/main" xmlns="" id="{3EEA565E-691A-5943-B9C1-2FBC1E5B7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7" name="Line 231">
              <a:extLst>
                <a:ext uri="{FF2B5EF4-FFF2-40B4-BE49-F238E27FC236}">
                  <a16:creationId xmlns:a16="http://schemas.microsoft.com/office/drawing/2014/main" xmlns="" id="{8E2DC1D5-A1BA-E349-B4E3-5CB27DD1F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8" name="Line 232">
              <a:extLst>
                <a:ext uri="{FF2B5EF4-FFF2-40B4-BE49-F238E27FC236}">
                  <a16:creationId xmlns:a16="http://schemas.microsoft.com/office/drawing/2014/main" xmlns="" id="{0D97E1EE-0440-9746-9909-8846196F3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9" name="Line 233">
              <a:extLst>
                <a:ext uri="{FF2B5EF4-FFF2-40B4-BE49-F238E27FC236}">
                  <a16:creationId xmlns:a16="http://schemas.microsoft.com/office/drawing/2014/main" xmlns="" id="{9453EBF5-7BBF-8943-8161-7DEB7997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0" name="Freeform 917">
              <a:extLst>
                <a:ext uri="{FF2B5EF4-FFF2-40B4-BE49-F238E27FC236}">
                  <a16:creationId xmlns:a16="http://schemas.microsoft.com/office/drawing/2014/main" xmlns="" id="{B9EE01B3-0624-134E-8FD0-E4ADEDFD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xmlns="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8030" y="445143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xmlns="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80" y="1325651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Creating a network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xmlns="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334086"/>
            <a:ext cx="5309184" cy="2094399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write programs that: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 on (different) end systems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communicate over network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web server software communicates with browser software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xmlns="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xmlns="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xmlns="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xmlns="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xmlns="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xmlns="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xmlns="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xmlns="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xmlns="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xmlns="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xmlns="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xmlns="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xmlns="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xmlns="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xmlns="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xmlns="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xmlns="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xmlns="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xmlns="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xmlns="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xmlns="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xmlns="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xmlns="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xmlns="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xmlns="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xmlns="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xmlns="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xmlns="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xmlns="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xmlns="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xmlns="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xmlns="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xmlns="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659" name="Slide Number Placeholder 2">
            <a:extLst>
              <a:ext uri="{FF2B5EF4-FFF2-40B4-BE49-F238E27FC236}">
                <a16:creationId xmlns:a16="http://schemas.microsoft.com/office/drawing/2014/main" xmlns="" id="{76314F6E-363C-1941-BD9B-3234A7206E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53545" y="4171457"/>
            <a:ext cx="4704716" cy="1900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87" lvl="0">
              <a:lnSpc>
                <a:spcPct val="90000"/>
              </a:lnSpc>
              <a:spcBef>
                <a:spcPts val="1000"/>
              </a:spcBef>
              <a:buClr>
                <a:srgbClr val="0000A8"/>
              </a:buClr>
              <a:defRPr/>
            </a:pPr>
            <a:r>
              <a:rPr lang="en-US" altLang="en-US" sz="20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no need to write software for network-core devices</a:t>
            </a:r>
          </a:p>
          <a:p>
            <a:pPr marL="346075" lvl="0" indent="-231775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altLang="en-US" dirty="0">
                <a:solidFill>
                  <a:prstClr val="black"/>
                </a:solidFill>
                <a:ea typeface="ＭＳ Ｐゴシック" panose="020B0600070205080204" pitchFamily="34" charset="-128"/>
              </a:rPr>
              <a:t>network-core devices do not run user applications </a:t>
            </a:r>
          </a:p>
          <a:p>
            <a:pPr marL="346075" lvl="0" indent="-231775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altLang="en-US" dirty="0">
                <a:solidFill>
                  <a:prstClr val="black"/>
                </a:solidFill>
                <a:ea typeface="ＭＳ Ｐゴシック" panose="020B0600070205080204" pitchFamily="34" charset="-128"/>
              </a:rPr>
              <a:t>applications on end systems  allows for rapid app development, propagation</a:t>
            </a:r>
            <a:endParaRPr lang="en-US" altLang="en-US" dirty="0">
              <a:solidFill>
                <a:prstClr val="black"/>
              </a:solidFill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016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51" grpId="0" animBg="1"/>
      <p:bldP spid="652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xmlns="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xmlns="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xmlns="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xmlns="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xmlns="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xmlns="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xmlns="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xmlns="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xmlns="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xmlns="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xmlns="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xmlns="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xmlns="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xmlns="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xmlns="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xmlns="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xmlns="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xmlns="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xmlns="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xmlns="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xmlns="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xmlns="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xmlns="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xmlns="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xmlns="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xmlns="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xmlns="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xmlns="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xmlns="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xmlns="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xmlns="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xmlns="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xmlns="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xmlns="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xmlns="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xmlns="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xmlns="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xmlns="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xmlns="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xmlns="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xmlns="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xmlns="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xmlns="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xmlns="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xmlns="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xmlns="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xmlns="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xmlns="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xmlns="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xmlns="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xmlns="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xmlns="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xmlns="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xmlns="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xmlns="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xmlns="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xmlns="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xmlns="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xmlns="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xmlns="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xmlns="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xmlns="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xmlns="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xmlns="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xmlns="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xmlns="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xmlns="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xmlns="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xmlns="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xmlns="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xmlns="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xmlns="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xmlns="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xmlns="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xmlns="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xmlns="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xmlns="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xmlns="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xmlns="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xmlns="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xmlns="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xmlns="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xmlns="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xmlns="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xmlns="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xmlns="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xmlns="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xmlns="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xmlns="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xmlns="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xmlns="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xmlns="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xmlns="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xmlns="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xmlns="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xmlns="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xmlns="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xmlns="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xmlns="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xmlns="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xmlns="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xmlns="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xmlns="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xmlns="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xmlns="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xmlns="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xmlns="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xmlns="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xmlns="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xmlns="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xmlns="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xmlns="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xmlns="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xmlns="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xmlns="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xmlns="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xmlns="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xmlns="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xmlns="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xmlns="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xmlns="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xmlns="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xmlns="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xmlns="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xmlns="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xmlns="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xmlns="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xmlns="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xmlns="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xmlns="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xmlns="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xmlns="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xmlns="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xmlns="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xmlns="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xmlns="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xmlns="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xmlns="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xmlns="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xmlns="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xmlns="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xmlns="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xmlns="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xmlns="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xmlns="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xmlns="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xmlns="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xmlns="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xmlns="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xmlns="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xmlns="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xmlns="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xmlns="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xmlns="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xmlns="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xmlns="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xmlns="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xmlns="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xmlns="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xmlns="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xmlns="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xmlns="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xmlns="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xmlns="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xmlns="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xmlns="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xmlns="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xmlns="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xmlns="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xmlns="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xmlns="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xmlns="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xmlns="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xmlns="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xmlns="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xmlns="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xmlns="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xmlns="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xmlns="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xmlns="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xmlns="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xmlns="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xmlns="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xmlns="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xmlns="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xmlns="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xmlns="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xmlns="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xmlns="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xmlns="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xmlns="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xmlns="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xmlns="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xmlns="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xmlns="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xmlns="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xmlns="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xmlns="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xmlns="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xmlns="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xmlns="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xmlns="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xmlns="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xmlns="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xmlns="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xmlns="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xmlns="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xmlns="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xmlns="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xmlns="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xmlns="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xmlns="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xmlns="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xmlns="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xmlns="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xmlns="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xmlns="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xmlns="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xmlns="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xmlns="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xmlns="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xmlns="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xmlns="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xmlns="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xmlns="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xmlns="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xmlns="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xmlns="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xmlns="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xmlns="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xmlns="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xmlns="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xmlns="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xmlns="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xmlns="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xmlns="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xmlns="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xmlns="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xmlns="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xmlns="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xmlns="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xmlns="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xmlns="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xmlns="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xmlns="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xmlns="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xmlns="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xmlns="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xmlns="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xmlns="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xmlns="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xmlns="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xmlns="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xmlns="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xmlns="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xmlns="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xmlns="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xmlns="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xmlns="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xmlns="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xmlns="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xmlns="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xmlns="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xmlns="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xmlns="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xmlns="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xmlns="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xmlns="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xmlns="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xmlns="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xmlns="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xmlns="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xmlns="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xmlns="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xmlns="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xmlns="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xmlns="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xmlns="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xmlns="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xmlns="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xmlns="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xmlns="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xmlns="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xmlns="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xmlns="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xmlns="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xmlns="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xmlns="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xmlns="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xmlns="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xmlns="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xmlns="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xmlns="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xmlns="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xmlns="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xmlns="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xmlns="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xmlns="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xmlns="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xmlns="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xmlns="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xmlns="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xmlns="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xmlns="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xmlns="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xmlns="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xmlns="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xmlns="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xmlns="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xmlns="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xmlns="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xmlns="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xmlns="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xmlns="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xmlns="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xmlns="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xmlns="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xmlns="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xmlns="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xmlns="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xmlns="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xmlns="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xmlns="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xmlns="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xmlns="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xmlns="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xmlns="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xmlns="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xmlns="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xmlns="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xmlns="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xmlns="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xmlns="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xmlns="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xmlns="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xmlns="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xmlns="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xmlns="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xmlns="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xmlns="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xmlns="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xmlns="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xmlns="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xmlns="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xmlns="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xmlns="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xmlns="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xmlns="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xmlns="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xmlns="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xmlns="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xmlns="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xmlns="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xmlns="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xmlns="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xmlns="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xmlns="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xmlns="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xmlns="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xmlns="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xmlns="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xmlns="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xmlns="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xmlns="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xmlns="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xmlns="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xmlns="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xmlns="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xmlns="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xmlns="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xmlns="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xmlns="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xmlns="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xmlns="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xmlns="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xmlns="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xmlns="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xmlns="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xmlns="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xmlns="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xmlns="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xmlns="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xmlns="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xmlns="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xmlns="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xmlns="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xmlns="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xmlns="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xmlns="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xmlns="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xmlns="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xmlns="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xmlns="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xmlns="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xmlns="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xmlns="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xmlns="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xmlns="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xmlns="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xmlns="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xmlns="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xmlns="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xmlns="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xmlns="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xmlns="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xmlns="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xmlns="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xmlns="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xmlns="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xmlns="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xmlns="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xmlns="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xmlns="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xmlns="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xmlns="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xmlns="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xmlns="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xmlns="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xmlns="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xmlns="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xmlns="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xmlns="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xmlns="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xmlns="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xmlns="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xmlns="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xmlns="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xmlns="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xmlns="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xmlns="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xmlns="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xmlns="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xmlns="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xmlns="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xmlns="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xmlns="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xmlns="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xmlns="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xmlns="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xmlns="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xmlns="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xmlns="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xmlns="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10623" y="5474824"/>
            <a:ext cx="1423686" cy="28936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xmlns="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0450" y="2297968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aradigm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xmlns="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server: 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always-on host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permanent IP address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often in data centers, for scaling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75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clients: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contact, communicate with server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be intermittently connected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have dynamic IP addresses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communicate directly with each other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 HTTP,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FTP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xmlns="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xmlns="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xmlns="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xmlns="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xmlns="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xmlns="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xmlns="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xmlns="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xmlns="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xmlns="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xmlns="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xmlns="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xmlns="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xmlns="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xmlns="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xmlns="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xmlns="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xmlns="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xmlns="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xmlns="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xmlns="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xmlns="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xmlns="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xmlns="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xmlns="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xmlns="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xmlns="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xmlns="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xmlns="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xmlns="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xmlns="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xmlns="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xmlns="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1" name="Slide Number Placeholder 2">
            <a:extLst>
              <a:ext uri="{FF2B5EF4-FFF2-40B4-BE49-F238E27FC236}">
                <a16:creationId xmlns:a16="http://schemas.microsoft.com/office/drawing/2014/main" xmlns="" id="{96ECE80E-E07E-F54F-B7D9-AC2C33DC5B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7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Processes communicating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65977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 running within a host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within same 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</a:t>
            </a:r>
          </a:p>
          <a:p>
            <a:pPr lvl="1" indent="-222250"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two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processes communicate using 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inter-process communication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(defined by OS)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processes in different </a:t>
            </a:r>
            <a:r>
              <a:rPr kumimoji="0" lang="en-US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hosts</a:t>
            </a:r>
          </a:p>
          <a:p>
            <a:pPr lvl="1" indent="-222250"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communicate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 exchanging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6E7D9C5A-4A0F-3E45-B3EB-48F963F34B69}"/>
              </a:ext>
            </a:extLst>
          </p:cNvPr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xmlns="" id="{96562BEA-C84E-254B-BD55-56C2EB6C508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initiates communication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server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waits to be contacted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xmlns="" id="{0414D3D5-1BB8-5844-8D2A-3C8E3E5DC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4010" y="1786951"/>
              <a:ext cx="4092575" cy="206216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xmlns="" id="{FAA5D4F0-1DCB-7C49-A07F-4729B9F9D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clients, servers</a:t>
              </a:r>
            </a:p>
          </p:txBody>
        </p:sp>
      </p:grp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xmlns="" id="{126C885E-4769-8644-8E59-814749DC52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7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Addressing processes</a:t>
            </a:r>
            <a:endParaRPr lang="en-US" sz="4400" dirty="0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xmlns="" id="{4B0603A7-FD76-E142-950F-40A4CCA78957}"/>
              </a:ext>
            </a:extLst>
          </p:cNvPr>
          <p:cNvSpPr txBox="1">
            <a:spLocks noChangeArrowheads="1"/>
          </p:cNvSpPr>
          <p:nvPr/>
        </p:nvSpPr>
        <p:spPr>
          <a:xfrm>
            <a:off x="695101" y="1464896"/>
            <a:ext cx="496447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receive messages, process  must have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device has unique 32-bit IP address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 IP address of host on which process runs suffice for identifying the process?</a:t>
            </a: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xmlns="" id="{3FB47D89-608E-6B48-B260-00596EFC3969}"/>
              </a:ext>
            </a:extLst>
          </p:cNvPr>
          <p:cNvSpPr txBox="1">
            <a:spLocks noChangeArrowheads="1"/>
          </p:cNvSpPr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includes both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associated with process on host.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 port numbers: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server: 80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server: 25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send HTTP message to gaia.cs.umass.edu web server: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128.119.245.12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number: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80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xmlns="" id="{E09403B9-43A8-5149-B58E-34440F6A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processes can be running on same host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xmlns="" id="{21946457-0440-7A46-8315-47A8A412F9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79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An application-layer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rotocol </a:t>
            </a:r>
            <a:r>
              <a:rPr lang="en-US" altLang="en-US" dirty="0">
                <a:ea typeface="ＭＳ Ｐゴシック" panose="020B0600070205080204" pitchFamily="34" charset="-128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</a:rPr>
              <a:t>efines:</a:t>
            </a:r>
            <a:endParaRPr lang="en-US" sz="4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8251B37A-10ED-6C4A-A5F1-4B1BE824E86A}"/>
              </a:ext>
            </a:extLst>
          </p:cNvPr>
          <p:cNvSpPr txBox="1">
            <a:spLocks noChangeArrowheads="1"/>
          </p:cNvSpPr>
          <p:nvPr/>
        </p:nvSpPr>
        <p:spPr>
          <a:xfrm>
            <a:off x="759182" y="1464838"/>
            <a:ext cx="529730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types of messages exchanged,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request, response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syntax: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fields in messages &amp; how fields are delineated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semantics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meaning of information in fields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rules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for when and how processes send &amp; respond to messages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xmlns="" id="{E3FA004C-2235-334F-8814-1F36401D2A86}"/>
              </a:ext>
            </a:extLst>
          </p:cNvPr>
          <p:cNvSpPr txBox="1">
            <a:spLocks noChangeArrowheads="1"/>
          </p:cNvSpPr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open protocols:</a:t>
            </a:r>
          </a:p>
          <a:p>
            <a:pPr marL="460375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defined in RFCs, everyone has access to protocol definition</a:t>
            </a:r>
          </a:p>
          <a:p>
            <a:pPr marL="460375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allows for interoperability</a:t>
            </a:r>
          </a:p>
          <a:p>
            <a:pPr marL="460375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HTTP, SMTP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proprietary protocols:</a:t>
            </a:r>
          </a:p>
          <a:p>
            <a:pPr marL="527050" marR="0" lvl="0" indent="-2301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Zoom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xmlns="" id="{2BFE3DF4-2D02-7D4F-B76E-99CD4324F9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98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What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does an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 need?</a:t>
            </a:r>
            <a:endParaRPr lang="en-US" sz="44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xmlns="" id="{FA2F19F9-C8D7-114F-8257-FB4D95438E3B}"/>
              </a:ext>
            </a:extLst>
          </p:cNvPr>
          <p:cNvSpPr txBox="1">
            <a:spLocks noChangeArrowheads="1"/>
          </p:cNvSpPr>
          <p:nvPr/>
        </p:nvSpPr>
        <p:spPr>
          <a:xfrm>
            <a:off x="676025" y="1406872"/>
            <a:ext cx="4972505" cy="27971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integrity</a:t>
            </a:r>
          </a:p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apps (e.g., file transfer, web transactions) require 100% reliable data transfer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apps (e.g., audio) can tolerate some loss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A728678F-8DEF-4046-89DA-20D9B309E935}"/>
              </a:ext>
            </a:extLst>
          </p:cNvPr>
          <p:cNvSpPr txBox="1">
            <a:spLocks noChangeArrowheads="1"/>
          </p:cNvSpPr>
          <p:nvPr/>
        </p:nvSpPr>
        <p:spPr>
          <a:xfrm>
            <a:off x="544999" y="4365808"/>
            <a:ext cx="5572612" cy="244316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Internet telephony, interactive games) require low delay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xmlns="" id="{99205150-A642-0847-95C4-8C48A24DA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multimedia) require minimum amount of throughput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other apps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 apps”) make use of whatever throughput they get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xmlns="" id="{5EA7119B-8447-E949-AF1B-51F99BABC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security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encryption, data integrity, …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xmlns="" id="{54A58A9F-013E-E14B-A97A-3F5139157A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36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protocols services</a:t>
            </a:r>
            <a:endParaRPr lang="en-US" sz="440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xmlns="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6016137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service: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 transport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between sending and receiving process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flow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won’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overwhelm receiver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throttle sender when network overloaded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connection-oriented: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setup required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not provide: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timing, minimum throughput guarantee, security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xmlns="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3381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service: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unreliable data transfer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 sending and receiving process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provide: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reliability, flow control, congestion control, timing, throughput guarantee, security, or connection setup.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xmlns="" id="{A063EBCE-3A03-8F4C-B279-46497740F45C}"/>
              </a:ext>
            </a:extLst>
          </p:cNvPr>
          <p:cNvSpPr txBox="1">
            <a:spLocks noChangeArrowheads="1"/>
          </p:cNvSpPr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bother? 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there a UDP?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xmlns="" id="{F16E5A18-9D2E-8A4C-A214-8B012F33094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41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</a:t>
            </a:r>
            <a:r>
              <a:rPr lang="en-US" altLang="en-US" dirty="0">
                <a:ea typeface="ＭＳ Ｐゴシック" panose="020B0600070205080204" pitchFamily="34" charset="-128"/>
              </a:rPr>
              <a:t>r</a:t>
            </a:r>
            <a:r>
              <a:rPr lang="en-US" altLang="en-US" sz="4400" dirty="0">
                <a:ea typeface="ＭＳ Ｐゴシック" panose="020B0600070205080204" pitchFamily="34" charset="-128"/>
              </a:rPr>
              <a:t>equirements: common apps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xmlns="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xmlns="" id="{AFA70EB7-D6E6-AF43-A3B7-A90356706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loss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xmlns="" id="{2B53E900-CFB4-8641-AD80-727AE938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audio: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5Kbps-1Mbps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10Kbps-5Mbps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same as above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Kbps+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xmlns="" id="{7DDCF5FE-9982-C44D-9FFC-E56BA98BF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sensitive?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msec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few secs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msec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 and no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xmlns="" id="{DCA62624-6B99-2E4F-9C54-E08632D8D1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28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 of network applications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Web and HTTP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E-mail, SMTP, IMAP</a:t>
            </a:r>
          </a:p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Domain Name System DNS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xmlns="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 streaming and content distribution networks</a:t>
            </a:r>
          </a:p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socket programming with UDP and TCP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7678C80D-64D1-299A-EEAA-651AA06838EC}"/>
              </a:ext>
            </a:extLst>
          </p:cNvPr>
          <p:cNvGrpSpPr/>
          <p:nvPr/>
        </p:nvGrpSpPr>
        <p:grpSpPr>
          <a:xfrm>
            <a:off x="7021162" y="4181144"/>
            <a:ext cx="3127180" cy="1964824"/>
            <a:chOff x="1055076" y="3732975"/>
            <a:chExt cx="3313139" cy="24889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4A888B69-5FBF-72D1-C23E-E871C67D0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5076" y="3781578"/>
              <a:ext cx="3313139" cy="244032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48229B71-E65C-C3F5-EED7-7D152243B3EF}"/>
                </a:ext>
              </a:extLst>
            </p:cNvPr>
            <p:cNvSpPr/>
            <p:nvPr/>
          </p:nvSpPr>
          <p:spPr>
            <a:xfrm>
              <a:off x="1055076" y="3732975"/>
              <a:ext cx="3313139" cy="244549"/>
            </a:xfrm>
            <a:prstGeom prst="rect">
              <a:avLst/>
            </a:prstGeom>
            <a:solidFill>
              <a:srgbClr val="559BD4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9327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Web and HTTP</a:t>
            </a:r>
            <a:endParaRPr lang="en-US" sz="44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xmlns="" id="{2AB7AFB9-05B7-8F45-B2AB-A2B2DBC22CCE}"/>
              </a:ext>
            </a:extLst>
          </p:cNvPr>
          <p:cNvSpPr txBox="1">
            <a:spLocks noChangeArrowheads="1"/>
          </p:cNvSpPr>
          <p:nvPr/>
        </p:nvSpPr>
        <p:spPr>
          <a:xfrm>
            <a:off x="669395" y="1559756"/>
            <a:ext cx="10774192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First, a quick review…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each of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which can be stored on different Web servers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can be HTML file, JPEG image, Java applet, audio file,…</a:t>
            </a:r>
          </a:p>
          <a:p>
            <a:pPr marL="46037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page consists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base HTML-file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which includes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several referenced objects, each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addressable by a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URL,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e.g.,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xmlns="" id="{A0C8A734-DC35-F347-AF3E-C7E64B7D785E}"/>
              </a:ext>
            </a:extLst>
          </p:cNvPr>
          <p:cNvGrpSpPr>
            <a:grpSpLocks/>
          </p:cNvGrpSpPr>
          <p:nvPr/>
        </p:nvGrpSpPr>
        <p:grpSpPr bwMode="auto">
          <a:xfrm>
            <a:off x="2463366" y="4853073"/>
            <a:ext cx="6835775" cy="1144588"/>
            <a:chOff x="788" y="2955"/>
            <a:chExt cx="4306" cy="721"/>
          </a:xfrm>
        </p:grpSpPr>
        <p:sp>
          <p:nvSpPr>
            <p:cNvPr id="14" name="Text Box 5">
              <a:extLst>
                <a:ext uri="{FF2B5EF4-FFF2-40B4-BE49-F238E27FC236}">
                  <a16:creationId xmlns:a16="http://schemas.microsoft.com/office/drawing/2014/main" xmlns="" id="{07B49400-3628-264C-8D3A-69378F85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www.someschool.edu/someDept/pic.gif</a:t>
              </a:r>
            </a:p>
          </p:txBody>
        </p:sp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xmlns="" id="{5B0BF68B-EFB6-904F-A81E-8D4DB716D3BA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AutoShape 7">
              <a:extLst>
                <a:ext uri="{FF2B5EF4-FFF2-40B4-BE49-F238E27FC236}">
                  <a16:creationId xmlns:a16="http://schemas.microsoft.com/office/drawing/2014/main" xmlns="" id="{BF004AC2-43AC-6449-B799-0D73A5E5822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" name="Text Box 8">
              <a:extLst>
                <a:ext uri="{FF2B5EF4-FFF2-40B4-BE49-F238E27FC236}">
                  <a16:creationId xmlns:a16="http://schemas.microsoft.com/office/drawing/2014/main" xmlns="" id="{4D5B851A-267A-1546-B45E-931C3F7AF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 name</a:t>
              </a:r>
            </a:p>
          </p:txBody>
        </p:sp>
        <p:sp>
          <p:nvSpPr>
            <p:cNvPr id="18" name="Text Box 9">
              <a:extLst>
                <a:ext uri="{FF2B5EF4-FFF2-40B4-BE49-F238E27FC236}">
                  <a16:creationId xmlns:a16="http://schemas.microsoft.com/office/drawing/2014/main" xmlns="" id="{4EA9C80E-6BB3-B44E-A522-3C7B027B4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path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name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xmlns="" id="{31E9D565-6810-E44B-9B1D-6FAB7B7F8E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549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43000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HTTP overview</a:t>
            </a:r>
            <a:endParaRPr lang="en-US" sz="4400" dirty="0"/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xmlns="" id="{D0A9535F-9718-644A-A429-D02A2397C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9" y="1608374"/>
            <a:ext cx="598817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Web’</a:t>
            </a:r>
            <a:r>
              <a:rPr kumimoji="0" lang="en-US" altLang="ja-JP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application-layer protocol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that requests, receives, (using HTTP protocol) and 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kumimoji="0" lang="ja-JP" altLang="en-US" sz="2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kumimoji="0" lang="en-US" altLang="ja-JP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685800" marR="0" lvl="1" indent="-2286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 marL="342900" marR="0" lvl="0" indent="-342900" algn="l" defTabSz="914400" rtl="0" eaLnBrk="0" fontAlgn="base" latinLnBrk="0" hangingPunct="0">
              <a:lnSpc>
                <a:spcPct val="7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75" name="Group 35">
            <a:extLst>
              <a:ext uri="{FF2B5EF4-FFF2-40B4-BE49-F238E27FC236}">
                <a16:creationId xmlns:a16="http://schemas.microsoft.com/office/drawing/2014/main" xmlns="" id="{9F18C3DA-1F75-254F-8252-0752283DD6D8}"/>
              </a:ext>
            </a:extLst>
          </p:cNvPr>
          <p:cNvGrpSpPr>
            <a:grpSpLocks/>
          </p:cNvGrpSpPr>
          <p:nvPr/>
        </p:nvGrpSpPr>
        <p:grpSpPr bwMode="auto">
          <a:xfrm>
            <a:off x="8129954" y="2391117"/>
            <a:ext cx="2101850" cy="946150"/>
            <a:chOff x="3640" y="1346"/>
            <a:chExt cx="1324" cy="596"/>
          </a:xfrm>
        </p:grpSpPr>
        <p:sp>
          <p:nvSpPr>
            <p:cNvPr id="76" name="Line 19">
              <a:extLst>
                <a:ext uri="{FF2B5EF4-FFF2-40B4-BE49-F238E27FC236}">
                  <a16:creationId xmlns:a16="http://schemas.microsoft.com/office/drawing/2014/main" xmlns="" id="{32A5B725-224A-8641-84D7-5E247267A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24">
              <a:extLst>
                <a:ext uri="{FF2B5EF4-FFF2-40B4-BE49-F238E27FC236}">
                  <a16:creationId xmlns:a16="http://schemas.microsoft.com/office/drawing/2014/main" xmlns="" id="{AFF1AA49-1EC5-FD4D-A4C7-4E97FBE86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78" name="Group 36">
            <a:extLst>
              <a:ext uri="{FF2B5EF4-FFF2-40B4-BE49-F238E27FC236}">
                <a16:creationId xmlns:a16="http://schemas.microsoft.com/office/drawing/2014/main" xmlns="" id="{CCF7DC4F-F784-E14E-9279-0C9C13F3B891}"/>
              </a:ext>
            </a:extLst>
          </p:cNvPr>
          <p:cNvGrpSpPr>
            <a:grpSpLocks/>
          </p:cNvGrpSpPr>
          <p:nvPr/>
        </p:nvGrpSpPr>
        <p:grpSpPr bwMode="auto">
          <a:xfrm>
            <a:off x="8241079" y="2599080"/>
            <a:ext cx="1971675" cy="904875"/>
            <a:chOff x="4141" y="394"/>
            <a:chExt cx="1242" cy="570"/>
          </a:xfrm>
        </p:grpSpPr>
        <p:sp>
          <p:nvSpPr>
            <p:cNvPr id="79" name="Line 20">
              <a:extLst>
                <a:ext uri="{FF2B5EF4-FFF2-40B4-BE49-F238E27FC236}">
                  <a16:creationId xmlns:a16="http://schemas.microsoft.com/office/drawing/2014/main" xmlns="" id="{162E51BA-C1E2-004B-832B-C97F73DD4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0" name="Text Box 26">
              <a:extLst>
                <a:ext uri="{FF2B5EF4-FFF2-40B4-BE49-F238E27FC236}">
                  <a16:creationId xmlns:a16="http://schemas.microsoft.com/office/drawing/2014/main" xmlns="" id="{8A281BFE-8385-CA42-BA62-2631AB1C4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1" name="Group 37">
            <a:extLst>
              <a:ext uri="{FF2B5EF4-FFF2-40B4-BE49-F238E27FC236}">
                <a16:creationId xmlns:a16="http://schemas.microsoft.com/office/drawing/2014/main" xmlns="" id="{75AC8EC6-FB97-154F-8581-1A51362C9E51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8106142" y="3884955"/>
            <a:ext cx="2101850" cy="946150"/>
            <a:chOff x="3640" y="1346"/>
            <a:chExt cx="1324" cy="596"/>
          </a:xfrm>
        </p:grpSpPr>
        <p:sp>
          <p:nvSpPr>
            <p:cNvPr id="82" name="Line 19">
              <a:extLst>
                <a:ext uri="{FF2B5EF4-FFF2-40B4-BE49-F238E27FC236}">
                  <a16:creationId xmlns:a16="http://schemas.microsoft.com/office/drawing/2014/main" xmlns="" id="{69FABD09-8D01-A244-A69C-7220481C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3" name="Text Box 24">
              <a:extLst>
                <a:ext uri="{FF2B5EF4-FFF2-40B4-BE49-F238E27FC236}">
                  <a16:creationId xmlns:a16="http://schemas.microsoft.com/office/drawing/2014/main" xmlns="" id="{96F64D17-51D6-0A4A-BDA6-07C403F4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60" y="1445"/>
              <a:ext cx="91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4" name="Group 40">
            <a:extLst>
              <a:ext uri="{FF2B5EF4-FFF2-40B4-BE49-F238E27FC236}">
                <a16:creationId xmlns:a16="http://schemas.microsoft.com/office/drawing/2014/main" xmlns="" id="{B9736B82-D8C5-DA43-B8F2-093DA6AB6E5D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8152179" y="4124667"/>
            <a:ext cx="1971675" cy="904875"/>
            <a:chOff x="4141" y="394"/>
            <a:chExt cx="1242" cy="570"/>
          </a:xfrm>
        </p:grpSpPr>
        <p:sp>
          <p:nvSpPr>
            <p:cNvPr id="85" name="Line 20">
              <a:extLst>
                <a:ext uri="{FF2B5EF4-FFF2-40B4-BE49-F238E27FC236}">
                  <a16:creationId xmlns:a16="http://schemas.microsoft.com/office/drawing/2014/main" xmlns="" id="{1D55C3D5-A428-CC44-8B43-7C6CB47D0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26">
              <a:extLst>
                <a:ext uri="{FF2B5EF4-FFF2-40B4-BE49-F238E27FC236}">
                  <a16:creationId xmlns:a16="http://schemas.microsoft.com/office/drawing/2014/main" xmlns="" id="{98847E99-AF68-1F43-AC46-9AD80D645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304" y="706"/>
              <a:ext cx="10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067724E3-B9EF-784C-81CF-0208D90CEEBE}"/>
              </a:ext>
            </a:extLst>
          </p:cNvPr>
          <p:cNvGrpSpPr/>
          <p:nvPr/>
        </p:nvGrpSpPr>
        <p:grpSpPr>
          <a:xfrm>
            <a:off x="7046475" y="4540592"/>
            <a:ext cx="2210665" cy="1578194"/>
            <a:chOff x="7046475" y="4540592"/>
            <a:chExt cx="2210665" cy="1578194"/>
          </a:xfrm>
        </p:grpSpPr>
        <p:sp>
          <p:nvSpPr>
            <p:cNvPr id="74" name="Text Box 23">
              <a:extLst>
                <a:ext uri="{FF2B5EF4-FFF2-40B4-BE49-F238E27FC236}">
                  <a16:creationId xmlns:a16="http://schemas.microsoft.com/office/drawing/2014/main" xmlns="" id="{61B2A806-9EFC-9449-97BE-336492E83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475" y="5472455"/>
              <a:ext cx="221066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iPhone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Safari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87" name="Picture 43" descr="iphone_stylized_small">
              <a:extLst>
                <a:ext uri="{FF2B5EF4-FFF2-40B4-BE49-F238E27FC236}">
                  <a16:creationId xmlns:a16="http://schemas.microsoft.com/office/drawing/2014/main" xmlns="" id="{D1E934F1-FF6C-B341-A221-3811072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E5E3F8E5-5BB6-9F4D-BD7D-96E3FCFF937E}"/>
              </a:ext>
            </a:extLst>
          </p:cNvPr>
          <p:cNvGrpSpPr/>
          <p:nvPr/>
        </p:nvGrpSpPr>
        <p:grpSpPr>
          <a:xfrm>
            <a:off x="6584832" y="1722780"/>
            <a:ext cx="2270564" cy="1610628"/>
            <a:chOff x="6584832" y="1722780"/>
            <a:chExt cx="2270564" cy="1610628"/>
          </a:xfrm>
        </p:grpSpPr>
        <p:sp>
          <p:nvSpPr>
            <p:cNvPr id="72" name="Text Box 7">
              <a:extLst>
                <a:ext uri="{FF2B5EF4-FFF2-40B4-BE49-F238E27FC236}">
                  <a16:creationId xmlns:a16="http://schemas.microsoft.com/office/drawing/2014/main" xmlns="" id="{EE5DED9F-E1C4-F34D-899C-5E5BAFDAD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4832" y="2687077"/>
              <a:ext cx="227056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PC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Firefox browser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88" name="Group 44">
              <a:extLst>
                <a:ext uri="{FF2B5EF4-FFF2-40B4-BE49-F238E27FC236}">
                  <a16:creationId xmlns:a16="http://schemas.microsoft.com/office/drawing/2014/main" xmlns="" id="{9EAD6FC3-A72E-8241-AA6C-FE53B680C4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89" name="Picture 45" descr="desktop_computer_stylized_medium">
                <a:extLst>
                  <a:ext uri="{FF2B5EF4-FFF2-40B4-BE49-F238E27FC236}">
                    <a16:creationId xmlns:a16="http://schemas.microsoft.com/office/drawing/2014/main" xmlns="" id="{1ADDC1FA-6D07-3F4E-8F74-21843504B2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0" name="Freeform 46">
                <a:extLst>
                  <a:ext uri="{FF2B5EF4-FFF2-40B4-BE49-F238E27FC236}">
                    <a16:creationId xmlns:a16="http://schemas.microsoft.com/office/drawing/2014/main" xmlns="" id="{42A6104A-05E4-B94E-8AC8-1F8524B85F7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046FA54E-9DBE-BF46-9FA4-0BD5D56FE85D}"/>
              </a:ext>
            </a:extLst>
          </p:cNvPr>
          <p:cNvGrpSpPr/>
          <p:nvPr/>
        </p:nvGrpSpPr>
        <p:grpSpPr>
          <a:xfrm>
            <a:off x="9655810" y="2888005"/>
            <a:ext cx="2414547" cy="2197950"/>
            <a:chOff x="9655810" y="2888005"/>
            <a:chExt cx="2414547" cy="2197950"/>
          </a:xfrm>
        </p:grpSpPr>
        <p:sp>
          <p:nvSpPr>
            <p:cNvPr id="73" name="Text Box 9">
              <a:extLst>
                <a:ext uri="{FF2B5EF4-FFF2-40B4-BE49-F238E27FC236}">
                  <a16:creationId xmlns:a16="http://schemas.microsoft.com/office/drawing/2014/main" xmlns="" id="{1DB0406D-8424-A242-88CD-CF99DD0C82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5810" y="4162625"/>
              <a:ext cx="24145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running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Apache Web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  <a:endPara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91" name="Group 47">
              <a:extLst>
                <a:ext uri="{FF2B5EF4-FFF2-40B4-BE49-F238E27FC236}">
                  <a16:creationId xmlns:a16="http://schemas.microsoft.com/office/drawing/2014/main" xmlns="" id="{1578750D-9ADE-FF47-A035-3F58F7F95E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92" name="Freeform 48">
                <a:extLst>
                  <a:ext uri="{FF2B5EF4-FFF2-40B4-BE49-F238E27FC236}">
                    <a16:creationId xmlns:a16="http://schemas.microsoft.com/office/drawing/2014/main" xmlns="" id="{30FC1D0E-933E-6B40-9A42-0E9717238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3" name="Rectangle 49">
                <a:extLst>
                  <a:ext uri="{FF2B5EF4-FFF2-40B4-BE49-F238E27FC236}">
                    <a16:creationId xmlns:a16="http://schemas.microsoft.com/office/drawing/2014/main" xmlns="" id="{B5655423-6CF0-CD49-B3A9-063B782C1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Freeform 50">
                <a:extLst>
                  <a:ext uri="{FF2B5EF4-FFF2-40B4-BE49-F238E27FC236}">
                    <a16:creationId xmlns:a16="http://schemas.microsoft.com/office/drawing/2014/main" xmlns="" id="{A0AC0D67-FA58-B147-A1DC-191134726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Freeform 51">
                <a:extLst>
                  <a:ext uri="{FF2B5EF4-FFF2-40B4-BE49-F238E27FC236}">
                    <a16:creationId xmlns:a16="http://schemas.microsoft.com/office/drawing/2014/main" xmlns="" id="{DE00B670-08D8-5142-A593-67DE6409B9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Rectangle 52">
                <a:extLst>
                  <a:ext uri="{FF2B5EF4-FFF2-40B4-BE49-F238E27FC236}">
                    <a16:creationId xmlns:a16="http://schemas.microsoft.com/office/drawing/2014/main" xmlns="" id="{C0F46C25-0562-1D41-A932-B4DCFBC60F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7" name="Group 53">
                <a:extLst>
                  <a:ext uri="{FF2B5EF4-FFF2-40B4-BE49-F238E27FC236}">
                    <a16:creationId xmlns:a16="http://schemas.microsoft.com/office/drawing/2014/main" xmlns="" id="{42D2ADD9-FBDF-B348-8727-B1428057A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22" name="AutoShape 54">
                  <a:extLst>
                    <a:ext uri="{FF2B5EF4-FFF2-40B4-BE49-F238E27FC236}">
                      <a16:creationId xmlns:a16="http://schemas.microsoft.com/office/drawing/2014/main" xmlns="" id="{B3A024BC-0571-B343-B957-96A9956CB1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3" name="AutoShape 55">
                  <a:extLst>
                    <a:ext uri="{FF2B5EF4-FFF2-40B4-BE49-F238E27FC236}">
                      <a16:creationId xmlns:a16="http://schemas.microsoft.com/office/drawing/2014/main" xmlns="" id="{BCE631BE-5109-0446-9778-CCBD1DF0A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98" name="Rectangle 56">
                <a:extLst>
                  <a:ext uri="{FF2B5EF4-FFF2-40B4-BE49-F238E27FC236}">
                    <a16:creationId xmlns:a16="http://schemas.microsoft.com/office/drawing/2014/main" xmlns="" id="{5D3DFADC-1C8D-AF4C-85AA-0F7A2C55C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99" name="Group 57">
                <a:extLst>
                  <a:ext uri="{FF2B5EF4-FFF2-40B4-BE49-F238E27FC236}">
                    <a16:creationId xmlns:a16="http://schemas.microsoft.com/office/drawing/2014/main" xmlns="" id="{C1D33EC1-1E29-8544-B98D-73191F02F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20" name="AutoShape 58">
                  <a:extLst>
                    <a:ext uri="{FF2B5EF4-FFF2-40B4-BE49-F238E27FC236}">
                      <a16:creationId xmlns:a16="http://schemas.microsoft.com/office/drawing/2014/main" xmlns="" id="{82D153A1-613C-9C4E-A2C0-B1C929BC01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21" name="AutoShape 59">
                  <a:extLst>
                    <a:ext uri="{FF2B5EF4-FFF2-40B4-BE49-F238E27FC236}">
                      <a16:creationId xmlns:a16="http://schemas.microsoft.com/office/drawing/2014/main" xmlns="" id="{F147FCC4-6131-8F44-A906-F0D80C4D72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0" name="Rectangle 60">
                <a:extLst>
                  <a:ext uri="{FF2B5EF4-FFF2-40B4-BE49-F238E27FC236}">
                    <a16:creationId xmlns:a16="http://schemas.microsoft.com/office/drawing/2014/main" xmlns="" id="{85C735FA-9571-F248-9BA5-6CDBDBE01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1" name="Rectangle 61">
                <a:extLst>
                  <a:ext uri="{FF2B5EF4-FFF2-40B4-BE49-F238E27FC236}">
                    <a16:creationId xmlns:a16="http://schemas.microsoft.com/office/drawing/2014/main" xmlns="" id="{5812C6A4-3EC0-A249-9E63-F4652754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2" name="Group 62">
                <a:extLst>
                  <a:ext uri="{FF2B5EF4-FFF2-40B4-BE49-F238E27FC236}">
                    <a16:creationId xmlns:a16="http://schemas.microsoft.com/office/drawing/2014/main" xmlns="" id="{7E620A9B-CBE1-F240-88FD-585574663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8" name="AutoShape 63">
                  <a:extLst>
                    <a:ext uri="{FF2B5EF4-FFF2-40B4-BE49-F238E27FC236}">
                      <a16:creationId xmlns:a16="http://schemas.microsoft.com/office/drawing/2014/main" xmlns="" id="{042898BA-1F4B-D343-83D2-32F6B871E1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9" name="AutoShape 64">
                  <a:extLst>
                    <a:ext uri="{FF2B5EF4-FFF2-40B4-BE49-F238E27FC236}">
                      <a16:creationId xmlns:a16="http://schemas.microsoft.com/office/drawing/2014/main" xmlns="" id="{43D7819E-9A5B-E741-ACC4-82E6487AE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3" name="Freeform 65">
                <a:extLst>
                  <a:ext uri="{FF2B5EF4-FFF2-40B4-BE49-F238E27FC236}">
                    <a16:creationId xmlns:a16="http://schemas.microsoft.com/office/drawing/2014/main" xmlns="" id="{7CC2BA69-A482-5D4B-8CA5-B5AC73726D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04" name="Group 66">
                <a:extLst>
                  <a:ext uri="{FF2B5EF4-FFF2-40B4-BE49-F238E27FC236}">
                    <a16:creationId xmlns:a16="http://schemas.microsoft.com/office/drawing/2014/main" xmlns="" id="{F21B3CA3-EDB9-ED4A-9790-00B635137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6" name="AutoShape 67">
                  <a:extLst>
                    <a:ext uri="{FF2B5EF4-FFF2-40B4-BE49-F238E27FC236}">
                      <a16:creationId xmlns:a16="http://schemas.microsoft.com/office/drawing/2014/main" xmlns="" id="{9EDB1FCF-F653-F642-8D80-BF382D9E0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17" name="AutoShape 68">
                  <a:extLst>
                    <a:ext uri="{FF2B5EF4-FFF2-40B4-BE49-F238E27FC236}">
                      <a16:creationId xmlns:a16="http://schemas.microsoft.com/office/drawing/2014/main" xmlns="" id="{609BFCAD-4861-EE43-8362-EA6C485563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05" name="Rectangle 69">
                <a:extLst>
                  <a:ext uri="{FF2B5EF4-FFF2-40B4-BE49-F238E27FC236}">
                    <a16:creationId xmlns:a16="http://schemas.microsoft.com/office/drawing/2014/main" xmlns="" id="{5D47278C-43D3-204F-86FD-15B202090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32"/>
                <a:ext cx="68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6" name="Freeform 70">
                <a:extLst>
                  <a:ext uri="{FF2B5EF4-FFF2-40B4-BE49-F238E27FC236}">
                    <a16:creationId xmlns:a16="http://schemas.microsoft.com/office/drawing/2014/main" xmlns="" id="{C4685EB6-AA09-4243-9AED-1759E88D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Freeform 71">
                <a:extLst>
                  <a:ext uri="{FF2B5EF4-FFF2-40B4-BE49-F238E27FC236}">
                    <a16:creationId xmlns:a16="http://schemas.microsoft.com/office/drawing/2014/main" xmlns="" id="{F8013113-6639-D746-8787-464D70E73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8" name="Oval 72">
                <a:extLst>
                  <a:ext uri="{FF2B5EF4-FFF2-40B4-BE49-F238E27FC236}">
                    <a16:creationId xmlns:a16="http://schemas.microsoft.com/office/drawing/2014/main" xmlns="" id="{BAF4B182-B231-9044-AFF9-C80B2E27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9" name="Freeform 73">
                <a:extLst>
                  <a:ext uri="{FF2B5EF4-FFF2-40B4-BE49-F238E27FC236}">
                    <a16:creationId xmlns:a16="http://schemas.microsoft.com/office/drawing/2014/main" xmlns="" id="{5BF1720C-9B23-A442-9078-1CB2D3EA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0" name="AutoShape 74">
                <a:extLst>
                  <a:ext uri="{FF2B5EF4-FFF2-40B4-BE49-F238E27FC236}">
                    <a16:creationId xmlns:a16="http://schemas.microsoft.com/office/drawing/2014/main" xmlns="" id="{5C72D219-90B2-E948-8C51-2DF4C76E67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AutoShape 75">
                <a:extLst>
                  <a:ext uri="{FF2B5EF4-FFF2-40B4-BE49-F238E27FC236}">
                    <a16:creationId xmlns:a16="http://schemas.microsoft.com/office/drawing/2014/main" xmlns="" id="{83107432-CCDD-3F4A-A673-5C965AB662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Oval 76">
                <a:extLst>
                  <a:ext uri="{FF2B5EF4-FFF2-40B4-BE49-F238E27FC236}">
                    <a16:creationId xmlns:a16="http://schemas.microsoft.com/office/drawing/2014/main" xmlns="" id="{93D83AE9-CB35-4043-B0A0-1FFA79087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Oval 77">
                <a:extLst>
                  <a:ext uri="{FF2B5EF4-FFF2-40B4-BE49-F238E27FC236}">
                    <a16:creationId xmlns:a16="http://schemas.microsoft.com/office/drawing/2014/main" xmlns="" id="{C8BA1D5C-380B-5844-9DFE-FB0350399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114" name="Oval 78">
                <a:extLst>
                  <a:ext uri="{FF2B5EF4-FFF2-40B4-BE49-F238E27FC236}">
                    <a16:creationId xmlns:a16="http://schemas.microsoft.com/office/drawing/2014/main" xmlns="" id="{EF0EACD3-D07B-0F4F-BB94-4F2D63912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Rectangle 79">
                <a:extLst>
                  <a:ext uri="{FF2B5EF4-FFF2-40B4-BE49-F238E27FC236}">
                    <a16:creationId xmlns:a16="http://schemas.microsoft.com/office/drawing/2014/main" xmlns="" id="{C545DB8D-EFCD-9A46-858D-A246B93C7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xmlns="" id="{C473C8CC-FB59-904B-86D0-BFB6A61402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50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1038</Words>
  <Application>Microsoft Macintosh PowerPoint</Application>
  <PresentationFormat>Widescreen</PresentationFormat>
  <Paragraphs>312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Comic Sans MS</vt:lpstr>
      <vt:lpstr>Courier New</vt:lpstr>
      <vt:lpstr>MS PGothic</vt:lpstr>
      <vt:lpstr>ＭＳ Ｐゴシック</vt:lpstr>
      <vt:lpstr>Wingdings</vt:lpstr>
      <vt:lpstr>ZapfDingbats</vt:lpstr>
      <vt:lpstr>Office Theme</vt:lpstr>
      <vt:lpstr>IT694 Computer Networks</vt:lpstr>
      <vt:lpstr>Application layer: overview</vt:lpstr>
      <vt:lpstr>Application layer: overview</vt:lpstr>
      <vt:lpstr>Some network apps</vt:lpstr>
      <vt:lpstr>Creating a network app</vt:lpstr>
      <vt:lpstr>Client-server paradigm</vt:lpstr>
      <vt:lpstr>Processes communicating</vt:lpstr>
      <vt:lpstr>Addressing processes</vt:lpstr>
      <vt:lpstr>An application-layer protocol defines:</vt:lpstr>
      <vt:lpstr>What transport service does an app need?</vt:lpstr>
      <vt:lpstr>Internet transport protocols services</vt:lpstr>
      <vt:lpstr>Transport service requirements: common apps</vt:lpstr>
      <vt:lpstr>Application layer: overview</vt:lpstr>
      <vt:lpstr>Web and HTTP</vt:lpstr>
      <vt:lpstr>HTTP overview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Microsoft Office User</cp:lastModifiedBy>
  <cp:revision>1</cp:revision>
  <dcterms:created xsi:type="dcterms:W3CDTF">2026-01-22T05:05:26Z</dcterms:created>
  <dcterms:modified xsi:type="dcterms:W3CDTF">2026-01-22T05:10:21Z</dcterms:modified>
</cp:coreProperties>
</file>