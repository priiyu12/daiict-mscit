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60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42"/>
    <p:restoredTop sz="96154"/>
  </p:normalViewPr>
  <p:slideViewPr>
    <p:cSldViewPr snapToGrid="0" snapToObjects="1">
      <p:cViewPr varScale="1">
        <p:scale>
          <a:sx n="93" d="100"/>
          <a:sy n="93" d="100"/>
        </p:scale>
        <p:origin x="216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C518F-010F-8A43-93C6-23F1F5686D4A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05DE8-8206-C34F-82C5-ADAD56DD2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152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C518F-010F-8A43-93C6-23F1F5686D4A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05DE8-8206-C34F-82C5-ADAD56DD2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262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C518F-010F-8A43-93C6-23F1F5686D4A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05DE8-8206-C34F-82C5-ADAD56DD2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211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C518F-010F-8A43-93C6-23F1F5686D4A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05DE8-8206-C34F-82C5-ADAD56DD2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0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C518F-010F-8A43-93C6-23F1F5686D4A}" type="datetimeFigureOut">
              <a:rPr lang="en-US" smtClean="0"/>
              <a:t>2/24/26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05DE8-8206-C34F-82C5-ADAD56DD2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34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C518F-010F-8A43-93C6-23F1F5686D4A}" type="datetimeFigureOut">
              <a:rPr lang="en-US" smtClean="0"/>
              <a:t>2/24/26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05DE8-8206-C34F-82C5-ADAD56DD2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99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C518F-010F-8A43-93C6-23F1F5686D4A}" type="datetimeFigureOut">
              <a:rPr lang="en-US" smtClean="0"/>
              <a:t>2/24/26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05DE8-8206-C34F-82C5-ADAD56DD2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98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C518F-010F-8A43-93C6-23F1F5686D4A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05DE8-8206-C34F-82C5-ADAD56DD2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776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C518F-010F-8A43-93C6-23F1F5686D4A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05DE8-8206-C34F-82C5-ADAD56DD2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186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C518F-010F-8A43-93C6-23F1F5686D4A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05DE8-8206-C34F-82C5-ADAD56DD2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793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C518F-010F-8A43-93C6-23F1F5686D4A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05DE8-8206-C34F-82C5-ADAD56DD2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9131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FC518F-010F-8A43-93C6-23F1F5686D4A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B05DE8-8206-C34F-82C5-ADAD56DD2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273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IT694</a:t>
            </a:r>
            <a:br>
              <a:rPr lang="en-US" dirty="0" smtClean="0"/>
            </a:br>
            <a:r>
              <a:rPr lang="en-US" dirty="0" smtClean="0"/>
              <a:t>Computer Networks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Week </a:t>
            </a:r>
            <a:r>
              <a:rPr lang="en-US" dirty="0" smtClean="0"/>
              <a:t>8_Lec1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0918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091" y="537152"/>
            <a:ext cx="11159836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Times New Roman" charset="0"/>
                <a:ea typeface="Times New Roman" charset="0"/>
                <a:cs typeface="Times New Roman" charset="0"/>
              </a:rPr>
              <a:t>Suppose the five measured </a:t>
            </a:r>
            <a:r>
              <a:rPr lang="en-US" sz="2400" dirty="0" err="1">
                <a:latin typeface="Times New Roman" charset="0"/>
                <a:ea typeface="Times New Roman" charset="0"/>
                <a:cs typeface="Times New Roman" charset="0"/>
              </a:rPr>
              <a:t>SampleRTT</a:t>
            </a:r>
            <a:r>
              <a:rPr lang="en-US" sz="2400" dirty="0">
                <a:latin typeface="Times New Roman" charset="0"/>
                <a:ea typeface="Times New Roman" charset="0"/>
                <a:cs typeface="Times New Roman" charset="0"/>
              </a:rPr>
              <a:t> values are 106ms, 120ms, 140ms, 90ms, </a:t>
            </a:r>
            <a:r>
              <a:rPr lang="en-US" sz="2400" dirty="0" smtClean="0">
                <a:latin typeface="Times New Roman" charset="0"/>
                <a:ea typeface="Times New Roman" charset="0"/>
                <a:cs typeface="Times New Roman" charset="0"/>
              </a:rPr>
              <a:t>and 115ms</a:t>
            </a:r>
            <a:r>
              <a:rPr lang="en-US" sz="2400" dirty="0">
                <a:latin typeface="Times New Roman" charset="0"/>
                <a:ea typeface="Times New Roman" charset="0"/>
                <a:cs typeface="Times New Roman" charset="0"/>
              </a:rPr>
              <a:t>. Compute the </a:t>
            </a:r>
            <a:r>
              <a:rPr lang="en-US" sz="2400" dirty="0" err="1">
                <a:latin typeface="Times New Roman" charset="0"/>
                <a:ea typeface="Times New Roman" charset="0"/>
                <a:cs typeface="Times New Roman" charset="0"/>
              </a:rPr>
              <a:t>EstimatedRTT</a:t>
            </a:r>
            <a:r>
              <a:rPr lang="en-US" sz="2400" dirty="0">
                <a:latin typeface="Times New Roman" charset="0"/>
                <a:ea typeface="Times New Roman" charset="0"/>
                <a:cs typeface="Times New Roman" charset="0"/>
              </a:rPr>
              <a:t> after each of these </a:t>
            </a:r>
            <a:r>
              <a:rPr lang="en-US" sz="2400" dirty="0" err="1">
                <a:latin typeface="Times New Roman" charset="0"/>
                <a:ea typeface="Times New Roman" charset="0"/>
                <a:cs typeface="Times New Roman" charset="0"/>
              </a:rPr>
              <a:t>SampleRTT</a:t>
            </a:r>
            <a:r>
              <a:rPr lang="en-US" sz="2400" dirty="0">
                <a:latin typeface="Times New Roman" charset="0"/>
                <a:ea typeface="Times New Roman" charset="0"/>
                <a:cs typeface="Times New Roman" charset="0"/>
              </a:rPr>
              <a:t> values is obtained</a:t>
            </a:r>
            <a:r>
              <a:rPr lang="en-US" sz="2400" dirty="0" smtClean="0">
                <a:latin typeface="Times New Roman" charset="0"/>
                <a:ea typeface="Times New Roman" charset="0"/>
                <a:cs typeface="Times New Roman" charset="0"/>
              </a:rPr>
              <a:t>, using </a:t>
            </a:r>
            <a:r>
              <a:rPr lang="en-US" sz="2400" dirty="0">
                <a:latin typeface="Times New Roman" charset="0"/>
                <a:ea typeface="Times New Roman" charset="0"/>
                <a:cs typeface="Times New Roman" charset="0"/>
              </a:rPr>
              <a:t>a value of α=0.125 and assuming that the value of </a:t>
            </a:r>
            <a:r>
              <a:rPr lang="en-US" sz="2400" dirty="0" err="1">
                <a:latin typeface="Times New Roman" charset="0"/>
                <a:ea typeface="Times New Roman" charset="0"/>
                <a:cs typeface="Times New Roman" charset="0"/>
              </a:rPr>
              <a:t>EstimatedRTT</a:t>
            </a:r>
            <a:r>
              <a:rPr lang="en-US" sz="2400" dirty="0">
                <a:latin typeface="Times New Roman" charset="0"/>
                <a:ea typeface="Times New Roman" charset="0"/>
                <a:cs typeface="Times New Roman" charset="0"/>
              </a:rPr>
              <a:t> was 100ms </a:t>
            </a:r>
            <a:r>
              <a:rPr lang="en-US" sz="2400" dirty="0" smtClean="0">
                <a:latin typeface="Times New Roman" charset="0"/>
                <a:ea typeface="Times New Roman" charset="0"/>
                <a:cs typeface="Times New Roman" charset="0"/>
              </a:rPr>
              <a:t>just before </a:t>
            </a:r>
            <a:r>
              <a:rPr lang="en-US" sz="2400" dirty="0">
                <a:latin typeface="Times New Roman" charset="0"/>
                <a:ea typeface="Times New Roman" charset="0"/>
                <a:cs typeface="Times New Roman" charset="0"/>
              </a:rPr>
              <a:t>the first of these five samples were obtained. Compute also the </a:t>
            </a:r>
            <a:r>
              <a:rPr lang="en-US" sz="2400" dirty="0" err="1">
                <a:latin typeface="Times New Roman" charset="0"/>
                <a:ea typeface="Times New Roman" charset="0"/>
                <a:cs typeface="Times New Roman" charset="0"/>
              </a:rPr>
              <a:t>DevRTT</a:t>
            </a:r>
            <a:r>
              <a:rPr lang="en-US" sz="2400" dirty="0">
                <a:latin typeface="Times New Roman" charset="0"/>
                <a:ea typeface="Times New Roman" charset="0"/>
                <a:cs typeface="Times New Roman" charset="0"/>
              </a:rPr>
              <a:t> after </a:t>
            </a:r>
            <a:r>
              <a:rPr lang="en-US" sz="2400" dirty="0" smtClean="0">
                <a:latin typeface="Times New Roman" charset="0"/>
                <a:ea typeface="Times New Roman" charset="0"/>
                <a:cs typeface="Times New Roman" charset="0"/>
              </a:rPr>
              <a:t>each sample </a:t>
            </a:r>
            <a:r>
              <a:rPr lang="en-US" sz="2400" dirty="0">
                <a:latin typeface="Times New Roman" charset="0"/>
                <a:ea typeface="Times New Roman" charset="0"/>
                <a:cs typeface="Times New Roman" charset="0"/>
              </a:rPr>
              <a:t>is obtained, assuming a value of β=0.25</a:t>
            </a:r>
          </a:p>
          <a:p>
            <a:endParaRPr lang="en-US" sz="2400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endParaRPr lang="en-US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788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6341" y="173095"/>
            <a:ext cx="5210060" cy="2724341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sz="2400" dirty="0">
                <a:latin typeface="Times New Roman" charset="0"/>
                <a:ea typeface="Times New Roman" charset="0"/>
                <a:cs typeface="Times New Roman" charset="0"/>
              </a:rPr>
              <a:t>The diagram at right shows two TCP senders </a:t>
            </a:r>
            <a:r>
              <a:rPr lang="en-US" sz="2400" dirty="0" smtClean="0">
                <a:latin typeface="Times New Roman" charset="0"/>
                <a:ea typeface="Times New Roman" charset="0"/>
                <a:cs typeface="Times New Roman" charset="0"/>
              </a:rPr>
              <a:t>at left </a:t>
            </a:r>
            <a:r>
              <a:rPr lang="en-US" sz="2400" dirty="0">
                <a:latin typeface="Times New Roman" charset="0"/>
                <a:ea typeface="Times New Roman" charset="0"/>
                <a:cs typeface="Times New Roman" charset="0"/>
              </a:rPr>
              <a:t>and the corresponding receivers at right. The </a:t>
            </a:r>
            <a:r>
              <a:rPr lang="en-US" sz="2400" dirty="0" smtClean="0">
                <a:latin typeface="Times New Roman" charset="0"/>
                <a:ea typeface="Times New Roman" charset="0"/>
                <a:cs typeface="Times New Roman" charset="0"/>
              </a:rPr>
              <a:t>first sender </a:t>
            </a:r>
            <a:r>
              <a:rPr lang="en-US" sz="2400" dirty="0">
                <a:latin typeface="Times New Roman" charset="0"/>
                <a:ea typeface="Times New Roman" charset="0"/>
                <a:cs typeface="Times New Roman" charset="0"/>
              </a:rPr>
              <a:t>uses TCP</a:t>
            </a:r>
            <a:r>
              <a:rPr lang="en-US" sz="2400" i="1" dirty="0">
                <a:latin typeface="Times New Roman" charset="0"/>
                <a:ea typeface="Times New Roman" charset="0"/>
                <a:cs typeface="Times New Roman" charset="0"/>
              </a:rPr>
              <a:t> Tahoe</a:t>
            </a:r>
            <a:r>
              <a:rPr lang="en-US" sz="2400" dirty="0">
                <a:latin typeface="Times New Roman" charset="0"/>
                <a:ea typeface="Times New Roman" charset="0"/>
                <a:cs typeface="Times New Roman" charset="0"/>
              </a:rPr>
              <a:t>, the second uses </a:t>
            </a:r>
            <a:r>
              <a:rPr lang="en-US" sz="2400" i="1" dirty="0">
                <a:latin typeface="Times New Roman" charset="0"/>
                <a:ea typeface="Times New Roman" charset="0"/>
                <a:cs typeface="Times New Roman" charset="0"/>
              </a:rPr>
              <a:t>Reno</a:t>
            </a:r>
            <a:r>
              <a:rPr lang="en-US" sz="2400" dirty="0">
                <a:latin typeface="Times New Roman" charset="0"/>
                <a:ea typeface="Times New Roman" charset="0"/>
                <a:cs typeface="Times New Roman" charset="0"/>
              </a:rPr>
              <a:t>. Assume </a:t>
            </a:r>
            <a:r>
              <a:rPr lang="en-US" sz="2400" dirty="0" smtClean="0">
                <a:latin typeface="Times New Roman" charset="0"/>
                <a:ea typeface="Times New Roman" charset="0"/>
                <a:cs typeface="Times New Roman" charset="0"/>
              </a:rPr>
              <a:t>that the </a:t>
            </a:r>
            <a:r>
              <a:rPr lang="en-US" sz="2400" dirty="0">
                <a:latin typeface="Times New Roman" charset="0"/>
                <a:ea typeface="Times New Roman" charset="0"/>
                <a:cs typeface="Times New Roman" charset="0"/>
              </a:rPr>
              <a:t>MSS is 1 KB, that the one-way propagation delay </a:t>
            </a:r>
            <a:r>
              <a:rPr lang="en-US" sz="2400" dirty="0" smtClean="0">
                <a:latin typeface="Times New Roman" charset="0"/>
                <a:ea typeface="Times New Roman" charset="0"/>
                <a:cs typeface="Times New Roman" charset="0"/>
              </a:rPr>
              <a:t>for both </a:t>
            </a:r>
            <a:r>
              <a:rPr lang="en-US" sz="2400" dirty="0">
                <a:latin typeface="Times New Roman" charset="0"/>
                <a:ea typeface="Times New Roman" charset="0"/>
                <a:cs typeface="Times New Roman" charset="0"/>
              </a:rPr>
              <a:t>connections is 50 </a:t>
            </a:r>
            <a:r>
              <a:rPr lang="en-US" sz="2400" dirty="0" err="1">
                <a:latin typeface="Times New Roman" charset="0"/>
                <a:ea typeface="Times New Roman" charset="0"/>
                <a:cs typeface="Times New Roman" charset="0"/>
              </a:rPr>
              <a:t>ms</a:t>
            </a:r>
            <a:r>
              <a:rPr lang="en-US" sz="2400" dirty="0">
                <a:latin typeface="Times New Roman" charset="0"/>
                <a:ea typeface="Times New Roman" charset="0"/>
                <a:cs typeface="Times New Roman" charset="0"/>
              </a:rPr>
              <a:t> and that the link joining the </a:t>
            </a:r>
            <a:r>
              <a:rPr lang="en-US" sz="2400" dirty="0" smtClean="0">
                <a:latin typeface="Times New Roman" charset="0"/>
                <a:ea typeface="Times New Roman" charset="0"/>
                <a:cs typeface="Times New Roman" charset="0"/>
              </a:rPr>
              <a:t>two routers </a:t>
            </a:r>
            <a:r>
              <a:rPr lang="en-US" sz="2400" dirty="0">
                <a:latin typeface="Times New Roman" charset="0"/>
                <a:ea typeface="Times New Roman" charset="0"/>
                <a:cs typeface="Times New Roman" charset="0"/>
              </a:rPr>
              <a:t>has a bandwidth of 6 Mb/s. Let </a:t>
            </a:r>
            <a:r>
              <a:rPr lang="en-US" sz="2400" i="1" dirty="0">
                <a:latin typeface="Times New Roman" charset="0"/>
                <a:ea typeface="Times New Roman" charset="0"/>
                <a:cs typeface="Times New Roman" charset="0"/>
              </a:rPr>
              <a:t>cwnd</a:t>
            </a:r>
            <a:r>
              <a:rPr lang="en-US" sz="2400" dirty="0">
                <a:latin typeface="Times New Roman" charset="0"/>
                <a:ea typeface="Times New Roman" charset="0"/>
                <a:cs typeface="Times New Roman" charset="0"/>
              </a:rPr>
              <a:t>1 and </a:t>
            </a:r>
            <a:r>
              <a:rPr lang="en-US" sz="2400" i="1" dirty="0">
                <a:latin typeface="Times New Roman" charset="0"/>
                <a:ea typeface="Times New Roman" charset="0"/>
                <a:cs typeface="Times New Roman" charset="0"/>
              </a:rPr>
              <a:t>cwnd</a:t>
            </a:r>
            <a:r>
              <a:rPr lang="en-US" sz="2400" dirty="0">
                <a:latin typeface="Times New Roman" charset="0"/>
                <a:ea typeface="Times New Roman" charset="0"/>
                <a:cs typeface="Times New Roman" charset="0"/>
              </a:rPr>
              <a:t>2 </a:t>
            </a:r>
            <a:r>
              <a:rPr lang="en-US" sz="2400" dirty="0" smtClean="0">
                <a:latin typeface="Times New Roman" charset="0"/>
                <a:ea typeface="Times New Roman" charset="0"/>
                <a:cs typeface="Times New Roman" charset="0"/>
              </a:rPr>
              <a:t>be the </a:t>
            </a:r>
            <a:r>
              <a:rPr lang="en-US" sz="2400" dirty="0">
                <a:latin typeface="Times New Roman" charset="0"/>
                <a:ea typeface="Times New Roman" charset="0"/>
                <a:cs typeface="Times New Roman" charset="0"/>
              </a:rPr>
              <a:t>values of the senders’ congestion windows.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885" y="369021"/>
            <a:ext cx="5771410" cy="233248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4969" y="301770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1. What is the smallest value of </a:t>
            </a:r>
            <a:r>
              <a:rPr lang="en-US" i="1" dirty="0" smtClean="0">
                <a:latin typeface="Times New Roman" charset="0"/>
                <a:ea typeface="Times New Roman" charset="0"/>
                <a:cs typeface="Times New Roman" charset="0"/>
              </a:rPr>
              <a:t>cwnd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1+</a:t>
            </a:r>
            <a:r>
              <a:rPr lang="en-US" i="1" dirty="0" smtClean="0">
                <a:latin typeface="Times New Roman" charset="0"/>
                <a:ea typeface="Times New Roman" charset="0"/>
                <a:cs typeface="Times New Roman" charset="0"/>
              </a:rPr>
              <a:t> cwnd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2 for which the link joining the two routers stays busy all the time?</a:t>
            </a:r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4968" y="4120953"/>
            <a:ext cx="697734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  <a:effectLst/>
                <a:latin typeface="Book Antiqua" charset="0"/>
              </a:rPr>
              <a:t>2. Assume that the link buffer overflows whenever</a:t>
            </a:r>
            <a:r>
              <a:rPr lang="en-US" i="1" dirty="0" smtClean="0">
                <a:solidFill>
                  <a:srgbClr val="000000"/>
                </a:solidFill>
                <a:effectLst/>
                <a:latin typeface="Book Antiqua" charset="0"/>
              </a:rPr>
              <a:t> cwnd</a:t>
            </a:r>
            <a:r>
              <a:rPr lang="en-US" baseline="-25000" dirty="0" smtClean="0">
                <a:solidFill>
                  <a:srgbClr val="000000"/>
                </a:solidFill>
                <a:effectLst/>
                <a:latin typeface="Book Antiqua" charset="0"/>
              </a:rPr>
              <a:t>1</a:t>
            </a:r>
            <a:r>
              <a:rPr lang="en-US" dirty="0" smtClean="0">
                <a:solidFill>
                  <a:srgbClr val="000000"/>
                </a:solidFill>
                <a:effectLst/>
                <a:latin typeface="Book Antiqua" charset="0"/>
              </a:rPr>
              <a:t>+</a:t>
            </a:r>
            <a:r>
              <a:rPr lang="en-US" i="1" dirty="0" smtClean="0">
                <a:solidFill>
                  <a:srgbClr val="000000"/>
                </a:solidFill>
                <a:effectLst/>
                <a:latin typeface="Book Antiqua" charset="0"/>
              </a:rPr>
              <a:t>cwnd</a:t>
            </a:r>
            <a:r>
              <a:rPr lang="en-US" baseline="-25000" dirty="0" smtClean="0">
                <a:solidFill>
                  <a:srgbClr val="000000"/>
                </a:solidFill>
                <a:effectLst/>
                <a:latin typeface="Book Antiqua" charset="0"/>
              </a:rPr>
              <a:t>2</a:t>
            </a:r>
            <a:r>
              <a:rPr lang="en-US" dirty="0" smtClean="0">
                <a:solidFill>
                  <a:srgbClr val="000000"/>
                </a:solidFill>
                <a:effectLst/>
                <a:latin typeface="Book Antiqua" charset="0"/>
              </a:rPr>
              <a:t>≥150 KB and that at time 0, </a:t>
            </a:r>
            <a:r>
              <a:rPr lang="en-US" i="1" dirty="0" smtClean="0">
                <a:solidFill>
                  <a:srgbClr val="000000"/>
                </a:solidFill>
                <a:effectLst/>
                <a:latin typeface="Book Antiqua" charset="0"/>
              </a:rPr>
              <a:t>cwnd</a:t>
            </a:r>
            <a:r>
              <a:rPr lang="en-US" baseline="-25000" dirty="0" smtClean="0">
                <a:solidFill>
                  <a:srgbClr val="000000"/>
                </a:solidFill>
                <a:effectLst/>
                <a:latin typeface="Book Antiqua" charset="0"/>
              </a:rPr>
              <a:t>1</a:t>
            </a:r>
            <a:r>
              <a:rPr lang="en-US" dirty="0" smtClean="0">
                <a:solidFill>
                  <a:srgbClr val="000000"/>
                </a:solidFill>
                <a:effectLst/>
                <a:latin typeface="Book Antiqua" charset="0"/>
              </a:rPr>
              <a:t>=30 KB and </a:t>
            </a:r>
            <a:r>
              <a:rPr lang="en-US" i="1" dirty="0" smtClean="0">
                <a:solidFill>
                  <a:srgbClr val="000000"/>
                </a:solidFill>
                <a:effectLst/>
                <a:latin typeface="Book Antiqua" charset="0"/>
              </a:rPr>
              <a:t>cwnd</a:t>
            </a:r>
            <a:r>
              <a:rPr lang="en-US" baseline="-25000" dirty="0" smtClean="0">
                <a:solidFill>
                  <a:srgbClr val="000000"/>
                </a:solidFill>
                <a:effectLst/>
                <a:latin typeface="Book Antiqua" charset="0"/>
              </a:rPr>
              <a:t>2</a:t>
            </a:r>
            <a:r>
              <a:rPr lang="en-US" dirty="0" smtClean="0">
                <a:solidFill>
                  <a:srgbClr val="000000"/>
                </a:solidFill>
                <a:effectLst/>
                <a:latin typeface="Book Antiqua" charset="0"/>
              </a:rPr>
              <a:t>=120 KB. </a:t>
            </a:r>
          </a:p>
          <a:p>
            <a:pPr marL="342900" indent="-342900">
              <a:buFont typeface="+mj-lt"/>
              <a:buAutoNum type="alphaLcPeriod"/>
            </a:pPr>
            <a:r>
              <a:rPr lang="en-US" dirty="0" smtClean="0">
                <a:solidFill>
                  <a:srgbClr val="000000"/>
                </a:solidFill>
                <a:effectLst/>
                <a:latin typeface="Book Antiqua" charset="0"/>
              </a:rPr>
              <a:t>Approximately, what are the values of </a:t>
            </a:r>
            <a:r>
              <a:rPr lang="en-US" i="1" dirty="0" smtClean="0">
                <a:solidFill>
                  <a:srgbClr val="000000"/>
                </a:solidFill>
                <a:effectLst/>
                <a:latin typeface="Book Antiqua" charset="0"/>
              </a:rPr>
              <a:t>cwnd</a:t>
            </a:r>
            <a:r>
              <a:rPr lang="en-US" dirty="0" smtClean="0">
                <a:solidFill>
                  <a:srgbClr val="000000"/>
                </a:solidFill>
                <a:effectLst/>
                <a:latin typeface="Book Antiqua" charset="0"/>
              </a:rPr>
              <a:t>1 and </a:t>
            </a:r>
            <a:r>
              <a:rPr lang="en-US" i="1" dirty="0" smtClean="0">
                <a:solidFill>
                  <a:srgbClr val="000000"/>
                </a:solidFill>
                <a:effectLst/>
                <a:latin typeface="Book Antiqua" charset="0"/>
              </a:rPr>
              <a:t>cwnd</a:t>
            </a:r>
            <a:r>
              <a:rPr lang="en-US" dirty="0" smtClean="0">
                <a:solidFill>
                  <a:srgbClr val="000000"/>
                </a:solidFill>
                <a:effectLst/>
                <a:latin typeface="Book Antiqua" charset="0"/>
              </a:rPr>
              <a:t>2 one RTT later? </a:t>
            </a:r>
          </a:p>
          <a:p>
            <a:pPr marL="342900" indent="-342900">
              <a:buFont typeface="+mj-lt"/>
              <a:buAutoNum type="alphaLcPeriod"/>
            </a:pPr>
            <a:r>
              <a:rPr lang="en-US" dirty="0" smtClean="0">
                <a:solidFill>
                  <a:srgbClr val="000000"/>
                </a:solidFill>
                <a:effectLst/>
                <a:latin typeface="Book Antiqua" charset="0"/>
              </a:rPr>
              <a:t>Also, what are the values of </a:t>
            </a:r>
            <a:r>
              <a:rPr lang="en-US" i="1" dirty="0" err="1" smtClean="0">
                <a:solidFill>
                  <a:srgbClr val="000000"/>
                </a:solidFill>
                <a:effectLst/>
                <a:latin typeface="Book Antiqua" charset="0"/>
              </a:rPr>
              <a:t>ssthresh</a:t>
            </a:r>
            <a:r>
              <a:rPr lang="en-US" dirty="0" smtClean="0">
                <a:solidFill>
                  <a:srgbClr val="000000"/>
                </a:solidFill>
                <a:effectLst/>
                <a:latin typeface="Book Antiqua" charset="0"/>
              </a:rPr>
              <a:t> for each of the two connections? Assume that all losses are detected by triple duplicate ACKs.</a:t>
            </a:r>
            <a:endParaRPr lang="en-US" dirty="0">
              <a:solidFill>
                <a:srgbClr val="000000"/>
              </a:solidFill>
              <a:effectLst/>
              <a:latin typeface="Book Antiqu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631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00559" y="46335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  <a:effectLst/>
                <a:latin typeface="Book Antiqua" charset="0"/>
              </a:rPr>
              <a:t>3. After 8 more RTTs, approximately what are the values of </a:t>
            </a:r>
            <a:r>
              <a:rPr lang="en-US" i="1" dirty="0" smtClean="0">
                <a:solidFill>
                  <a:srgbClr val="000000"/>
                </a:solidFill>
                <a:effectLst/>
                <a:latin typeface="Book Antiqua" charset="0"/>
              </a:rPr>
              <a:t>cwnd</a:t>
            </a:r>
            <a:r>
              <a:rPr lang="en-US" dirty="0" smtClean="0">
                <a:solidFill>
                  <a:srgbClr val="000000"/>
                </a:solidFill>
                <a:effectLst/>
                <a:latin typeface="Book Antiqua" charset="0"/>
              </a:rPr>
              <a:t>1 and </a:t>
            </a:r>
            <a:r>
              <a:rPr lang="en-US" i="1" dirty="0" smtClean="0">
                <a:solidFill>
                  <a:srgbClr val="000000"/>
                </a:solidFill>
                <a:effectLst/>
                <a:latin typeface="Book Antiqua" charset="0"/>
              </a:rPr>
              <a:t>cwnd</a:t>
            </a:r>
            <a:r>
              <a:rPr lang="en-US" dirty="0" smtClean="0">
                <a:solidFill>
                  <a:srgbClr val="000000"/>
                </a:solidFill>
                <a:effectLst/>
                <a:latin typeface="Book Antiqua" charset="0"/>
              </a:rPr>
              <a:t>2?</a:t>
            </a:r>
          </a:p>
          <a:p>
            <a:endParaRPr lang="en-US" dirty="0" smtClean="0">
              <a:solidFill>
                <a:srgbClr val="000000"/>
              </a:solidFill>
              <a:effectLst/>
              <a:latin typeface="Book Antiqua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00559" y="3093241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  <a:effectLst/>
                <a:latin typeface="Book Antiqua" charset="0"/>
              </a:rPr>
              <a:t>4. Approximately, how many more RTTs before </a:t>
            </a:r>
            <a:r>
              <a:rPr lang="en-US" i="1" dirty="0" smtClean="0">
                <a:solidFill>
                  <a:srgbClr val="000000"/>
                </a:solidFill>
                <a:effectLst/>
                <a:latin typeface="Book Antiqua" charset="0"/>
              </a:rPr>
              <a:t>cwnd</a:t>
            </a:r>
            <a:r>
              <a:rPr lang="en-US" dirty="0" smtClean="0">
                <a:solidFill>
                  <a:srgbClr val="000000"/>
                </a:solidFill>
                <a:effectLst/>
                <a:latin typeface="Book Antiqua" charset="0"/>
              </a:rPr>
              <a:t>1+</a:t>
            </a:r>
            <a:r>
              <a:rPr lang="en-US" i="1" dirty="0" smtClean="0">
                <a:solidFill>
                  <a:srgbClr val="000000"/>
                </a:solidFill>
                <a:effectLst/>
                <a:latin typeface="Book Antiqua" charset="0"/>
              </a:rPr>
              <a:t>cwnd</a:t>
            </a:r>
            <a:r>
              <a:rPr lang="en-US" dirty="0" smtClean="0">
                <a:solidFill>
                  <a:srgbClr val="000000"/>
                </a:solidFill>
                <a:effectLst/>
                <a:latin typeface="Book Antiqua" charset="0"/>
              </a:rPr>
              <a:t>2≥150 KB again?</a:t>
            </a:r>
          </a:p>
          <a:p>
            <a:r>
              <a:rPr lang="en-US" dirty="0" smtClean="0">
                <a:solidFill>
                  <a:srgbClr val="000000"/>
                </a:solidFill>
                <a:effectLst/>
                <a:latin typeface="Book Antiqua" charset="0"/>
              </a:rPr>
              <a:t>What is </a:t>
            </a:r>
            <a:r>
              <a:rPr lang="en-US" i="1" dirty="0" smtClean="0">
                <a:solidFill>
                  <a:srgbClr val="000000"/>
                </a:solidFill>
                <a:effectLst/>
                <a:latin typeface="Book Antiqua" charset="0"/>
              </a:rPr>
              <a:t>cwnd</a:t>
            </a:r>
            <a:r>
              <a:rPr lang="en-US" dirty="0" smtClean="0">
                <a:solidFill>
                  <a:srgbClr val="000000"/>
                </a:solidFill>
                <a:effectLst/>
                <a:latin typeface="Book Antiqua" charset="0"/>
              </a:rPr>
              <a:t>2–</a:t>
            </a:r>
            <a:r>
              <a:rPr lang="en-US" i="1" dirty="0" smtClean="0">
                <a:solidFill>
                  <a:srgbClr val="000000"/>
                </a:solidFill>
                <a:effectLst/>
                <a:latin typeface="Book Antiqua" charset="0"/>
              </a:rPr>
              <a:t>cwnd</a:t>
            </a:r>
            <a:r>
              <a:rPr lang="en-US" dirty="0" smtClean="0">
                <a:solidFill>
                  <a:srgbClr val="000000"/>
                </a:solidFill>
                <a:effectLst/>
                <a:latin typeface="Book Antiqua" charset="0"/>
              </a:rPr>
              <a:t>1 at this point?</a:t>
            </a:r>
          </a:p>
          <a:p>
            <a:r>
              <a:rPr lang="en-US" i="1" dirty="0" smtClean="0">
                <a:solidFill>
                  <a:srgbClr val="000000"/>
                </a:solidFill>
                <a:effectLst/>
                <a:latin typeface="Book Antiqua" charset="0"/>
              </a:rPr>
              <a:t>(150–87)/2=31.5 RTTs cwnd</a:t>
            </a:r>
            <a:r>
              <a:rPr lang="en-US" dirty="0" smtClean="0">
                <a:solidFill>
                  <a:srgbClr val="000000"/>
                </a:solidFill>
                <a:effectLst/>
                <a:latin typeface="Book Antiqua" charset="0"/>
              </a:rPr>
              <a:t>2–</a:t>
            </a:r>
            <a:r>
              <a:rPr lang="en-US" i="1" dirty="0" smtClean="0">
                <a:solidFill>
                  <a:srgbClr val="000000"/>
                </a:solidFill>
                <a:effectLst/>
                <a:latin typeface="Book Antiqua" charset="0"/>
              </a:rPr>
              <a:t>cwnd</a:t>
            </a:r>
            <a:r>
              <a:rPr lang="en-US" dirty="0" smtClean="0">
                <a:solidFill>
                  <a:srgbClr val="000000"/>
                </a:solidFill>
                <a:effectLst/>
                <a:latin typeface="Book Antiqua" charset="0"/>
              </a:rPr>
              <a:t>1</a:t>
            </a:r>
            <a:r>
              <a:rPr lang="en-US" i="1" dirty="0" smtClean="0">
                <a:solidFill>
                  <a:srgbClr val="000000"/>
                </a:solidFill>
                <a:effectLst/>
                <a:latin typeface="Book Antiqua" charset="0"/>
              </a:rPr>
              <a:t>=49 KB</a:t>
            </a:r>
            <a:endParaRPr lang="en-US" dirty="0">
              <a:solidFill>
                <a:srgbClr val="000000"/>
              </a:solidFill>
              <a:effectLst/>
              <a:latin typeface="Book Antiqu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7487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286</Words>
  <Application>Microsoft Macintosh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Book Antiqua</vt:lpstr>
      <vt:lpstr>Calibri</vt:lpstr>
      <vt:lpstr>Calibri Light</vt:lpstr>
      <vt:lpstr>Times New Roman</vt:lpstr>
      <vt:lpstr>Arial</vt:lpstr>
      <vt:lpstr>Office Theme</vt:lpstr>
      <vt:lpstr>IT694 Computer Networks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15.0037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IT694 Computer Networks</dc:title>
  <dc:creator>Microsoft Office User</dc:creator>
  <cp:lastModifiedBy>Microsoft Office User</cp:lastModifiedBy>
  <cp:revision>2</cp:revision>
  <dcterms:created xsi:type="dcterms:W3CDTF">2026-02-24T04:56:32Z</dcterms:created>
  <dcterms:modified xsi:type="dcterms:W3CDTF">2026-02-24T05:13:37Z</dcterms:modified>
</cp:coreProperties>
</file>