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Tahoma"/>
      <p:regular r:id="rId30"/>
      <p:bold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yG0BP2Uc3FLUkEU+UNGRND7U+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7.xml"/><Relationship Id="rId33" Type="http://schemas.openxmlformats.org/officeDocument/2006/relationships/font" Target="fonts/GillSans-bold.fntdata"/><Relationship Id="rId10" Type="http://schemas.openxmlformats.org/officeDocument/2006/relationships/slide" Target="slides/slide6.xml"/><Relationship Id="rId32" Type="http://schemas.openxmlformats.org/officeDocument/2006/relationships/font" Target="fonts/Gil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197" name="Google Shape;1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210" name="Google Shape;2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430" name="Google Shape;4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663" name="Google Shape;6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918" name="Google Shape;9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173" name="Google Shape;1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2" name="Google Shape;1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By logical communication ,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that from an application’s perspective, it is as if the hosts running the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directly connected; in reality, the hosts may be on opposite sides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planet, connected via numerous routers and a wide range of link types.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use the logical communication provided by the transport layer to send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messages to each other, free from the worry of the details of the physical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carry these messages.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look at each of these three (logical communications, actions, </a:t>
            </a:r>
            <a:endParaRPr/>
          </a:p>
        </p:txBody>
      </p:sp>
      <p:sp>
        <p:nvSpPr>
          <p:cNvPr id="1252" name="Google Shape;12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7" name="Google Shape;18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8" name="Google Shape;20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5" name="Google Shape;21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1" name="Google Shape;22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5" name="Google Shape;22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5" name="Google Shape;22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6" name="Google Shape;22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5" name="Google Shape;22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9" name="Google Shape;23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2" name="Google Shape;23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3" name="Google Shape;24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3" name="Google Shape;24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1" name="Google Shape;262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0.png"/><Relationship Id="rId22" Type="http://schemas.openxmlformats.org/officeDocument/2006/relationships/image" Target="../media/image42.png"/><Relationship Id="rId10" Type="http://schemas.openxmlformats.org/officeDocument/2006/relationships/image" Target="../media/image32.png"/><Relationship Id="rId21" Type="http://schemas.openxmlformats.org/officeDocument/2006/relationships/image" Target="../media/image23.png"/><Relationship Id="rId13" Type="http://schemas.openxmlformats.org/officeDocument/2006/relationships/image" Target="../media/image13.png"/><Relationship Id="rId12" Type="http://schemas.openxmlformats.org/officeDocument/2006/relationships/image" Target="../media/image16.png"/><Relationship Id="rId23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30.png"/><Relationship Id="rId15" Type="http://schemas.openxmlformats.org/officeDocument/2006/relationships/image" Target="../media/image24.png"/><Relationship Id="rId14" Type="http://schemas.openxmlformats.org/officeDocument/2006/relationships/image" Target="../media/image11.png"/><Relationship Id="rId17" Type="http://schemas.openxmlformats.org/officeDocument/2006/relationships/image" Target="../media/image29.png"/><Relationship Id="rId16" Type="http://schemas.openxmlformats.org/officeDocument/2006/relationships/image" Target="../media/image22.png"/><Relationship Id="rId5" Type="http://schemas.openxmlformats.org/officeDocument/2006/relationships/image" Target="../media/image27.png"/><Relationship Id="rId19" Type="http://schemas.openxmlformats.org/officeDocument/2006/relationships/image" Target="../media/image31.png"/><Relationship Id="rId6" Type="http://schemas.openxmlformats.org/officeDocument/2006/relationships/image" Target="../media/image14.png"/><Relationship Id="rId18" Type="http://schemas.openxmlformats.org/officeDocument/2006/relationships/image" Target="../media/image33.png"/><Relationship Id="rId7" Type="http://schemas.openxmlformats.org/officeDocument/2006/relationships/image" Target="../media/image21.png"/><Relationship Id="rId8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41.jpg"/><Relationship Id="rId6" Type="http://schemas.openxmlformats.org/officeDocument/2006/relationships/image" Target="../media/image44.png"/><Relationship Id="rId7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41.jpg"/><Relationship Id="rId6" Type="http://schemas.openxmlformats.org/officeDocument/2006/relationships/image" Target="../media/image44.png"/><Relationship Id="rId7" Type="http://schemas.openxmlformats.org/officeDocument/2006/relationships/image" Target="../media/image47.png"/><Relationship Id="rId8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4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grpSp>
        <p:nvGrpSpPr>
          <p:cNvPr id="96" name="Google Shape;96;p2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97" name="Google Shape;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100" name="Google Shape;10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103" name="Google Shape;103;p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2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2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2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2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" name="Google Shape;117;p2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" name="Google Shape;121;p2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" name="Google Shape;124;p2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2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39" name="Google Shape;139;p2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40" name="Google Shape;140;p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" name="Google Shape;145;p2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146" name="Google Shape;146;p2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2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8" name="Google Shape;148;p2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" name="Google Shape;149;p2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150" name="Google Shape;150;p2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2" name="Google Shape;152;p2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4" name="Google Shape;154;p2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155" name="Google Shape;155;p2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2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7" name="Google Shape;157;p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2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159" name="Google Shape;159;p2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2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1" name="Google Shape;161;p2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2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175" name="Google Shape;175;p2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" name="Google Shape;176;p2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2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178" name="Google Shape;178;p2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9" name="Google Shape;179;p2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2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181" name="Google Shape;181;p2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2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87" name="Google Shape;187;p2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0" name="Google Shape;19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2" name="Google Shape;1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200" name="Google Shape;200;p3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3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03" name="Google Shape;20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3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  <p:sp>
        <p:nvSpPr>
          <p:cNvPr id="206" name="Google Shape;206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213" name="Google Shape;2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cxnSp>
        <p:nvCxnSpPr>
          <p:cNvPr id="215" name="Google Shape;215;p4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4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17" name="Google Shape;217;p4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4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4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4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4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4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4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4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4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4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4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33" name="Google Shape;233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4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39" name="Google Shape;239;p4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" name="Google Shape;241;p4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4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43" name="Google Shape;243;p4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5" name="Google Shape;245;p4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4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48" name="Google Shape;248;p4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" name="Google Shape;251;p4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52" name="Google Shape;252;p4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4" name="Google Shape;254;p4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4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66" name="Google Shape;266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4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69" name="Google Shape;269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p4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75" name="Google Shape;275;p4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" name="Google Shape;277;p4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" name="Google Shape;278;p4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79" name="Google Shape;279;p4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" name="Google Shape;281;p4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" name="Google Shape;283;p4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4" name="Google Shape;284;p4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" name="Google Shape;286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p4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8" name="Google Shape;288;p4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0" name="Google Shape;290;p4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4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02" name="Google Shape;302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" name="Google Shape;307;p4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8" name="Google Shape;308;p4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0" name="Google Shape;310;p4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" name="Google Shape;311;p4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2" name="Google Shape;312;p4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" name="Google Shape;314;p4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" name="Google Shape;316;p4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7" name="Google Shape;317;p4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9" name="Google Shape;319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4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21" name="Google Shape;321;p4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4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4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35" name="Google Shape;335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" name="Google Shape;340;p4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41" name="Google Shape;341;p4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4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" name="Google Shape;343;p4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4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45" name="Google Shape;345;p4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7" name="Google Shape;347;p4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9" name="Google Shape;349;p4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50" name="Google Shape;350;p4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4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4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54" name="Google Shape;354;p4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4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6" name="Google Shape;356;p4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4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68" name="Google Shape;368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3" name="Google Shape;373;p4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74" name="Google Shape;374;p4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4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4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78" name="Google Shape;378;p4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4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" name="Google Shape;380;p4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" name="Google Shape;382;p4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83" name="Google Shape;383;p4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5" name="Google Shape;385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6" name="Google Shape;386;p4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87" name="Google Shape;387;p4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9" name="Google Shape;389;p4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4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401" name="Google Shape;40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4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404" name="Google Shape;404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4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407" name="Google Shape;407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9" name="Google Shape;409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0" name="Google Shape;410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4" name="Google Shape;414;p4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415" name="Google Shape;415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7" name="Google Shape;417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8" name="Google Shape;418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2" name="Google Shape;422;p4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424" name="Google Shape;424;p4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  <p:sp>
        <p:nvSpPr>
          <p:cNvPr id="426" name="Google Shape;426;p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cxnSp>
        <p:nvCxnSpPr>
          <p:cNvPr id="434" name="Google Shape;434;p5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5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436" name="Google Shape;436;p5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5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5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5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5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5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5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451" name="Google Shape;451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" name="Google Shape;456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457" name="Google Shape;457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461" name="Google Shape;461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" name="Google Shape;465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466" name="Google Shape;466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470" name="Google Shape;470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" name="Google Shape;472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5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484" name="Google Shape;48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5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487" name="Google Shape;487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" name="Google Shape;492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493" name="Google Shape;493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497" name="Google Shape;497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9" name="Google Shape;499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" name="Google Shape;501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02" name="Google Shape;502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" name="Google Shape;505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06" name="Google Shape;506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" name="Google Shape;508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5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520" name="Google Shape;520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5" name="Google Shape;525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26" name="Google Shape;526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8" name="Google Shape;528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9" name="Google Shape;529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30" name="Google Shape;530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2" name="Google Shape;532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4" name="Google Shape;534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35" name="Google Shape;535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7" name="Google Shape;537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8" name="Google Shape;538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39" name="Google Shape;539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1" name="Google Shape;541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5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553" name="Google Shape;553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8" name="Google Shape;558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59" name="Google Shape;559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" name="Google Shape;561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2" name="Google Shape;562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63" name="Google Shape;563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5" name="Google Shape;565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7" name="Google Shape;567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68" name="Google Shape;568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0" name="Google Shape;570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" name="Google Shape;571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72" name="Google Shape;572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4" name="Google Shape;574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5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586" name="Google Shape;586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1" name="Google Shape;591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92" name="Google Shape;592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4" name="Google Shape;594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5" name="Google Shape;595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96" name="Google Shape;596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8" name="Google Shape;598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0" name="Google Shape;600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601" name="Google Shape;601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3" name="Google Shape;603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4" name="Google Shape;604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605" name="Google Shape;605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7" name="Google Shape;607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5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619" name="Google Shape;61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5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622" name="Google Shape;62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5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625" name="Google Shape;625;p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27" name="Google Shape;627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8" name="Google Shape;628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5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633" name="Google Shape;633;p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35" name="Google Shape;635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6" name="Google Shape;636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40" name="Google Shape;640;p5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641" name="Google Shape;641;p5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642" name="Google Shape;642;p5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643" name="Google Shape;643;p5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45" name="Google Shape;645;p5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646" name="Google Shape;646;p5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647" name="Google Shape;647;p5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49" name="Google Shape;649;p5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650" name="Google Shape;650;p5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651" name="Google Shape;651;p5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3" name="Google Shape;653;p5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54" name="Google Shape;654;p5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655" name="Google Shape;655;p5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/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7" name="Google Shape;657;p5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58" name="Google Shape;658;p5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  <p:sp>
        <p:nvSpPr>
          <p:cNvPr id="659" name="Google Shape;659;p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66" name="Google Shape;666;p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cxnSp>
        <p:nvCxnSpPr>
          <p:cNvPr id="667" name="Google Shape;667;p6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p6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669" name="Google Shape;669;p6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6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6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6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6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6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6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6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6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6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6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6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684" name="Google Shape;684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9" name="Google Shape;689;p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690" name="Google Shape;690;p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2" name="Google Shape;692;p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3" name="Google Shape;693;p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694" name="Google Shape;694;p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6" name="Google Shape;696;p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" name="Google Shape;698;p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699" name="Google Shape;699;p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1" name="Google Shape;701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2" name="Google Shape;702;p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703" name="Google Shape;703;p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5" name="Google Shape;705;p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6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717" name="Google Shape;71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6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720" name="Google Shape;720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" name="Google Shape;725;p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726" name="Google Shape;726;p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8" name="Google Shape;728;p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9" name="Google Shape;729;p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730" name="Google Shape;730;p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2" name="Google Shape;732;p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4" name="Google Shape;734;p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735" name="Google Shape;735;p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7" name="Google Shape;737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8" name="Google Shape;738;p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739" name="Google Shape;739;p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1" name="Google Shape;741;p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6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753" name="Google Shape;753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8" name="Google Shape;758;p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759" name="Google Shape;759;p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1" name="Google Shape;761;p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" name="Google Shape;762;p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763" name="Google Shape;763;p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5" name="Google Shape;765;p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7" name="Google Shape;767;p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768" name="Google Shape;768;p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0" name="Google Shape;770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1" name="Google Shape;771;p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772" name="Google Shape;772;p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6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786" name="Google Shape;786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1" name="Google Shape;791;p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792" name="Google Shape;792;p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4" name="Google Shape;794;p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5" name="Google Shape;795;p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796" name="Google Shape;796;p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8" name="Google Shape;798;p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0" name="Google Shape;800;p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01" name="Google Shape;801;p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3" name="Google Shape;803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" name="Google Shape;804;p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05" name="Google Shape;805;p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7" name="Google Shape;807;p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6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819" name="Google Shape;819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4" name="Google Shape;824;p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25" name="Google Shape;825;p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" name="Google Shape;827;p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8" name="Google Shape;828;p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29" name="Google Shape;829;p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1" name="Google Shape;831;p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3" name="Google Shape;833;p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34" name="Google Shape;834;p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6" name="Google Shape;836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" name="Google Shape;837;p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38" name="Google Shape;838;p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0" name="Google Shape;840;p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1" name="Google Shape;851;p6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852" name="Google Shape;852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3" name="Google Shape;853;p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4" name="Google Shape;854;p6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855" name="Google Shape;85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6" name="Google Shape;856;p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6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858" name="Google Shape;858;p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0" name="Google Shape;860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1" name="Google Shape;861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5" name="Google Shape;865;p6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866" name="Google Shape;866;p6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867" name="Google Shape;867;p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9" name="Google Shape;869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0" name="Google Shape;870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4" name="Google Shape;874;p6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875" name="Google Shape;875;p6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6" name="Google Shape;876;p6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877" name="Google Shape;877;p6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878" name="Google Shape;878;p6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879" name="Google Shape;879;p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0" name="Google Shape;880;p6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1" name="Google Shape;881;p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2" name="Google Shape;882;p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3" name="Google Shape;883;p6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4" name="Google Shape;884;p6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885" name="Google Shape;885;p6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6" name="Google Shape;886;p6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87" name="Google Shape;887;p6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8" name="Google Shape;888;p6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889" name="Google Shape;889;p6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0" name="Google Shape;890;p6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91" name="Google Shape;891;p6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2" name="Google Shape;892;p6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93" name="Google Shape;893;p6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894" name="Google Shape;894;p6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5" name="Google Shape;895;p6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96" name="Google Shape;896;p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97" name="Google Shape;897;p6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898" name="Google Shape;898;p6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9" name="Google Shape;899;p6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0" name="Google Shape;900;p6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" name="Google Shape;902;p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" name="Google Shape;903;p6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" name="Google Shape;904;p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Google Shape;905;p6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" name="Google Shape;906;p6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" name="Google Shape;907;p6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" name="Google Shape;908;p6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6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6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11" name="Google Shape;911;p6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912" name="Google Shape;912;p6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913" name="Google Shape;913;p6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cxnSp>
        <p:nvCxnSpPr>
          <p:cNvPr id="921" name="Google Shape;921;p7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7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923" name="Google Shape;923;p7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7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7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7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7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0" name="Google Shape;930;p7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7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7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7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7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7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" name="Google Shape;937;p7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938" name="Google Shape;938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3" name="Google Shape;943;p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44" name="Google Shape;944;p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" name="Google Shape;946;p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" name="Google Shape;947;p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48" name="Google Shape;948;p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0" name="Google Shape;950;p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953" name="Google Shape;953;p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57" name="Google Shape;957;p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0" name="Google Shape;970;p7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971" name="Google Shape;97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7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974" name="Google Shape;974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9" name="Google Shape;979;p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80" name="Google Shape;980;p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p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" name="Google Shape;983;p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84" name="Google Shape;984;p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6" name="Google Shape;986;p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8" name="Google Shape;988;p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989" name="Google Shape;989;p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1" name="Google Shape;991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2" name="Google Shape;992;p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93" name="Google Shape;993;p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5" name="Google Shape;995;p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6" name="Google Shape;1006;p7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1007" name="Google Shape;1007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2" name="Google Shape;1012;p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13" name="Google Shape;1013;p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5" name="Google Shape;1015;p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6" name="Google Shape;1016;p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17" name="Google Shape;1017;p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9" name="Google Shape;1019;p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1" name="Google Shape;1021;p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22" name="Google Shape;1022;p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4" name="Google Shape;1024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5" name="Google Shape;1025;p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26" name="Google Shape;1026;p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8" name="Google Shape;1028;p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p7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040" name="Google Shape;1040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5" name="Google Shape;1045;p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46" name="Google Shape;1046;p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8" name="Google Shape;1048;p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9" name="Google Shape;1049;p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50" name="Google Shape;1050;p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2" name="Google Shape;1052;p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" name="Google Shape;1054;p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55" name="Google Shape;1055;p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" name="Google Shape;1057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8" name="Google Shape;1058;p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59" name="Google Shape;1059;p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1" name="Google Shape;1061;p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2" name="Google Shape;1072;p7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073" name="Google Shape;1073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8" name="Google Shape;1078;p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79" name="Google Shape;1079;p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1" name="Google Shape;1081;p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2" name="Google Shape;1082;p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83" name="Google Shape;1083;p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5" name="Google Shape;1085;p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7" name="Google Shape;1087;p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88" name="Google Shape;1088;p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0" name="Google Shape;1090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091;p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92" name="Google Shape;1092;p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4" name="Google Shape;1094;p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5" name="Google Shape;1105;p7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106" name="Google Shape;110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8" name="Google Shape;1108;p7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109" name="Google Shape;110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" name="Google Shape;1111;p7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112" name="Google Shape;1112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3" name="Google Shape;1113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4" name="Google Shape;1114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5" name="Google Shape;1115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9" name="Google Shape;1119;p7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120" name="Google Shape;1120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21" name="Google Shape;1121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22" name="Google Shape;1122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23" name="Google Shape;1123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7" name="Google Shape;1127;p7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1128" name="Google Shape;1128;p7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9" name="Google Shape;1129;p7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1130" name="Google Shape;1130;p7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31" name="Google Shape;1131;p7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1132" name="Google Shape;1132;p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" name="Google Shape;1133;p7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" name="Google Shape;1134;p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5" name="Google Shape;1135;p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6" name="Google Shape;1136;p7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7" name="Google Shape;1137;p7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1138" name="Google Shape;1138;p7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9" name="Google Shape;1139;p7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40" name="Google Shape;1140;p7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1" name="Google Shape;1141;p7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1142" name="Google Shape;1142;p7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3" name="Google Shape;1143;p7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44" name="Google Shape;1144;p7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" name="Google Shape;1145;p7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6" name="Google Shape;1146;p7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1147" name="Google Shape;1147;p7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8" name="Google Shape;1148;p7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49" name="Google Shape;1149;p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50" name="Google Shape;1150;p7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1151" name="Google Shape;1151;p7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2" name="Google Shape;1152;p7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53" name="Google Shape;1153;p7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4" name="Google Shape;1154;p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5" name="Google Shape;1155;p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6" name="Google Shape;1156;p7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7" name="Google Shape;1157;p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8" name="Google Shape;1158;p7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9" name="Google Shape;1159;p7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0" name="Google Shape;1160;p7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1" name="Google Shape;1161;p7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2" name="Google Shape;1162;p7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3" name="Google Shape;1163;p7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164" name="Google Shape;1164;p7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7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166" name="Google Shape;1166;p7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1167" name="Google Shape;1167;p7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0.6 (2.01)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1168" name="Google Shape;1168;p7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Browser caching: Conditional GET</a:t>
            </a:r>
            <a:endParaRPr sz="4400"/>
          </a:p>
        </p:txBody>
      </p:sp>
      <p:sp>
        <p:nvSpPr>
          <p:cNvPr id="1176" name="Google Shape;1176;p8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don’t send object if browser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date of browser-cached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browser-cached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8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8" name="Google Shape;1178;p8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9" name="Google Shape;1179;p8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80" name="Google Shape;1180;p8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1181" name="Google Shape;1181;p8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8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3" name="Google Shape;1183;p8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1184" name="Google Shape;1184;p8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8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6" name="Google Shape;1186;p8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7" name="Google Shape;1187;p8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8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1190" name="Google Shape;1190;p8"/>
          <p:cNvGrpSpPr/>
          <p:nvPr/>
        </p:nvGrpSpPr>
        <p:grpSpPr>
          <a:xfrm>
            <a:off x="6311590" y="1146753"/>
            <a:ext cx="4549154" cy="787400"/>
            <a:chOff x="6311590" y="931601"/>
            <a:chExt cx="4549154" cy="787400"/>
          </a:xfrm>
        </p:grpSpPr>
        <p:sp>
          <p:nvSpPr>
            <p:cNvPr id="1191" name="Google Shape;1191;p8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1192" name="Google Shape;1192;p8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1193" name="Google Shape;1193;p8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1194" name="Google Shape;1194;p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8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8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9" name="Google Shape;1199;p8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1200" name="Google Shape;1200;p8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8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02" name="Google Shape;1202;p8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3" name="Google Shape;1203;p8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1204" name="Google Shape;1204;p8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8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06" name="Google Shape;1206;p8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8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8" name="Google Shape;1208;p8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1209" name="Google Shape;1209;p8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0" name="Google Shape;1210;p8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11" name="Google Shape;1211;p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2" name="Google Shape;1212;p8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1213" name="Google Shape;1213;p8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4" name="Google Shape;1214;p8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15" name="Google Shape;1215;p8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8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8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8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8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8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8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8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6" name="Google Shape;1226;p8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1227" name="Google Shape;1227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8" name="Google Shape;1228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9" name="Google Shape;1229;p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Summary: what did we learn?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1236" name="Google Shape;1236;p9"/>
          <p:cNvSpPr txBox="1"/>
          <p:nvPr>
            <p:ph idx="1" type="body"/>
          </p:nvPr>
        </p:nvSpPr>
        <p:spPr>
          <a:xfrm>
            <a:off x="838200" y="2094161"/>
            <a:ext cx="5710084" cy="4194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application architectures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client-server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application service requirements:</a:t>
            </a:r>
            <a:endParaRPr/>
          </a:p>
          <a:p>
            <a:pPr indent="-228600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reliability, bandwidth, delay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Internet transport service model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connection-oriented, reliable: TCP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unreliable, datagrams: UDP</a:t>
            </a:r>
            <a:endParaRPr sz="2000"/>
          </a:p>
        </p:txBody>
      </p:sp>
      <p:sp>
        <p:nvSpPr>
          <p:cNvPr id="1237" name="Google Shape;1237;p9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9"/>
          <p:cNvSpPr/>
          <p:nvPr/>
        </p:nvSpPr>
        <p:spPr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protocols: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programming: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TCP, UDP sockets</a:t>
            </a:r>
            <a:endParaRPr/>
          </a:p>
        </p:txBody>
      </p:sp>
      <p:sp>
        <p:nvSpPr>
          <p:cNvPr id="1239" name="Google Shape;1239;p9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Transport layer: overview</a:t>
            </a:r>
            <a:endParaRPr sz="4400"/>
          </a:p>
        </p:txBody>
      </p:sp>
      <p:sp>
        <p:nvSpPr>
          <p:cNvPr id="1246" name="Google Shape;1246;p10"/>
          <p:cNvSpPr txBox="1"/>
          <p:nvPr>
            <p:ph idx="1" type="body"/>
          </p:nvPr>
        </p:nvSpPr>
        <p:spPr>
          <a:xfrm>
            <a:off x="781763" y="1253331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/>
              <a:t>understand principles behind transport layer services: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multiplexing, demultiplexing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reliable data transfer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flow control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congestion control</a:t>
            </a: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47" name="Google Shape;1247;p10"/>
          <p:cNvSpPr txBox="1"/>
          <p:nvPr>
            <p:ph idx="2" type="body"/>
          </p:nvPr>
        </p:nvSpPr>
        <p:spPr>
          <a:xfrm>
            <a:off x="5968416" y="1815962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/>
              <a:t>learn about Internet transport layer protocols: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UDP: connectionless transport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TCP: connection-oriented reliable transport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TCP congestion control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248" name="Google Shape;1248;p10"/>
          <p:cNvSpPr txBox="1"/>
          <p:nvPr>
            <p:ph idx="4294967295" type="sldNum"/>
          </p:nvPr>
        </p:nvSpPr>
        <p:spPr>
          <a:xfrm>
            <a:off x="9219616" y="64546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Transport services and protocols</a:t>
            </a:r>
            <a:endParaRPr sz="4400"/>
          </a:p>
        </p:txBody>
      </p:sp>
      <p:sp>
        <p:nvSpPr>
          <p:cNvPr id="1255" name="Google Shape;1255;p11"/>
          <p:cNvSpPr txBox="1"/>
          <p:nvPr/>
        </p:nvSpPr>
        <p:spPr>
          <a:xfrm>
            <a:off x="681218" y="1443831"/>
            <a:ext cx="5815703" cy="1621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logical communication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application processes running on different hosts</a:t>
            </a:r>
            <a:endParaRPr/>
          </a:p>
        </p:txBody>
      </p:sp>
      <p:sp>
        <p:nvSpPr>
          <p:cNvPr id="1256" name="Google Shape;1256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259" name="Google Shape;1259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1" name="Google Shape;1261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263" name="Google Shape;1263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264" name="Google Shape;1264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265" name="Google Shape;1265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6" name="Google Shape;1266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267" name="Google Shape;1267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9" name="Google Shape;1269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0" name="Google Shape;1270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1" name="Google Shape;1271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2" name="Google Shape;1272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3" name="Google Shape;1273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4" name="Google Shape;1274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75" name="Google Shape;1275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76" name="Google Shape;1276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78" name="Google Shape;1278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9" name="Google Shape;1279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0" name="Google Shape;1280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1" name="Google Shape;1281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2" name="Google Shape;1282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3" name="Google Shape;1283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84" name="Google Shape;1284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86" name="Google Shape;1286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88" name="Google Shape;1288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89" name="Google Shape;1289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0" name="Google Shape;1290;p1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1" name="Google Shape;1291;p1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2" name="Google Shape;1292;p1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3" name="Google Shape;1293;p1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4" name="Google Shape;1294;p1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5" name="Google Shape;1295;p1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6" name="Google Shape;1296;p1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7" name="Google Shape;1297;p1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8" name="Google Shape;1298;p1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9" name="Google Shape;1299;p1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0" name="Google Shape;1300;p1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01" name="Google Shape;1301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302" name="Google Shape;1302;p11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303" name="Google Shape;1303;p11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4" name="Google Shape;1304;p11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" name="Google Shape;1305;p11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" name="Google Shape;1306;p11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" name="Google Shape;1307;p11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" name="Google Shape;1308;p11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" name="Google Shape;1309;p11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" name="Google Shape;1310;p11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1" name="Google Shape;1311;p11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2" name="Google Shape;1312;p11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" name="Google Shape;1313;p11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" name="Google Shape;1314;p11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5" name="Google Shape;1315;p11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" name="Google Shape;1316;p11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" name="Google Shape;1317;p11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11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1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0" name="Google Shape;1320;p11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1" name="Google Shape;1321;p11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2" name="Google Shape;1322;p11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3" name="Google Shape;1323;p11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4" name="Google Shape;1324;p11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5" name="Google Shape;1325;p11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11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327" name="Google Shape;132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328" name="Google Shape;1328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329" name="Google Shape;132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1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1" name="Google Shape;1331;p11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2" name="Google Shape;1332;p11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333" name="Google Shape;1333;p11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4" name="Google Shape;1334;p11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5" name="Google Shape;1335;p11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6" name="Google Shape;1336;p11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7" name="Google Shape;1337;p11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8" name="Google Shape;1338;p11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9" name="Google Shape;1339;p11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0" name="Google Shape;1340;p11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" name="Google Shape;1341;p11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" name="Google Shape;1342;p11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3" name="Google Shape;1343;p11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4" name="Google Shape;1344;p11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5" name="Google Shape;1345;p11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6" name="Google Shape;1346;p11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7" name="Google Shape;1347;p11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348" name="Google Shape;134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349" name="Google Shape;134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0" name="Google Shape;1350;p11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351" name="Google Shape;135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53" name="Google Shape;135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4" name="Google Shape;135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8" name="Google Shape;1358;p11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359" name="Google Shape;1359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1" name="Google Shape;1361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62" name="Google Shape;1362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6" name="Google Shape;1366;p11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367" name="Google Shape;136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69" name="Google Shape;136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70" name="Google Shape;137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74" name="Google Shape;1374;p11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75" name="Google Shape;1375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7" name="Google Shape;1377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78" name="Google Shape;1378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2" name="Google Shape;1382;p11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3" name="Google Shape;138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85" name="Google Shape;138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90" name="Google Shape;1390;p11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391" name="Google Shape;139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92" name="Google Shape;139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93" name="Google Shape;139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4" name="Google Shape;139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98" name="Google Shape;1398;p11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399" name="Google Shape;139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01" name="Google Shape;140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02" name="Google Shape;140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06" name="Google Shape;1406;p1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407" name="Google Shape;140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09" name="Google Shape;140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0" name="Google Shape;141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4" name="Google Shape;1414;p1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415" name="Google Shape;141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17" name="Google Shape;141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8" name="Google Shape;141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2" name="Google Shape;1422;p1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423" name="Google Shape;142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25" name="Google Shape;142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26" name="Google Shape;142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0" name="Google Shape;1430;p1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431" name="Google Shape;143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33" name="Google Shape;143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4" name="Google Shape;143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8" name="Google Shape;1438;p1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439" name="Google Shape;143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6" name="Google Shape;1446;p1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447" name="Google Shape;144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49" name="Google Shape;144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50" name="Google Shape;145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54" name="Google Shape;1454;p1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455" name="Google Shape;145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57" name="Google Shape;145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58" name="Google Shape;145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62" name="Google Shape;1462;p1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463" name="Google Shape;146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65" name="Google Shape;146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66" name="Google Shape;146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0" name="Google Shape;1470;p1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471" name="Google Shape;147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3" name="Google Shape;147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4" name="Google Shape;147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8" name="Google Shape;1478;p11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479" name="Google Shape;147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80" name="Google Shape;148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1" name="Google Shape;148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2" name="Google Shape;148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6" name="Google Shape;1486;p11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487" name="Google Shape;148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9" name="Google Shape;148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0" name="Google Shape;149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4" name="Google Shape;1494;p11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495" name="Google Shape;149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96" name="Google Shape;1496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1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98" name="Google Shape;1498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9" name="Google Shape;1499;p1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5" name="Google Shape;1505;p1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506" name="Google Shape;1506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2" name="Google Shape;1512;p1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8" name="Google Shape;1518;p11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519" name="Google Shape;1519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0" name="Google Shape;1520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1" name="Google Shape;1521;p11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522" name="Google Shape;1522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3" name="Google Shape;1523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4" name="Google Shape;1524;p11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1525" name="Google Shape;1525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526" name="Google Shape;1526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527" name="Google Shape;1527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8" name="Google Shape;1528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529" name="Google Shape;1529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0" name="Google Shape;1530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6" name="Google Shape;1536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537" name="Google Shape;1537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3" name="Google Shape;1543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9" name="Google Shape;1549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550" name="Google Shape;1550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1" name="Google Shape;1551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2" name="Google Shape;1552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553" name="Google Shape;1553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54" name="Google Shape;1554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55" name="Google Shape;1555;p11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556" name="Google Shape;1556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557" name="Google Shape;1557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58" name="Google Shape;1558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559" name="Google Shape;1559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560" name="Google Shape;1560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561" name="Google Shape;1561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562" name="Google Shape;1562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563" name="Google Shape;1563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64" name="Google Shape;1564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565" name="Google Shape;1565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566" name="Google Shape;1566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567" name="Google Shape;1567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568" name="Google Shape;1568;p1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569" name="Google Shape;1569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0" name="Google Shape;157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1" name="Google Shape;1571;p11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572" name="Google Shape;157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73" name="Google Shape;1573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4" name="Google Shape;1574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75" name="Google Shape;1575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6" name="Google Shape;1576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2" name="Google Shape;1582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83" name="Google Shape;1583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9" name="Google Shape;1589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5" name="Google Shape;1595;p1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596" name="Google Shape;1596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7" name="Google Shape;1597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8" name="Google Shape;1598;p1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599" name="Google Shape;1599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0" name="Google Shape;160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1" name="Google Shape;1601;p11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602" name="Google Shape;160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603" name="Google Shape;1603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4" name="Google Shape;1604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605" name="Google Shape;1605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6" name="Google Shape;1606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2" name="Google Shape;1612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13" name="Google Shape;1613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9" name="Google Shape;1619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5" name="Google Shape;1625;p11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1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11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1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9" name="Google Shape;1629;p11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630" name="Google Shape;1630;p11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1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2" name="Google Shape;1632;p11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3" name="Google Shape;1633;p11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634" name="Google Shape;1634;p11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1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6" name="Google Shape;1636;p11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11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8" name="Google Shape;1638;p11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639" name="Google Shape;1639;p11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1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1" name="Google Shape;1641;p11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2" name="Google Shape;1642;p11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643" name="Google Shape;1643;p11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1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5" name="Google Shape;1645;p11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11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1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1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11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11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11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11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11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11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1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6" name="Google Shape;1656;p11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657" name="Google Shape;1657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8" name="Google Shape;1658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9" name="Google Shape;1659;p11"/>
          <p:cNvSpPr/>
          <p:nvPr/>
        </p:nvSpPr>
        <p:spPr>
          <a:xfrm>
            <a:off x="6406266" y="1372497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0" name="Google Shape;1660;p11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661" name="Google Shape;1661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662" name="Google Shape;1662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3" name="Google Shape;1663;p11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664" name="Google Shape;1664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9" name="Google Shape;1669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670" name="Google Shape;1670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2" name="Google Shape;1672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3" name="Google Shape;1673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674" name="Google Shape;1674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6" name="Google Shape;1676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8" name="Google Shape;1678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679" name="Google Shape;1679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1" name="Google Shape;1681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2" name="Google Shape;1682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683" name="Google Shape;1683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5" name="Google Shape;1685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6" name="Google Shape;1696;p11"/>
          <p:cNvGrpSpPr/>
          <p:nvPr/>
        </p:nvGrpSpPr>
        <p:grpSpPr>
          <a:xfrm>
            <a:off x="7680324" y="1137866"/>
            <a:ext cx="3489213" cy="4926975"/>
            <a:chOff x="7680324" y="1137866"/>
            <a:chExt cx="3489213" cy="4926975"/>
          </a:xfrm>
        </p:grpSpPr>
        <p:sp>
          <p:nvSpPr>
            <p:cNvPr id="1697" name="Google Shape;1697;p11"/>
            <p:cNvSpPr/>
            <p:nvPr/>
          </p:nvSpPr>
          <p:spPr>
            <a:xfrm>
              <a:off x="8005845" y="1190714"/>
              <a:ext cx="304800" cy="942975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11"/>
            <p:cNvSpPr/>
            <p:nvPr/>
          </p:nvSpPr>
          <p:spPr>
            <a:xfrm>
              <a:off x="10104523" y="4775289"/>
              <a:ext cx="304800" cy="942975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99" name="Google Shape;1699;p11"/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1700" name="Google Shape;1700;p11"/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11"/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02" name="Google Shape;1702;p11"/>
              <p:cNvGrpSpPr/>
              <p:nvPr/>
            </p:nvGrpSpPr>
            <p:grpSpPr>
              <a:xfrm>
                <a:off x="10288915" y="4742972"/>
                <a:ext cx="880622" cy="861812"/>
                <a:chOff x="10288915" y="4742972"/>
                <a:chExt cx="880622" cy="861812"/>
              </a:xfrm>
            </p:grpSpPr>
            <p:grpSp>
              <p:nvGrpSpPr>
                <p:cNvPr id="1703" name="Google Shape;1703;p11"/>
                <p:cNvGrpSpPr/>
                <p:nvPr/>
              </p:nvGrpSpPr>
              <p:grpSpPr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1704" name="Google Shape;1704;p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5" name="Google Shape;1705;p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6" name="Google Shape;1706;p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7" name="Google Shape;1707;p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8" name="Google Shape;1708;p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709" name="Google Shape;1709;p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1710" name="Google Shape;1710;p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11" name="Google Shape;1711;p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12" name="Google Shape;1712;p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713" name="Google Shape;1713;p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1714" name="Google Shape;1714;p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15" name="Google Shape;1715;p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16" name="Google Shape;1716;p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17" name="Google Shape;1717;p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718" name="Google Shape;1718;p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1719" name="Google Shape;1719;p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20" name="Google Shape;1720;p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21" name="Google Shape;1721;p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722" name="Google Shape;1722;p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1723" name="Google Shape;1723;p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24" name="Google Shape;1724;p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25" name="Google Shape;1725;p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6" name="Google Shape;1726;p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7" name="Google Shape;1727;p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8" name="Google Shape;1728;p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9" name="Google Shape;1729;p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0" name="Google Shape;1730;p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1" name="Google Shape;1731;p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2" name="Google Shape;1732;p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3" name="Google Shape;1733;p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4" name="Google Shape;1734;p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5" name="Google Shape;1735;p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36" name="Google Shape;1736;p11"/>
                <p:cNvSpPr/>
                <p:nvPr/>
              </p:nvSpPr>
              <p:spPr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7" name="Google Shape;1737;p11"/>
                <p:cNvSpPr/>
                <p:nvPr/>
              </p:nvSpPr>
              <p:spPr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8" name="Google Shape;1738;p11"/>
                <p:cNvSpPr/>
                <p:nvPr/>
              </p:nvSpPr>
              <p:spPr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9" name="Google Shape;1739;p11"/>
                <p:cNvSpPr txBox="1"/>
                <p:nvPr/>
              </p:nvSpPr>
              <p:spPr>
                <a:xfrm>
                  <a:off x="10355149" y="4742972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 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40" name="Google Shape;1740;p11"/>
                <p:cNvCxnSpPr/>
                <p:nvPr/>
              </p:nvCxnSpPr>
              <p:spPr>
                <a:xfrm>
                  <a:off x="10418848" y="5119777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1" name="Google Shape;1741;p11"/>
                <p:cNvCxnSpPr/>
                <p:nvPr/>
              </p:nvCxnSpPr>
              <p:spPr>
                <a:xfrm>
                  <a:off x="10428373" y="5257889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2" name="Google Shape;1742;p11"/>
                <p:cNvCxnSpPr/>
                <p:nvPr/>
              </p:nvCxnSpPr>
              <p:spPr>
                <a:xfrm>
                  <a:off x="10428373" y="5396002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743" name="Google Shape;1743;p11"/>
              <p:cNvGrpSpPr/>
              <p:nvPr/>
            </p:nvGrpSpPr>
            <p:grpSpPr>
              <a:xfrm>
                <a:off x="8252702" y="1137866"/>
                <a:ext cx="814388" cy="854075"/>
                <a:chOff x="9791027" y="656358"/>
                <a:chExt cx="814388" cy="854075"/>
              </a:xfrm>
            </p:grpSpPr>
            <p:sp>
              <p:nvSpPr>
                <p:cNvPr id="1744" name="Google Shape;1744;p11"/>
                <p:cNvSpPr/>
                <p:nvPr/>
              </p:nvSpPr>
              <p:spPr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5" name="Google Shape;1745;p11"/>
                <p:cNvSpPr/>
                <p:nvPr/>
              </p:nvSpPr>
              <p:spPr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6" name="Google Shape;1746;p11"/>
                <p:cNvSpPr/>
                <p:nvPr/>
              </p:nvSpPr>
              <p:spPr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7" name="Google Shape;1747;p11"/>
                <p:cNvSpPr txBox="1"/>
                <p:nvPr/>
              </p:nvSpPr>
              <p:spPr>
                <a:xfrm>
                  <a:off x="9791027" y="656358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 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48" name="Google Shape;1748;p11"/>
                <p:cNvCxnSpPr/>
                <p:nvPr/>
              </p:nvCxnSpPr>
              <p:spPr>
                <a:xfrm>
                  <a:off x="9854726" y="1033163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9" name="Google Shape;1749;p11"/>
                <p:cNvCxnSpPr/>
                <p:nvPr/>
              </p:nvCxnSpPr>
              <p:spPr>
                <a:xfrm>
                  <a:off x="9864251" y="1171275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50" name="Google Shape;1750;p11"/>
                <p:cNvCxnSpPr/>
                <p:nvPr/>
              </p:nvCxnSpPr>
              <p:spPr>
                <a:xfrm>
                  <a:off x="9864251" y="1309388"/>
                  <a:ext cx="690563" cy="47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51" name="Google Shape;1751;p11"/>
              <p:cNvSpPr/>
              <p:nvPr/>
            </p:nvSpPr>
            <p:spPr>
              <a:xfrm rot="-1710802">
                <a:off x="9544123" y="1270072"/>
                <a:ext cx="626354" cy="3838406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11"/>
              <p:cNvSpPr txBox="1"/>
              <p:nvPr/>
            </p:nvSpPr>
            <p:spPr>
              <a:xfrm rot="3706861">
                <a:off x="8640694" y="3103268"/>
                <a:ext cx="25504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logical end-end transport</a:t>
                </a:r>
                <a:endParaRPr/>
              </a:p>
            </p:txBody>
          </p:sp>
        </p:grpSp>
      </p:grpSp>
      <p:sp>
        <p:nvSpPr>
          <p:cNvPr id="1753" name="Google Shape;1753;p11"/>
          <p:cNvSpPr txBox="1"/>
          <p:nvPr/>
        </p:nvSpPr>
        <p:spPr>
          <a:xfrm>
            <a:off x="684691" y="2787535"/>
            <a:ext cx="5815703" cy="2327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protocols actions in end systems: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sender: breaks application messages into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segments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passes to  network layer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receiver: reassembles segments into messages, passes to application layer</a:t>
            </a:r>
            <a:endParaRPr/>
          </a:p>
        </p:txBody>
      </p:sp>
      <p:sp>
        <p:nvSpPr>
          <p:cNvPr id="1754" name="Google Shape;1754;p11"/>
          <p:cNvSpPr txBox="1"/>
          <p:nvPr/>
        </p:nvSpPr>
        <p:spPr>
          <a:xfrm>
            <a:off x="681217" y="5165099"/>
            <a:ext cx="5815703" cy="144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transport protocols available to Internet 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</p:txBody>
      </p:sp>
      <p:sp>
        <p:nvSpPr>
          <p:cNvPr id="1755" name="Google Shape;1755;p11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" name="Google Shape;1761;p12"/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762" name="Google Shape;1762;p12"/>
            <p:cNvCxnSpPr/>
            <p:nvPr/>
          </p:nvCxnSpPr>
          <p:spPr>
            <a:xfrm>
              <a:off x="2578811" y="5062556"/>
              <a:ext cx="1582832" cy="3026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763" name="Google Shape;1763;p12"/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764" name="Google Shape;1764;p12"/>
              <p:cNvCxnSpPr/>
              <p:nvPr/>
            </p:nvCxnSpPr>
            <p:spPr>
              <a:xfrm flipH="1">
                <a:off x="7972023" y="4973372"/>
                <a:ext cx="1473513" cy="47439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765" name="Google Shape;1765;p12"/>
              <p:cNvSpPr/>
              <p:nvPr/>
            </p:nvSpPr>
            <p:spPr>
              <a:xfrm>
                <a:off x="4062521" y="4965666"/>
                <a:ext cx="4036903" cy="1028731"/>
              </a:xfrm>
              <a:custGeom>
                <a:rect b="b" l="l" r="r" t="t"/>
                <a:pathLst>
                  <a:path extrusionOk="0" h="917" w="187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</a:t>
                </a:r>
                <a:endParaRPr/>
              </a:p>
            </p:txBody>
          </p:sp>
        </p:grpSp>
      </p:grpSp>
      <p:sp>
        <p:nvSpPr>
          <p:cNvPr id="1766" name="Google Shape;1766;p12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7" name="Google Shape;1767;p12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68" name="Google Shape;1768;p12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1769" name="Google Shape;1769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0" name="Google Shape;1770;p12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1" name="Google Shape;1771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2" name="Google Shape;1772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3" name="Google Shape;1773;p12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74" name="Google Shape;1774;p1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775" name="Google Shape;1775;p1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76" name="Google Shape;1776;p12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77" name="Google Shape;1777;p12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78" name="Google Shape;1778;p12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1779" name="Google Shape;1779;p12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80" name="Google Shape;1780;p12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81" name="Google Shape;1781;p12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82" name="Google Shape;1782;p1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83" name="Google Shape;1783;p12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1784" name="Google Shape;1784;p12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85" name="Google Shape;1785;p12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86" name="Google Shape;1786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87" name="Google Shape;1787;p1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788" name="Google Shape;1788;p1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89" name="Google Shape;1789;p12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90" name="Google Shape;1790;p12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1" name="Google Shape;1791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2" name="Google Shape;1792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3" name="Google Shape;1793;p12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4" name="Google Shape;1794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5" name="Google Shape;1795;p1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6" name="Google Shape;1796;p12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7" name="Google Shape;1797;p12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8" name="Google Shape;1798;p12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2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00" name="Google Shape;1800;p12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01" name="Google Shape;1801;p12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802" name="Google Shape;1802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3" name="Google Shape;1803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04" name="Google Shape;1804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5" name="Google Shape;1805;p12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06" name="Google Shape;1806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807" name="Google Shape;1807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808" name="Google Shape;1808;p12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1809" name="Google Shape;1809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1" name="Google Shape;1811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1812" name="Google Shape;1812;p12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1813" name="Google Shape;1813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4" name="Google Shape;1814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15" name="Google Shape;1815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6" name="Google Shape;1816;p12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7" name="Google Shape;1817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818" name="Google Shape;1818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819" name="Google Shape;1819;p12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1820" name="Google Shape;1820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1" name="Google Shape;1821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2" name="Google Shape;1822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sp>
        <p:nvSpPr>
          <p:cNvPr id="1823" name="Google Shape;1823;p12"/>
          <p:cNvSpPr txBox="1"/>
          <p:nvPr/>
        </p:nvSpPr>
        <p:spPr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grpSp>
        <p:nvGrpSpPr>
          <p:cNvPr id="1824" name="Google Shape;1824;p12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825" name="Google Shape;182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26" name="Google Shape;182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27" name="Google Shape;182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28" name="Google Shape;182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2" name="Google Shape;1832;p1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Transport Layer Actions</a:t>
            </a:r>
            <a:endParaRPr/>
          </a:p>
        </p:txBody>
      </p:sp>
      <p:grpSp>
        <p:nvGrpSpPr>
          <p:cNvPr id="1833" name="Google Shape;1833;p12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834" name="Google Shape;1834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5" name="Google Shape;1835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6" name="Google Shape;1836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7" name="Google Shape;1837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38" name="Google Shape;1838;p12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839" name="Google Shape;1839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40" name="Google Shape;1840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41" name="Google Shape;1841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42" name="Google Shape;1842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843" name="Google Shape;1843;p12"/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Sender:</a:t>
            </a:r>
            <a:endParaRPr/>
          </a:p>
          <a:p>
            <a:pPr indent="-920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12"/>
          <p:cNvSpPr/>
          <p:nvPr/>
        </p:nvSpPr>
        <p:spPr>
          <a:xfrm>
            <a:off x="8071146" y="2078287"/>
            <a:ext cx="2415414" cy="3369475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5" name="Google Shape;1845;p12"/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1846" name="Google Shape;1846;p12"/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12"/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app. msg</a:t>
              </a:r>
              <a:endParaRPr/>
            </a:p>
          </p:txBody>
        </p:sp>
      </p:grpSp>
      <p:sp>
        <p:nvSpPr>
          <p:cNvPr id="1848" name="Google Shape;1848;p12"/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passed an application-layer message</a:t>
            </a:r>
            <a:endParaRPr/>
          </a:p>
        </p:txBody>
      </p:sp>
      <p:sp>
        <p:nvSpPr>
          <p:cNvPr id="1849" name="Google Shape;1849;p12"/>
          <p:cNvSpPr txBox="1"/>
          <p:nvPr/>
        </p:nvSpPr>
        <p:spPr>
          <a:xfrm>
            <a:off x="4388186" y="2990916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determines segment header fields values</a:t>
            </a:r>
            <a:endParaRPr/>
          </a:p>
        </p:txBody>
      </p:sp>
      <p:sp>
        <p:nvSpPr>
          <p:cNvPr id="1850" name="Google Shape;1850;p12"/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segment</a:t>
            </a:r>
            <a:endParaRPr/>
          </a:p>
        </p:txBody>
      </p:sp>
      <p:sp>
        <p:nvSpPr>
          <p:cNvPr id="1851" name="Google Shape;1851;p12"/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passes segment to IP</a:t>
            </a:r>
            <a:endParaRPr/>
          </a:p>
        </p:txBody>
      </p:sp>
      <p:sp>
        <p:nvSpPr>
          <p:cNvPr id="1852" name="Google Shape;1852;p12"/>
          <p:cNvSpPr txBox="1"/>
          <p:nvPr/>
        </p:nvSpPr>
        <p:spPr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1853" name="Google Shape;1853;p12"/>
          <p:cNvSpPr/>
          <p:nvPr/>
        </p:nvSpPr>
        <p:spPr>
          <a:xfrm>
            <a:off x="270781" y="1644192"/>
            <a:ext cx="3715697" cy="4052070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4" name="Google Shape;1854;p12"/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855" name="Google Shape;1855;p12"/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12"/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T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</p:grpSp>
      <p:grpSp>
        <p:nvGrpSpPr>
          <p:cNvPr id="1857" name="Google Shape;1857;p12"/>
          <p:cNvGrpSpPr/>
          <p:nvPr/>
        </p:nvGrpSpPr>
        <p:grpSpPr>
          <a:xfrm>
            <a:off x="8549491" y="2999047"/>
            <a:ext cx="1818022" cy="369332"/>
            <a:chOff x="7863122" y="5632673"/>
            <a:chExt cx="1818022" cy="369332"/>
          </a:xfrm>
        </p:grpSpPr>
        <p:grpSp>
          <p:nvGrpSpPr>
            <p:cNvPr id="1858" name="Google Shape;1858;p12"/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859" name="Google Shape;1859;p12"/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2"/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T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</p:grpSp>
        <p:grpSp>
          <p:nvGrpSpPr>
            <p:cNvPr id="1861" name="Google Shape;1861;p12"/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862" name="Google Shape;1862;p12"/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12"/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app. msg</a:t>
                </a:r>
                <a:endParaRPr/>
              </a:p>
            </p:txBody>
          </p:sp>
        </p:grpSp>
      </p:grpSp>
      <p:sp>
        <p:nvSpPr>
          <p:cNvPr id="1864" name="Google Shape;1864;p1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Multiplexing/demultiplexing</a:t>
            </a:r>
            <a:endParaRPr/>
          </a:p>
        </p:txBody>
      </p:sp>
      <p:sp>
        <p:nvSpPr>
          <p:cNvPr id="1871" name="Google Shape;1871;p13"/>
          <p:cNvSpPr/>
          <p:nvPr/>
        </p:nvSpPr>
        <p:spPr>
          <a:xfrm>
            <a:off x="5108431" y="3572744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2" name="Google Shape;1872;p13"/>
          <p:cNvSpPr txBox="1"/>
          <p:nvPr/>
        </p:nvSpPr>
        <p:spPr>
          <a:xfrm>
            <a:off x="10348768" y="4498257"/>
            <a:ext cx="8953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1873" name="Google Shape;1873;p13"/>
          <p:cNvSpPr txBox="1"/>
          <p:nvPr/>
        </p:nvSpPr>
        <p:spPr>
          <a:xfrm>
            <a:off x="10323368" y="4096619"/>
            <a:ext cx="7556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socket</a:t>
            </a:r>
            <a:endParaRPr/>
          </a:p>
        </p:txBody>
      </p:sp>
      <p:grpSp>
        <p:nvGrpSpPr>
          <p:cNvPr id="1874" name="Google Shape;1874;p13"/>
          <p:cNvGrpSpPr/>
          <p:nvPr/>
        </p:nvGrpSpPr>
        <p:grpSpPr>
          <a:xfrm>
            <a:off x="7016607" y="1655043"/>
            <a:ext cx="4836316" cy="1639889"/>
            <a:chOff x="7016607" y="1655043"/>
            <a:chExt cx="4836316" cy="1639889"/>
          </a:xfrm>
        </p:grpSpPr>
        <p:sp>
          <p:nvSpPr>
            <p:cNvPr id="1875" name="Google Shape;1875;p13"/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6" name="Google Shape;1876;p13"/>
            <p:cNvGrpSpPr/>
            <p:nvPr/>
          </p:nvGrpSpPr>
          <p:grpSpPr>
            <a:xfrm>
              <a:off x="7172972" y="1655043"/>
              <a:ext cx="4679951" cy="1639889"/>
              <a:chOff x="2899" y="903"/>
              <a:chExt cx="2948" cy="1033"/>
            </a:xfrm>
          </p:grpSpPr>
          <p:sp>
            <p:nvSpPr>
              <p:cNvPr id="1877" name="Google Shape;1877;p13"/>
              <p:cNvSpPr/>
              <p:nvPr/>
            </p:nvSpPr>
            <p:spPr>
              <a:xfrm>
                <a:off x="2955" y="1148"/>
                <a:ext cx="2892" cy="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 header info to deliver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received segments to correct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socket</a:t>
                </a:r>
                <a:endParaRPr/>
              </a:p>
            </p:txBody>
          </p:sp>
          <p:grpSp>
            <p:nvGrpSpPr>
              <p:cNvPr id="1878" name="Google Shape;1878;p13"/>
              <p:cNvGrpSpPr/>
              <p:nvPr/>
            </p:nvGrpSpPr>
            <p:grpSpPr>
              <a:xfrm>
                <a:off x="2899" y="903"/>
                <a:ext cx="2553" cy="348"/>
                <a:chOff x="905" y="3594"/>
                <a:chExt cx="2049" cy="348"/>
              </a:xfrm>
            </p:grpSpPr>
            <p:sp>
              <p:nvSpPr>
                <p:cNvPr id="1879" name="Google Shape;1879;p13"/>
                <p:cNvSpPr/>
                <p:nvPr/>
              </p:nvSpPr>
              <p:spPr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3"/>
                <p:cNvSpPr txBox="1"/>
                <p:nvPr/>
              </p:nvSpPr>
              <p:spPr>
                <a:xfrm>
                  <a:off x="905" y="3594"/>
                  <a:ext cx="2049" cy="3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1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demultiplexing as receiver:</a:t>
                  </a:r>
                  <a:endParaRPr/>
                </a:p>
              </p:txBody>
            </p:sp>
          </p:grpSp>
        </p:grpSp>
      </p:grpSp>
      <p:grpSp>
        <p:nvGrpSpPr>
          <p:cNvPr id="1881" name="Google Shape;1881;p13"/>
          <p:cNvGrpSpPr/>
          <p:nvPr/>
        </p:nvGrpSpPr>
        <p:grpSpPr>
          <a:xfrm>
            <a:off x="9823306" y="4171232"/>
            <a:ext cx="533400" cy="206375"/>
            <a:chOff x="344" y="1846"/>
            <a:chExt cx="336" cy="130"/>
          </a:xfrm>
        </p:grpSpPr>
        <p:sp>
          <p:nvSpPr>
            <p:cNvPr id="1882" name="Google Shape;1882;p13"/>
            <p:cNvSpPr/>
            <p:nvPr/>
          </p:nvSpPr>
          <p:spPr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886" name="Google Shape;1886;p13"/>
          <p:cNvSpPr/>
          <p:nvPr/>
        </p:nvSpPr>
        <p:spPr>
          <a:xfrm>
            <a:off x="5656118" y="362354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3"/>
          <p:cNvSpPr/>
          <p:nvPr/>
        </p:nvSpPr>
        <p:spPr>
          <a:xfrm>
            <a:off x="5621193" y="3677519"/>
            <a:ext cx="1473200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88" name="Google Shape;1888;p13"/>
          <p:cNvCxnSpPr/>
          <p:nvPr/>
        </p:nvCxnSpPr>
        <p:spPr>
          <a:xfrm>
            <a:off x="5627543" y="4447457"/>
            <a:ext cx="146050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13"/>
          <p:cNvSpPr txBox="1"/>
          <p:nvPr/>
        </p:nvSpPr>
        <p:spPr>
          <a:xfrm>
            <a:off x="5698981" y="442999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890" name="Google Shape;1890;p13"/>
          <p:cNvCxnSpPr/>
          <p:nvPr/>
        </p:nvCxnSpPr>
        <p:spPr>
          <a:xfrm>
            <a:off x="5629131" y="476495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1" name="Google Shape;1891;p13"/>
          <p:cNvSpPr txBox="1"/>
          <p:nvPr/>
        </p:nvSpPr>
        <p:spPr>
          <a:xfrm>
            <a:off x="5695806" y="36441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892" name="Google Shape;1892;p13"/>
          <p:cNvSpPr txBox="1"/>
          <p:nvPr/>
        </p:nvSpPr>
        <p:spPr>
          <a:xfrm>
            <a:off x="5692631" y="53348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893" name="Google Shape;1893;p13"/>
          <p:cNvSpPr txBox="1"/>
          <p:nvPr/>
        </p:nvSpPr>
        <p:spPr>
          <a:xfrm>
            <a:off x="5692631" y="50491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894" name="Google Shape;1894;p13"/>
          <p:cNvSpPr txBox="1"/>
          <p:nvPr/>
        </p:nvSpPr>
        <p:spPr>
          <a:xfrm>
            <a:off x="5692631" y="47506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895" name="Google Shape;1895;p13"/>
          <p:cNvSpPr/>
          <p:nvPr/>
        </p:nvSpPr>
        <p:spPr>
          <a:xfrm>
            <a:off x="6392718" y="40188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/>
          </a:p>
        </p:txBody>
      </p:sp>
      <p:cxnSp>
        <p:nvCxnSpPr>
          <p:cNvPr id="1896" name="Google Shape;1896;p13"/>
          <p:cNvCxnSpPr/>
          <p:nvPr/>
        </p:nvCxnSpPr>
        <p:spPr>
          <a:xfrm>
            <a:off x="5625956" y="507610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7" name="Google Shape;1897;p13"/>
          <p:cNvCxnSpPr/>
          <p:nvPr/>
        </p:nvCxnSpPr>
        <p:spPr>
          <a:xfrm>
            <a:off x="5622781" y="537455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8" name="Google Shape;1898;p13"/>
          <p:cNvSpPr/>
          <p:nvPr/>
        </p:nvSpPr>
        <p:spPr>
          <a:xfrm>
            <a:off x="5687868" y="40188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/>
          </a:p>
        </p:txBody>
      </p:sp>
      <p:grpSp>
        <p:nvGrpSpPr>
          <p:cNvPr id="1899" name="Google Shape;1899;p13"/>
          <p:cNvGrpSpPr/>
          <p:nvPr/>
        </p:nvGrpSpPr>
        <p:grpSpPr>
          <a:xfrm>
            <a:off x="6468918" y="4377607"/>
            <a:ext cx="412750" cy="158750"/>
            <a:chOff x="1383" y="2620"/>
            <a:chExt cx="260" cy="100"/>
          </a:xfrm>
        </p:grpSpPr>
        <p:sp>
          <p:nvSpPr>
            <p:cNvPr id="1900" name="Google Shape;1900;p13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04" name="Google Shape;1904;p13"/>
          <p:cNvGrpSpPr/>
          <p:nvPr/>
        </p:nvGrpSpPr>
        <p:grpSpPr>
          <a:xfrm>
            <a:off x="5767243" y="4369669"/>
            <a:ext cx="412750" cy="158750"/>
            <a:chOff x="1383" y="2620"/>
            <a:chExt cx="260" cy="100"/>
          </a:xfrm>
        </p:grpSpPr>
        <p:sp>
          <p:nvSpPr>
            <p:cNvPr id="1905" name="Google Shape;1905;p13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6" name="Google Shape;1906;p13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7" name="Google Shape;1907;p13"/>
            <p:cNvSpPr/>
            <p:nvPr/>
          </p:nvSpPr>
          <p:spPr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8" name="Google Shape;1908;p13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909" name="Google Shape;1909;p13"/>
          <p:cNvSpPr/>
          <p:nvPr/>
        </p:nvSpPr>
        <p:spPr>
          <a:xfrm>
            <a:off x="7918306" y="399343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13"/>
          <p:cNvSpPr/>
          <p:nvPr/>
        </p:nvSpPr>
        <p:spPr>
          <a:xfrm>
            <a:off x="7880206" y="404740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11" name="Google Shape;1911;p13"/>
          <p:cNvCxnSpPr/>
          <p:nvPr/>
        </p:nvCxnSpPr>
        <p:spPr>
          <a:xfrm>
            <a:off x="7889731" y="48078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13"/>
          <p:cNvSpPr txBox="1"/>
          <p:nvPr/>
        </p:nvSpPr>
        <p:spPr>
          <a:xfrm>
            <a:off x="7846868" y="479035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913" name="Google Shape;1913;p13"/>
          <p:cNvCxnSpPr/>
          <p:nvPr/>
        </p:nvCxnSpPr>
        <p:spPr>
          <a:xfrm>
            <a:off x="7897668" y="512849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13"/>
          <p:cNvCxnSpPr/>
          <p:nvPr/>
        </p:nvCxnSpPr>
        <p:spPr>
          <a:xfrm>
            <a:off x="7883381" y="54380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13"/>
          <p:cNvCxnSpPr/>
          <p:nvPr/>
        </p:nvCxnSpPr>
        <p:spPr>
          <a:xfrm>
            <a:off x="7883381" y="572380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13"/>
          <p:cNvSpPr txBox="1"/>
          <p:nvPr/>
        </p:nvSpPr>
        <p:spPr>
          <a:xfrm>
            <a:off x="7881793" y="40378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917" name="Google Shape;1917;p13"/>
          <p:cNvSpPr txBox="1"/>
          <p:nvPr/>
        </p:nvSpPr>
        <p:spPr>
          <a:xfrm>
            <a:off x="7837343" y="569523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918" name="Google Shape;1918;p13"/>
          <p:cNvSpPr txBox="1"/>
          <p:nvPr/>
        </p:nvSpPr>
        <p:spPr>
          <a:xfrm>
            <a:off x="7856393" y="54094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919" name="Google Shape;1919;p13"/>
          <p:cNvSpPr txBox="1"/>
          <p:nvPr/>
        </p:nvSpPr>
        <p:spPr>
          <a:xfrm>
            <a:off x="7846868" y="511420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920" name="Google Shape;1920;p13"/>
          <p:cNvSpPr/>
          <p:nvPr/>
        </p:nvSpPr>
        <p:spPr>
          <a:xfrm>
            <a:off x="8216756" y="4379194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/>
          </a:p>
        </p:txBody>
      </p:sp>
      <p:sp>
        <p:nvSpPr>
          <p:cNvPr id="1921" name="Google Shape;1921;p13"/>
          <p:cNvSpPr/>
          <p:nvPr/>
        </p:nvSpPr>
        <p:spPr>
          <a:xfrm>
            <a:off x="9166081" y="4025182"/>
            <a:ext cx="581025" cy="20383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2" name="Google Shape;1922;p13"/>
          <p:cNvSpPr/>
          <p:nvPr/>
        </p:nvSpPr>
        <p:spPr>
          <a:xfrm>
            <a:off x="2976418" y="4045819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3" name="Google Shape;1923;p13"/>
          <p:cNvSpPr/>
          <p:nvPr/>
        </p:nvSpPr>
        <p:spPr>
          <a:xfrm>
            <a:off x="3573318" y="400136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p13"/>
          <p:cNvSpPr/>
          <p:nvPr/>
        </p:nvSpPr>
        <p:spPr>
          <a:xfrm>
            <a:off x="3535218" y="4055344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5" name="Google Shape;1925;p13"/>
          <p:cNvCxnSpPr/>
          <p:nvPr/>
        </p:nvCxnSpPr>
        <p:spPr>
          <a:xfrm>
            <a:off x="3544743" y="48157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6" name="Google Shape;1926;p13"/>
          <p:cNvSpPr txBox="1"/>
          <p:nvPr/>
        </p:nvSpPr>
        <p:spPr>
          <a:xfrm>
            <a:off x="3501881" y="479829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927" name="Google Shape;1927;p13"/>
          <p:cNvCxnSpPr/>
          <p:nvPr/>
        </p:nvCxnSpPr>
        <p:spPr>
          <a:xfrm>
            <a:off x="3552681" y="51364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8" name="Google Shape;1928;p13"/>
          <p:cNvCxnSpPr/>
          <p:nvPr/>
        </p:nvCxnSpPr>
        <p:spPr>
          <a:xfrm>
            <a:off x="3538393" y="544599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9" name="Google Shape;1929;p13"/>
          <p:cNvCxnSpPr/>
          <p:nvPr/>
        </p:nvCxnSpPr>
        <p:spPr>
          <a:xfrm>
            <a:off x="3538393" y="57317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0" name="Google Shape;1930;p13"/>
          <p:cNvSpPr txBox="1"/>
          <p:nvPr/>
        </p:nvSpPr>
        <p:spPr>
          <a:xfrm>
            <a:off x="3536806" y="40458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931" name="Google Shape;1931;p13"/>
          <p:cNvSpPr txBox="1"/>
          <p:nvPr/>
        </p:nvSpPr>
        <p:spPr>
          <a:xfrm>
            <a:off x="3492356" y="57031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932" name="Google Shape;1932;p13"/>
          <p:cNvSpPr txBox="1"/>
          <p:nvPr/>
        </p:nvSpPr>
        <p:spPr>
          <a:xfrm>
            <a:off x="3511406" y="54174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933" name="Google Shape;1933;p13"/>
          <p:cNvSpPr txBox="1"/>
          <p:nvPr/>
        </p:nvSpPr>
        <p:spPr>
          <a:xfrm>
            <a:off x="3501881" y="512214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934" name="Google Shape;1934;p13"/>
          <p:cNvSpPr/>
          <p:nvPr/>
        </p:nvSpPr>
        <p:spPr>
          <a:xfrm>
            <a:off x="3871768" y="43871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/>
          </a:p>
        </p:txBody>
      </p:sp>
      <p:grpSp>
        <p:nvGrpSpPr>
          <p:cNvPr id="1935" name="Google Shape;1935;p13"/>
          <p:cNvGrpSpPr/>
          <p:nvPr/>
        </p:nvGrpSpPr>
        <p:grpSpPr>
          <a:xfrm>
            <a:off x="3962256" y="4725269"/>
            <a:ext cx="412750" cy="158750"/>
            <a:chOff x="1287" y="2524"/>
            <a:chExt cx="260" cy="100"/>
          </a:xfrm>
        </p:grpSpPr>
        <p:sp>
          <p:nvSpPr>
            <p:cNvPr id="1936" name="Google Shape;1936;p13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7" name="Google Shape;1937;p13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8" name="Google Shape;1938;p13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9" name="Google Shape;1939;p13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40" name="Google Shape;1940;p13"/>
          <p:cNvGrpSpPr/>
          <p:nvPr/>
        </p:nvGrpSpPr>
        <p:grpSpPr>
          <a:xfrm>
            <a:off x="8302481" y="4723682"/>
            <a:ext cx="412750" cy="158750"/>
            <a:chOff x="1287" y="2524"/>
            <a:chExt cx="260" cy="100"/>
          </a:xfrm>
        </p:grpSpPr>
        <p:sp>
          <p:nvSpPr>
            <p:cNvPr id="1941" name="Google Shape;1941;p13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2" name="Google Shape;1942;p13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3" name="Google Shape;1943;p13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4" name="Google Shape;1944;p13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945" name="Google Shape;1945;p13"/>
          <p:cNvSpPr/>
          <p:nvPr/>
        </p:nvSpPr>
        <p:spPr>
          <a:xfrm>
            <a:off x="6349856" y="4425232"/>
            <a:ext cx="2173287" cy="1989137"/>
          </a:xfrm>
          <a:custGeom>
            <a:rect b="b" l="l" r="r" t="t"/>
            <a:pathLst>
              <a:path extrusionOk="0" h="1253" w="1369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6" name="Google Shape;1946;p13"/>
          <p:cNvSpPr/>
          <p:nvPr/>
        </p:nvSpPr>
        <p:spPr>
          <a:xfrm>
            <a:off x="6468918" y="4456982"/>
            <a:ext cx="1984375" cy="1876425"/>
          </a:xfrm>
          <a:custGeom>
            <a:rect b="b" l="l" r="r" t="t"/>
            <a:pathLst>
              <a:path extrusionOk="0" h="1182" w="1250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7" name="Google Shape;1947;p13"/>
          <p:cNvSpPr/>
          <p:nvPr/>
        </p:nvSpPr>
        <p:spPr>
          <a:xfrm>
            <a:off x="9809018" y="453635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948" name="Google Shape;1948;p13"/>
          <p:cNvGrpSpPr/>
          <p:nvPr/>
        </p:nvGrpSpPr>
        <p:grpSpPr>
          <a:xfrm>
            <a:off x="6060931" y="4663331"/>
            <a:ext cx="555332" cy="71510"/>
            <a:chOff x="1420065" y="5012608"/>
            <a:chExt cx="555332" cy="71510"/>
          </a:xfrm>
        </p:grpSpPr>
        <p:sp>
          <p:nvSpPr>
            <p:cNvPr id="1949" name="Google Shape;1949;p13"/>
            <p:cNvSpPr/>
            <p:nvPr/>
          </p:nvSpPr>
          <p:spPr>
            <a:xfrm>
              <a:off x="1420065" y="5012608"/>
              <a:ext cx="196850" cy="6985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0" name="Google Shape;1950;p13"/>
            <p:cNvSpPr/>
            <p:nvPr/>
          </p:nvSpPr>
          <p:spPr>
            <a:xfrm>
              <a:off x="1778547" y="5014268"/>
              <a:ext cx="196850" cy="6985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951" name="Google Shape;1951;p13"/>
          <p:cNvSpPr/>
          <p:nvPr/>
        </p:nvSpPr>
        <p:spPr>
          <a:xfrm>
            <a:off x="5311630" y="3275882"/>
            <a:ext cx="688975" cy="1435100"/>
          </a:xfrm>
          <a:custGeom>
            <a:rect b="b" l="l" r="r" t="t"/>
            <a:pathLst>
              <a:path extrusionOk="0" h="904" w="43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52" name="Google Shape;1952;p13"/>
          <p:cNvGrpSpPr/>
          <p:nvPr/>
        </p:nvGrpSpPr>
        <p:grpSpPr>
          <a:xfrm>
            <a:off x="6211743" y="3239369"/>
            <a:ext cx="1047750" cy="1441450"/>
            <a:chOff x="2432" y="1758"/>
            <a:chExt cx="660" cy="908"/>
          </a:xfrm>
        </p:grpSpPr>
        <p:sp>
          <p:nvSpPr>
            <p:cNvPr id="1953" name="Google Shape;1953;p13"/>
            <p:cNvSpPr/>
            <p:nvPr/>
          </p:nvSpPr>
          <p:spPr>
            <a:xfrm>
              <a:off x="2432" y="2564"/>
              <a:ext cx="144" cy="102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4" name="Google Shape;1954;p13"/>
            <p:cNvSpPr/>
            <p:nvPr/>
          </p:nvSpPr>
          <p:spPr>
            <a:xfrm>
              <a:off x="2506" y="1758"/>
              <a:ext cx="586" cy="810"/>
            </a:xfrm>
            <a:custGeom>
              <a:rect b="b" l="l" r="r" t="t"/>
              <a:pathLst>
                <a:path extrusionOk="0" h="810" w="586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55" name="Google Shape;1955;p13"/>
          <p:cNvGrpSpPr/>
          <p:nvPr/>
        </p:nvGrpSpPr>
        <p:grpSpPr>
          <a:xfrm>
            <a:off x="2511281" y="5555532"/>
            <a:ext cx="800100" cy="828675"/>
            <a:chOff x="-44" y="1473"/>
            <a:chExt cx="981" cy="1105"/>
          </a:xfrm>
        </p:grpSpPr>
        <p:pic>
          <p:nvPicPr>
            <p:cNvPr descr="desktop_computer_stylized_medium" id="1956" name="Google Shape;195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7" name="Google Shape;1957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58" name="Google Shape;1958;p13"/>
          <p:cNvGrpSpPr/>
          <p:nvPr/>
        </p:nvGrpSpPr>
        <p:grpSpPr>
          <a:xfrm flipH="1">
            <a:off x="9493106" y="5469807"/>
            <a:ext cx="788987" cy="782637"/>
            <a:chOff x="-44" y="1473"/>
            <a:chExt cx="981" cy="1105"/>
          </a:xfrm>
        </p:grpSpPr>
        <p:pic>
          <p:nvPicPr>
            <p:cNvPr descr="desktop_computer_stylized_medium" id="1959" name="Google Shape;195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61" name="Google Shape;1961;p13"/>
          <p:cNvGrpSpPr/>
          <p:nvPr/>
        </p:nvGrpSpPr>
        <p:grpSpPr>
          <a:xfrm>
            <a:off x="5083031" y="5055469"/>
            <a:ext cx="358775" cy="704850"/>
            <a:chOff x="4140" y="429"/>
            <a:chExt cx="1425" cy="2396"/>
          </a:xfrm>
        </p:grpSpPr>
        <p:sp>
          <p:nvSpPr>
            <p:cNvPr id="1962" name="Google Shape;1962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3" name="Google Shape;1963;p13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4" name="Google Shape;1964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5" name="Google Shape;1965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6" name="Google Shape;1966;p13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67" name="Google Shape;1967;p13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968" name="Google Shape;1968;p13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70" name="Google Shape;1970;p13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71" name="Google Shape;1971;p13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1972" name="Google Shape;1972;p13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74" name="Google Shape;1974;p13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5" name="Google Shape;1975;p13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76" name="Google Shape;1976;p13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1977" name="Google Shape;1977;p13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79" name="Google Shape;1979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80" name="Google Shape;1980;p13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981" name="Google Shape;1981;p13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83" name="Google Shape;1983;p13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4" name="Google Shape;1984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5" name="Google Shape;1985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6" name="Google Shape;1986;p13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7" name="Google Shape;1987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8" name="Google Shape;1988;p13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9" name="Google Shape;1989;p13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0" name="Google Shape;1990;p13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1" name="Google Shape;1991;p13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13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94" name="Google Shape;1994;p13"/>
          <p:cNvGrpSpPr/>
          <p:nvPr/>
        </p:nvGrpSpPr>
        <p:grpSpPr>
          <a:xfrm>
            <a:off x="1183088" y="1563001"/>
            <a:ext cx="4826032" cy="1719654"/>
            <a:chOff x="5" y="727"/>
            <a:chExt cx="2460" cy="1047"/>
          </a:xfrm>
        </p:grpSpPr>
        <p:sp>
          <p:nvSpPr>
            <p:cNvPr id="1995" name="Google Shape;1995;p13"/>
            <p:cNvSpPr txBox="1"/>
            <p:nvPr/>
          </p:nvSpPr>
          <p:spPr>
            <a:xfrm>
              <a:off x="133" y="1101"/>
              <a:ext cx="2332" cy="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handle data from multiple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sockets, add transport header (later used for demultiplexing)</a:t>
              </a:r>
              <a:endParaRPr/>
            </a:p>
          </p:txBody>
        </p:sp>
        <p:sp>
          <p:nvSpPr>
            <p:cNvPr id="1996" name="Google Shape;1996;p13"/>
            <p:cNvSpPr/>
            <p:nvPr/>
          </p:nvSpPr>
          <p:spPr>
            <a:xfrm>
              <a:off x="5" y="901"/>
              <a:ext cx="2298" cy="873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7" name="Google Shape;1997;p13"/>
            <p:cNvGrpSpPr/>
            <p:nvPr/>
          </p:nvGrpSpPr>
          <p:grpSpPr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1998" name="Google Shape;1998;p13"/>
              <p:cNvSpPr/>
              <p:nvPr/>
            </p:nvSpPr>
            <p:spPr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13"/>
              <p:cNvSpPr txBox="1"/>
              <p:nvPr/>
            </p:nvSpPr>
            <p:spPr>
              <a:xfrm>
                <a:off x="869" y="3567"/>
                <a:ext cx="1780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multiplexing as sender:</a:t>
                </a:r>
                <a:endParaRPr/>
              </a:p>
            </p:txBody>
          </p:sp>
        </p:grpSp>
      </p:grpSp>
      <p:sp>
        <p:nvSpPr>
          <p:cNvPr id="2000" name="Google Shape;2000;p13"/>
          <p:cNvSpPr/>
          <p:nvPr/>
        </p:nvSpPr>
        <p:spPr>
          <a:xfrm>
            <a:off x="4198793" y="4458569"/>
            <a:ext cx="1962150" cy="1897063"/>
          </a:xfrm>
          <a:custGeom>
            <a:rect b="b" l="l" r="r" t="t"/>
            <a:pathLst>
              <a:path extrusionOk="0" h="1195" w="1236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1" name="Google Shape;2001;p13"/>
          <p:cNvSpPr/>
          <p:nvPr/>
        </p:nvSpPr>
        <p:spPr>
          <a:xfrm>
            <a:off x="4135293" y="4433169"/>
            <a:ext cx="2160588" cy="1989138"/>
          </a:xfrm>
          <a:custGeom>
            <a:rect b="b" l="l" r="r" t="t"/>
            <a:pathLst>
              <a:path extrusionOk="0" h="1253" w="1361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02" name="Google Shape;2002;p13"/>
          <p:cNvGrpSpPr/>
          <p:nvPr/>
        </p:nvGrpSpPr>
        <p:grpSpPr>
          <a:xfrm>
            <a:off x="4455343" y="4186543"/>
            <a:ext cx="3740163" cy="385304"/>
            <a:chOff x="4455343" y="4186543"/>
            <a:chExt cx="3740163" cy="385304"/>
          </a:xfrm>
        </p:grpSpPr>
        <p:sp>
          <p:nvSpPr>
            <p:cNvPr id="2003" name="Google Shape;2003;p13"/>
            <p:cNvSpPr/>
            <p:nvPr/>
          </p:nvSpPr>
          <p:spPr>
            <a:xfrm rot="-778188">
              <a:off x="4450940" y="4321755"/>
              <a:ext cx="1216152" cy="99004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000090"/>
            </a:solidFill>
            <a:ln cap="flat" cmpd="sng" w="9525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13"/>
            <p:cNvSpPr/>
            <p:nvPr/>
          </p:nvSpPr>
          <p:spPr>
            <a:xfrm flipH="1" rot="-10021812">
              <a:off x="6983757" y="4337631"/>
              <a:ext cx="1216152" cy="99004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000090"/>
            </a:solidFill>
            <a:ln cap="flat" cmpd="sng" w="9525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5" name="Google Shape;2005;p1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1" name="Google Shape;2011;p14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2012" name="Google Shape;2012;p14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13" name="Google Shape;2013;p14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4" name="Google Shape;2014;p14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15" name="Google Shape;2015;p14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6" name="Google Shape;2016;p14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017" name="Google Shape;2017;p14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8" name="Google Shape;2018;p14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019" name="Google Shape;2019;p14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020" name="Google Shape;2020;p14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2021" name="Google Shape;2021;p14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2" name="Google Shape;2022;p14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3" name="Google Shape;2023;p14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24" name="Google Shape;2024;p14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25" name="Google Shape;2025;p14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6" name="Google Shape;2026;p14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027" name="Google Shape;2027;p14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14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9" name="Google Shape;2029;p14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0" name="Google Shape;2030;p14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031" name="Google Shape;2031;p14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032" name="Google Shape;2032;p14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033" name="Google Shape;2033;p14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2034" name="Google Shape;2034;p14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5" name="Google Shape;2035;p14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6" name="Google Shape;2036;p14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7" name="Google Shape;2037;p14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38" name="Google Shape;2038;p14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9" name="Google Shape;2039;p14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040" name="Google Shape;2040;p14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1" name="Google Shape;2041;p14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2" name="Google Shape;2042;p14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3" name="Google Shape;2043;p14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044" name="Google Shape;2044;p14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045" name="Google Shape;2045;p14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046" name="Google Shape;2046;p14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2047" name="Google Shape;2047;p14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2048" name="Google Shape;2048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9" name="Google Shape;2049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050" name="Google Shape;2050;p14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2051" name="Google Shape;2051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2" name="Google Shape;2052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053" name="Google Shape;2053;p14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054" name="Google Shape;2054;p1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5" name="Google Shape;2055;p14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6" name="Google Shape;2056;p1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7" name="Google Shape;2057;p1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8" name="Google Shape;2058;p14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059" name="Google Shape;2059;p14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2060" name="Google Shape;2060;p14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061" name="Google Shape;2061;p14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062" name="Google Shape;2062;p14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063" name="Google Shape;2063;p14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2064" name="Google Shape;2064;p14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065" name="Google Shape;2065;p14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066" name="Google Shape;2066;p14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7" name="Google Shape;2067;p14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068" name="Google Shape;2068;p14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2069" name="Google Shape;2069;p14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070" name="Google Shape;2070;p14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071" name="Google Shape;2071;p1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072" name="Google Shape;2072;p14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2073" name="Google Shape;2073;p14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074" name="Google Shape;2074;p14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075" name="Google Shape;2075;p14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76" name="Google Shape;2076;p1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77" name="Google Shape;2077;p1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78" name="Google Shape;2078;p14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79" name="Google Shape;2079;p1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0" name="Google Shape;2080;p14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1" name="Google Shape;2081;p14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2" name="Google Shape;2082;p14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3" name="Google Shape;2083;p14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p14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5" name="Google Shape;2085;p14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2086" name="Google Shape;208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7" name="Google Shape;2087;p14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2088" name="Google Shape;208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2089" name="Google Shape;208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2090" name="Google Shape;209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1" name="Google Shape;2091;p14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2092" name="Google Shape;2092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3" name="Google Shape;2093;p14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14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5" name="Google Shape;2095;p14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096" name="Google Shape;2096;p14"/>
          <p:cNvGrpSpPr/>
          <p:nvPr/>
        </p:nvGrpSpPr>
        <p:grpSpPr>
          <a:xfrm>
            <a:off x="5844802" y="2291678"/>
            <a:ext cx="1108206" cy="369332"/>
            <a:chOff x="5844802" y="2291678"/>
            <a:chExt cx="1108206" cy="369332"/>
          </a:xfrm>
        </p:grpSpPr>
        <p:sp>
          <p:nvSpPr>
            <p:cNvPr id="2097" name="Google Shape;2097;p14"/>
            <p:cNvSpPr/>
            <p:nvPr/>
          </p:nvSpPr>
          <p:spPr>
            <a:xfrm>
              <a:off x="5864224" y="2340021"/>
              <a:ext cx="1063879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14"/>
            <p:cNvSpPr txBox="1"/>
            <p:nvPr/>
          </p:nvSpPr>
          <p:spPr>
            <a:xfrm>
              <a:off x="5844802" y="2291678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</p:grpSp>
      <p:cxnSp>
        <p:nvCxnSpPr>
          <p:cNvPr id="2099" name="Google Shape;2099;p14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0" name="Google Shape;2100;p14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1" name="Google Shape;2101;p1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02" name="Google Shape;2102;p14"/>
          <p:cNvGrpSpPr/>
          <p:nvPr/>
        </p:nvGrpSpPr>
        <p:grpSpPr>
          <a:xfrm>
            <a:off x="5528837" y="2685375"/>
            <a:ext cx="1404036" cy="384588"/>
            <a:chOff x="8597346" y="692270"/>
            <a:chExt cx="1404036" cy="384588"/>
          </a:xfrm>
        </p:grpSpPr>
        <p:sp>
          <p:nvSpPr>
            <p:cNvPr id="2103" name="Google Shape;2103;p14"/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14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105" name="Google Shape;2105;p14"/>
            <p:cNvSpPr txBox="1"/>
            <p:nvPr/>
          </p:nvSpPr>
          <p:spPr>
            <a:xfrm>
              <a:off x="8597346" y="692270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</p:grpSp>
      <p:grpSp>
        <p:nvGrpSpPr>
          <p:cNvPr id="2106" name="Google Shape;2106;p14"/>
          <p:cNvGrpSpPr/>
          <p:nvPr/>
        </p:nvGrpSpPr>
        <p:grpSpPr>
          <a:xfrm>
            <a:off x="5272320" y="3145339"/>
            <a:ext cx="1651423" cy="389371"/>
            <a:chOff x="8349959" y="687487"/>
            <a:chExt cx="1651423" cy="389371"/>
          </a:xfrm>
        </p:grpSpPr>
        <p:sp>
          <p:nvSpPr>
            <p:cNvPr id="2107" name="Google Shape;2107;p14"/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14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109" name="Google Shape;2109;p14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sp>
          <p:nvSpPr>
            <p:cNvPr id="2110" name="Google Shape;2110;p14"/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</p:grpSp>
      <p:grpSp>
        <p:nvGrpSpPr>
          <p:cNvPr id="2111" name="Google Shape;2111;p14"/>
          <p:cNvGrpSpPr/>
          <p:nvPr/>
        </p:nvGrpSpPr>
        <p:grpSpPr>
          <a:xfrm>
            <a:off x="4107096" y="5561831"/>
            <a:ext cx="1651423" cy="389371"/>
            <a:chOff x="8349959" y="687487"/>
            <a:chExt cx="1651423" cy="389371"/>
          </a:xfrm>
        </p:grpSpPr>
        <p:sp>
          <p:nvSpPr>
            <p:cNvPr id="2112" name="Google Shape;2112;p14"/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14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114" name="Google Shape;2114;p14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sp>
          <p:nvSpPr>
            <p:cNvPr id="2115" name="Google Shape;2115;p14"/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</p:grpSp>
      <p:cxnSp>
        <p:nvCxnSpPr>
          <p:cNvPr id="2116" name="Google Shape;2116;p14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7" name="Google Shape;2117;p14"/>
          <p:cNvCxnSpPr/>
          <p:nvPr/>
        </p:nvCxnSpPr>
        <p:spPr>
          <a:xfrm rot="10800000">
            <a:off x="3701909" y="5774614"/>
            <a:ext cx="300263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118" name="Google Shape;2118;p14"/>
          <p:cNvGrpSpPr/>
          <p:nvPr/>
        </p:nvGrpSpPr>
        <p:grpSpPr>
          <a:xfrm>
            <a:off x="1825736" y="3693979"/>
            <a:ext cx="1651423" cy="389371"/>
            <a:chOff x="8349959" y="687487"/>
            <a:chExt cx="1651423" cy="389371"/>
          </a:xfrm>
        </p:grpSpPr>
        <p:sp>
          <p:nvSpPr>
            <p:cNvPr id="2119" name="Google Shape;2119;p14"/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4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121" name="Google Shape;2121;p14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sp>
          <p:nvSpPr>
            <p:cNvPr id="2122" name="Google Shape;2122;p14"/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8" name="Google Shape;2128;p15"/>
          <p:cNvGrpSpPr/>
          <p:nvPr/>
        </p:nvGrpSpPr>
        <p:grpSpPr>
          <a:xfrm>
            <a:off x="141514" y="1298122"/>
            <a:ext cx="11908971" cy="4268807"/>
            <a:chOff x="2511281" y="3572744"/>
            <a:chExt cx="7770812" cy="2811463"/>
          </a:xfrm>
        </p:grpSpPr>
        <p:sp>
          <p:nvSpPr>
            <p:cNvPr id="2129" name="Google Shape;2129;p15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0" name="Google Shape;2130;p15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1" name="Google Shape;2131;p15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32" name="Google Shape;2132;p15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3" name="Google Shape;2133;p15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134" name="Google Shape;2134;p15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5" name="Google Shape;2135;p15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136" name="Google Shape;2136;p15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137" name="Google Shape;2137;p15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2138" name="Google Shape;2138;p15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9" name="Google Shape;2139;p15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0" name="Google Shape;2140;p15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42" name="Google Shape;2142;p15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3" name="Google Shape;2143;p15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144" name="Google Shape;2144;p15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5" name="Google Shape;2145;p15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6" name="Google Shape;2146;p15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7" name="Google Shape;2147;p15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148" name="Google Shape;2148;p15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149" name="Google Shape;2149;p15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150" name="Google Shape;2150;p15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2151" name="Google Shape;2151;p15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2" name="Google Shape;2152;p15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55" name="Google Shape;2155;p15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6" name="Google Shape;2156;p15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157" name="Google Shape;2157;p15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8" name="Google Shape;2158;p15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9" name="Google Shape;2159;p15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0" name="Google Shape;2160;p15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161" name="Google Shape;2161;p15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162" name="Google Shape;2162;p15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163" name="Google Shape;2163;p15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2164" name="Google Shape;2164;p15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2165" name="Google Shape;2165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6" name="Google Shape;2166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167" name="Google Shape;2167;p15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2168" name="Google Shape;2168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9" name="Google Shape;2169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170" name="Google Shape;2170;p15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171" name="Google Shape;2171;p1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2" name="Google Shape;2172;p15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3" name="Google Shape;2173;p1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4" name="Google Shape;2174;p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5" name="Google Shape;2175;p15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176" name="Google Shape;2176;p15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2177" name="Google Shape;2177;p15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178" name="Google Shape;2178;p15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179" name="Google Shape;2179;p15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180" name="Google Shape;2180;p15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2181" name="Google Shape;2181;p15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182" name="Google Shape;2182;p15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183" name="Google Shape;2183;p15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84" name="Google Shape;2184;p15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185" name="Google Shape;2185;p15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2186" name="Google Shape;2186;p15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187" name="Google Shape;2187;p15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188" name="Google Shape;2188;p1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189" name="Google Shape;2189;p15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2190" name="Google Shape;2190;p15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191" name="Google Shape;2191;p15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192" name="Google Shape;2192;p15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3" name="Google Shape;2193;p1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4" name="Google Shape;2194;p1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5" name="Google Shape;2195;p15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6" name="Google Shape;2196;p1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7" name="Google Shape;2197;p15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8" name="Google Shape;2198;p15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9" name="Google Shape;2199;p15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0" name="Google Shape;2200;p15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15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2" name="Google Shape;2202;p15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2203" name="Google Shape;220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apache web server logo" id="2204" name="Google Shape;220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2205" name="Google Shape;220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2206" name="Google Shape;220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7" name="Google Shape;2207;p15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2208" name="Google Shape;2208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9" name="Google Shape;2209;p15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15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1" name="Google Shape;2211;p15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212" name="Google Shape;2212;p15"/>
          <p:cNvGrpSpPr/>
          <p:nvPr/>
        </p:nvGrpSpPr>
        <p:grpSpPr>
          <a:xfrm>
            <a:off x="5525255" y="2683797"/>
            <a:ext cx="1407618" cy="386166"/>
            <a:chOff x="8593764" y="690692"/>
            <a:chExt cx="1407618" cy="386166"/>
          </a:xfrm>
        </p:grpSpPr>
        <p:sp>
          <p:nvSpPr>
            <p:cNvPr id="2213" name="Google Shape;2213;p15"/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15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215" name="Google Shape;2215;p15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</p:grpSp>
      <p:sp>
        <p:nvSpPr>
          <p:cNvPr id="2216" name="Google Shape;2216;p15"/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15"/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msg</a:t>
            </a:r>
            <a:endParaRPr/>
          </a:p>
        </p:txBody>
      </p:sp>
      <p:cxnSp>
        <p:nvCxnSpPr>
          <p:cNvPr id="2218" name="Google Shape;2218;p15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9" name="Google Shape;2219;p15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0" name="Google Shape;2220;p15"/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15"/>
          <p:cNvSpPr/>
          <p:nvPr/>
        </p:nvSpPr>
        <p:spPr>
          <a:xfrm>
            <a:off x="5474955" y="2744519"/>
            <a:ext cx="1478052" cy="284266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1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15"/>
          <p:cNvSpPr/>
          <p:nvPr/>
        </p:nvSpPr>
        <p:spPr>
          <a:xfrm>
            <a:off x="1776642" y="3222226"/>
            <a:ext cx="1824687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4" name="Google Shape;2224;p15"/>
          <p:cNvGrpSpPr/>
          <p:nvPr/>
        </p:nvGrpSpPr>
        <p:grpSpPr>
          <a:xfrm>
            <a:off x="3073015" y="2669125"/>
            <a:ext cx="1108206" cy="369332"/>
            <a:chOff x="8893175" y="707526"/>
            <a:chExt cx="1108206" cy="369332"/>
          </a:xfrm>
        </p:grpSpPr>
        <p:sp>
          <p:nvSpPr>
            <p:cNvPr id="2225" name="Google Shape;2225;p15"/>
            <p:cNvSpPr/>
            <p:nvPr/>
          </p:nvSpPr>
          <p:spPr>
            <a:xfrm>
              <a:off x="8934834" y="756182"/>
              <a:ext cx="1066547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15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</p:grpSp>
      <p:pic>
        <p:nvPicPr>
          <p:cNvPr descr="Image result for blue question mark icon" id="2227" name="Google Shape;22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8355" y="104889"/>
            <a:ext cx="1624375" cy="16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8" name="Google Shape;2228;p15"/>
          <p:cNvSpPr txBox="1"/>
          <p:nvPr/>
        </p:nvSpPr>
        <p:spPr>
          <a:xfrm>
            <a:off x="2209800" y="266700"/>
            <a:ext cx="9664700" cy="82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how did transport layer know to deliver message to Firefox browser process rather then Netflix process or Skype process?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4" name="Google Shape;2234;p16"/>
          <p:cNvGrpSpPr/>
          <p:nvPr/>
        </p:nvGrpSpPr>
        <p:grpSpPr>
          <a:xfrm>
            <a:off x="4216816" y="1873503"/>
            <a:ext cx="2790948" cy="3309399"/>
            <a:chOff x="5478735" y="1883160"/>
            <a:chExt cx="2790948" cy="3309399"/>
          </a:xfrm>
        </p:grpSpPr>
        <p:grpSp>
          <p:nvGrpSpPr>
            <p:cNvPr id="2235" name="Google Shape;2235;p16"/>
            <p:cNvGrpSpPr/>
            <p:nvPr/>
          </p:nvGrpSpPr>
          <p:grpSpPr>
            <a:xfrm>
              <a:off x="5901165" y="1883160"/>
              <a:ext cx="2008556" cy="2443958"/>
              <a:chOff x="5901165" y="1883160"/>
              <a:chExt cx="2008556" cy="2443958"/>
            </a:xfrm>
          </p:grpSpPr>
          <p:sp>
            <p:nvSpPr>
              <p:cNvPr id="2236" name="Google Shape;2236;p16"/>
              <p:cNvSpPr/>
              <p:nvPr/>
            </p:nvSpPr>
            <p:spPr>
              <a:xfrm>
                <a:off x="6581083" y="2834918"/>
                <a:ext cx="648720" cy="641384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37" name="Google Shape;2237;p16"/>
              <p:cNvCxnSpPr/>
              <p:nvPr/>
            </p:nvCxnSpPr>
            <p:spPr>
              <a:xfrm rot="10800000">
                <a:off x="6878224" y="3527614"/>
                <a:ext cx="0" cy="799504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238" name="Google Shape;2238;p16"/>
              <p:cNvSpPr txBox="1"/>
              <p:nvPr/>
            </p:nvSpPr>
            <p:spPr>
              <a:xfrm>
                <a:off x="6690618" y="2768416"/>
                <a:ext cx="42236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4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/>
              </a:p>
            </p:txBody>
          </p:sp>
          <p:cxnSp>
            <p:nvCxnSpPr>
              <p:cNvPr id="2239" name="Google Shape;2239;p16"/>
              <p:cNvCxnSpPr/>
              <p:nvPr/>
            </p:nvCxnSpPr>
            <p:spPr>
              <a:xfrm rot="10800000">
                <a:off x="5901165" y="2086013"/>
                <a:ext cx="679918" cy="682403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240" name="Google Shape;2240;p16"/>
              <p:cNvCxnSpPr/>
              <p:nvPr/>
            </p:nvCxnSpPr>
            <p:spPr>
              <a:xfrm flipH="1" rot="10800000">
                <a:off x="7229803" y="2090667"/>
                <a:ext cx="679918" cy="682403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241" name="Google Shape;2241;p16"/>
              <p:cNvCxnSpPr/>
              <p:nvPr/>
            </p:nvCxnSpPr>
            <p:spPr>
              <a:xfrm rot="10800000">
                <a:off x="6874209" y="1883160"/>
                <a:ext cx="0" cy="799504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2242" name="Google Shape;2242;p16"/>
            <p:cNvSpPr txBox="1"/>
            <p:nvPr/>
          </p:nvSpPr>
          <p:spPr>
            <a:xfrm>
              <a:off x="5478735" y="4607783"/>
              <a:ext cx="2790948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de-multiplexing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17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9" name="Google Shape;2249;p17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0" name="Google Shape;2250;p17"/>
          <p:cNvSpPr txBox="1"/>
          <p:nvPr/>
        </p:nvSpPr>
        <p:spPr>
          <a:xfrm>
            <a:off x="5428699" y="2758759"/>
            <a:ext cx="4223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2251" name="Google Shape;2251;p17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2" name="Google Shape;2252;p17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3" name="Google Shape;2253;p17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4" name="Google Shape;2254;p17"/>
          <p:cNvSpPr txBox="1"/>
          <p:nvPr/>
        </p:nvSpPr>
        <p:spPr>
          <a:xfrm>
            <a:off x="4216816" y="4598126"/>
            <a:ext cx="2790948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de-multiplexing</a:t>
            </a:r>
            <a:endParaRPr/>
          </a:p>
        </p:txBody>
      </p:sp>
      <p:grpSp>
        <p:nvGrpSpPr>
          <p:cNvPr id="2255" name="Google Shape;2255;p17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descr="Image result for firefox logo" id="2256" name="Google Shape;225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16466" y="1134776"/>
              <a:ext cx="593575" cy="550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2257" name="Google Shape;225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4338" y="1410111"/>
              <a:ext cx="593575" cy="59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netflix logo png" id="2258" name="Google Shape;2258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2637" y="1485789"/>
              <a:ext cx="1059694" cy="59056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59" name="Google Shape;2259;p17"/>
            <p:cNvCxnSpPr/>
            <p:nvPr/>
          </p:nvCxnSpPr>
          <p:spPr>
            <a:xfrm>
              <a:off x="3726482" y="3915614"/>
              <a:ext cx="39255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0" name="Google Shape;2260;p17"/>
            <p:cNvCxnSpPr/>
            <p:nvPr/>
          </p:nvCxnSpPr>
          <p:spPr>
            <a:xfrm>
              <a:off x="3726482" y="2464553"/>
              <a:ext cx="449961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261" name="Google Shape;2261;p17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17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18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9" name="Google Shape;2269;p18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70" name="Google Shape;2270;p18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71" name="Google Shape;2271;p18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72" name="Google Shape;2272;p18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273" name="Google Shape;2273;p18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p19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0" name="Google Shape;2280;p19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81" name="Google Shape;2281;p19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82" name="Google Shape;2282;p19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283" name="Google Shape;2283;p19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284" name="Google Shape;2284;p19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</a:t>
            </a:r>
            <a:endParaRPr/>
          </a:p>
        </p:txBody>
      </p:sp>
      <p:grpSp>
        <p:nvGrpSpPr>
          <p:cNvPr id="2285" name="Google Shape;2285;p19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descr="Image result for firefox logo" id="2286" name="Google Shape;228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16466" y="1134776"/>
              <a:ext cx="593575" cy="550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2287" name="Google Shape;228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4338" y="1410111"/>
              <a:ext cx="593575" cy="59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netflix logo png" id="2288" name="Google Shape;228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2637" y="1485789"/>
              <a:ext cx="1059694" cy="59056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89" name="Google Shape;2289;p19"/>
            <p:cNvCxnSpPr/>
            <p:nvPr/>
          </p:nvCxnSpPr>
          <p:spPr>
            <a:xfrm>
              <a:off x="3726482" y="3915614"/>
              <a:ext cx="39255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0" name="Google Shape;2290;p19"/>
            <p:cNvCxnSpPr/>
            <p:nvPr/>
          </p:nvCxnSpPr>
          <p:spPr>
            <a:xfrm>
              <a:off x="3726482" y="2464553"/>
              <a:ext cx="449961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291" name="Google Shape;2291;p19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p19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20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How demultiplexing </a:t>
            </a:r>
            <a:r>
              <a:rPr lang="en-US"/>
              <a:t>w</a:t>
            </a:r>
            <a:r>
              <a:rPr lang="en-US" sz="4400"/>
              <a:t>orks</a:t>
            </a:r>
            <a:endParaRPr/>
          </a:p>
        </p:txBody>
      </p:sp>
      <p:sp>
        <p:nvSpPr>
          <p:cNvPr id="2299" name="Google Shape;2299;p20"/>
          <p:cNvSpPr txBox="1"/>
          <p:nvPr/>
        </p:nvSpPr>
        <p:spPr>
          <a:xfrm>
            <a:off x="812799" y="1565761"/>
            <a:ext cx="5703304" cy="279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0" marL="2841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receives IP datagrams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datagram has source IP address, destination IP address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datagram carries one transport-layer segment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segment has source, destination port number </a:t>
            </a:r>
            <a:endParaRPr/>
          </a:p>
          <a:p>
            <a:pPr indent="-284163" lvl="0" marL="284163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uses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addresses &amp; port numbers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direct segment to appropriate socket</a:t>
            </a:r>
            <a:endParaRPr/>
          </a:p>
        </p:txBody>
      </p:sp>
      <p:grpSp>
        <p:nvGrpSpPr>
          <p:cNvPr id="2300" name="Google Shape;2300;p20"/>
          <p:cNvGrpSpPr/>
          <p:nvPr/>
        </p:nvGrpSpPr>
        <p:grpSpPr>
          <a:xfrm>
            <a:off x="7543216" y="1704452"/>
            <a:ext cx="3414712" cy="4124385"/>
            <a:chOff x="7543216" y="1704452"/>
            <a:chExt cx="3414712" cy="4124385"/>
          </a:xfrm>
        </p:grpSpPr>
        <p:sp>
          <p:nvSpPr>
            <p:cNvPr id="2301" name="Google Shape;2301;p20"/>
            <p:cNvSpPr/>
            <p:nvPr/>
          </p:nvSpPr>
          <p:spPr>
            <a:xfrm>
              <a:off x="7633703" y="2048939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2" name="Google Shape;2302;p20"/>
            <p:cNvSpPr/>
            <p:nvPr/>
          </p:nvSpPr>
          <p:spPr>
            <a:xfrm>
              <a:off x="7557503" y="2144189"/>
              <a:ext cx="3324225" cy="32004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3" name="Google Shape;2303;p20"/>
            <p:cNvSpPr txBox="1"/>
            <p:nvPr/>
          </p:nvSpPr>
          <p:spPr>
            <a:xfrm>
              <a:off x="7597191" y="2156889"/>
              <a:ext cx="1563687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source port #</a:t>
              </a:r>
              <a:endParaRPr b="0" i="0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4" name="Google Shape;2304;p20"/>
            <p:cNvSpPr txBox="1"/>
            <p:nvPr/>
          </p:nvSpPr>
          <p:spPr>
            <a:xfrm>
              <a:off x="9383128" y="2156889"/>
              <a:ext cx="132873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dest port #</a:t>
              </a:r>
              <a:endParaRPr b="0" i="0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05" name="Google Shape;2305;p20"/>
            <p:cNvCxnSpPr/>
            <p:nvPr/>
          </p:nvCxnSpPr>
          <p:spPr>
            <a:xfrm>
              <a:off x="7547978" y="2544239"/>
              <a:ext cx="3328988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6" name="Google Shape;2306;p20"/>
            <p:cNvCxnSpPr/>
            <p:nvPr/>
          </p:nvCxnSpPr>
          <p:spPr>
            <a:xfrm>
              <a:off x="7557503" y="3534839"/>
              <a:ext cx="3324225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7" name="Google Shape;2307;p20"/>
            <p:cNvCxnSpPr/>
            <p:nvPr/>
          </p:nvCxnSpPr>
          <p:spPr>
            <a:xfrm rot="10800000">
              <a:off x="9195803" y="2144189"/>
              <a:ext cx="0" cy="39528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8" name="Google Shape;2308;p20"/>
            <p:cNvSpPr txBox="1"/>
            <p:nvPr/>
          </p:nvSpPr>
          <p:spPr>
            <a:xfrm>
              <a:off x="8740191" y="1704452"/>
              <a:ext cx="8636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32 bits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09" name="Google Shape;2309;p20"/>
            <p:cNvCxnSpPr/>
            <p:nvPr/>
          </p:nvCxnSpPr>
          <p:spPr>
            <a:xfrm>
              <a:off x="9653003" y="1910827"/>
              <a:ext cx="1200150" cy="476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10" name="Google Shape;2310;p20"/>
            <p:cNvCxnSpPr/>
            <p:nvPr/>
          </p:nvCxnSpPr>
          <p:spPr>
            <a:xfrm rot="10800000">
              <a:off x="7543216" y="1920352"/>
              <a:ext cx="1128712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1" name="Google Shape;2311;p20"/>
            <p:cNvSpPr txBox="1"/>
            <p:nvPr/>
          </p:nvSpPr>
          <p:spPr>
            <a:xfrm>
              <a:off x="8451266" y="3865039"/>
              <a:ext cx="1389062" cy="1006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data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(payload)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2" name="Google Shape;2312;p20"/>
            <p:cNvSpPr txBox="1"/>
            <p:nvPr/>
          </p:nvSpPr>
          <p:spPr>
            <a:xfrm>
              <a:off x="8067091" y="2898252"/>
              <a:ext cx="2290762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other header fields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3" name="Google Shape;2313;p20"/>
            <p:cNvSpPr txBox="1"/>
            <p:nvPr/>
          </p:nvSpPr>
          <p:spPr>
            <a:xfrm>
              <a:off x="8026832" y="5428727"/>
              <a:ext cx="25474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UDP segment format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314" name="Google Shape;2314;p20"/>
          <p:cNvSpPr/>
          <p:nvPr/>
        </p:nvSpPr>
        <p:spPr>
          <a:xfrm>
            <a:off x="7299923" y="1976355"/>
            <a:ext cx="2083205" cy="689091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20"/>
          <p:cNvSpPr/>
          <p:nvPr/>
        </p:nvSpPr>
        <p:spPr>
          <a:xfrm>
            <a:off x="9014727" y="1985006"/>
            <a:ext cx="2083205" cy="689091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2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21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Connectionless demultiplexing</a:t>
            </a:r>
            <a:endParaRPr/>
          </a:p>
        </p:txBody>
      </p:sp>
      <p:sp>
        <p:nvSpPr>
          <p:cNvPr id="2323" name="Google Shape;2323;p21"/>
          <p:cNvSpPr txBox="1"/>
          <p:nvPr/>
        </p:nvSpPr>
        <p:spPr>
          <a:xfrm>
            <a:off x="798689" y="1523600"/>
            <a:ext cx="5254159" cy="211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1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</a:t>
            </a: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90544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creating socket, must specify </a:t>
            </a:r>
            <a:r>
              <a:rPr b="0" i="1" lang="en-US" sz="35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host-local </a:t>
            </a: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#:</a:t>
            </a:r>
            <a:endParaRPr/>
          </a:p>
          <a:p>
            <a:pPr indent="-29051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DatagramSocket mySocket1        = new DatagramSocket(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ourier"/>
                <a:ea typeface="Courier"/>
                <a:cs typeface="Courier"/>
                <a:sym typeface="Courier"/>
              </a:rPr>
              <a:t>12534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  <a:endParaRPr/>
          </a:p>
          <a:p>
            <a:pPr indent="-29051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21"/>
          <p:cNvSpPr txBox="1"/>
          <p:nvPr/>
        </p:nvSpPr>
        <p:spPr>
          <a:xfrm>
            <a:off x="6774662" y="1514612"/>
            <a:ext cx="4894407" cy="236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receiving host receives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segment: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 destination port # in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directs UDP segment to socket with that port #</a:t>
            </a:r>
            <a:endParaRPr/>
          </a:p>
        </p:txBody>
      </p:sp>
      <p:sp>
        <p:nvSpPr>
          <p:cNvPr id="2325" name="Google Shape;2325;p21"/>
          <p:cNvSpPr/>
          <p:nvPr/>
        </p:nvSpPr>
        <p:spPr>
          <a:xfrm>
            <a:off x="883807" y="3328506"/>
            <a:ext cx="5227637" cy="2751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453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921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creating datagram to send into UDP socket, must specify</a:t>
            </a:r>
            <a:endParaRPr/>
          </a:p>
          <a:p>
            <a:pPr indent="-239712" lvl="1" marL="8588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IP address</a:t>
            </a:r>
            <a:endParaRPr/>
          </a:p>
          <a:p>
            <a:pPr indent="-239712" lvl="1" marL="8588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port #</a:t>
            </a:r>
            <a:endParaRPr/>
          </a:p>
        </p:txBody>
      </p:sp>
      <p:sp>
        <p:nvSpPr>
          <p:cNvPr id="2326" name="Google Shape;2326;p21"/>
          <p:cNvSpPr/>
          <p:nvPr/>
        </p:nvSpPr>
        <p:spPr>
          <a:xfrm>
            <a:off x="6349002" y="4420787"/>
            <a:ext cx="5188153" cy="2336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IP/UDP datagrams with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same dest. port #,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different source IP addresses and/or source port numbers will be directed to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same socket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receiving host</a:t>
            </a:r>
            <a:endParaRPr/>
          </a:p>
        </p:txBody>
      </p:sp>
      <p:sp>
        <p:nvSpPr>
          <p:cNvPr id="2327" name="Google Shape;2327;p21"/>
          <p:cNvSpPr/>
          <p:nvPr/>
        </p:nvSpPr>
        <p:spPr>
          <a:xfrm rot="5400000">
            <a:off x="8662884" y="3896801"/>
            <a:ext cx="560388" cy="311150"/>
          </a:xfrm>
          <a:prstGeom prst="rightArrow">
            <a:avLst>
              <a:gd fmla="val 50000" name="adj1"/>
              <a:gd fmla="val 45026" name="adj2"/>
            </a:avLst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21"/>
          <p:cNvSpPr/>
          <p:nvPr/>
        </p:nvSpPr>
        <p:spPr>
          <a:xfrm>
            <a:off x="4202130" y="2887038"/>
            <a:ext cx="1909314" cy="996124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21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22"/>
          <p:cNvSpPr/>
          <p:nvPr/>
        </p:nvSpPr>
        <p:spPr>
          <a:xfrm>
            <a:off x="4799806" y="2502914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2B2B2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6" name="Google Shape;2336;p22"/>
          <p:cNvSpPr/>
          <p:nvPr/>
        </p:nvSpPr>
        <p:spPr>
          <a:xfrm>
            <a:off x="2077944" y="2807714"/>
            <a:ext cx="397763" cy="2143904"/>
          </a:xfrm>
          <a:custGeom>
            <a:rect b="b" l="l" r="r" t="t"/>
            <a:pathLst>
              <a:path extrusionOk="0" h="9772" w="9111">
                <a:moveTo>
                  <a:pt x="2554" y="9772"/>
                </a:moveTo>
                <a:lnTo>
                  <a:pt x="0" y="8128"/>
                </a:lnTo>
                <a:lnTo>
                  <a:pt x="9111" y="0"/>
                </a:lnTo>
                <a:cubicBezTo>
                  <a:pt x="9038" y="3034"/>
                  <a:pt x="8966" y="6069"/>
                  <a:pt x="8893" y="9103"/>
                </a:cubicBezTo>
                <a:lnTo>
                  <a:pt x="2554" y="9772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2B2B2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7" name="Google Shape;2337;p22"/>
          <p:cNvSpPr/>
          <p:nvPr/>
        </p:nvSpPr>
        <p:spPr>
          <a:xfrm>
            <a:off x="9587706" y="2812476"/>
            <a:ext cx="430060" cy="2171151"/>
          </a:xfrm>
          <a:custGeom>
            <a:rect b="b" l="l" r="r" t="t"/>
            <a:pathLst>
              <a:path extrusionOk="0" h="10176" w="8519">
                <a:moveTo>
                  <a:pt x="7767" y="8356"/>
                </a:moveTo>
                <a:lnTo>
                  <a:pt x="377" y="0"/>
                </a:lnTo>
                <a:cubicBezTo>
                  <a:pt x="251" y="3036"/>
                  <a:pt x="126" y="6071"/>
                  <a:pt x="0" y="9107"/>
                </a:cubicBezTo>
                <a:lnTo>
                  <a:pt x="8519" y="10176"/>
                </a:lnTo>
                <a:lnTo>
                  <a:pt x="7767" y="8356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2F2F2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8" name="Google Shape;2338;p22"/>
          <p:cNvSpPr/>
          <p:nvPr/>
        </p:nvSpPr>
        <p:spPr>
          <a:xfrm>
            <a:off x="2482056" y="2828351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39" name="Google Shape;2339;p22"/>
          <p:cNvCxnSpPr/>
          <p:nvPr/>
        </p:nvCxnSpPr>
        <p:spPr>
          <a:xfrm>
            <a:off x="2491581" y="3588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0" name="Google Shape;2340;p22"/>
          <p:cNvSpPr txBox="1"/>
          <p:nvPr/>
        </p:nvSpPr>
        <p:spPr>
          <a:xfrm>
            <a:off x="2448718" y="357130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2341" name="Google Shape;2341;p22"/>
          <p:cNvCxnSpPr/>
          <p:nvPr/>
        </p:nvCxnSpPr>
        <p:spPr>
          <a:xfrm>
            <a:off x="2499518" y="39094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2" name="Google Shape;2342;p22"/>
          <p:cNvCxnSpPr/>
          <p:nvPr/>
        </p:nvCxnSpPr>
        <p:spPr>
          <a:xfrm>
            <a:off x="2485231" y="42190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22"/>
          <p:cNvCxnSpPr/>
          <p:nvPr/>
        </p:nvCxnSpPr>
        <p:spPr>
          <a:xfrm>
            <a:off x="2485231" y="45047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4" name="Google Shape;2344;p22"/>
          <p:cNvSpPr txBox="1"/>
          <p:nvPr/>
        </p:nvSpPr>
        <p:spPr>
          <a:xfrm>
            <a:off x="2483643" y="281882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345" name="Google Shape;2345;p22"/>
          <p:cNvSpPr txBox="1"/>
          <p:nvPr/>
        </p:nvSpPr>
        <p:spPr>
          <a:xfrm>
            <a:off x="2439193" y="447617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346" name="Google Shape;2346;p22"/>
          <p:cNvSpPr txBox="1"/>
          <p:nvPr/>
        </p:nvSpPr>
        <p:spPr>
          <a:xfrm>
            <a:off x="2458243" y="419042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347" name="Google Shape;2347;p22"/>
          <p:cNvSpPr txBox="1"/>
          <p:nvPr/>
        </p:nvSpPr>
        <p:spPr>
          <a:xfrm>
            <a:off x="2448718" y="389515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2348" name="Google Shape;2348;p22"/>
          <p:cNvSpPr/>
          <p:nvPr/>
        </p:nvSpPr>
        <p:spPr>
          <a:xfrm>
            <a:off x="2818606" y="3104576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grpSp>
        <p:nvGrpSpPr>
          <p:cNvPr id="2349" name="Google Shape;2349;p22"/>
          <p:cNvGrpSpPr/>
          <p:nvPr/>
        </p:nvGrpSpPr>
        <p:grpSpPr>
          <a:xfrm>
            <a:off x="2786856" y="3428426"/>
            <a:ext cx="620712" cy="228600"/>
            <a:chOff x="1287" y="2524"/>
            <a:chExt cx="260" cy="100"/>
          </a:xfrm>
        </p:grpSpPr>
        <p:sp>
          <p:nvSpPr>
            <p:cNvPr id="2350" name="Google Shape;2350;p2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1" name="Google Shape;2351;p2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2" name="Google Shape;2352;p22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3" name="Google Shape;2353;p2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354" name="Google Shape;2354;p22"/>
          <p:cNvSpPr/>
          <p:nvPr/>
        </p:nvSpPr>
        <p:spPr>
          <a:xfrm>
            <a:off x="5312568" y="2594989"/>
            <a:ext cx="1473200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5" name="Google Shape;2355;p22"/>
          <p:cNvCxnSpPr/>
          <p:nvPr/>
        </p:nvCxnSpPr>
        <p:spPr>
          <a:xfrm>
            <a:off x="5318918" y="3364926"/>
            <a:ext cx="146050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6" name="Google Shape;2356;p22"/>
          <p:cNvSpPr txBox="1"/>
          <p:nvPr/>
        </p:nvSpPr>
        <p:spPr>
          <a:xfrm>
            <a:off x="5390356" y="334746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2357" name="Google Shape;2357;p22"/>
          <p:cNvCxnSpPr/>
          <p:nvPr/>
        </p:nvCxnSpPr>
        <p:spPr>
          <a:xfrm>
            <a:off x="5320506" y="368242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8" name="Google Shape;2358;p22"/>
          <p:cNvSpPr txBox="1"/>
          <p:nvPr/>
        </p:nvSpPr>
        <p:spPr>
          <a:xfrm>
            <a:off x="5387181" y="256165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359" name="Google Shape;2359;p22"/>
          <p:cNvSpPr txBox="1"/>
          <p:nvPr/>
        </p:nvSpPr>
        <p:spPr>
          <a:xfrm>
            <a:off x="5384006" y="42523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360" name="Google Shape;2360;p22"/>
          <p:cNvSpPr txBox="1"/>
          <p:nvPr/>
        </p:nvSpPr>
        <p:spPr>
          <a:xfrm>
            <a:off x="5384006" y="39665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361" name="Google Shape;2361;p22"/>
          <p:cNvSpPr txBox="1"/>
          <p:nvPr/>
        </p:nvSpPr>
        <p:spPr>
          <a:xfrm>
            <a:off x="5384006" y="36681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cxnSp>
        <p:nvCxnSpPr>
          <p:cNvPr id="2362" name="Google Shape;2362;p22"/>
          <p:cNvCxnSpPr/>
          <p:nvPr/>
        </p:nvCxnSpPr>
        <p:spPr>
          <a:xfrm>
            <a:off x="5317331" y="399357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3" name="Google Shape;2363;p22"/>
          <p:cNvCxnSpPr/>
          <p:nvPr/>
        </p:nvCxnSpPr>
        <p:spPr>
          <a:xfrm>
            <a:off x="5314156" y="429202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4" name="Google Shape;2364;p22"/>
          <p:cNvSpPr/>
          <p:nvPr/>
        </p:nvSpPr>
        <p:spPr>
          <a:xfrm>
            <a:off x="5731668" y="2901376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/>
          </a:p>
        </p:txBody>
      </p:sp>
      <p:grpSp>
        <p:nvGrpSpPr>
          <p:cNvPr id="2365" name="Google Shape;2365;p22"/>
          <p:cNvGrpSpPr/>
          <p:nvPr/>
        </p:nvGrpSpPr>
        <p:grpSpPr>
          <a:xfrm>
            <a:off x="5603081" y="3217289"/>
            <a:ext cx="887412" cy="228600"/>
            <a:chOff x="1383" y="2620"/>
            <a:chExt cx="260" cy="100"/>
          </a:xfrm>
        </p:grpSpPr>
        <p:sp>
          <p:nvSpPr>
            <p:cNvPr id="2366" name="Google Shape;2366;p22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7" name="Google Shape;2367;p22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8" name="Google Shape;2368;p22"/>
            <p:cNvSpPr/>
            <p:nvPr/>
          </p:nvSpPr>
          <p:spPr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9" name="Google Shape;2369;p22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370" name="Google Shape;2370;p22"/>
          <p:cNvSpPr/>
          <p:nvPr/>
        </p:nvSpPr>
        <p:spPr>
          <a:xfrm>
            <a:off x="8316118" y="2820414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1" name="Google Shape;2371;p22"/>
          <p:cNvCxnSpPr/>
          <p:nvPr/>
        </p:nvCxnSpPr>
        <p:spPr>
          <a:xfrm>
            <a:off x="8325643" y="3580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2" name="Google Shape;2372;p22"/>
          <p:cNvSpPr txBox="1"/>
          <p:nvPr/>
        </p:nvSpPr>
        <p:spPr>
          <a:xfrm>
            <a:off x="8282781" y="356336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2373" name="Google Shape;2373;p22"/>
          <p:cNvCxnSpPr/>
          <p:nvPr/>
        </p:nvCxnSpPr>
        <p:spPr>
          <a:xfrm>
            <a:off x="8333581" y="390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4" name="Google Shape;2374;p22"/>
          <p:cNvCxnSpPr/>
          <p:nvPr/>
        </p:nvCxnSpPr>
        <p:spPr>
          <a:xfrm>
            <a:off x="8319293" y="42110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5" name="Google Shape;2375;p22"/>
          <p:cNvCxnSpPr/>
          <p:nvPr/>
        </p:nvCxnSpPr>
        <p:spPr>
          <a:xfrm>
            <a:off x="8319293" y="44968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6" name="Google Shape;2376;p22"/>
          <p:cNvSpPr txBox="1"/>
          <p:nvPr/>
        </p:nvSpPr>
        <p:spPr>
          <a:xfrm>
            <a:off x="8317706" y="28108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377" name="Google Shape;2377;p22"/>
          <p:cNvSpPr txBox="1"/>
          <p:nvPr/>
        </p:nvSpPr>
        <p:spPr>
          <a:xfrm>
            <a:off x="8273256" y="44682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378" name="Google Shape;2378;p22"/>
          <p:cNvSpPr txBox="1"/>
          <p:nvPr/>
        </p:nvSpPr>
        <p:spPr>
          <a:xfrm>
            <a:off x="8292306" y="41824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379" name="Google Shape;2379;p22"/>
          <p:cNvSpPr txBox="1"/>
          <p:nvPr/>
        </p:nvSpPr>
        <p:spPr>
          <a:xfrm>
            <a:off x="8282781" y="388721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2380" name="Google Shape;2380;p22"/>
          <p:cNvSpPr/>
          <p:nvPr/>
        </p:nvSpPr>
        <p:spPr>
          <a:xfrm>
            <a:off x="8652668" y="3118864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/>
          </a:p>
        </p:txBody>
      </p:sp>
      <p:grpSp>
        <p:nvGrpSpPr>
          <p:cNvPr id="2381" name="Google Shape;2381;p22"/>
          <p:cNvGrpSpPr/>
          <p:nvPr/>
        </p:nvGrpSpPr>
        <p:grpSpPr>
          <a:xfrm>
            <a:off x="8646318" y="3450651"/>
            <a:ext cx="620713" cy="204788"/>
            <a:chOff x="1287" y="2524"/>
            <a:chExt cx="260" cy="100"/>
          </a:xfrm>
        </p:grpSpPr>
        <p:sp>
          <p:nvSpPr>
            <p:cNvPr id="2382" name="Google Shape;2382;p2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3" name="Google Shape;2383;p2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4" name="Google Shape;2384;p2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5" name="Google Shape;2385;p2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386" name="Google Shape;2386;p22"/>
          <p:cNvSpPr/>
          <p:nvPr/>
        </p:nvSpPr>
        <p:spPr>
          <a:xfrm>
            <a:off x="1254875" y="1933074"/>
            <a:ext cx="3906061" cy="962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5888" lvl="0" marL="1158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 = socket(AF_INET,SOCK_DGRAM)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mySocket.bind(myaddr,</a:t>
            </a:r>
            <a:r>
              <a:rPr b="1" lang="en-US" sz="16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9157</a:t>
            </a: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387" name="Google Shape;2387;p22"/>
          <p:cNvCxnSpPr/>
          <p:nvPr/>
        </p:nvCxnSpPr>
        <p:spPr>
          <a:xfrm>
            <a:off x="3023393" y="3531614"/>
            <a:ext cx="0" cy="217646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8" name="Google Shape;2388;p22"/>
          <p:cNvCxnSpPr/>
          <p:nvPr/>
        </p:nvCxnSpPr>
        <p:spPr>
          <a:xfrm>
            <a:off x="5953918" y="3290314"/>
            <a:ext cx="12700" cy="2408237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89" name="Google Shape;2389;p22"/>
          <p:cNvCxnSpPr/>
          <p:nvPr/>
        </p:nvCxnSpPr>
        <p:spPr>
          <a:xfrm>
            <a:off x="3023393" y="5690614"/>
            <a:ext cx="293687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0" name="Google Shape;2390;p22"/>
          <p:cNvCxnSpPr/>
          <p:nvPr/>
        </p:nvCxnSpPr>
        <p:spPr>
          <a:xfrm>
            <a:off x="5830093" y="3303014"/>
            <a:ext cx="0" cy="22463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1" name="Google Shape;2391;p22"/>
          <p:cNvCxnSpPr/>
          <p:nvPr/>
        </p:nvCxnSpPr>
        <p:spPr>
          <a:xfrm>
            <a:off x="3131343" y="5531864"/>
            <a:ext cx="274002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2" name="Google Shape;2392;p22"/>
          <p:cNvCxnSpPr/>
          <p:nvPr/>
        </p:nvCxnSpPr>
        <p:spPr>
          <a:xfrm>
            <a:off x="3124993" y="3518914"/>
            <a:ext cx="12700" cy="20177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3" name="Google Shape;2393;p22"/>
          <p:cNvCxnSpPr/>
          <p:nvPr/>
        </p:nvCxnSpPr>
        <p:spPr>
          <a:xfrm>
            <a:off x="9033668" y="3569714"/>
            <a:ext cx="0" cy="217646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4" name="Google Shape;2394;p22"/>
          <p:cNvCxnSpPr/>
          <p:nvPr/>
        </p:nvCxnSpPr>
        <p:spPr>
          <a:xfrm>
            <a:off x="8916193" y="3537964"/>
            <a:ext cx="12700" cy="20177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5" name="Google Shape;2395;p22"/>
          <p:cNvCxnSpPr/>
          <p:nvPr/>
        </p:nvCxnSpPr>
        <p:spPr>
          <a:xfrm>
            <a:off x="6096793" y="3309364"/>
            <a:ext cx="12700" cy="2408237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6" name="Google Shape;2396;p22"/>
          <p:cNvCxnSpPr/>
          <p:nvPr/>
        </p:nvCxnSpPr>
        <p:spPr>
          <a:xfrm>
            <a:off x="6230143" y="3322064"/>
            <a:ext cx="0" cy="22463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7" name="Google Shape;2397;p22"/>
          <p:cNvCxnSpPr/>
          <p:nvPr/>
        </p:nvCxnSpPr>
        <p:spPr>
          <a:xfrm>
            <a:off x="6119018" y="5709664"/>
            <a:ext cx="293687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8" name="Google Shape;2398;p22"/>
          <p:cNvCxnSpPr/>
          <p:nvPr/>
        </p:nvCxnSpPr>
        <p:spPr>
          <a:xfrm>
            <a:off x="6204743" y="5541389"/>
            <a:ext cx="274002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99" name="Google Shape;2399;p22"/>
          <p:cNvGrpSpPr/>
          <p:nvPr/>
        </p:nvGrpSpPr>
        <p:grpSpPr>
          <a:xfrm>
            <a:off x="2726531" y="5790630"/>
            <a:ext cx="1658938" cy="657226"/>
            <a:chOff x="1309" y="3697"/>
            <a:chExt cx="1045" cy="414"/>
          </a:xfrm>
        </p:grpSpPr>
        <p:sp>
          <p:nvSpPr>
            <p:cNvPr id="2400" name="Google Shape;2400;p22"/>
            <p:cNvSpPr/>
            <p:nvPr/>
          </p:nvSpPr>
          <p:spPr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01" name="Google Shape;2401;p22"/>
            <p:cNvCxnSpPr/>
            <p:nvPr/>
          </p:nvCxnSpPr>
          <p:spPr>
            <a:xfrm>
              <a:off x="2179" y="3770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02" name="Google Shape;2402;p22"/>
            <p:cNvSpPr txBox="1"/>
            <p:nvPr/>
          </p:nvSpPr>
          <p:spPr>
            <a:xfrm>
              <a:off x="1309" y="3822"/>
              <a:ext cx="1003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9157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6428</a:t>
              </a:r>
              <a:endParaRPr/>
            </a:p>
          </p:txBody>
        </p:sp>
      </p:grpSp>
      <p:grpSp>
        <p:nvGrpSpPr>
          <p:cNvPr id="2403" name="Google Shape;2403;p22"/>
          <p:cNvGrpSpPr/>
          <p:nvPr/>
        </p:nvGrpSpPr>
        <p:grpSpPr>
          <a:xfrm>
            <a:off x="4039394" y="4914330"/>
            <a:ext cx="1706563" cy="657226"/>
            <a:chOff x="2741" y="3750"/>
            <a:chExt cx="1075" cy="414"/>
          </a:xfrm>
        </p:grpSpPr>
        <p:sp>
          <p:nvSpPr>
            <p:cNvPr id="2404" name="Google Shape;2404;p22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05" name="Google Shape;2405;p22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406" name="Google Shape;2406;p22"/>
            <p:cNvSpPr txBox="1"/>
            <p:nvPr/>
          </p:nvSpPr>
          <p:spPr>
            <a:xfrm>
              <a:off x="2813" y="3875"/>
              <a:ext cx="1003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6428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9157</a:t>
              </a:r>
              <a:endParaRPr/>
            </a:p>
          </p:txBody>
        </p:sp>
      </p:grpSp>
      <p:grpSp>
        <p:nvGrpSpPr>
          <p:cNvPr id="2407" name="Google Shape;2407;p22"/>
          <p:cNvGrpSpPr/>
          <p:nvPr/>
        </p:nvGrpSpPr>
        <p:grpSpPr>
          <a:xfrm>
            <a:off x="7063581" y="4914326"/>
            <a:ext cx="1341437" cy="652463"/>
            <a:chOff x="1509" y="3697"/>
            <a:chExt cx="845" cy="411"/>
          </a:xfrm>
        </p:grpSpPr>
        <p:sp>
          <p:nvSpPr>
            <p:cNvPr id="2408" name="Google Shape;2408;p22"/>
            <p:cNvSpPr/>
            <p:nvPr/>
          </p:nvSpPr>
          <p:spPr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09" name="Google Shape;2409;p22"/>
            <p:cNvCxnSpPr/>
            <p:nvPr/>
          </p:nvCxnSpPr>
          <p:spPr>
            <a:xfrm>
              <a:off x="2179" y="3770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10" name="Google Shape;2410;p22"/>
            <p:cNvSpPr txBox="1"/>
            <p:nvPr/>
          </p:nvSpPr>
          <p:spPr>
            <a:xfrm>
              <a:off x="1509" y="3822"/>
              <a:ext cx="803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?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?</a:t>
              </a:r>
              <a:endParaRPr/>
            </a:p>
          </p:txBody>
        </p:sp>
      </p:grpSp>
      <p:grpSp>
        <p:nvGrpSpPr>
          <p:cNvPr id="2411" name="Google Shape;2411;p22"/>
          <p:cNvGrpSpPr/>
          <p:nvPr/>
        </p:nvGrpSpPr>
        <p:grpSpPr>
          <a:xfrm>
            <a:off x="6304756" y="5768401"/>
            <a:ext cx="1389062" cy="652463"/>
            <a:chOff x="2741" y="3750"/>
            <a:chExt cx="875" cy="411"/>
          </a:xfrm>
        </p:grpSpPr>
        <p:sp>
          <p:nvSpPr>
            <p:cNvPr id="2412" name="Google Shape;2412;p22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13" name="Google Shape;2413;p22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414" name="Google Shape;2414;p22"/>
            <p:cNvSpPr txBox="1"/>
            <p:nvPr/>
          </p:nvSpPr>
          <p:spPr>
            <a:xfrm>
              <a:off x="2813" y="3875"/>
              <a:ext cx="803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?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?</a:t>
              </a:r>
              <a:endParaRPr/>
            </a:p>
          </p:txBody>
        </p:sp>
      </p:grpSp>
      <p:grpSp>
        <p:nvGrpSpPr>
          <p:cNvPr id="2415" name="Google Shape;2415;p22"/>
          <p:cNvGrpSpPr/>
          <p:nvPr/>
        </p:nvGrpSpPr>
        <p:grpSpPr>
          <a:xfrm>
            <a:off x="1610518" y="4406326"/>
            <a:ext cx="711200" cy="669925"/>
            <a:chOff x="-44" y="1473"/>
            <a:chExt cx="981" cy="1105"/>
          </a:xfrm>
        </p:grpSpPr>
        <p:pic>
          <p:nvPicPr>
            <p:cNvPr descr="desktop_computer_stylized_medium" id="2416" name="Google Shape;241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7" name="Google Shape;2417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418" name="Google Shape;2418;p22"/>
          <p:cNvGrpSpPr/>
          <p:nvPr/>
        </p:nvGrpSpPr>
        <p:grpSpPr>
          <a:xfrm flipH="1">
            <a:off x="9879806" y="4530151"/>
            <a:ext cx="711200" cy="669925"/>
            <a:chOff x="-44" y="1473"/>
            <a:chExt cx="981" cy="1105"/>
          </a:xfrm>
        </p:grpSpPr>
        <p:pic>
          <p:nvPicPr>
            <p:cNvPr descr="desktop_computer_stylized_medium" id="2419" name="Google Shape;241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0" name="Google Shape;2420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421" name="Google Shape;2421;p22"/>
          <p:cNvGrpSpPr/>
          <p:nvPr/>
        </p:nvGrpSpPr>
        <p:grpSpPr>
          <a:xfrm>
            <a:off x="4702968" y="3928489"/>
            <a:ext cx="358775" cy="704850"/>
            <a:chOff x="4140" y="429"/>
            <a:chExt cx="1425" cy="2396"/>
          </a:xfrm>
        </p:grpSpPr>
        <p:sp>
          <p:nvSpPr>
            <p:cNvPr id="2422" name="Google Shape;2422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3" name="Google Shape;2423;p22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4" name="Google Shape;2424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5" name="Google Shape;2425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6" name="Google Shape;2426;p22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27" name="Google Shape;2427;p2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2428" name="Google Shape;2428;p2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29" name="Google Shape;2429;p22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30" name="Google Shape;2430;p22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31" name="Google Shape;2431;p22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2432" name="Google Shape;2432;p22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33" name="Google Shape;2433;p22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34" name="Google Shape;2434;p22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5" name="Google Shape;2435;p2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36" name="Google Shape;2436;p22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2437" name="Google Shape;2437;p22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38" name="Google Shape;2438;p22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39" name="Google Shape;2439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40" name="Google Shape;2440;p2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2441" name="Google Shape;2441;p2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42" name="Google Shape;2442;p22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43" name="Google Shape;2443;p22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4" name="Google Shape;2444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5" name="Google Shape;2445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6" name="Google Shape;2446;p22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7" name="Google Shape;2447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8" name="Google Shape;2448;p2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9" name="Google Shape;2449;p22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0" name="Google Shape;2450;p22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1" name="Google Shape;2451;p22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2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3" name="Google Shape;2453;p22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54" name="Google Shape;2454;p22"/>
          <p:cNvSpPr txBox="1"/>
          <p:nvPr/>
        </p:nvSpPr>
        <p:spPr>
          <a:xfrm>
            <a:off x="3494761" y="5722142"/>
            <a:ext cx="317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455" name="Google Shape;2455;p22"/>
          <p:cNvSpPr txBox="1"/>
          <p:nvPr/>
        </p:nvSpPr>
        <p:spPr>
          <a:xfrm>
            <a:off x="4623206" y="4847126"/>
            <a:ext cx="317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456" name="Google Shape;2456;p22"/>
          <p:cNvSpPr txBox="1"/>
          <p:nvPr/>
        </p:nvSpPr>
        <p:spPr>
          <a:xfrm>
            <a:off x="6902357" y="5698169"/>
            <a:ext cx="317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457" name="Google Shape;2457;p22"/>
          <p:cNvSpPr txBox="1"/>
          <p:nvPr/>
        </p:nvSpPr>
        <p:spPr>
          <a:xfrm>
            <a:off x="7496546" y="4843702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458" name="Google Shape;2458;p22"/>
          <p:cNvSpPr/>
          <p:nvPr/>
        </p:nvSpPr>
        <p:spPr>
          <a:xfrm>
            <a:off x="7575600" y="1992484"/>
            <a:ext cx="3906061" cy="962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5888" lvl="0" marL="1158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 = socket(AF_INET,SOCK_DGRAM)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mySocket.bind(myaddr,</a:t>
            </a:r>
            <a:r>
              <a:rPr b="1" lang="en-US" sz="16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5775</a:t>
            </a: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9" name="Google Shape;2459;p22"/>
          <p:cNvSpPr/>
          <p:nvPr/>
        </p:nvSpPr>
        <p:spPr>
          <a:xfrm>
            <a:off x="4163389" y="1137494"/>
            <a:ext cx="3906061" cy="962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5888" lvl="0" marL="1158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 = socket(AF_INET,SOCK_DGRAM)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mySocket.bind(myaddr,</a:t>
            </a:r>
            <a:r>
              <a:rPr b="1" lang="en-US" sz="16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6428</a:t>
            </a: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0" name="Google Shape;2460;p2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Connectionless demultiplexing: an 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2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Connection-oriented demultiplexing</a:t>
            </a:r>
            <a:endParaRPr/>
          </a:p>
        </p:txBody>
      </p:sp>
      <p:sp>
        <p:nvSpPr>
          <p:cNvPr id="2467" name="Google Shape;2467;p23"/>
          <p:cNvSpPr txBox="1"/>
          <p:nvPr/>
        </p:nvSpPr>
        <p:spPr>
          <a:xfrm>
            <a:off x="798689" y="1495768"/>
            <a:ext cx="4770837" cy="2942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622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socket identified by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4-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tuple: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port number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 port number</a:t>
            </a:r>
            <a:endParaRPr/>
          </a:p>
        </p:txBody>
      </p:sp>
      <p:sp>
        <p:nvSpPr>
          <p:cNvPr id="2468" name="Google Shape;2468;p23"/>
          <p:cNvSpPr txBox="1"/>
          <p:nvPr/>
        </p:nvSpPr>
        <p:spPr>
          <a:xfrm>
            <a:off x="6476415" y="1510775"/>
            <a:ext cx="5036711" cy="497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0" marL="4683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may support many simultaneous TCP sockets: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socket identified by its own 4-tuple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socket associated with a different connecting client</a:t>
            </a:r>
            <a:endParaRPr/>
          </a:p>
        </p:txBody>
      </p:sp>
      <p:sp>
        <p:nvSpPr>
          <p:cNvPr id="2469" name="Google Shape;2469;p23"/>
          <p:cNvSpPr txBox="1"/>
          <p:nvPr/>
        </p:nvSpPr>
        <p:spPr>
          <a:xfrm>
            <a:off x="784324" y="4284442"/>
            <a:ext cx="4770837" cy="2228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demux: receiver uses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all four values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(4-tuple)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direct segment to appropriate socket</a:t>
            </a:r>
            <a:endParaRPr/>
          </a:p>
        </p:txBody>
      </p:sp>
      <p:sp>
        <p:nvSpPr>
          <p:cNvPr id="2470" name="Google Shape;2470;p2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2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Connection-oriented demultiplexing: example</a:t>
            </a:r>
            <a:endParaRPr/>
          </a:p>
        </p:txBody>
      </p:sp>
      <p:sp>
        <p:nvSpPr>
          <p:cNvPr id="2477" name="Google Shape;2477;p24"/>
          <p:cNvSpPr/>
          <p:nvPr/>
        </p:nvSpPr>
        <p:spPr>
          <a:xfrm>
            <a:off x="4454236" y="1478017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8" name="Google Shape;2478;p24"/>
          <p:cNvSpPr/>
          <p:nvPr/>
        </p:nvSpPr>
        <p:spPr>
          <a:xfrm>
            <a:off x="2052349" y="1657405"/>
            <a:ext cx="460375" cy="2193925"/>
          </a:xfrm>
          <a:custGeom>
            <a:rect b="b" l="l" r="r" t="t"/>
            <a:pathLst>
              <a:path extrusionOk="0" h="1382" w="290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9" name="Google Shape;2479;p24"/>
          <p:cNvSpPr/>
          <p:nvPr/>
        </p:nvSpPr>
        <p:spPr>
          <a:xfrm>
            <a:off x="2568286" y="162406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0" name="Google Shape;2480;p24"/>
          <p:cNvSpPr/>
          <p:nvPr/>
        </p:nvSpPr>
        <p:spPr>
          <a:xfrm>
            <a:off x="2530186" y="1678042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81" name="Google Shape;2481;p24"/>
          <p:cNvCxnSpPr/>
          <p:nvPr/>
        </p:nvCxnSpPr>
        <p:spPr>
          <a:xfrm>
            <a:off x="2539711" y="2438455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2" name="Google Shape;2482;p24"/>
          <p:cNvSpPr txBox="1"/>
          <p:nvPr/>
        </p:nvSpPr>
        <p:spPr>
          <a:xfrm>
            <a:off x="2496849" y="2420992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2483" name="Google Shape;2483;p24"/>
          <p:cNvCxnSpPr/>
          <p:nvPr/>
        </p:nvCxnSpPr>
        <p:spPr>
          <a:xfrm>
            <a:off x="2547649" y="2759130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4" name="Google Shape;2484;p24"/>
          <p:cNvCxnSpPr/>
          <p:nvPr/>
        </p:nvCxnSpPr>
        <p:spPr>
          <a:xfrm>
            <a:off x="2533361" y="306869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5" name="Google Shape;2485;p24"/>
          <p:cNvCxnSpPr/>
          <p:nvPr/>
        </p:nvCxnSpPr>
        <p:spPr>
          <a:xfrm>
            <a:off x="2533361" y="335444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6" name="Google Shape;2486;p24"/>
          <p:cNvSpPr txBox="1"/>
          <p:nvPr/>
        </p:nvSpPr>
        <p:spPr>
          <a:xfrm>
            <a:off x="2531774" y="166851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487" name="Google Shape;2487;p24"/>
          <p:cNvSpPr txBox="1"/>
          <p:nvPr/>
        </p:nvSpPr>
        <p:spPr>
          <a:xfrm>
            <a:off x="2487324" y="332586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488" name="Google Shape;2488;p24"/>
          <p:cNvSpPr txBox="1"/>
          <p:nvPr/>
        </p:nvSpPr>
        <p:spPr>
          <a:xfrm>
            <a:off x="2506374" y="304011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489" name="Google Shape;2489;p24"/>
          <p:cNvSpPr txBox="1"/>
          <p:nvPr/>
        </p:nvSpPr>
        <p:spPr>
          <a:xfrm>
            <a:off x="2496849" y="2744842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2490" name="Google Shape;2490;p24"/>
          <p:cNvSpPr/>
          <p:nvPr/>
        </p:nvSpPr>
        <p:spPr>
          <a:xfrm>
            <a:off x="2866736" y="195426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/>
          </a:p>
        </p:txBody>
      </p:sp>
      <p:grpSp>
        <p:nvGrpSpPr>
          <p:cNvPr id="2491" name="Google Shape;2491;p24"/>
          <p:cNvGrpSpPr/>
          <p:nvPr/>
        </p:nvGrpSpPr>
        <p:grpSpPr>
          <a:xfrm>
            <a:off x="2834986" y="2278117"/>
            <a:ext cx="620713" cy="228600"/>
            <a:chOff x="1287" y="2524"/>
            <a:chExt cx="260" cy="100"/>
          </a:xfrm>
        </p:grpSpPr>
        <p:sp>
          <p:nvSpPr>
            <p:cNvPr id="2492" name="Google Shape;2492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3" name="Google Shape;2493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4" name="Google Shape;2494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5" name="Google Shape;2495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96" name="Google Shape;2496;p24"/>
          <p:cNvSpPr/>
          <p:nvPr/>
        </p:nvSpPr>
        <p:spPr>
          <a:xfrm>
            <a:off x="5067011" y="1390705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7" name="Google Shape;2497;p24"/>
          <p:cNvSpPr/>
          <p:nvPr/>
        </p:nvSpPr>
        <p:spPr>
          <a:xfrm>
            <a:off x="5013036" y="1468492"/>
            <a:ext cx="22256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8" name="Google Shape;2498;p24"/>
          <p:cNvSpPr txBox="1"/>
          <p:nvPr/>
        </p:nvSpPr>
        <p:spPr>
          <a:xfrm>
            <a:off x="5438486" y="219715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2499" name="Google Shape;2499;p24"/>
          <p:cNvSpPr txBox="1"/>
          <p:nvPr/>
        </p:nvSpPr>
        <p:spPr>
          <a:xfrm>
            <a:off x="5492461" y="142086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500" name="Google Shape;2500;p24"/>
          <p:cNvSpPr txBox="1"/>
          <p:nvPr/>
        </p:nvSpPr>
        <p:spPr>
          <a:xfrm>
            <a:off x="5432136" y="310203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501" name="Google Shape;2501;p24"/>
          <p:cNvSpPr txBox="1"/>
          <p:nvPr/>
        </p:nvSpPr>
        <p:spPr>
          <a:xfrm>
            <a:off x="5432136" y="28162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502" name="Google Shape;2502;p24"/>
          <p:cNvSpPr/>
          <p:nvPr/>
        </p:nvSpPr>
        <p:spPr>
          <a:xfrm>
            <a:off x="5132099" y="1727255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/>
          </a:p>
        </p:txBody>
      </p:sp>
      <p:sp>
        <p:nvSpPr>
          <p:cNvPr id="2503" name="Google Shape;2503;p24"/>
          <p:cNvSpPr/>
          <p:nvPr/>
        </p:nvSpPr>
        <p:spPr>
          <a:xfrm>
            <a:off x="8202324" y="161613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4" name="Google Shape;2504;p24"/>
          <p:cNvSpPr/>
          <p:nvPr/>
        </p:nvSpPr>
        <p:spPr>
          <a:xfrm>
            <a:off x="8005474" y="1657405"/>
            <a:ext cx="1631950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5" name="Google Shape;2505;p24"/>
          <p:cNvSpPr txBox="1"/>
          <p:nvPr/>
        </p:nvSpPr>
        <p:spPr>
          <a:xfrm>
            <a:off x="8130886" y="241305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2506" name="Google Shape;2506;p24"/>
          <p:cNvSpPr txBox="1"/>
          <p:nvPr/>
        </p:nvSpPr>
        <p:spPr>
          <a:xfrm>
            <a:off x="8165811" y="16605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2507" name="Google Shape;2507;p24"/>
          <p:cNvSpPr txBox="1"/>
          <p:nvPr/>
        </p:nvSpPr>
        <p:spPr>
          <a:xfrm>
            <a:off x="8173749" y="331793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2508" name="Google Shape;2508;p24"/>
          <p:cNvSpPr txBox="1"/>
          <p:nvPr/>
        </p:nvSpPr>
        <p:spPr>
          <a:xfrm>
            <a:off x="8140411" y="30321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2509" name="Google Shape;2509;p24"/>
          <p:cNvSpPr txBox="1"/>
          <p:nvPr/>
        </p:nvSpPr>
        <p:spPr>
          <a:xfrm>
            <a:off x="8130886" y="273690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2510" name="Google Shape;2510;p24"/>
          <p:cNvSpPr/>
          <p:nvPr/>
        </p:nvSpPr>
        <p:spPr>
          <a:xfrm>
            <a:off x="8086436" y="195426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/>
          </a:p>
        </p:txBody>
      </p:sp>
      <p:sp>
        <p:nvSpPr>
          <p:cNvPr id="2511" name="Google Shape;2511;p24"/>
          <p:cNvSpPr/>
          <p:nvPr/>
        </p:nvSpPr>
        <p:spPr>
          <a:xfrm>
            <a:off x="9661236" y="1636767"/>
            <a:ext cx="504825" cy="2133600"/>
          </a:xfrm>
          <a:custGeom>
            <a:rect b="b" l="l" r="r" t="t"/>
            <a:pathLst>
              <a:path extrusionOk="0" h="1344" w="318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2" name="Google Shape;2512;p24"/>
          <p:cNvSpPr txBox="1"/>
          <p:nvPr/>
        </p:nvSpPr>
        <p:spPr>
          <a:xfrm flipH="1">
            <a:off x="1723736" y="4418067"/>
            <a:ext cx="1147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host: IP address A</a:t>
            </a:r>
            <a:endParaRPr/>
          </a:p>
        </p:txBody>
      </p:sp>
      <p:sp>
        <p:nvSpPr>
          <p:cNvPr id="2513" name="Google Shape;2513;p24"/>
          <p:cNvSpPr txBox="1"/>
          <p:nvPr/>
        </p:nvSpPr>
        <p:spPr>
          <a:xfrm flipH="1">
            <a:off x="9480261" y="4314880"/>
            <a:ext cx="1147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host: IP address C</a:t>
            </a:r>
            <a:endParaRPr/>
          </a:p>
        </p:txBody>
      </p:sp>
      <p:cxnSp>
        <p:nvCxnSpPr>
          <p:cNvPr id="2514" name="Google Shape;2514;p24"/>
          <p:cNvCxnSpPr/>
          <p:nvPr/>
        </p:nvCxnSpPr>
        <p:spPr>
          <a:xfrm>
            <a:off x="4989224" y="3144892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5" name="Google Shape;2515;p24"/>
          <p:cNvCxnSpPr/>
          <p:nvPr/>
        </p:nvCxnSpPr>
        <p:spPr>
          <a:xfrm>
            <a:off x="5005099" y="2843267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6" name="Google Shape;2516;p24"/>
          <p:cNvSpPr txBox="1"/>
          <p:nvPr/>
        </p:nvSpPr>
        <p:spPr>
          <a:xfrm>
            <a:off x="5392449" y="250830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cxnSp>
        <p:nvCxnSpPr>
          <p:cNvPr id="2517" name="Google Shape;2517;p24"/>
          <p:cNvCxnSpPr/>
          <p:nvPr/>
        </p:nvCxnSpPr>
        <p:spPr>
          <a:xfrm>
            <a:off x="5008274" y="2521005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8" name="Google Shape;2518;p24"/>
          <p:cNvCxnSpPr/>
          <p:nvPr/>
        </p:nvCxnSpPr>
        <p:spPr>
          <a:xfrm>
            <a:off x="5011449" y="2198742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9" name="Google Shape;2519;p24"/>
          <p:cNvGrpSpPr/>
          <p:nvPr/>
        </p:nvGrpSpPr>
        <p:grpSpPr>
          <a:xfrm>
            <a:off x="5187661" y="2060630"/>
            <a:ext cx="473075" cy="228600"/>
            <a:chOff x="1287" y="2524"/>
            <a:chExt cx="260" cy="100"/>
          </a:xfrm>
        </p:grpSpPr>
        <p:sp>
          <p:nvSpPr>
            <p:cNvPr id="2520" name="Google Shape;2520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1" name="Google Shape;2521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2" name="Google Shape;2522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3" name="Google Shape;2523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524" name="Google Shape;2524;p24"/>
          <p:cNvSpPr/>
          <p:nvPr/>
        </p:nvSpPr>
        <p:spPr>
          <a:xfrm>
            <a:off x="6498936" y="173201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/>
          </a:p>
        </p:txBody>
      </p:sp>
      <p:sp>
        <p:nvSpPr>
          <p:cNvPr id="2525" name="Google Shape;2525;p24"/>
          <p:cNvSpPr/>
          <p:nvPr/>
        </p:nvSpPr>
        <p:spPr>
          <a:xfrm>
            <a:off x="5827424" y="1730430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/>
          </a:p>
        </p:txBody>
      </p:sp>
      <p:grpSp>
        <p:nvGrpSpPr>
          <p:cNvPr id="2526" name="Google Shape;2526;p24"/>
          <p:cNvGrpSpPr/>
          <p:nvPr/>
        </p:nvGrpSpPr>
        <p:grpSpPr>
          <a:xfrm>
            <a:off x="5892511" y="2065392"/>
            <a:ext cx="473075" cy="228600"/>
            <a:chOff x="1287" y="2524"/>
            <a:chExt cx="260" cy="100"/>
          </a:xfrm>
        </p:grpSpPr>
        <p:sp>
          <p:nvSpPr>
            <p:cNvPr id="2527" name="Google Shape;2527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8" name="Google Shape;2528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9" name="Google Shape;2529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0" name="Google Shape;2530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31" name="Google Shape;2531;p24"/>
          <p:cNvGrpSpPr/>
          <p:nvPr/>
        </p:nvGrpSpPr>
        <p:grpSpPr>
          <a:xfrm>
            <a:off x="6564024" y="2070155"/>
            <a:ext cx="473075" cy="228600"/>
            <a:chOff x="1287" y="2524"/>
            <a:chExt cx="260" cy="100"/>
          </a:xfrm>
        </p:grpSpPr>
        <p:sp>
          <p:nvSpPr>
            <p:cNvPr id="2532" name="Google Shape;2532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3" name="Google Shape;2533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4" name="Google Shape;2534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5" name="Google Shape;2535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536" name="Google Shape;2536;p24"/>
          <p:cNvCxnSpPr/>
          <p:nvPr/>
        </p:nvCxnSpPr>
        <p:spPr>
          <a:xfrm>
            <a:off x="7997536" y="336079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24"/>
          <p:cNvCxnSpPr/>
          <p:nvPr/>
        </p:nvCxnSpPr>
        <p:spPr>
          <a:xfrm>
            <a:off x="7988011" y="3065517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24"/>
          <p:cNvCxnSpPr/>
          <p:nvPr/>
        </p:nvCxnSpPr>
        <p:spPr>
          <a:xfrm>
            <a:off x="7988011" y="277024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24"/>
          <p:cNvCxnSpPr/>
          <p:nvPr/>
        </p:nvCxnSpPr>
        <p:spPr>
          <a:xfrm>
            <a:off x="7988011" y="246544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40" name="Google Shape;2540;p24"/>
          <p:cNvGrpSpPr/>
          <p:nvPr/>
        </p:nvGrpSpPr>
        <p:grpSpPr>
          <a:xfrm>
            <a:off x="8140411" y="2292405"/>
            <a:ext cx="473075" cy="228600"/>
            <a:chOff x="1287" y="2524"/>
            <a:chExt cx="260" cy="100"/>
          </a:xfrm>
        </p:grpSpPr>
        <p:sp>
          <p:nvSpPr>
            <p:cNvPr id="2541" name="Google Shape;2541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2" name="Google Shape;2542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3" name="Google Shape;2543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4" name="Google Shape;2544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45" name="Google Shape;2545;p24"/>
          <p:cNvGrpSpPr/>
          <p:nvPr/>
        </p:nvGrpSpPr>
        <p:grpSpPr>
          <a:xfrm>
            <a:off x="8935749" y="2282880"/>
            <a:ext cx="473075" cy="228600"/>
            <a:chOff x="1287" y="2524"/>
            <a:chExt cx="260" cy="100"/>
          </a:xfrm>
        </p:grpSpPr>
        <p:sp>
          <p:nvSpPr>
            <p:cNvPr id="2546" name="Google Shape;2546;p2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7" name="Google Shape;2547;p2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8" name="Google Shape;2548;p2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9" name="Google Shape;2549;p2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550" name="Google Shape;2550;p24"/>
          <p:cNvSpPr/>
          <p:nvPr/>
        </p:nvSpPr>
        <p:spPr>
          <a:xfrm>
            <a:off x="8877011" y="1949505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grpSp>
        <p:nvGrpSpPr>
          <p:cNvPr id="2551" name="Google Shape;2551;p24"/>
          <p:cNvGrpSpPr/>
          <p:nvPr/>
        </p:nvGrpSpPr>
        <p:grpSpPr>
          <a:xfrm>
            <a:off x="3128674" y="2152705"/>
            <a:ext cx="2695575" cy="3382962"/>
            <a:chOff x="3128674" y="2152705"/>
            <a:chExt cx="2695575" cy="3382962"/>
          </a:xfrm>
        </p:grpSpPr>
        <p:grpSp>
          <p:nvGrpSpPr>
            <p:cNvPr id="2552" name="Google Shape;2552;p24"/>
            <p:cNvGrpSpPr/>
            <p:nvPr/>
          </p:nvGrpSpPr>
          <p:grpSpPr>
            <a:xfrm>
              <a:off x="3301711" y="4192642"/>
              <a:ext cx="2173288" cy="1343025"/>
              <a:chOff x="3301711" y="4192642"/>
              <a:chExt cx="2173288" cy="1343025"/>
            </a:xfrm>
          </p:grpSpPr>
          <p:grpSp>
            <p:nvGrpSpPr>
              <p:cNvPr id="2553" name="Google Shape;2553;p24"/>
              <p:cNvGrpSpPr/>
              <p:nvPr/>
            </p:nvGrpSpPr>
            <p:grpSpPr>
              <a:xfrm>
                <a:off x="3450936" y="4883205"/>
                <a:ext cx="2024063" cy="652462"/>
                <a:chOff x="1079" y="3697"/>
                <a:chExt cx="1275" cy="411"/>
              </a:xfrm>
            </p:grpSpPr>
            <p:sp>
              <p:nvSpPr>
                <p:cNvPr id="2554" name="Google Shape;2554;p24"/>
                <p:cNvSpPr/>
                <p:nvPr/>
              </p:nvSpPr>
              <p:spPr>
                <a:xfrm>
                  <a:off x="1553" y="3697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2555" name="Google Shape;2555;p24"/>
                <p:cNvCxnSpPr/>
                <p:nvPr/>
              </p:nvCxnSpPr>
              <p:spPr>
                <a:xfrm>
                  <a:off x="2179" y="3770"/>
                  <a:ext cx="17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C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556" name="Google Shape;2556;p24"/>
                <p:cNvSpPr txBox="1"/>
                <p:nvPr/>
              </p:nvSpPr>
              <p:spPr>
                <a:xfrm>
                  <a:off x="1079" y="3822"/>
                  <a:ext cx="1233" cy="2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source IP,port: A,9157</a:t>
                  </a:r>
                  <a:endParaRPr/>
                </a:p>
                <a:p>
                  <a:pPr indent="0" lvl="0" marL="0" marR="0" rtl="0" algn="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dest IP, port: B,80</a:t>
                  </a:r>
                  <a:endParaRPr/>
                </a:p>
              </p:txBody>
            </p:sp>
          </p:grpSp>
          <p:grpSp>
            <p:nvGrpSpPr>
              <p:cNvPr id="2557" name="Google Shape;2557;p24"/>
              <p:cNvGrpSpPr/>
              <p:nvPr/>
            </p:nvGrpSpPr>
            <p:grpSpPr>
              <a:xfrm>
                <a:off x="3301711" y="4192642"/>
                <a:ext cx="1887538" cy="652463"/>
                <a:chOff x="2741" y="3750"/>
                <a:chExt cx="1189" cy="411"/>
              </a:xfrm>
            </p:grpSpPr>
            <p:sp>
              <p:nvSpPr>
                <p:cNvPr id="2558" name="Google Shape;2558;p24"/>
                <p:cNvSpPr/>
                <p:nvPr/>
              </p:nvSpPr>
              <p:spPr>
                <a:xfrm>
                  <a:off x="2859" y="3750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2559" name="Google Shape;2559;p24"/>
                <p:cNvCxnSpPr/>
                <p:nvPr/>
              </p:nvCxnSpPr>
              <p:spPr>
                <a:xfrm>
                  <a:off x="2741" y="3837"/>
                  <a:ext cx="17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C0000"/>
                  </a:solidFill>
                  <a:prstDash val="solid"/>
                  <a:round/>
                  <a:headEnd len="med" w="med" type="triangle"/>
                  <a:tailEnd len="med" w="med" type="none"/>
                </a:ln>
              </p:spPr>
            </p:cxnSp>
            <p:sp>
              <p:nvSpPr>
                <p:cNvPr id="2560" name="Google Shape;2560;p24"/>
                <p:cNvSpPr txBox="1"/>
                <p:nvPr/>
              </p:nvSpPr>
              <p:spPr>
                <a:xfrm>
                  <a:off x="2813" y="3875"/>
                  <a:ext cx="1117" cy="2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source IP,port: B,80</a:t>
                  </a:r>
                  <a:endParaRPr/>
                </a:p>
                <a:p>
                  <a:pPr indent="0" lvl="0" marL="0" marR="0" rtl="0" algn="l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dest IP,port: A,9157</a:t>
                  </a:r>
                  <a:endParaRPr/>
                </a:p>
              </p:txBody>
            </p:sp>
          </p:grpSp>
        </p:grpSp>
        <p:sp>
          <p:nvSpPr>
            <p:cNvPr id="2561" name="Google Shape;2561;p24"/>
            <p:cNvSpPr/>
            <p:nvPr/>
          </p:nvSpPr>
          <p:spPr>
            <a:xfrm>
              <a:off x="3128674" y="2152705"/>
              <a:ext cx="2695575" cy="2695575"/>
            </a:xfrm>
            <a:custGeom>
              <a:rect b="b" l="l" r="r" t="t"/>
              <a:pathLst>
                <a:path extrusionOk="0" h="1698" w="1698">
                  <a:moveTo>
                    <a:pt x="0" y="131"/>
                  </a:moveTo>
                  <a:lnTo>
                    <a:pt x="0" y="1698"/>
                  </a:lnTo>
                  <a:lnTo>
                    <a:pt x="1698" y="1690"/>
                  </a:lnTo>
                  <a:lnTo>
                    <a:pt x="1691" y="148"/>
                  </a:lnTo>
                  <a:lnTo>
                    <a:pt x="1443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562" name="Google Shape;2562;p24"/>
          <p:cNvSpPr/>
          <p:nvPr/>
        </p:nvSpPr>
        <p:spPr>
          <a:xfrm>
            <a:off x="6114761" y="2184455"/>
            <a:ext cx="3089275" cy="3252787"/>
          </a:xfrm>
          <a:custGeom>
            <a:rect b="b" l="l" r="r" t="t"/>
            <a:pathLst>
              <a:path extrusionOk="0" h="1801" w="1946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563" name="Google Shape;2563;p24"/>
          <p:cNvGrpSpPr/>
          <p:nvPr/>
        </p:nvGrpSpPr>
        <p:grpSpPr>
          <a:xfrm>
            <a:off x="6773574" y="2173342"/>
            <a:ext cx="2170112" cy="2876550"/>
            <a:chOff x="6773574" y="2173342"/>
            <a:chExt cx="2170112" cy="2876550"/>
          </a:xfrm>
        </p:grpSpPr>
        <p:sp>
          <p:nvSpPr>
            <p:cNvPr id="2564" name="Google Shape;2564;p24"/>
            <p:cNvSpPr/>
            <p:nvPr/>
          </p:nvSpPr>
          <p:spPr>
            <a:xfrm>
              <a:off x="6773574" y="2173342"/>
              <a:ext cx="1609725" cy="2465388"/>
            </a:xfrm>
            <a:custGeom>
              <a:rect b="b" l="l" r="r" t="t"/>
              <a:pathLst>
                <a:path extrusionOk="0" h="1480" w="1014">
                  <a:moveTo>
                    <a:pt x="0" y="0"/>
                  </a:moveTo>
                  <a:lnTo>
                    <a:pt x="0" y="1480"/>
                  </a:lnTo>
                  <a:lnTo>
                    <a:pt x="1014" y="1480"/>
                  </a:lnTo>
                  <a:lnTo>
                    <a:pt x="1014" y="146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65" name="Google Shape;2565;p24"/>
            <p:cNvGrpSpPr/>
            <p:nvPr/>
          </p:nvGrpSpPr>
          <p:grpSpPr>
            <a:xfrm>
              <a:off x="6871999" y="4397430"/>
              <a:ext cx="2071687" cy="652462"/>
              <a:chOff x="2741" y="3750"/>
              <a:chExt cx="1305" cy="411"/>
            </a:xfrm>
          </p:grpSpPr>
          <p:sp>
            <p:nvSpPr>
              <p:cNvPr id="2566" name="Google Shape;2566;p24"/>
              <p:cNvSpPr/>
              <p:nvPr/>
            </p:nvSpPr>
            <p:spPr>
              <a:xfrm>
                <a:off x="2859" y="3750"/>
                <a:ext cx="678" cy="138"/>
              </a:xfrm>
              <a:prstGeom prst="rect">
                <a:avLst/>
              </a:prstGeom>
              <a:solidFill>
                <a:srgbClr val="3C6CD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567" name="Google Shape;2567;p24"/>
              <p:cNvCxnSpPr/>
              <p:nvPr/>
            </p:nvCxnSpPr>
            <p:spPr>
              <a:xfrm>
                <a:off x="2741" y="3837"/>
                <a:ext cx="17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2568" name="Google Shape;2568;p24"/>
              <p:cNvSpPr txBox="1"/>
              <p:nvPr/>
            </p:nvSpPr>
            <p:spPr>
              <a:xfrm>
                <a:off x="2813" y="3875"/>
                <a:ext cx="1233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source IP,port: C,5775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dest IP,port: B,80</a:t>
                </a:r>
                <a:endParaRPr/>
              </a:p>
            </p:txBody>
          </p:sp>
        </p:grpSp>
      </p:grpSp>
      <p:grpSp>
        <p:nvGrpSpPr>
          <p:cNvPr id="2569" name="Google Shape;2569;p24"/>
          <p:cNvGrpSpPr/>
          <p:nvPr/>
        </p:nvGrpSpPr>
        <p:grpSpPr>
          <a:xfrm>
            <a:off x="6941849" y="5186417"/>
            <a:ext cx="2063750" cy="661988"/>
            <a:chOff x="2741" y="3750"/>
            <a:chExt cx="1300" cy="417"/>
          </a:xfrm>
        </p:grpSpPr>
        <p:sp>
          <p:nvSpPr>
            <p:cNvPr id="2570" name="Google Shape;2570;p24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71" name="Google Shape;2571;p24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572" name="Google Shape;2572;p24"/>
            <p:cNvSpPr txBox="1"/>
            <p:nvPr/>
          </p:nvSpPr>
          <p:spPr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IP,port: C,9157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IP,port: B,80</a:t>
              </a:r>
              <a:endParaRPr/>
            </a:p>
          </p:txBody>
        </p:sp>
      </p:grpSp>
      <p:sp>
        <p:nvSpPr>
          <p:cNvPr id="2573" name="Google Shape;2573;p24"/>
          <p:cNvSpPr txBox="1"/>
          <p:nvPr/>
        </p:nvSpPr>
        <p:spPr>
          <a:xfrm flipH="1">
            <a:off x="6681499" y="3414767"/>
            <a:ext cx="1147762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server: IP address B</a:t>
            </a:r>
            <a:endParaRPr/>
          </a:p>
        </p:txBody>
      </p:sp>
      <p:grpSp>
        <p:nvGrpSpPr>
          <p:cNvPr id="2574" name="Google Shape;2574;p24"/>
          <p:cNvGrpSpPr/>
          <p:nvPr/>
        </p:nvGrpSpPr>
        <p:grpSpPr>
          <a:xfrm>
            <a:off x="4455824" y="2905180"/>
            <a:ext cx="358775" cy="704850"/>
            <a:chOff x="4140" y="429"/>
            <a:chExt cx="1425" cy="2396"/>
          </a:xfrm>
        </p:grpSpPr>
        <p:sp>
          <p:nvSpPr>
            <p:cNvPr id="2575" name="Google Shape;2575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6" name="Google Shape;2576;p24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7" name="Google Shape;2577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8" name="Google Shape;2578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9" name="Google Shape;2579;p24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80" name="Google Shape;2580;p2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2581" name="Google Shape;2581;p2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82" name="Google Shape;2582;p24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83" name="Google Shape;2583;p24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84" name="Google Shape;2584;p24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2585" name="Google Shape;2585;p24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86" name="Google Shape;2586;p24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87" name="Google Shape;2587;p24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8" name="Google Shape;2588;p2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89" name="Google Shape;2589;p24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2590" name="Google Shape;2590;p24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91" name="Google Shape;2591;p24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92" name="Google Shape;2592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93" name="Google Shape;2593;p2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2594" name="Google Shape;2594;p2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95" name="Google Shape;2595;p24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96" name="Google Shape;2596;p24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7" name="Google Shape;2597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8" name="Google Shape;2598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9" name="Google Shape;2599;p24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0" name="Google Shape;2600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1" name="Google Shape;2601;p2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2" name="Google Shape;2602;p24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3" name="Google Shape;2603;p24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4" name="Google Shape;2604;p24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4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6" name="Google Shape;2606;p24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07" name="Google Shape;2607;p24"/>
          <p:cNvGrpSpPr/>
          <p:nvPr/>
        </p:nvGrpSpPr>
        <p:grpSpPr>
          <a:xfrm>
            <a:off x="1590386" y="3325867"/>
            <a:ext cx="711200" cy="669925"/>
            <a:chOff x="-44" y="1473"/>
            <a:chExt cx="981" cy="1105"/>
          </a:xfrm>
        </p:grpSpPr>
        <p:pic>
          <p:nvPicPr>
            <p:cNvPr descr="desktop_computer_stylized_medium" id="2608" name="Google Shape;260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9" name="Google Shape;2609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10" name="Google Shape;2610;p24"/>
          <p:cNvGrpSpPr/>
          <p:nvPr/>
        </p:nvGrpSpPr>
        <p:grpSpPr>
          <a:xfrm flipH="1">
            <a:off x="9893011" y="3241730"/>
            <a:ext cx="711200" cy="669925"/>
            <a:chOff x="-44" y="1473"/>
            <a:chExt cx="981" cy="1105"/>
          </a:xfrm>
        </p:grpSpPr>
        <p:pic>
          <p:nvPicPr>
            <p:cNvPr descr="desktop_computer_stylized_medium" id="2611" name="Google Shape;261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2" name="Google Shape;261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613" name="Google Shape;2613;p24"/>
          <p:cNvSpPr txBox="1"/>
          <p:nvPr/>
        </p:nvSpPr>
        <p:spPr>
          <a:xfrm>
            <a:off x="822086" y="5737235"/>
            <a:ext cx="66428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segments, all destined to IP address: B,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dest port: 80 are demultiplexed to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sockets</a:t>
            </a:r>
            <a:endParaRPr/>
          </a:p>
        </p:txBody>
      </p:sp>
      <p:sp>
        <p:nvSpPr>
          <p:cNvPr id="2614" name="Google Shape;2614;p24"/>
          <p:cNvSpPr/>
          <p:nvPr/>
        </p:nvSpPr>
        <p:spPr>
          <a:xfrm>
            <a:off x="4454237" y="5186417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24"/>
          <p:cNvSpPr/>
          <p:nvPr/>
        </p:nvSpPr>
        <p:spPr>
          <a:xfrm>
            <a:off x="7577600" y="4694310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24"/>
          <p:cNvSpPr/>
          <p:nvPr/>
        </p:nvSpPr>
        <p:spPr>
          <a:xfrm>
            <a:off x="7631575" y="5530882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pache web server logo" id="2617" name="Google Shape;26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2538" y="1073700"/>
            <a:ext cx="1474756" cy="644858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2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p25"/>
          <p:cNvSpPr txBox="1"/>
          <p:nvPr>
            <p:ph type="title"/>
          </p:nvPr>
        </p:nvSpPr>
        <p:spPr>
          <a:xfrm>
            <a:off x="798690" y="289325"/>
            <a:ext cx="11100625" cy="120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Summary</a:t>
            </a:r>
            <a:endParaRPr sz="6000"/>
          </a:p>
        </p:txBody>
      </p:sp>
      <p:sp>
        <p:nvSpPr>
          <p:cNvPr id="2625" name="Google Shape;2625;p25"/>
          <p:cNvSpPr txBox="1"/>
          <p:nvPr/>
        </p:nvSpPr>
        <p:spPr>
          <a:xfrm>
            <a:off x="798690" y="1610067"/>
            <a:ext cx="11100625" cy="5247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demultiplexing: based on segment, datagram header field values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destination port number (only)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b="1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4-tuple: source and destination IP addresses, and port numbers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Multiplexing/demultiplexing happen at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layers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2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2026-01-29T12:32:07Z</dcterms:created>
  <dc:creator>Microsoft Office User</dc:creator>
</cp:coreProperties>
</file>