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6" name="Google Shape;86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" name="Google Shape;92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8" name="Google Shape;98;p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" name="Google Shape;114;p4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4" name="Google Shape;124;p5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9" name="Google Shape;139;p6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p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2" name="Google Shape;202;p7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p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7" name="Google Shape;227;p8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9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8" name="Google Shape;298;p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9" name="Google Shape;299;p9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p10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1" name="Google Shape;311;p10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8" name="Google Shape;328;p1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9" name="Google Shape;329;p11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7" name="Google Shape;337;p1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8" name="Google Shape;338;p12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4" name="Google Shape;394;p1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5" name="Google Shape;395;p13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8" name="Google Shape;448;p14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3" name="Google Shape;513;p1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14" name="Google Shape;514;p15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bfb98a0a88_0_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2" name="Google Shape;522;g3bfb98a0a88_0_0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23" name="Google Shape;523;g3bfb98a0a88_0_0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7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0"/>
          <p:cNvSpPr txBox="1"/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0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0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1"/>
          <p:cNvSpPr txBox="1"/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8" name="Google Shape;48;p22"/>
          <p:cNvSpPr txBox="1"/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50" name="Google Shape;50;p22"/>
          <p:cNvSpPr txBox="1"/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4"/>
          <p:cNvSpPr txBox="1"/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4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/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"/>
          <p:cNvSpPr txBox="1"/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5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6"/>
          <p:cNvSpPr txBox="1"/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6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7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7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7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6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IT694</a:t>
            </a:r>
            <a:br>
              <a:rPr lang="en-US"/>
            </a:br>
            <a:r>
              <a:rPr lang="en-US"/>
              <a:t>Computer Networks</a:t>
            </a:r>
            <a:endParaRPr lang="en-US"/>
          </a:p>
        </p:txBody>
      </p:sp>
      <p:sp>
        <p:nvSpPr>
          <p:cNvPr id="89" name="Google Shape;89;p1"/>
          <p:cNvSpPr txBox="1"/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Week4 – HTTP_I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will we learn?</a:t>
            </a:r>
            <a:endParaRPr lang="en-US"/>
          </a:p>
        </p:txBody>
      </p:sp>
      <p:sp>
        <p:nvSpPr>
          <p:cNvPr id="95" name="Google Shape;95;p2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Understand full web request lifecycle</a:t>
            </a:r>
            <a:endParaRPr lang="en-US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Place HTTP in networking stack</a:t>
            </a:r>
            <a:endParaRPr lang="en-US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Client–Server architecture</a:t>
            </a:r>
            <a:endParaRPr lang="en-US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 lifecyle of URL request</a:t>
            </a:r>
            <a:endParaRPr lang="en-US"/>
          </a:p>
        </p:txBody>
      </p:sp>
      <p:sp>
        <p:nvSpPr>
          <p:cNvPr id="101" name="Google Shape;101;p3"/>
          <p:cNvSpPr txBox="1"/>
          <p:nvPr>
            <p:ph type="body" idx="1"/>
          </p:nvPr>
        </p:nvSpPr>
        <p:spPr>
          <a:xfrm>
            <a:off x="1038225" y="3277870"/>
            <a:ext cx="6228080" cy="4351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Name to numerical address conversion </a:t>
            </a:r>
            <a:endParaRPr lang="en-US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Connection Request to SERVER </a:t>
            </a:r>
            <a:endParaRPr lang="en-US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Response from SERVER</a:t>
            </a:r>
            <a:endParaRPr lang="en-US"/>
          </a:p>
        </p:txBody>
      </p:sp>
      <p:sp>
        <p:nvSpPr>
          <p:cNvPr id="102" name="Google Shape;102;p3"/>
          <p:cNvSpPr/>
          <p:nvPr/>
        </p:nvSpPr>
        <p:spPr>
          <a:xfrm>
            <a:off x="381000" y="1690688"/>
            <a:ext cx="60960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happens when you type a URL</a:t>
            </a:r>
            <a:endParaRPr lang="en-US"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516890" y="2754630"/>
            <a:ext cx="6520180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DNS → TCP → HTTP → Response</a:t>
            </a:r>
            <a:endParaRPr lang="en-US"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" name="Google Shape;104;p3"/>
          <p:cNvGrpSpPr/>
          <p:nvPr/>
        </p:nvGrpSpPr>
        <p:grpSpPr>
          <a:xfrm>
            <a:off x="8430960" y="1690688"/>
            <a:ext cx="1765726" cy="4034752"/>
            <a:chOff x="1484027" y="1706480"/>
            <a:chExt cx="1765726" cy="4034752"/>
          </a:xfrm>
        </p:grpSpPr>
        <p:sp>
          <p:nvSpPr>
            <p:cNvPr id="105" name="Google Shape;105;p3"/>
            <p:cNvSpPr/>
            <p:nvPr/>
          </p:nvSpPr>
          <p:spPr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76200" dist="38100" dir="18900000" sx="101000" sy="101000" algn="b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06" name="Google Shape;106;p3"/>
            <p:cNvSpPr txBox="1"/>
            <p:nvPr/>
          </p:nvSpPr>
          <p:spPr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7" name="Google Shape;107;p3"/>
            <p:cNvCxnSpPr/>
            <p:nvPr/>
          </p:nvCxnSpPr>
          <p:spPr>
            <a:xfrm>
              <a:off x="1534432" y="2675745"/>
              <a:ext cx="1643483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8" name="Google Shape;108;p3"/>
            <p:cNvCxnSpPr/>
            <p:nvPr/>
          </p:nvCxnSpPr>
          <p:spPr>
            <a:xfrm>
              <a:off x="1506952" y="3472722"/>
              <a:ext cx="1655973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9" name="Google Shape;109;p3"/>
            <p:cNvCxnSpPr/>
            <p:nvPr/>
          </p:nvCxnSpPr>
          <p:spPr>
            <a:xfrm>
              <a:off x="1509450" y="4209737"/>
              <a:ext cx="1668465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0" name="Google Shape;110;p3"/>
            <p:cNvCxnSpPr/>
            <p:nvPr/>
          </p:nvCxnSpPr>
          <p:spPr>
            <a:xfrm>
              <a:off x="1511947" y="4991726"/>
              <a:ext cx="1650978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Web and HTTP</a:t>
            </a:r>
            <a:endParaRPr sz="4400"/>
          </a:p>
        </p:txBody>
      </p:sp>
      <p:sp>
        <p:nvSpPr>
          <p:cNvPr id="117" name="Google Shape;117;p4"/>
          <p:cNvSpPr txBox="1"/>
          <p:nvPr>
            <p:ph type="sldNum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Application Layer: 2-</a:t>
            </a:r>
            <a:fld id="{00000000-1234-1234-1234-123412341234}" type="slidenum">
              <a:rPr lang="en-US"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100" b="0" i="0" u="none" strike="noStrike" cap="non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778205" y="2307771"/>
            <a:ext cx="5413795" cy="3930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22601" y="1382358"/>
            <a:ext cx="5755470" cy="389456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/>
          <p:nvPr/>
        </p:nvSpPr>
        <p:spPr>
          <a:xfrm>
            <a:off x="2133599" y="6443089"/>
            <a:ext cx="6096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https://developer.mozilla.org/en-US/docs/Web/HTTP/Guides/Overview</a:t>
            </a:r>
            <a:endParaRPr lang="en-US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HTTP overview (continued)</a:t>
            </a:r>
            <a:endParaRPr sz="4400"/>
          </a:p>
        </p:txBody>
      </p:sp>
      <p:sp>
        <p:nvSpPr>
          <p:cNvPr id="127" name="Google Shape;127;p5"/>
          <p:cNvSpPr txBox="1"/>
          <p:nvPr/>
        </p:nvSpPr>
        <p:spPr>
          <a:xfrm>
            <a:off x="947614" y="1548630"/>
            <a:ext cx="5551487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lang="en-US" sz="3200" b="0" i="1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HTTP uses TCP:</a:t>
            </a:r>
            <a:endParaRPr lang="en-US" sz="3200" b="0" i="1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3680" marR="0" lvl="0" indent="-23368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initiates TCP connection (creates socket) to server,  port 80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3680" marR="0" lvl="0" indent="-23368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 accepts TCP connection from client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3680" marR="0" lvl="0" indent="-23368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 messages (application-layer protocol messages) exchanged between browser (HTTP client) and Web server (HTTP server)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3680" marR="0" lvl="0" indent="-23368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connection closed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 txBox="1"/>
          <p:nvPr/>
        </p:nvSpPr>
        <p:spPr>
          <a:xfrm>
            <a:off x="6909801" y="1582098"/>
            <a:ext cx="5053013" cy="1705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lang="en-US" sz="3200" b="0" i="1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HTTP is “stateless”</a:t>
            </a:r>
            <a:endParaRPr lang="en-US" sz="3200" b="0" i="1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 maintains</a:t>
            </a:r>
            <a:r>
              <a:rPr lang="en-US" sz="28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information about past client requests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9" name="Google Shape;129;p5"/>
          <p:cNvGrpSpPr/>
          <p:nvPr/>
        </p:nvGrpSpPr>
        <p:grpSpPr>
          <a:xfrm>
            <a:off x="6909802" y="3140920"/>
            <a:ext cx="5053013" cy="3316605"/>
            <a:chOff x="6909802" y="3140920"/>
            <a:chExt cx="5053013" cy="3316605"/>
          </a:xfrm>
        </p:grpSpPr>
        <p:sp>
          <p:nvSpPr>
            <p:cNvPr id="130" name="Google Shape;130;p5"/>
            <p:cNvSpPr/>
            <p:nvPr/>
          </p:nvSpPr>
          <p:spPr>
            <a:xfrm>
              <a:off x="10186403" y="3383184"/>
              <a:ext cx="828675" cy="2952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6909802" y="3449212"/>
              <a:ext cx="5053013" cy="2847974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CC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9795878" y="3287287"/>
              <a:ext cx="828675" cy="2952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6959332" y="3609550"/>
              <a:ext cx="4885055" cy="2847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342900" marR="0" lvl="0" indent="-342900" algn="l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 panose="020B0604020202090204"/>
                <a:buNone/>
              </a:pPr>
              <a:r>
                <a:rPr lang="en-US" sz="2800" b="0" i="0" u="none" strike="noStrike" cap="non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protocols that maintain “state” are complex!</a:t>
              </a:r>
              <a:endParaRPr lang="en-US" sz="2800" b="0" i="0" u="none" strike="noStrike" cap="non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30505" marR="0" lvl="0" indent="-230505" algn="l" rtl="0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past history (state) must be maintained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30505" marR="0" lvl="0" indent="-230505" algn="l" rtl="0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server/client crashes, their views of “state” may be inconsistent, must be reconciled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342900" marR="0" lvl="0" indent="-213360" algn="l" rtl="0">
                <a:lnSpc>
                  <a:spcPct val="100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5"/>
            <p:cNvSpPr txBox="1"/>
            <p:nvPr/>
          </p:nvSpPr>
          <p:spPr>
            <a:xfrm>
              <a:off x="9695547" y="3140920"/>
              <a:ext cx="1206500" cy="5251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800"/>
                <a:buFont typeface="Calibri"/>
                <a:buNone/>
              </a:pPr>
              <a:r>
                <a:rPr lang="en-US" sz="2800" b="0" i="1" u="none" strike="noStrike" cap="non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aside</a:t>
              </a:r>
              <a:endParaRPr lang="en-US" sz="2800" b="0" i="1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" name="Google Shape;135;p5"/>
          <p:cNvSpPr txBox="1"/>
          <p:nvPr>
            <p:ph type="sldNum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Application Layer: 2-</a:t>
            </a:r>
            <a:fld id="{00000000-1234-1234-1234-123412341234}" type="slidenum">
              <a:rPr lang="en-US"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100" b="0" i="0" u="none" strike="noStrike" cap="non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HTTP overview</a:t>
            </a:r>
            <a:endParaRPr sz="4400"/>
          </a:p>
        </p:txBody>
      </p:sp>
      <p:sp>
        <p:nvSpPr>
          <p:cNvPr id="142" name="Google Shape;142;p6"/>
          <p:cNvSpPr txBox="1"/>
          <p:nvPr/>
        </p:nvSpPr>
        <p:spPr>
          <a:xfrm>
            <a:off x="791849" y="1608374"/>
            <a:ext cx="5988172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HTTP: hypertext transfer protocol</a:t>
            </a:r>
            <a:endParaRPr lang="en-US" sz="3200" b="0" i="0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75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Web’s application-layer protocol</a:t>
            </a:r>
            <a:endParaRPr lang="en-US"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75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client/server model:</a:t>
            </a:r>
            <a:endParaRPr lang="en-US"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 panose="020B0604020202090204"/>
              <a:buChar char="•"/>
            </a:pPr>
            <a:r>
              <a:rPr lang="en-US" sz="2800" b="0" i="1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r>
              <a:rPr lang="en-US" sz="2800" b="0" i="1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browser that requests, receives, (using HTTP protocol) and “displays” Web objects 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 panose="020B0604020202090204"/>
              <a:buChar char="•"/>
            </a:pPr>
            <a:r>
              <a:rPr lang="en-US" sz="2800" b="0" i="1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server: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Web server sends (using HTTP protocol) objects in response to requests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75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3" name="Google Shape;143;p6"/>
          <p:cNvGrpSpPr/>
          <p:nvPr/>
        </p:nvGrpSpPr>
        <p:grpSpPr>
          <a:xfrm>
            <a:off x="8129954" y="2271493"/>
            <a:ext cx="2101850" cy="1065774"/>
            <a:chOff x="3640" y="1271"/>
            <a:chExt cx="1324" cy="671"/>
          </a:xfrm>
        </p:grpSpPr>
        <p:cxnSp>
          <p:nvCxnSpPr>
            <p:cNvPr id="144" name="Google Shape;144;p6"/>
            <p:cNvCxnSpPr/>
            <p:nvPr/>
          </p:nvCxnSpPr>
          <p:spPr>
            <a:xfrm>
              <a:off x="3640" y="1346"/>
              <a:ext cx="1324" cy="596"/>
            </a:xfrm>
            <a:prstGeom prst="straightConnector1">
              <a:avLst/>
            </a:prstGeom>
            <a:noFill/>
            <a:ln w="28575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45" name="Google Shape;145;p6"/>
            <p:cNvSpPr txBox="1"/>
            <p:nvPr/>
          </p:nvSpPr>
          <p:spPr>
            <a:xfrm rot="1422049">
              <a:off x="3860" y="1445"/>
              <a:ext cx="912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 panose="020B0604020202090204"/>
                <a:buNone/>
              </a:pPr>
              <a:r>
                <a:rPr lang="en-US" sz="1600" b="0" i="0" u="none" strike="noStrike" cap="none">
                  <a:solidFill>
                    <a:srgbClr val="CC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HTTP request</a:t>
              </a:r>
              <a:endParaRPr sz="2400" b="0" i="0" u="none" strike="noStrike" cap="none">
                <a:solidFill>
                  <a:srgbClr val="CC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grpSp>
        <p:nvGrpSpPr>
          <p:cNvPr id="146" name="Google Shape;146;p6"/>
          <p:cNvGrpSpPr/>
          <p:nvPr/>
        </p:nvGrpSpPr>
        <p:grpSpPr>
          <a:xfrm>
            <a:off x="8241079" y="2599080"/>
            <a:ext cx="1971675" cy="1138193"/>
            <a:chOff x="4141" y="394"/>
            <a:chExt cx="1242" cy="717"/>
          </a:xfrm>
        </p:grpSpPr>
        <p:cxnSp>
          <p:nvCxnSpPr>
            <p:cNvPr id="147" name="Google Shape;147;p6"/>
            <p:cNvCxnSpPr/>
            <p:nvPr/>
          </p:nvCxnSpPr>
          <p:spPr>
            <a:xfrm rot="10800000">
              <a:off x="4141" y="394"/>
              <a:ext cx="1242" cy="570"/>
            </a:xfrm>
            <a:prstGeom prst="straightConnector1">
              <a:avLst/>
            </a:prstGeom>
            <a:noFill/>
            <a:ln w="28575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48" name="Google Shape;148;p6"/>
            <p:cNvSpPr txBox="1"/>
            <p:nvPr/>
          </p:nvSpPr>
          <p:spPr>
            <a:xfrm rot="1411598">
              <a:off x="4304" y="706"/>
              <a:ext cx="1011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 panose="020B0604020202090204"/>
                <a:buNone/>
              </a:pPr>
              <a:r>
                <a:rPr lang="en-US" sz="1600" b="0" i="0" u="none" strike="noStrike" cap="none">
                  <a:solidFill>
                    <a:srgbClr val="CC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HTTP response</a:t>
              </a:r>
              <a:endParaRPr sz="2400" b="0" i="0" u="none" strike="noStrike" cap="none">
                <a:solidFill>
                  <a:srgbClr val="CC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grpSp>
        <p:nvGrpSpPr>
          <p:cNvPr id="149" name="Google Shape;149;p6"/>
          <p:cNvGrpSpPr/>
          <p:nvPr/>
        </p:nvGrpSpPr>
        <p:grpSpPr>
          <a:xfrm rot="-3183056">
            <a:off x="8058342" y="3789190"/>
            <a:ext cx="2101850" cy="1065774"/>
            <a:chOff x="3640" y="1271"/>
            <a:chExt cx="1324" cy="671"/>
          </a:xfrm>
        </p:grpSpPr>
        <p:cxnSp>
          <p:nvCxnSpPr>
            <p:cNvPr id="150" name="Google Shape;150;p6"/>
            <p:cNvCxnSpPr/>
            <p:nvPr/>
          </p:nvCxnSpPr>
          <p:spPr>
            <a:xfrm>
              <a:off x="3640" y="1346"/>
              <a:ext cx="1324" cy="596"/>
            </a:xfrm>
            <a:prstGeom prst="straightConnector1">
              <a:avLst/>
            </a:prstGeom>
            <a:noFill/>
            <a:ln w="28575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51" name="Google Shape;151;p6"/>
            <p:cNvSpPr txBox="1"/>
            <p:nvPr/>
          </p:nvSpPr>
          <p:spPr>
            <a:xfrm rot="1422049">
              <a:off x="3860" y="1445"/>
              <a:ext cx="912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 panose="020B0604020202090204"/>
                <a:buNone/>
              </a:pPr>
              <a:r>
                <a:rPr lang="en-US" sz="1600" b="0" i="0" u="none" strike="noStrike" cap="none">
                  <a:solidFill>
                    <a:srgbClr val="CC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HTTP request</a:t>
              </a:r>
              <a:endParaRPr sz="2400" b="0" i="0" u="none" strike="noStrike" cap="none">
                <a:solidFill>
                  <a:srgbClr val="CC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grpSp>
        <p:nvGrpSpPr>
          <p:cNvPr id="152" name="Google Shape;152;p6"/>
          <p:cNvGrpSpPr/>
          <p:nvPr/>
        </p:nvGrpSpPr>
        <p:grpSpPr>
          <a:xfrm rot="-3264937">
            <a:off x="8247053" y="4075892"/>
            <a:ext cx="1971675" cy="1138193"/>
            <a:chOff x="4141" y="394"/>
            <a:chExt cx="1242" cy="717"/>
          </a:xfrm>
        </p:grpSpPr>
        <p:cxnSp>
          <p:nvCxnSpPr>
            <p:cNvPr id="153" name="Google Shape;153;p6"/>
            <p:cNvCxnSpPr/>
            <p:nvPr/>
          </p:nvCxnSpPr>
          <p:spPr>
            <a:xfrm rot="10800000">
              <a:off x="4141" y="394"/>
              <a:ext cx="1242" cy="570"/>
            </a:xfrm>
            <a:prstGeom prst="straightConnector1">
              <a:avLst/>
            </a:prstGeom>
            <a:noFill/>
            <a:ln w="28575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54" name="Google Shape;154;p6"/>
            <p:cNvSpPr txBox="1"/>
            <p:nvPr/>
          </p:nvSpPr>
          <p:spPr>
            <a:xfrm rot="1411598">
              <a:off x="4304" y="706"/>
              <a:ext cx="1011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 panose="020B0604020202090204"/>
                <a:buNone/>
              </a:pPr>
              <a:r>
                <a:rPr lang="en-US" sz="1600" b="0" i="0" u="none" strike="noStrike" cap="none">
                  <a:solidFill>
                    <a:srgbClr val="CC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HTTP response</a:t>
              </a:r>
              <a:endParaRPr sz="2400" b="0" i="0" u="none" strike="noStrike" cap="none">
                <a:solidFill>
                  <a:srgbClr val="CC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grpSp>
        <p:nvGrpSpPr>
          <p:cNvPr id="155" name="Google Shape;155;p6"/>
          <p:cNvGrpSpPr/>
          <p:nvPr/>
        </p:nvGrpSpPr>
        <p:grpSpPr>
          <a:xfrm>
            <a:off x="7046475" y="4540592"/>
            <a:ext cx="2210665" cy="1578194"/>
            <a:chOff x="7046475" y="4540592"/>
            <a:chExt cx="2210665" cy="1578194"/>
          </a:xfrm>
        </p:grpSpPr>
        <p:sp>
          <p:nvSpPr>
            <p:cNvPr id="156" name="Google Shape;156;p6"/>
            <p:cNvSpPr txBox="1"/>
            <p:nvPr/>
          </p:nvSpPr>
          <p:spPr>
            <a:xfrm>
              <a:off x="7046475" y="5472455"/>
              <a:ext cx="2210665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iPhone running</a:t>
              </a:r>
              <a:endPara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Safari browser</a:t>
              </a:r>
              <a:endPara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57" name="Google Shape;157;p6" descr="iphone_stylized_small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7644179" y="4540592"/>
              <a:ext cx="382588" cy="9175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8" name="Google Shape;158;p6"/>
          <p:cNvGrpSpPr/>
          <p:nvPr/>
        </p:nvGrpSpPr>
        <p:grpSpPr>
          <a:xfrm>
            <a:off x="6584832" y="1722780"/>
            <a:ext cx="2270564" cy="1610628"/>
            <a:chOff x="6584832" y="1722780"/>
            <a:chExt cx="2270564" cy="1610628"/>
          </a:xfrm>
        </p:grpSpPr>
        <p:sp>
          <p:nvSpPr>
            <p:cNvPr id="159" name="Google Shape;159;p6"/>
            <p:cNvSpPr txBox="1"/>
            <p:nvPr/>
          </p:nvSpPr>
          <p:spPr>
            <a:xfrm>
              <a:off x="6584832" y="2687077"/>
              <a:ext cx="2270564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PC running</a:t>
              </a:r>
              <a:endPara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Firefox browser</a:t>
              </a:r>
              <a:endPara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0" name="Google Shape;160;p6"/>
            <p:cNvGrpSpPr/>
            <p:nvPr/>
          </p:nvGrpSpPr>
          <p:grpSpPr>
            <a:xfrm>
              <a:off x="7109192" y="1722780"/>
              <a:ext cx="1066800" cy="1079500"/>
              <a:chOff x="-44" y="1473"/>
              <a:chExt cx="981" cy="1105"/>
            </a:xfrm>
          </p:grpSpPr>
          <p:pic>
            <p:nvPicPr>
              <p:cNvPr id="161" name="Google Shape;161;p6" descr="desktop_computer_stylized_medium"/>
              <p:cNvPicPr preferRelativeResize="0"/>
              <p:nvPr/>
            </p:nvPicPr>
            <p:blipFill rotWithShape="1">
              <a:blip r:embed="rId2"/>
              <a:srcRect/>
              <a:stretch>
                <a:fillRect/>
              </a:stretch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2" name="Google Shape;162;p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avLst/>
                <a:gdLst/>
                <a:ahLst/>
                <a:cxnLst/>
                <a:rect l="l" t="t" r="r" b="b"/>
                <a:pathLst>
                  <a:path w="356" h="368" extrusionOk="0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 panose="020B0604020202090204"/>
                  <a:buNone/>
                </a:pPr>
                <a:endParaRPr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</p:grpSp>
      <p:grpSp>
        <p:nvGrpSpPr>
          <p:cNvPr id="163" name="Google Shape;163;p6"/>
          <p:cNvGrpSpPr/>
          <p:nvPr/>
        </p:nvGrpSpPr>
        <p:grpSpPr>
          <a:xfrm>
            <a:off x="9655810" y="2888005"/>
            <a:ext cx="2414547" cy="2197950"/>
            <a:chOff x="9655810" y="2888005"/>
            <a:chExt cx="2414547" cy="2197950"/>
          </a:xfrm>
        </p:grpSpPr>
        <p:sp>
          <p:nvSpPr>
            <p:cNvPr id="164" name="Google Shape;164;p6"/>
            <p:cNvSpPr txBox="1"/>
            <p:nvPr/>
          </p:nvSpPr>
          <p:spPr>
            <a:xfrm>
              <a:off x="9655810" y="4162625"/>
              <a:ext cx="2414547" cy="923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 running</a:t>
              </a:r>
              <a:endPara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Apache Web</a:t>
              </a:r>
              <a:endPara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</a:t>
              </a:r>
              <a:endPara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5" name="Google Shape;165;p6"/>
            <p:cNvGrpSpPr/>
            <p:nvPr/>
          </p:nvGrpSpPr>
          <p:grpSpPr>
            <a:xfrm>
              <a:off x="10230217" y="2888005"/>
              <a:ext cx="695325" cy="1282700"/>
              <a:chOff x="4140" y="429"/>
              <a:chExt cx="1425" cy="2396"/>
            </a:xfrm>
          </p:grpSpPr>
          <p:sp>
            <p:nvSpPr>
              <p:cNvPr id="166" name="Google Shape;166;p6"/>
              <p:cNvSpPr/>
              <p:nvPr/>
            </p:nvSpPr>
            <p:spPr>
              <a:xfrm>
                <a:off x="5268" y="433"/>
                <a:ext cx="283" cy="2286"/>
              </a:xfrm>
              <a:custGeom>
                <a:avLst/>
                <a:gdLst/>
                <a:ahLst/>
                <a:cxnLst/>
                <a:rect l="l" t="t" r="r" b="b"/>
                <a:pathLst>
                  <a:path w="354" h="2742" extrusionOk="0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 panose="020B0604020202090204"/>
                  <a:buNone/>
                </a:pPr>
                <a:endParaRPr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67" name="Google Shape;167;p6"/>
              <p:cNvSpPr/>
              <p:nvPr/>
            </p:nvSpPr>
            <p:spPr>
              <a:xfrm>
                <a:off x="4205" y="429"/>
                <a:ext cx="1048" cy="2283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 panose="020B0604020202090204"/>
                  <a:buNone/>
                </a:pPr>
                <a:endParaRPr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68" name="Google Shape;168;p6"/>
              <p:cNvSpPr/>
              <p:nvPr/>
            </p:nvSpPr>
            <p:spPr>
              <a:xfrm>
                <a:off x="5321" y="570"/>
                <a:ext cx="169" cy="2115"/>
              </a:xfrm>
              <a:custGeom>
                <a:avLst/>
                <a:gdLst/>
                <a:ahLst/>
                <a:cxnLst/>
                <a:rect l="l" t="t" r="r" b="b"/>
                <a:pathLst>
                  <a:path w="211" h="2537" extrusionOk="0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 panose="020B0604020202090204"/>
                  <a:buNone/>
                </a:pPr>
                <a:endParaRPr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69" name="Google Shape;169;p6"/>
              <p:cNvSpPr/>
              <p:nvPr/>
            </p:nvSpPr>
            <p:spPr>
              <a:xfrm>
                <a:off x="5284" y="1640"/>
                <a:ext cx="263" cy="189"/>
              </a:xfrm>
              <a:custGeom>
                <a:avLst/>
                <a:gdLst/>
                <a:ahLst/>
                <a:cxnLst/>
                <a:rect l="l" t="t" r="r" b="b"/>
                <a:pathLst>
                  <a:path w="328" h="226" extrusionOk="0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 panose="020B0604020202090204"/>
                  <a:buNone/>
                </a:pPr>
                <a:endParaRPr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70" name="Google Shape;170;p6"/>
              <p:cNvSpPr/>
              <p:nvPr/>
            </p:nvSpPr>
            <p:spPr>
              <a:xfrm>
                <a:off x="4212" y="693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 panose="020B0604020202090204"/>
                  <a:buNone/>
                </a:pPr>
                <a:endParaRPr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grpSp>
            <p:nvGrpSpPr>
              <p:cNvPr id="171" name="Google Shape;171;p6"/>
              <p:cNvGrpSpPr/>
              <p:nvPr/>
            </p:nvGrpSpPr>
            <p:grpSpPr>
              <a:xfrm>
                <a:off x="4748" y="669"/>
                <a:ext cx="583" cy="140"/>
                <a:chOff x="613" y="2569"/>
                <a:chExt cx="727" cy="134"/>
              </a:xfrm>
            </p:grpSpPr>
            <p:sp>
              <p:nvSpPr>
                <p:cNvPr id="172" name="Google Shape;172;p6"/>
                <p:cNvSpPr/>
                <p:nvPr/>
              </p:nvSpPr>
              <p:spPr>
                <a:xfrm>
                  <a:off x="613" y="2569"/>
                  <a:ext cx="727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 panose="020B0604020202090204"/>
                    <a:buNone/>
                  </a:pPr>
                  <a:endParaRPr sz="20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endParaRPr>
                </a:p>
              </p:txBody>
            </p:sp>
            <p:sp>
              <p:nvSpPr>
                <p:cNvPr id="173" name="Google Shape;173;p6"/>
                <p:cNvSpPr/>
                <p:nvPr/>
              </p:nvSpPr>
              <p:spPr>
                <a:xfrm>
                  <a:off x="629" y="2586"/>
                  <a:ext cx="694" cy="97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 panose="020B0604020202090204"/>
                    <a:buNone/>
                  </a:pPr>
                  <a:endParaRPr sz="20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endParaRPr>
                </a:p>
              </p:txBody>
            </p:sp>
          </p:grpSp>
          <p:sp>
            <p:nvSpPr>
              <p:cNvPr id="174" name="Google Shape;174;p6"/>
              <p:cNvSpPr/>
              <p:nvPr/>
            </p:nvSpPr>
            <p:spPr>
              <a:xfrm>
                <a:off x="4225" y="1019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 panose="020B0604020202090204"/>
                  <a:buNone/>
                </a:pPr>
                <a:endParaRPr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grpSp>
            <p:nvGrpSpPr>
              <p:cNvPr id="175" name="Google Shape;175;p6"/>
              <p:cNvGrpSpPr/>
              <p:nvPr/>
            </p:nvGrpSpPr>
            <p:grpSpPr>
              <a:xfrm>
                <a:off x="4749" y="995"/>
                <a:ext cx="579" cy="133"/>
                <a:chOff x="616" y="2569"/>
                <a:chExt cx="723" cy="138"/>
              </a:xfrm>
            </p:grpSpPr>
            <p:sp>
              <p:nvSpPr>
                <p:cNvPr id="176" name="Google Shape;176;p6"/>
                <p:cNvSpPr/>
                <p:nvPr/>
              </p:nvSpPr>
              <p:spPr>
                <a:xfrm>
                  <a:off x="616" y="2569"/>
                  <a:ext cx="723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 panose="020B0604020202090204"/>
                    <a:buNone/>
                  </a:pPr>
                  <a:endParaRPr sz="20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endParaRPr>
                </a:p>
              </p:txBody>
            </p:sp>
            <p:sp>
              <p:nvSpPr>
                <p:cNvPr id="177" name="Google Shape;177;p6"/>
                <p:cNvSpPr/>
                <p:nvPr/>
              </p:nvSpPr>
              <p:spPr>
                <a:xfrm>
                  <a:off x="632" y="2588"/>
                  <a:ext cx="690" cy="102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 panose="020B0604020202090204"/>
                    <a:buNone/>
                  </a:pPr>
                  <a:endParaRPr sz="20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endParaRPr>
                </a:p>
              </p:txBody>
            </p:sp>
          </p:grpSp>
          <p:sp>
            <p:nvSpPr>
              <p:cNvPr id="178" name="Google Shape;178;p6"/>
              <p:cNvSpPr/>
              <p:nvPr/>
            </p:nvSpPr>
            <p:spPr>
              <a:xfrm>
                <a:off x="4218" y="1357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 panose="020B0604020202090204"/>
                  <a:buNone/>
                </a:pPr>
                <a:endParaRPr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79" name="Google Shape;179;p6"/>
              <p:cNvSpPr/>
              <p:nvPr/>
            </p:nvSpPr>
            <p:spPr>
              <a:xfrm>
                <a:off x="4228" y="1654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 panose="020B0604020202090204"/>
                  <a:buNone/>
                </a:pPr>
                <a:endParaRPr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grpSp>
            <p:nvGrpSpPr>
              <p:cNvPr id="180" name="Google Shape;180;p6"/>
              <p:cNvGrpSpPr/>
              <p:nvPr/>
            </p:nvGrpSpPr>
            <p:grpSpPr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81" name="Google Shape;181;p6"/>
                <p:cNvSpPr/>
                <p:nvPr/>
              </p:nvSpPr>
              <p:spPr>
                <a:xfrm>
                  <a:off x="614" y="2568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 panose="020B0604020202090204"/>
                    <a:buNone/>
                  </a:pPr>
                  <a:endParaRPr sz="20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endParaRPr>
                </a:p>
              </p:txBody>
            </p:sp>
            <p:sp>
              <p:nvSpPr>
                <p:cNvPr id="182" name="Google Shape;182;p6"/>
                <p:cNvSpPr/>
                <p:nvPr/>
              </p:nvSpPr>
              <p:spPr>
                <a:xfrm>
                  <a:off x="631" y="2584"/>
                  <a:ext cx="693" cy="106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 panose="020B0604020202090204"/>
                    <a:buNone/>
                  </a:pPr>
                  <a:endParaRPr sz="20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endParaRPr>
                </a:p>
              </p:txBody>
            </p:sp>
          </p:grpSp>
          <p:sp>
            <p:nvSpPr>
              <p:cNvPr id="183" name="Google Shape;183;p6"/>
              <p:cNvSpPr/>
              <p:nvPr/>
            </p:nvSpPr>
            <p:spPr>
              <a:xfrm>
                <a:off x="5288" y="1354"/>
                <a:ext cx="263" cy="188"/>
              </a:xfrm>
              <a:custGeom>
                <a:avLst/>
                <a:gdLst/>
                <a:ahLst/>
                <a:cxnLst/>
                <a:rect l="l" t="t" r="r" b="b"/>
                <a:pathLst>
                  <a:path w="328" h="226" extrusionOk="0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 panose="020B0604020202090204"/>
                  <a:buNone/>
                </a:pPr>
                <a:endParaRPr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grpSp>
            <p:nvGrpSpPr>
              <p:cNvPr id="184" name="Google Shape;184;p6"/>
              <p:cNvGrpSpPr/>
              <p:nvPr/>
            </p:nvGrpSpPr>
            <p:grpSpPr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85" name="Google Shape;185;p6"/>
                <p:cNvSpPr/>
                <p:nvPr/>
              </p:nvSpPr>
              <p:spPr>
                <a:xfrm>
                  <a:off x="614" y="2568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 panose="020B0604020202090204"/>
                    <a:buNone/>
                  </a:pPr>
                  <a:endParaRPr sz="20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endParaRPr>
                </a:p>
              </p:txBody>
            </p:sp>
            <p:sp>
              <p:nvSpPr>
                <p:cNvPr id="186" name="Google Shape;186;p6"/>
                <p:cNvSpPr/>
                <p:nvPr/>
              </p:nvSpPr>
              <p:spPr>
                <a:xfrm>
                  <a:off x="630" y="2583"/>
                  <a:ext cx="693" cy="107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 panose="020B0604020202090204"/>
                    <a:buNone/>
                  </a:pPr>
                  <a:endParaRPr sz="20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endParaRPr>
                </a:p>
              </p:txBody>
            </p:sp>
          </p:grpSp>
          <p:sp>
            <p:nvSpPr>
              <p:cNvPr id="187" name="Google Shape;187;p6"/>
              <p:cNvSpPr/>
              <p:nvPr/>
            </p:nvSpPr>
            <p:spPr>
              <a:xfrm>
                <a:off x="5249" y="432"/>
                <a:ext cx="68" cy="2286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 panose="020B0604020202090204"/>
                  <a:buNone/>
                </a:pPr>
                <a:endParaRPr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88" name="Google Shape;188;p6"/>
              <p:cNvSpPr/>
              <p:nvPr/>
            </p:nvSpPr>
            <p:spPr>
              <a:xfrm>
                <a:off x="5312" y="1007"/>
                <a:ext cx="237" cy="213"/>
              </a:xfrm>
              <a:custGeom>
                <a:avLst/>
                <a:gdLst/>
                <a:ahLst/>
                <a:cxnLst/>
                <a:rect l="l" t="t" r="r" b="b"/>
                <a:pathLst>
                  <a:path w="296" h="256" extrusionOk="0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 panose="020B0604020202090204"/>
                  <a:buNone/>
                </a:pPr>
                <a:endParaRPr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89" name="Google Shape;189;p6"/>
              <p:cNvSpPr/>
              <p:nvPr/>
            </p:nvSpPr>
            <p:spPr>
              <a:xfrm>
                <a:off x="5315" y="680"/>
                <a:ext cx="244" cy="240"/>
              </a:xfrm>
              <a:custGeom>
                <a:avLst/>
                <a:gdLst/>
                <a:ahLst/>
                <a:cxnLst/>
                <a:rect l="l" t="t" r="r" b="b"/>
                <a:pathLst>
                  <a:path w="304" h="288" extrusionOk="0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 panose="020B0604020202090204"/>
                  <a:buNone/>
                </a:pPr>
                <a:endParaRPr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90" name="Google Shape;190;p6"/>
              <p:cNvSpPr/>
              <p:nvPr/>
            </p:nvSpPr>
            <p:spPr>
              <a:xfrm>
                <a:off x="5516" y="2611"/>
                <a:ext cx="49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 panose="020B0604020202090204"/>
                  <a:buNone/>
                </a:pPr>
                <a:endParaRPr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91" name="Google Shape;191;p6"/>
              <p:cNvSpPr/>
              <p:nvPr/>
            </p:nvSpPr>
            <p:spPr>
              <a:xfrm>
                <a:off x="5302" y="2614"/>
                <a:ext cx="245" cy="200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40" extrusionOk="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 panose="020B0604020202090204"/>
                  <a:buNone/>
                </a:pPr>
                <a:endParaRPr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92" name="Google Shape;192;p6"/>
              <p:cNvSpPr/>
              <p:nvPr/>
            </p:nvSpPr>
            <p:spPr>
              <a:xfrm>
                <a:off x="4140" y="2677"/>
                <a:ext cx="1201" cy="148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 panose="020B0604020202090204"/>
                  <a:buNone/>
                </a:pPr>
                <a:endParaRPr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93" name="Google Shape;193;p6"/>
              <p:cNvSpPr/>
              <p:nvPr/>
            </p:nvSpPr>
            <p:spPr>
              <a:xfrm>
                <a:off x="4205" y="2712"/>
                <a:ext cx="1070" cy="8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 panose="020B0604020202090204"/>
                  <a:buNone/>
                </a:pPr>
                <a:endParaRPr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94" name="Google Shape;194;p6"/>
              <p:cNvSpPr/>
              <p:nvPr/>
            </p:nvSpPr>
            <p:spPr>
              <a:xfrm>
                <a:off x="4309" y="2383"/>
                <a:ext cx="156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 panose="020B0604020202090204"/>
                  <a:buNone/>
                </a:pPr>
                <a:endParaRPr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95" name="Google Shape;195;p6"/>
              <p:cNvSpPr/>
              <p:nvPr/>
            </p:nvSpPr>
            <p:spPr>
              <a:xfrm>
                <a:off x="4485" y="2383"/>
                <a:ext cx="163" cy="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rgbClr val="FF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96" name="Google Shape;196;p6"/>
              <p:cNvSpPr/>
              <p:nvPr/>
            </p:nvSpPr>
            <p:spPr>
              <a:xfrm>
                <a:off x="4661" y="2380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 panose="020B0604020202090204"/>
                  <a:buNone/>
                </a:pPr>
                <a:endParaRPr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97" name="Google Shape;197;p6"/>
              <p:cNvSpPr/>
              <p:nvPr/>
            </p:nvSpPr>
            <p:spPr>
              <a:xfrm>
                <a:off x="5061" y="1835"/>
                <a:ext cx="88" cy="762"/>
              </a:xfrm>
              <a:prstGeom prst="rect">
                <a:avLst/>
              </a:prstGeom>
              <a:solidFill>
                <a:srgbClr val="292929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 panose="020B0604020202090204"/>
                  <a:buNone/>
                </a:pPr>
                <a:endParaRPr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</p:grpSp>
      <p:sp>
        <p:nvSpPr>
          <p:cNvPr id="198" name="Google Shape;198;p6"/>
          <p:cNvSpPr txBox="1"/>
          <p:nvPr>
            <p:ph type="sldNum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Application Layer: 2-</a:t>
            </a:r>
            <a:fld id="{00000000-1234-1234-1234-123412341234}" type="slidenum">
              <a:rPr lang="en-US"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100" b="0" i="0" u="none" strike="noStrike" cap="non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HTTP request </a:t>
            </a:r>
            <a:r>
              <a:rPr lang="en-US"/>
              <a:t>m</a:t>
            </a:r>
            <a:r>
              <a:rPr lang="en-US" sz="4400"/>
              <a:t>essage</a:t>
            </a:r>
            <a:endParaRPr sz="4400"/>
          </a:p>
        </p:txBody>
      </p:sp>
      <p:sp>
        <p:nvSpPr>
          <p:cNvPr id="205" name="Google Shape;205;p7"/>
          <p:cNvSpPr txBox="1"/>
          <p:nvPr/>
        </p:nvSpPr>
        <p:spPr>
          <a:xfrm>
            <a:off x="533400" y="1444625"/>
            <a:ext cx="11658600" cy="1429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33680" marR="0" lvl="0" indent="-2336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two types of HTTP messages: </a:t>
            </a:r>
            <a:r>
              <a:rPr lang="en-US" sz="2800" b="0" i="1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request</a:t>
            </a:r>
            <a:r>
              <a:rPr lang="en-US" sz="28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800" b="0" i="1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response</a:t>
            </a:r>
            <a:endParaRPr lang="en-US" sz="2800" b="0" i="1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3680" marR="0" lvl="0" indent="-23368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HTTP request message:</a:t>
            </a:r>
            <a:endParaRPr lang="en-US" sz="2800" b="0" i="0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 panose="020B0604020202090204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ASCII (human-readable format)</a:t>
            </a:r>
            <a:endParaRPr sz="2400" b="0" i="0" u="none" strike="noStrike" cap="non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 txBox="1"/>
          <p:nvPr/>
        </p:nvSpPr>
        <p:spPr>
          <a:xfrm>
            <a:off x="2559050" y="4189730"/>
            <a:ext cx="1283970" cy="754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header</a:t>
            </a:r>
            <a:endParaRPr lang="en-US" sz="2400" b="0" i="0" u="none" strike="noStrike" cap="non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lines</a:t>
            </a:r>
            <a:endParaRPr sz="2800" b="0" i="0" u="none" strike="noStrike" cap="non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 txBox="1"/>
          <p:nvPr/>
        </p:nvSpPr>
        <p:spPr>
          <a:xfrm>
            <a:off x="3999865" y="3556000"/>
            <a:ext cx="7921625" cy="2381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 panose="02070409020205090404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GET /index.html HTTP/1.1\r\n</a:t>
            </a:r>
            <a:endParaRPr lang="en-US" sz="1800" b="1" i="0" u="none" strike="noStrike" cap="none">
              <a:solidFill>
                <a:srgbClr val="000000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 panose="02070409020205090404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Host: www-net.cs.umass.edu\r\n</a:t>
            </a:r>
            <a:endParaRPr lang="en-US" sz="1800" b="1" i="0" u="none" strike="noStrike" cap="none">
              <a:solidFill>
                <a:srgbClr val="000000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 panose="02070409020205090404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User-Agent: Mozilla/5.0 (Macintosh; Intel Mac OS X 10.15; rv:80.0) Gecko/20100101 Firefox/80.0 \r\n</a:t>
            </a:r>
            <a:endParaRPr lang="en-US" sz="1800" b="1" i="0" u="none" strike="noStrike" cap="none">
              <a:solidFill>
                <a:srgbClr val="000000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 panose="02070409020205090404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Accept: text/html,application/xhtml+xml\r\n</a:t>
            </a:r>
            <a:endParaRPr lang="en-US" sz="1800" b="1" i="0" u="none" strike="noStrike" cap="none">
              <a:solidFill>
                <a:srgbClr val="000000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 panose="02070409020205090404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Accept-Language: en-us,en;q=0.5\r\n</a:t>
            </a:r>
            <a:endParaRPr lang="en-US" sz="1800" b="1" i="0" u="none" strike="noStrike" cap="none">
              <a:solidFill>
                <a:srgbClr val="000000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 panose="02070409020205090404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Accept-Encoding: gzip,deflate\r\n</a:t>
            </a:r>
            <a:endParaRPr lang="en-US" sz="1800" b="1" i="0" u="none" strike="noStrike" cap="none">
              <a:solidFill>
                <a:srgbClr val="000000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 panose="02070409020205090404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Connection: keep-alive\r\n</a:t>
            </a:r>
            <a:endParaRPr lang="en-US" sz="1800" b="1" i="0" u="none" strike="noStrike" cap="none">
              <a:solidFill>
                <a:srgbClr val="000000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 panose="02070409020205090404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\r\n</a:t>
            </a:r>
            <a:endParaRPr lang="en-US" sz="1800" b="1" i="0" u="none" strike="noStrike" cap="none">
              <a:solidFill>
                <a:srgbClr val="000000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</p:txBody>
      </p:sp>
      <p:grpSp>
        <p:nvGrpSpPr>
          <p:cNvPr id="208" name="Google Shape;208;p7"/>
          <p:cNvGrpSpPr/>
          <p:nvPr/>
        </p:nvGrpSpPr>
        <p:grpSpPr>
          <a:xfrm>
            <a:off x="7896225" y="1917065"/>
            <a:ext cx="2259965" cy="1353025"/>
            <a:chOff x="7524296" y="2169886"/>
            <a:chExt cx="2834575" cy="3998843"/>
          </a:xfrm>
        </p:grpSpPr>
        <p:cxnSp>
          <p:nvCxnSpPr>
            <p:cNvPr id="209" name="Google Shape;209;p7"/>
            <p:cNvCxnSpPr/>
            <p:nvPr/>
          </p:nvCxnSpPr>
          <p:spPr>
            <a:xfrm flipH="1">
              <a:off x="7524296" y="2841399"/>
              <a:ext cx="166688" cy="514350"/>
            </a:xfrm>
            <a:prstGeom prst="straightConnector1">
              <a:avLst/>
            </a:prstGeom>
            <a:noFill/>
            <a:ln w="9525" cap="flat" cmpd="sng">
              <a:solidFill>
                <a:srgbClr val="00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10" name="Google Shape;210;p7"/>
            <p:cNvSpPr txBox="1"/>
            <p:nvPr/>
          </p:nvSpPr>
          <p:spPr>
            <a:xfrm>
              <a:off x="7575096" y="2169886"/>
              <a:ext cx="2783775" cy="20850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3429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carriage return character</a:t>
              </a:r>
              <a:endPara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7"/>
            <p:cNvSpPr txBox="1"/>
            <p:nvPr/>
          </p:nvSpPr>
          <p:spPr>
            <a:xfrm>
              <a:off x="7727496" y="4083680"/>
              <a:ext cx="2149306" cy="20850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3429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line-feed character</a:t>
              </a:r>
              <a:endPara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12" name="Google Shape;212;p7"/>
            <p:cNvCxnSpPr/>
            <p:nvPr/>
          </p:nvCxnSpPr>
          <p:spPr>
            <a:xfrm flipH="1">
              <a:off x="7805284" y="3150961"/>
              <a:ext cx="80962" cy="252413"/>
            </a:xfrm>
            <a:prstGeom prst="straightConnector1">
              <a:avLst/>
            </a:prstGeom>
            <a:noFill/>
            <a:ln w="9525" cap="flat" cmpd="sng">
              <a:solidFill>
                <a:srgbClr val="00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213" name="Google Shape;213;p7"/>
          <p:cNvGrpSpPr/>
          <p:nvPr/>
        </p:nvGrpSpPr>
        <p:grpSpPr>
          <a:xfrm>
            <a:off x="241072" y="3230684"/>
            <a:ext cx="3691165" cy="830997"/>
            <a:chOff x="304572" y="3050979"/>
            <a:chExt cx="3691165" cy="830997"/>
          </a:xfrm>
        </p:grpSpPr>
        <p:sp>
          <p:nvSpPr>
            <p:cNvPr id="214" name="Google Shape;214;p7"/>
            <p:cNvSpPr txBox="1"/>
            <p:nvPr/>
          </p:nvSpPr>
          <p:spPr>
            <a:xfrm>
              <a:off x="304572" y="3050979"/>
              <a:ext cx="3163155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Calibri"/>
                <a:buNone/>
              </a:pPr>
              <a:r>
                <a:rPr lang="en-US" sz="2400" b="0" i="0" u="none" strike="noStrike" cap="non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request line (GET, POST, </a:t>
              </a:r>
              <a:endParaRPr lang="en-US" sz="2400" b="0" i="0" u="none" strike="noStrike" cap="non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Calibri"/>
                <a:buNone/>
              </a:pPr>
              <a:r>
                <a:rPr lang="en-US" sz="2400" b="0" i="0" u="none" strike="noStrike" cap="non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HEAD commands)</a:t>
              </a:r>
              <a:endParaRPr sz="2800" b="0" i="0" u="none" strike="noStrike" cap="non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15" name="Google Shape;215;p7"/>
            <p:cNvCxnSpPr/>
            <p:nvPr/>
          </p:nvCxnSpPr>
          <p:spPr>
            <a:xfrm>
              <a:off x="2558822" y="3471412"/>
              <a:ext cx="1436915" cy="0"/>
            </a:xfrm>
            <a:prstGeom prst="straightConnector1">
              <a:avLst/>
            </a:prstGeom>
            <a:noFill/>
            <a:ln w="19050" cap="flat" cmpd="sng">
              <a:solidFill>
                <a:srgbClr val="0000A8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216" name="Google Shape;216;p7"/>
          <p:cNvGrpSpPr/>
          <p:nvPr/>
        </p:nvGrpSpPr>
        <p:grpSpPr>
          <a:xfrm>
            <a:off x="743905" y="5548787"/>
            <a:ext cx="7763054" cy="1145473"/>
            <a:chOff x="743905" y="5548787"/>
            <a:chExt cx="7763054" cy="1145473"/>
          </a:xfrm>
        </p:grpSpPr>
        <p:cxnSp>
          <p:nvCxnSpPr>
            <p:cNvPr id="217" name="Google Shape;217;p7"/>
            <p:cNvCxnSpPr/>
            <p:nvPr/>
          </p:nvCxnSpPr>
          <p:spPr>
            <a:xfrm>
              <a:off x="3499984" y="5710011"/>
              <a:ext cx="511175" cy="0"/>
            </a:xfrm>
            <a:prstGeom prst="straightConnector1">
              <a:avLst/>
            </a:prstGeom>
            <a:noFill/>
            <a:ln w="19050" cap="flat" cmpd="sng">
              <a:solidFill>
                <a:srgbClr val="00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18" name="Google Shape;218;p7"/>
            <p:cNvSpPr txBox="1"/>
            <p:nvPr/>
          </p:nvSpPr>
          <p:spPr>
            <a:xfrm>
              <a:off x="743905" y="5548787"/>
              <a:ext cx="2771636" cy="923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lang="en-US" sz="2000" b="0" i="0" u="none" strike="noStrike" cap="non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carriage return, line feed at start of line indicates end of header lines</a:t>
              </a:r>
              <a:endParaRPr sz="2400" b="0" i="0" u="none" strike="noStrike" cap="non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7"/>
            <p:cNvSpPr txBox="1"/>
            <p:nvPr/>
          </p:nvSpPr>
          <p:spPr>
            <a:xfrm>
              <a:off x="4000046" y="6171973"/>
              <a:ext cx="4506913" cy="5222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90204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* Check out the online interactive exercises for more examples: h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ttp://gaia.cs.umass.edu/kurose_ross/interactive/</a:t>
              </a:r>
              <a:endParaRPr lang="en-US"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sp>
        <p:nvSpPr>
          <p:cNvPr id="220" name="Google Shape;220;p7"/>
          <p:cNvSpPr/>
          <p:nvPr/>
        </p:nvSpPr>
        <p:spPr>
          <a:xfrm>
            <a:off x="3812583" y="3704095"/>
            <a:ext cx="217442" cy="1797803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cap="flat" cmpd="sng">
            <a:solidFill>
              <a:srgbClr val="0000A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4019515" y="3331027"/>
            <a:ext cx="6620718" cy="30218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 txBox="1"/>
          <p:nvPr>
            <p:ph type="sldNum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Application Layer: 2-</a:t>
            </a:r>
            <a:fld id="{00000000-1234-1234-1234-123412341234}" type="slidenum">
              <a:rPr lang="en-US"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100" b="0" i="0" u="none" strike="noStrike" cap="non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HTTP request message: general format</a:t>
            </a:r>
            <a:endParaRPr sz="4400"/>
          </a:p>
        </p:txBody>
      </p:sp>
      <p:sp>
        <p:nvSpPr>
          <p:cNvPr id="230" name="Google Shape;230;p8"/>
          <p:cNvSpPr txBox="1"/>
          <p:nvPr/>
        </p:nvSpPr>
        <p:spPr>
          <a:xfrm>
            <a:off x="8704472" y="1752600"/>
            <a:ext cx="1030287" cy="6413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Arial" panose="020B0604020202090204"/>
              <a:buNone/>
            </a:pPr>
            <a:r>
              <a:rPr lang="en-US" sz="2000" b="0" i="0" u="none" strike="noStrike" cap="none">
                <a:solidFill>
                  <a:srgbClr val="CC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request</a:t>
            </a:r>
            <a:endParaRPr lang="en-US" sz="2000" b="0" i="0" u="none" strike="noStrike" cap="none">
              <a:solidFill>
                <a:srgbClr val="CC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Arial" panose="020B0604020202090204"/>
              <a:buNone/>
            </a:pPr>
            <a:r>
              <a:rPr lang="en-US" sz="2000" b="0" i="0" u="none" strike="noStrike" cap="none">
                <a:solidFill>
                  <a:srgbClr val="CC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line</a:t>
            </a:r>
            <a:endParaRPr lang="en-US" sz="2000" b="0" i="0" u="none" strike="noStrike" cap="none">
              <a:solidFill>
                <a:srgbClr val="CC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31" name="Google Shape;231;p8"/>
          <p:cNvSpPr txBox="1"/>
          <p:nvPr/>
        </p:nvSpPr>
        <p:spPr>
          <a:xfrm>
            <a:off x="8699709" y="2768600"/>
            <a:ext cx="974725" cy="6413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Arial" panose="020B0604020202090204"/>
              <a:buNone/>
            </a:pPr>
            <a:r>
              <a:rPr lang="en-US" sz="2000" b="0" i="0" u="none" strike="noStrike" cap="none">
                <a:solidFill>
                  <a:srgbClr val="CC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header</a:t>
            </a:r>
            <a:endParaRPr lang="en-US" sz="2000" b="0" i="0" u="none" strike="noStrike" cap="none">
              <a:solidFill>
                <a:srgbClr val="CC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Arial" panose="020B0604020202090204"/>
              <a:buNone/>
            </a:pPr>
            <a:r>
              <a:rPr lang="en-US" sz="2000" b="0" i="0" u="none" strike="noStrike" cap="none">
                <a:solidFill>
                  <a:srgbClr val="CC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lines</a:t>
            </a:r>
            <a:endParaRPr lang="en-US" sz="2000" b="0" i="0" u="none" strike="noStrike" cap="none">
              <a:solidFill>
                <a:srgbClr val="CC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8315534" y="2338387"/>
            <a:ext cx="346075" cy="1819275"/>
          </a:xfrm>
          <a:prstGeom prst="rect">
            <a:avLst/>
          </a:prstGeom>
          <a:noFill/>
          <a:ln w="19050" cap="flat" cmpd="sng">
            <a:solidFill>
              <a:srgbClr val="CC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None/>
            </a:pPr>
            <a:endParaRPr sz="20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8182184" y="2287587"/>
            <a:ext cx="290513" cy="20177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None/>
            </a:pPr>
            <a:endParaRPr sz="20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8550484" y="4394200"/>
            <a:ext cx="712788" cy="12160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None/>
            </a:pPr>
            <a:endParaRPr sz="20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35" name="Google Shape;235;p8"/>
          <p:cNvSpPr txBox="1"/>
          <p:nvPr/>
        </p:nvSpPr>
        <p:spPr>
          <a:xfrm>
            <a:off x="8701297" y="4959350"/>
            <a:ext cx="735012" cy="36671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Arial" panose="020B0604020202090204"/>
              <a:buNone/>
            </a:pPr>
            <a:r>
              <a:rPr lang="en-US" sz="2000" b="0" i="0" u="none" strike="noStrike" cap="none">
                <a:solidFill>
                  <a:srgbClr val="CC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body</a:t>
            </a:r>
            <a:endParaRPr lang="en-US" sz="2000" b="0" i="0" u="none" strike="noStrike" cap="none">
              <a:solidFill>
                <a:srgbClr val="CC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2879934" y="1789112"/>
            <a:ext cx="5638800" cy="446088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None/>
            </a:pPr>
            <a:endParaRPr sz="20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cxnSp>
        <p:nvCxnSpPr>
          <p:cNvPr id="237" name="Google Shape;237;p8"/>
          <p:cNvCxnSpPr/>
          <p:nvPr/>
        </p:nvCxnSpPr>
        <p:spPr>
          <a:xfrm>
            <a:off x="4188034" y="1792287"/>
            <a:ext cx="0" cy="43815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8" name="Google Shape;238;p8"/>
          <p:cNvCxnSpPr/>
          <p:nvPr/>
        </p:nvCxnSpPr>
        <p:spPr>
          <a:xfrm>
            <a:off x="4632534" y="1792287"/>
            <a:ext cx="0" cy="43815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9" name="Google Shape;239;p8"/>
          <p:cNvCxnSpPr/>
          <p:nvPr/>
        </p:nvCxnSpPr>
        <p:spPr>
          <a:xfrm>
            <a:off x="5940634" y="1792287"/>
            <a:ext cx="0" cy="43815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0" name="Google Shape;240;p8"/>
          <p:cNvCxnSpPr/>
          <p:nvPr/>
        </p:nvCxnSpPr>
        <p:spPr>
          <a:xfrm>
            <a:off x="6366084" y="1785937"/>
            <a:ext cx="0" cy="43815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1" name="Google Shape;241;p8"/>
          <p:cNvCxnSpPr/>
          <p:nvPr/>
        </p:nvCxnSpPr>
        <p:spPr>
          <a:xfrm>
            <a:off x="7667834" y="1792287"/>
            <a:ext cx="0" cy="43815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2" name="Google Shape;242;p8"/>
          <p:cNvCxnSpPr/>
          <p:nvPr/>
        </p:nvCxnSpPr>
        <p:spPr>
          <a:xfrm>
            <a:off x="8105984" y="1792287"/>
            <a:ext cx="0" cy="43815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3" name="Google Shape;243;p8"/>
          <p:cNvSpPr txBox="1"/>
          <p:nvPr/>
        </p:nvSpPr>
        <p:spPr>
          <a:xfrm>
            <a:off x="3003759" y="1816100"/>
            <a:ext cx="1030288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Arial" panose="020B0604020202090204"/>
              <a:buNone/>
            </a:pPr>
            <a:r>
              <a:rPr lang="en-US" sz="2000" b="0" i="0" u="none" strike="noStrike" cap="none">
                <a:solidFill>
                  <a:srgbClr val="00009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method</a:t>
            </a:r>
            <a:endParaRPr lang="en-US" sz="2000" b="0" i="0" u="none" strike="noStrike" cap="none">
              <a:solidFill>
                <a:srgbClr val="000099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44" name="Google Shape;244;p8"/>
          <p:cNvSpPr txBox="1"/>
          <p:nvPr/>
        </p:nvSpPr>
        <p:spPr>
          <a:xfrm>
            <a:off x="4165809" y="1797050"/>
            <a:ext cx="452438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90204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sp</a:t>
            </a:r>
            <a:endParaRPr lang="en-US" sz="20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45" name="Google Shape;245;p8"/>
          <p:cNvSpPr txBox="1"/>
          <p:nvPr/>
        </p:nvSpPr>
        <p:spPr>
          <a:xfrm>
            <a:off x="5931109" y="1803400"/>
            <a:ext cx="452438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90204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sp</a:t>
            </a:r>
            <a:endParaRPr lang="en-US" sz="20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46" name="Google Shape;246;p8"/>
          <p:cNvSpPr txBox="1"/>
          <p:nvPr/>
        </p:nvSpPr>
        <p:spPr>
          <a:xfrm>
            <a:off x="7683709" y="1809750"/>
            <a:ext cx="4032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90204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cr</a:t>
            </a:r>
            <a:endParaRPr lang="en-US" sz="20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47" name="Google Shape;247;p8"/>
          <p:cNvSpPr txBox="1"/>
          <p:nvPr/>
        </p:nvSpPr>
        <p:spPr>
          <a:xfrm>
            <a:off x="8153609" y="1820862"/>
            <a:ext cx="31115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90204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lf</a:t>
            </a:r>
            <a:endParaRPr lang="en-US" sz="20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48" name="Google Shape;248;p8"/>
          <p:cNvSpPr txBox="1"/>
          <p:nvPr/>
        </p:nvSpPr>
        <p:spPr>
          <a:xfrm>
            <a:off x="6521659" y="1803400"/>
            <a:ext cx="10033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Arial" panose="020B0604020202090204"/>
              <a:buNone/>
            </a:pPr>
            <a:r>
              <a:rPr lang="en-US" sz="2000" b="0" i="0" u="none" strike="noStrike" cap="none">
                <a:solidFill>
                  <a:srgbClr val="00009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version</a:t>
            </a:r>
            <a:endParaRPr lang="en-US" sz="2000" b="0" i="0" u="none" strike="noStrike" cap="none">
              <a:solidFill>
                <a:srgbClr val="000099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49" name="Google Shape;249;p8"/>
          <p:cNvSpPr txBox="1"/>
          <p:nvPr/>
        </p:nvSpPr>
        <p:spPr>
          <a:xfrm>
            <a:off x="4896059" y="1816100"/>
            <a:ext cx="693738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Arial" panose="020B0604020202090204"/>
              <a:buNone/>
            </a:pPr>
            <a:r>
              <a:rPr lang="en-US" sz="2000" b="0" i="0" u="none" strike="noStrike" cap="none">
                <a:solidFill>
                  <a:srgbClr val="00009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URL</a:t>
            </a:r>
            <a:endParaRPr lang="en-US" sz="2000" b="0" i="0" u="none" strike="noStrike" cap="none">
              <a:solidFill>
                <a:srgbClr val="000099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grpSp>
        <p:nvGrpSpPr>
          <p:cNvPr id="250" name="Google Shape;250;p8"/>
          <p:cNvGrpSpPr/>
          <p:nvPr/>
        </p:nvGrpSpPr>
        <p:grpSpPr>
          <a:xfrm>
            <a:off x="2879934" y="2233612"/>
            <a:ext cx="4565650" cy="446088"/>
            <a:chOff x="192" y="1894"/>
            <a:chExt cx="2876" cy="281"/>
          </a:xfrm>
        </p:grpSpPr>
        <p:sp>
          <p:nvSpPr>
            <p:cNvPr id="251" name="Google Shape;251;p8"/>
            <p:cNvSpPr/>
            <p:nvPr/>
          </p:nvSpPr>
          <p:spPr>
            <a:xfrm>
              <a:off x="192" y="1894"/>
              <a:ext cx="2876" cy="281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 panose="020B0604020202090204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cxnSp>
          <p:nvCxnSpPr>
            <p:cNvPr id="252" name="Google Shape;252;p8"/>
            <p:cNvCxnSpPr/>
            <p:nvPr/>
          </p:nvCxnSpPr>
          <p:spPr>
            <a:xfrm>
              <a:off x="1700" y="1896"/>
              <a:ext cx="0" cy="276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3" name="Google Shape;253;p8"/>
            <p:cNvCxnSpPr/>
            <p:nvPr/>
          </p:nvCxnSpPr>
          <p:spPr>
            <a:xfrm>
              <a:off x="1832" y="1896"/>
              <a:ext cx="0" cy="276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4" name="Google Shape;254;p8"/>
            <p:cNvCxnSpPr/>
            <p:nvPr/>
          </p:nvCxnSpPr>
          <p:spPr>
            <a:xfrm>
              <a:off x="2528" y="1896"/>
              <a:ext cx="0" cy="276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5" name="Google Shape;255;p8"/>
            <p:cNvCxnSpPr/>
            <p:nvPr/>
          </p:nvCxnSpPr>
          <p:spPr>
            <a:xfrm>
              <a:off x="2804" y="1896"/>
              <a:ext cx="0" cy="276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56" name="Google Shape;256;p8"/>
            <p:cNvSpPr txBox="1"/>
            <p:nvPr/>
          </p:nvSpPr>
          <p:spPr>
            <a:xfrm>
              <a:off x="2538" y="1907"/>
              <a:ext cx="254" cy="2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3429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90204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cr</a:t>
              </a:r>
              <a:endParaRPr lang="en-US"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57" name="Google Shape;257;p8"/>
            <p:cNvSpPr txBox="1"/>
            <p:nvPr/>
          </p:nvSpPr>
          <p:spPr>
            <a:xfrm>
              <a:off x="2834" y="1914"/>
              <a:ext cx="196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3429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90204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lf</a:t>
              </a:r>
              <a:endParaRPr lang="en-US"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58" name="Google Shape;258;p8"/>
            <p:cNvSpPr txBox="1"/>
            <p:nvPr/>
          </p:nvSpPr>
          <p:spPr>
            <a:xfrm>
              <a:off x="1922" y="1895"/>
              <a:ext cx="499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3429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Arial" panose="020B0604020202090204"/>
                <a:buNone/>
              </a:pPr>
              <a:r>
                <a:rPr lang="en-US" sz="2000" b="0" i="0" u="none" strike="noStrike" cap="none">
                  <a:solidFill>
                    <a:srgbClr val="000099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value</a:t>
              </a:r>
              <a:endParaRPr lang="en-US" sz="2000" b="0" i="0" u="none" strike="noStrike" cap="none">
                <a:solidFill>
                  <a:srgbClr val="00009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59" name="Google Shape;259;p8"/>
            <p:cNvSpPr txBox="1"/>
            <p:nvPr/>
          </p:nvSpPr>
          <p:spPr>
            <a:xfrm>
              <a:off x="246" y="1903"/>
              <a:ext cx="1396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3429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Arial" panose="020B0604020202090204"/>
                <a:buNone/>
              </a:pPr>
              <a:r>
                <a:rPr lang="en-US" sz="2000" b="0" i="0" u="none" strike="noStrike" cap="none">
                  <a:solidFill>
                    <a:srgbClr val="000099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header field name</a:t>
              </a:r>
              <a:endParaRPr lang="en-US" sz="2000" b="0" i="0" u="none" strike="noStrike" cap="none">
                <a:solidFill>
                  <a:srgbClr val="00009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grpSp>
        <p:nvGrpSpPr>
          <p:cNvPr id="260" name="Google Shape;260;p8"/>
          <p:cNvGrpSpPr/>
          <p:nvPr/>
        </p:nvGrpSpPr>
        <p:grpSpPr>
          <a:xfrm>
            <a:off x="2876759" y="3709987"/>
            <a:ext cx="4565650" cy="446088"/>
            <a:chOff x="192" y="1894"/>
            <a:chExt cx="2876" cy="281"/>
          </a:xfrm>
        </p:grpSpPr>
        <p:sp>
          <p:nvSpPr>
            <p:cNvPr id="261" name="Google Shape;261;p8"/>
            <p:cNvSpPr/>
            <p:nvPr/>
          </p:nvSpPr>
          <p:spPr>
            <a:xfrm>
              <a:off x="192" y="1894"/>
              <a:ext cx="2876" cy="281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 panose="020B0604020202090204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cxnSp>
          <p:nvCxnSpPr>
            <p:cNvPr id="262" name="Google Shape;262;p8"/>
            <p:cNvCxnSpPr/>
            <p:nvPr/>
          </p:nvCxnSpPr>
          <p:spPr>
            <a:xfrm>
              <a:off x="1700" y="1896"/>
              <a:ext cx="0" cy="276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3" name="Google Shape;263;p8"/>
            <p:cNvCxnSpPr/>
            <p:nvPr/>
          </p:nvCxnSpPr>
          <p:spPr>
            <a:xfrm>
              <a:off x="1832" y="1896"/>
              <a:ext cx="0" cy="276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4" name="Google Shape;264;p8"/>
            <p:cNvCxnSpPr/>
            <p:nvPr/>
          </p:nvCxnSpPr>
          <p:spPr>
            <a:xfrm>
              <a:off x="2528" y="1896"/>
              <a:ext cx="0" cy="276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5" name="Google Shape;265;p8"/>
            <p:cNvCxnSpPr/>
            <p:nvPr/>
          </p:nvCxnSpPr>
          <p:spPr>
            <a:xfrm>
              <a:off x="2804" y="1896"/>
              <a:ext cx="0" cy="276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6" name="Google Shape;266;p8"/>
            <p:cNvSpPr txBox="1"/>
            <p:nvPr/>
          </p:nvSpPr>
          <p:spPr>
            <a:xfrm>
              <a:off x="2538" y="1907"/>
              <a:ext cx="254" cy="2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3429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90204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cr</a:t>
              </a:r>
              <a:endParaRPr lang="en-US"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67" name="Google Shape;267;p8"/>
            <p:cNvSpPr txBox="1"/>
            <p:nvPr/>
          </p:nvSpPr>
          <p:spPr>
            <a:xfrm>
              <a:off x="2834" y="1914"/>
              <a:ext cx="196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3429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90204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lf</a:t>
              </a:r>
              <a:endParaRPr lang="en-US"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68" name="Google Shape;268;p8"/>
            <p:cNvSpPr txBox="1"/>
            <p:nvPr/>
          </p:nvSpPr>
          <p:spPr>
            <a:xfrm>
              <a:off x="1922" y="1895"/>
              <a:ext cx="499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3429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Arial" panose="020B0604020202090204"/>
                <a:buNone/>
              </a:pPr>
              <a:r>
                <a:rPr lang="en-US" sz="2000" b="0" i="0" u="none" strike="noStrike" cap="none">
                  <a:solidFill>
                    <a:srgbClr val="000099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value</a:t>
              </a:r>
              <a:endParaRPr lang="en-US" sz="2000" b="0" i="0" u="none" strike="noStrike" cap="none">
                <a:solidFill>
                  <a:srgbClr val="00009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69" name="Google Shape;269;p8"/>
            <p:cNvSpPr txBox="1"/>
            <p:nvPr/>
          </p:nvSpPr>
          <p:spPr>
            <a:xfrm>
              <a:off x="246" y="1903"/>
              <a:ext cx="1396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3429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Arial" panose="020B0604020202090204"/>
                <a:buNone/>
              </a:pPr>
              <a:r>
                <a:rPr lang="en-US" sz="2000" b="0" i="0" u="none" strike="noStrike" cap="none">
                  <a:solidFill>
                    <a:srgbClr val="000099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header field name</a:t>
              </a:r>
              <a:endParaRPr lang="en-US" sz="2000" b="0" i="0" u="none" strike="noStrike" cap="none">
                <a:solidFill>
                  <a:srgbClr val="00009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cxnSp>
        <p:nvCxnSpPr>
          <p:cNvPr id="270" name="Google Shape;270;p8"/>
          <p:cNvCxnSpPr/>
          <p:nvPr/>
        </p:nvCxnSpPr>
        <p:spPr>
          <a:xfrm>
            <a:off x="2879934" y="2681287"/>
            <a:ext cx="0" cy="1041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71" name="Google Shape;271;p8"/>
          <p:cNvGrpSpPr/>
          <p:nvPr/>
        </p:nvGrpSpPr>
        <p:grpSpPr>
          <a:xfrm>
            <a:off x="2711659" y="2905125"/>
            <a:ext cx="331788" cy="461962"/>
            <a:chOff x="462" y="1727"/>
            <a:chExt cx="209" cy="291"/>
          </a:xfrm>
        </p:grpSpPr>
        <p:sp>
          <p:nvSpPr>
            <p:cNvPr id="272" name="Google Shape;272;p8"/>
            <p:cNvSpPr/>
            <p:nvPr/>
          </p:nvSpPr>
          <p:spPr>
            <a:xfrm>
              <a:off x="534" y="1854"/>
              <a:ext cx="56" cy="5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 panose="020B0604020202090204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73" name="Google Shape;273;p8"/>
            <p:cNvSpPr txBox="1"/>
            <p:nvPr/>
          </p:nvSpPr>
          <p:spPr>
            <a:xfrm>
              <a:off x="462" y="1727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3429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90204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~</a:t>
              </a:r>
              <a:endParaRPr lang="en-US"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74" name="Google Shape;274;p8"/>
            <p:cNvSpPr txBox="1"/>
            <p:nvPr/>
          </p:nvSpPr>
          <p:spPr>
            <a:xfrm>
              <a:off x="462" y="1768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3429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90204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~</a:t>
              </a:r>
              <a:endParaRPr lang="en-US"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cxnSp>
        <p:nvCxnSpPr>
          <p:cNvPr id="275" name="Google Shape;275;p8"/>
          <p:cNvCxnSpPr/>
          <p:nvPr/>
        </p:nvCxnSpPr>
        <p:spPr>
          <a:xfrm>
            <a:off x="7443997" y="2668587"/>
            <a:ext cx="0" cy="1041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76" name="Google Shape;276;p8"/>
          <p:cNvGrpSpPr/>
          <p:nvPr/>
        </p:nvGrpSpPr>
        <p:grpSpPr>
          <a:xfrm>
            <a:off x="7275722" y="2892425"/>
            <a:ext cx="331787" cy="461962"/>
            <a:chOff x="462" y="1727"/>
            <a:chExt cx="209" cy="291"/>
          </a:xfrm>
        </p:grpSpPr>
        <p:sp>
          <p:nvSpPr>
            <p:cNvPr id="277" name="Google Shape;277;p8"/>
            <p:cNvSpPr/>
            <p:nvPr/>
          </p:nvSpPr>
          <p:spPr>
            <a:xfrm>
              <a:off x="534" y="1854"/>
              <a:ext cx="56" cy="5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 panose="020B0604020202090204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78" name="Google Shape;278;p8"/>
            <p:cNvSpPr txBox="1"/>
            <p:nvPr/>
          </p:nvSpPr>
          <p:spPr>
            <a:xfrm>
              <a:off x="462" y="1727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3429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90204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~</a:t>
              </a:r>
              <a:endParaRPr lang="en-US"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79" name="Google Shape;279;p8"/>
            <p:cNvSpPr txBox="1"/>
            <p:nvPr/>
          </p:nvSpPr>
          <p:spPr>
            <a:xfrm>
              <a:off x="462" y="1768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3429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90204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~</a:t>
              </a:r>
              <a:endParaRPr lang="en-US"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grpSp>
        <p:nvGrpSpPr>
          <p:cNvPr id="280" name="Google Shape;280;p8"/>
          <p:cNvGrpSpPr/>
          <p:nvPr/>
        </p:nvGrpSpPr>
        <p:grpSpPr>
          <a:xfrm>
            <a:off x="2875172" y="4156075"/>
            <a:ext cx="963612" cy="446087"/>
            <a:chOff x="3105" y="2650"/>
            <a:chExt cx="607" cy="281"/>
          </a:xfrm>
        </p:grpSpPr>
        <p:sp>
          <p:nvSpPr>
            <p:cNvPr id="281" name="Google Shape;281;p8"/>
            <p:cNvSpPr/>
            <p:nvPr/>
          </p:nvSpPr>
          <p:spPr>
            <a:xfrm>
              <a:off x="3105" y="2650"/>
              <a:ext cx="607" cy="281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 panose="020B0604020202090204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cxnSp>
          <p:nvCxnSpPr>
            <p:cNvPr id="282" name="Google Shape;282;p8"/>
            <p:cNvCxnSpPr/>
            <p:nvPr/>
          </p:nvCxnSpPr>
          <p:spPr>
            <a:xfrm>
              <a:off x="3406" y="2652"/>
              <a:ext cx="0" cy="276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83" name="Google Shape;283;p8"/>
            <p:cNvSpPr txBox="1"/>
            <p:nvPr/>
          </p:nvSpPr>
          <p:spPr>
            <a:xfrm>
              <a:off x="3140" y="2663"/>
              <a:ext cx="254" cy="2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3429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90204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cr</a:t>
              </a:r>
              <a:endParaRPr lang="en-US"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84" name="Google Shape;284;p8"/>
            <p:cNvSpPr txBox="1"/>
            <p:nvPr/>
          </p:nvSpPr>
          <p:spPr>
            <a:xfrm>
              <a:off x="3436" y="2670"/>
              <a:ext cx="196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3429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90204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lf</a:t>
              </a:r>
              <a:endParaRPr lang="en-US"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sp>
        <p:nvSpPr>
          <p:cNvPr id="285" name="Google Shape;285;p8"/>
          <p:cNvSpPr/>
          <p:nvPr/>
        </p:nvSpPr>
        <p:spPr>
          <a:xfrm>
            <a:off x="2875172" y="4603750"/>
            <a:ext cx="5170487" cy="1120775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None/>
            </a:pPr>
            <a:endParaRPr sz="20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86" name="Google Shape;286;p8"/>
          <p:cNvSpPr txBox="1"/>
          <p:nvPr/>
        </p:nvSpPr>
        <p:spPr>
          <a:xfrm>
            <a:off x="4811922" y="4927600"/>
            <a:ext cx="1411287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Arial" panose="020B0604020202090204"/>
              <a:buNone/>
            </a:pPr>
            <a:r>
              <a:rPr lang="en-US" sz="2000" b="0" i="0" u="none" strike="noStrike" cap="none">
                <a:solidFill>
                  <a:srgbClr val="00009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entity body</a:t>
            </a:r>
            <a:endParaRPr lang="en-US" sz="2000" b="0" i="0" u="none" strike="noStrike" cap="none">
              <a:solidFill>
                <a:srgbClr val="000099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grpSp>
        <p:nvGrpSpPr>
          <p:cNvPr id="287" name="Google Shape;287;p8"/>
          <p:cNvGrpSpPr/>
          <p:nvPr/>
        </p:nvGrpSpPr>
        <p:grpSpPr>
          <a:xfrm>
            <a:off x="2711659" y="4941887"/>
            <a:ext cx="331788" cy="461963"/>
            <a:chOff x="462" y="1727"/>
            <a:chExt cx="209" cy="291"/>
          </a:xfrm>
        </p:grpSpPr>
        <p:sp>
          <p:nvSpPr>
            <p:cNvPr id="288" name="Google Shape;288;p8"/>
            <p:cNvSpPr/>
            <p:nvPr/>
          </p:nvSpPr>
          <p:spPr>
            <a:xfrm>
              <a:off x="534" y="1854"/>
              <a:ext cx="56" cy="5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 panose="020B0604020202090204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89" name="Google Shape;289;p8"/>
            <p:cNvSpPr txBox="1"/>
            <p:nvPr/>
          </p:nvSpPr>
          <p:spPr>
            <a:xfrm>
              <a:off x="462" y="1727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3429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90204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~</a:t>
              </a:r>
              <a:endParaRPr lang="en-US"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90" name="Google Shape;290;p8"/>
            <p:cNvSpPr txBox="1"/>
            <p:nvPr/>
          </p:nvSpPr>
          <p:spPr>
            <a:xfrm>
              <a:off x="462" y="1768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3429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90204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~</a:t>
              </a:r>
              <a:endParaRPr lang="en-US"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grpSp>
        <p:nvGrpSpPr>
          <p:cNvPr id="291" name="Google Shape;291;p8"/>
          <p:cNvGrpSpPr/>
          <p:nvPr/>
        </p:nvGrpSpPr>
        <p:grpSpPr>
          <a:xfrm>
            <a:off x="7871034" y="4932362"/>
            <a:ext cx="331788" cy="461963"/>
            <a:chOff x="462" y="1727"/>
            <a:chExt cx="209" cy="291"/>
          </a:xfrm>
        </p:grpSpPr>
        <p:sp>
          <p:nvSpPr>
            <p:cNvPr id="292" name="Google Shape;292;p8"/>
            <p:cNvSpPr/>
            <p:nvPr/>
          </p:nvSpPr>
          <p:spPr>
            <a:xfrm>
              <a:off x="534" y="1854"/>
              <a:ext cx="56" cy="5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 panose="020B0604020202090204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93" name="Google Shape;293;p8"/>
            <p:cNvSpPr txBox="1"/>
            <p:nvPr/>
          </p:nvSpPr>
          <p:spPr>
            <a:xfrm>
              <a:off x="462" y="1727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3429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90204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~</a:t>
              </a:r>
              <a:endParaRPr lang="en-US"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294" name="Google Shape;294;p8"/>
            <p:cNvSpPr txBox="1"/>
            <p:nvPr/>
          </p:nvSpPr>
          <p:spPr>
            <a:xfrm>
              <a:off x="462" y="1768"/>
              <a:ext cx="209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3429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90204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~</a:t>
              </a:r>
              <a:endParaRPr lang="en-US"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sp>
        <p:nvSpPr>
          <p:cNvPr id="295" name="Google Shape;295;p8"/>
          <p:cNvSpPr txBox="1"/>
          <p:nvPr>
            <p:ph type="sldNum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Application Layer: 2-</a:t>
            </a:r>
            <a:fld id="{00000000-1234-1234-1234-123412341234}" type="slidenum">
              <a:rPr lang="en-US"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100" b="0" i="0" u="none" strike="noStrike" cap="non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9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Other HTTP request </a:t>
            </a:r>
            <a:r>
              <a:rPr lang="en-US"/>
              <a:t>m</a:t>
            </a:r>
            <a:r>
              <a:rPr lang="en-US" sz="4400"/>
              <a:t>essages</a:t>
            </a:r>
            <a:endParaRPr sz="4400"/>
          </a:p>
        </p:txBody>
      </p:sp>
      <p:sp>
        <p:nvSpPr>
          <p:cNvPr id="302" name="Google Shape;302;p9"/>
          <p:cNvSpPr txBox="1"/>
          <p:nvPr/>
        </p:nvSpPr>
        <p:spPr>
          <a:xfrm>
            <a:off x="685573" y="1727394"/>
            <a:ext cx="4684713" cy="1701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4605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 b="0" i="0" u="sng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POST method:</a:t>
            </a:r>
            <a:endParaRPr lang="en-US" sz="2800" b="0" i="0" u="sng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3680" marR="0" lvl="0" indent="-2336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page often includes form input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3680" marR="0" lvl="0" indent="-2336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input sent from client to server in entity body of HTTP POST request message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 txBox="1"/>
          <p:nvPr/>
        </p:nvSpPr>
        <p:spPr>
          <a:xfrm>
            <a:off x="685573" y="4221219"/>
            <a:ext cx="5541055" cy="1701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4605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 b="0" i="0" u="sng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GET method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(for sending data to server):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3680" marR="0" lvl="0" indent="-23368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include user data in URL field of HTTP GET request message (following a ‘?’):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 txBox="1"/>
          <p:nvPr/>
        </p:nvSpPr>
        <p:spPr>
          <a:xfrm>
            <a:off x="798692" y="6093153"/>
            <a:ext cx="6280150" cy="36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 panose="02070409020205090404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www.somesite.com/animalsearch?monkeys&amp;banana</a:t>
            </a:r>
            <a:endParaRPr lang="en-US" sz="1800" b="1" i="0" u="none" strike="noStrike" cap="none">
              <a:solidFill>
                <a:srgbClr val="000000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</p:txBody>
      </p:sp>
      <p:sp>
        <p:nvSpPr>
          <p:cNvPr id="305" name="Google Shape;305;p9"/>
          <p:cNvSpPr txBox="1"/>
          <p:nvPr/>
        </p:nvSpPr>
        <p:spPr>
          <a:xfrm>
            <a:off x="6991758" y="1752600"/>
            <a:ext cx="4684713" cy="1701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4605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 b="0" i="0" u="sng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HEAD method:</a:t>
            </a:r>
            <a:endParaRPr lang="en-US" sz="2800" b="0" i="0" u="sng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3680" marR="0" lvl="0" indent="-2336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requests headers (only) that would be returned</a:t>
            </a:r>
            <a:r>
              <a:rPr lang="en-US" sz="2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if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specified URL were requested  with an HTTP GET method. 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 txBox="1"/>
          <p:nvPr/>
        </p:nvSpPr>
        <p:spPr>
          <a:xfrm>
            <a:off x="6993371" y="3839527"/>
            <a:ext cx="4684713" cy="1701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4605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 b="0" i="0" u="sng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PUT method:</a:t>
            </a:r>
            <a:endParaRPr lang="en-US" sz="2800" b="0" i="0" u="sng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3680" marR="0" lvl="0" indent="-2336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uploads new file (object) to server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3680" marR="0" lvl="0" indent="-2336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completely replaces file that exists at specified URL with content in entity body of POST HTTP request message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 txBox="1"/>
          <p:nvPr>
            <p:ph type="sldNum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Application Layer: 2-</a:t>
            </a:r>
            <a:fld id="{00000000-1234-1234-1234-123412341234}" type="slidenum">
              <a:rPr lang="en-US"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100" b="0" i="0" u="none" strike="noStrike" cap="non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0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HTTP response </a:t>
            </a:r>
            <a:r>
              <a:rPr lang="en-US"/>
              <a:t>m</a:t>
            </a:r>
            <a:r>
              <a:rPr lang="en-US" sz="4400"/>
              <a:t>essage</a:t>
            </a:r>
            <a:endParaRPr sz="4400"/>
          </a:p>
        </p:txBody>
      </p:sp>
      <p:sp>
        <p:nvSpPr>
          <p:cNvPr id="314" name="Google Shape;314;p10"/>
          <p:cNvSpPr txBox="1"/>
          <p:nvPr/>
        </p:nvSpPr>
        <p:spPr>
          <a:xfrm>
            <a:off x="889630" y="1555730"/>
            <a:ext cx="405611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status line (protocol</a:t>
            </a:r>
            <a:endParaRPr lang="en-US" sz="2400" b="0" i="0" u="none" strike="noStrike" cap="none">
              <a:solidFill>
                <a:srgbClr val="0000A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status code status phrase)</a:t>
            </a:r>
            <a:endParaRPr sz="2800" b="0" i="0" u="none" strike="noStrike" cap="none">
              <a:solidFill>
                <a:srgbClr val="0000A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 txBox="1"/>
          <p:nvPr/>
        </p:nvSpPr>
        <p:spPr>
          <a:xfrm>
            <a:off x="3979618" y="2984961"/>
            <a:ext cx="1071127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header</a:t>
            </a:r>
            <a:endParaRPr lang="en-US" sz="2400" b="0" i="0" u="none" strike="noStrike" cap="none">
              <a:solidFill>
                <a:srgbClr val="0000A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 lines</a:t>
            </a:r>
            <a:endParaRPr sz="2800" b="0" i="0" u="none" strike="noStrike" cap="none">
              <a:solidFill>
                <a:srgbClr val="0000A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 txBox="1"/>
          <p:nvPr/>
        </p:nvSpPr>
        <p:spPr>
          <a:xfrm>
            <a:off x="828397" y="4607159"/>
            <a:ext cx="360288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data, e.g.,  requested</a:t>
            </a:r>
            <a:endParaRPr lang="en-US" sz="2400" b="0" i="0" u="none" strike="noStrike" cap="none">
              <a:solidFill>
                <a:srgbClr val="0000A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HTML file</a:t>
            </a:r>
            <a:endParaRPr sz="2800" b="0" i="0" u="none" strike="noStrike" cap="none">
              <a:solidFill>
                <a:srgbClr val="0000A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5131481" y="1710879"/>
            <a:ext cx="6311900" cy="349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HTTP/1.1 200 OK</a:t>
            </a:r>
            <a:endParaRPr lang="en-US" sz="1800" b="1" i="0" u="none" strike="noStrike" cap="non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Date: Tue, 08 Sep 2020 00:53:20 GMT</a:t>
            </a:r>
            <a:endParaRPr lang="en-US" sz="1800" b="1" i="0" u="none" strike="noStrike" cap="non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Server: Apache/2.4.6 (CentOS) OpenSSL/1.0.2k-fips PHP/7.4.9 mod_perl/2.0.11 Perl/v5.16.3</a:t>
            </a:r>
            <a:endParaRPr lang="en-US" sz="1800" b="1" i="0" u="none" strike="noStrike" cap="non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Last-Modified: Tue, 01 Mar 2016 18:57:50 GMT</a:t>
            </a:r>
            <a:endParaRPr lang="en-US" sz="1800" b="1" i="0" u="none" strike="noStrike" cap="non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ETag: "a5b-52d015789ee9e"</a:t>
            </a:r>
            <a:endParaRPr lang="en-US" sz="1800" b="1" i="0" u="none" strike="noStrike" cap="non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Accept-Ranges: bytes</a:t>
            </a:r>
            <a:endParaRPr lang="en-US" sz="1800" b="1" i="0" u="none" strike="noStrike" cap="non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Content-Length: 2651</a:t>
            </a:r>
            <a:endParaRPr lang="en-US" sz="1800" b="1" i="0" u="none" strike="noStrike" cap="non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Content-Type: text/html; charset=UTF-8</a:t>
            </a:r>
            <a:endParaRPr lang="en-US" sz="1800" b="1" i="0" u="none" strike="noStrike" cap="non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 panose="02070409020205090404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\r\n</a:t>
            </a:r>
            <a:endParaRPr lang="en-US" sz="1800" b="1" i="0" u="none" strike="noStrike" cap="none">
              <a:solidFill>
                <a:srgbClr val="000000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 panose="02070409020205090404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data data data data data ... </a:t>
            </a:r>
            <a:endParaRPr sz="1800" b="1" i="0" u="none" strike="noStrike" cap="none">
              <a:solidFill>
                <a:srgbClr val="000000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</p:txBody>
      </p:sp>
      <p:cxnSp>
        <p:nvCxnSpPr>
          <p:cNvPr id="318" name="Google Shape;318;p10"/>
          <p:cNvCxnSpPr/>
          <p:nvPr/>
        </p:nvCxnSpPr>
        <p:spPr>
          <a:xfrm>
            <a:off x="3593872" y="1845820"/>
            <a:ext cx="1436915" cy="0"/>
          </a:xfrm>
          <a:prstGeom prst="straightConnector1">
            <a:avLst/>
          </a:prstGeom>
          <a:noFill/>
          <a:ln w="19050" cap="flat" cmpd="sng">
            <a:solidFill>
              <a:srgbClr val="0000A8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19" name="Google Shape;319;p10"/>
          <p:cNvCxnSpPr/>
          <p:nvPr/>
        </p:nvCxnSpPr>
        <p:spPr>
          <a:xfrm>
            <a:off x="3642857" y="4850277"/>
            <a:ext cx="1436915" cy="0"/>
          </a:xfrm>
          <a:prstGeom prst="straightConnector1">
            <a:avLst/>
          </a:prstGeom>
          <a:noFill/>
          <a:ln w="19050" cap="flat" cmpd="sng">
            <a:solidFill>
              <a:srgbClr val="0000A8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20" name="Google Shape;320;p10"/>
          <p:cNvSpPr txBox="1"/>
          <p:nvPr/>
        </p:nvSpPr>
        <p:spPr>
          <a:xfrm>
            <a:off x="889630" y="6155251"/>
            <a:ext cx="952137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* Check out the online interactive exercises for more examples: h</a:t>
            </a:r>
            <a:r>
              <a:rPr lang="en-US"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ttp://gaia.cs.umass.edu/kurose_ross/interactive/</a:t>
            </a:r>
            <a:endParaRPr lang="en-US" sz="12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506185" y="4724398"/>
            <a:ext cx="10733315" cy="189411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4963885" y="2057400"/>
            <a:ext cx="261258" cy="2694214"/>
          </a:xfrm>
          <a:prstGeom prst="leftBrace">
            <a:avLst>
              <a:gd name="adj1" fmla="val 8333"/>
              <a:gd name="adj2" fmla="val 50000"/>
            </a:avLst>
          </a:prstGeom>
          <a:noFill/>
          <a:ln w="22225" cap="flat" cmpd="sng">
            <a:solidFill>
              <a:srgbClr val="0000A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4359729" y="2041072"/>
            <a:ext cx="7151914" cy="298268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3858986" y="2939143"/>
            <a:ext cx="7151914" cy="135527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0"/>
          <p:cNvSpPr txBox="1"/>
          <p:nvPr>
            <p:ph type="sldNum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Application Layer: 2-</a:t>
            </a:r>
            <a:fld id="{00000000-1234-1234-1234-123412341234}" type="slidenum">
              <a:rPr lang="en-US"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100" b="0" i="0" u="none" strike="noStrike" cap="non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1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HTTP connections: two types</a:t>
            </a:r>
            <a:endParaRPr sz="4400"/>
          </a:p>
        </p:txBody>
      </p:sp>
      <p:sp>
        <p:nvSpPr>
          <p:cNvPr id="332" name="Google Shape;332;p11"/>
          <p:cNvSpPr txBox="1"/>
          <p:nvPr/>
        </p:nvSpPr>
        <p:spPr>
          <a:xfrm>
            <a:off x="798690" y="1543086"/>
            <a:ext cx="5039401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52425" marR="0" lvl="0" indent="-222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 b="0" i="1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Non-persistent HTTP</a:t>
            </a:r>
            <a:endParaRPr lang="en-US" sz="3200" b="0" i="1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44525" marR="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Calibri"/>
              <a:buAutoNum type="arabicPeriod"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connection opened</a:t>
            </a:r>
            <a:endParaRPr lang="en-US"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44525" marR="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Calibri"/>
              <a:buAutoNum type="arabicPeriod"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most one object sent over TCP connection</a:t>
            </a:r>
            <a:endParaRPr lang="en-US"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44525" marR="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Calibri"/>
              <a:buAutoNum type="arabicPeriod"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connection closed</a:t>
            </a:r>
            <a:endParaRPr lang="en-US"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0175" marR="0" lvl="0" indent="0" algn="l" rtl="0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downloading multiple objects required multiple connections</a:t>
            </a:r>
            <a:endParaRPr lang="en-US"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0" indent="-2222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 txBox="1"/>
          <p:nvPr/>
        </p:nvSpPr>
        <p:spPr>
          <a:xfrm>
            <a:off x="6781215" y="1543086"/>
            <a:ext cx="5039401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52425" marR="0" lvl="0" indent="-222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 b="0" i="1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Persistent HTTP</a:t>
            </a:r>
            <a:endParaRPr lang="en-US" sz="3200" b="0" i="1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0" indent="-2222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connection opened to a server</a:t>
            </a:r>
            <a:endParaRPr lang="en-US"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0" indent="-2222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multiple objects can be sent over </a:t>
            </a:r>
            <a:r>
              <a:rPr lang="en-US" sz="32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single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TCP connection between client, and that server</a:t>
            </a:r>
            <a:endParaRPr lang="en-US"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0" indent="-2222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connection closed</a:t>
            </a:r>
            <a:endParaRPr lang="en-US"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0" indent="-19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0" indent="-2222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 txBox="1"/>
          <p:nvPr>
            <p:ph type="sldNum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Application Layer: 2-</a:t>
            </a:r>
            <a:fld id="{00000000-1234-1234-1234-123412341234}" type="slidenum">
              <a:rPr lang="en-US"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100" b="0" i="0" u="none" strike="noStrike" cap="non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2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Non-persistent HTTP: example</a:t>
            </a:r>
            <a:endParaRPr sz="4400"/>
          </a:p>
        </p:txBody>
      </p:sp>
      <p:cxnSp>
        <p:nvCxnSpPr>
          <p:cNvPr id="341" name="Google Shape;341;p12"/>
          <p:cNvCxnSpPr/>
          <p:nvPr/>
        </p:nvCxnSpPr>
        <p:spPr>
          <a:xfrm>
            <a:off x="798691" y="2868166"/>
            <a:ext cx="10658" cy="3480471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2" name="Google Shape;342;p12"/>
          <p:cNvSpPr/>
          <p:nvPr/>
        </p:nvSpPr>
        <p:spPr>
          <a:xfrm>
            <a:off x="490358" y="5641558"/>
            <a:ext cx="657225" cy="2952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 txBox="1"/>
          <p:nvPr/>
        </p:nvSpPr>
        <p:spPr>
          <a:xfrm>
            <a:off x="809349" y="1351435"/>
            <a:ext cx="7942262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52425" marR="0" lvl="0" indent="-222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enters URL: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 txBox="1"/>
          <p:nvPr/>
        </p:nvSpPr>
        <p:spPr>
          <a:xfrm>
            <a:off x="944384" y="2447251"/>
            <a:ext cx="4850242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52425" marR="0" lvl="0" indent="-222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1a</a:t>
            </a: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HTTP client initiates TCP connection to HTTP server (process) at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www.someSchool.edu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 port 80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1172983" y="4077834"/>
            <a:ext cx="4216535" cy="107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HTTP client sends HTTP </a:t>
            </a:r>
            <a:r>
              <a:rPr lang="en-US" sz="2400" b="0" i="1" u="none" strike="noStrike" cap="non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request message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(containing URL) into TCP connection socket. Message indicates that client wants object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someDepartment/home.index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2"/>
          <p:cNvSpPr/>
          <p:nvPr/>
        </p:nvSpPr>
        <p:spPr>
          <a:xfrm>
            <a:off x="6717018" y="2733157"/>
            <a:ext cx="5389528" cy="150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1b</a:t>
            </a:r>
            <a:r>
              <a:rPr lang="en-US"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HTTP server at host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www.someSchool.edu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waiting for TCP connection at port 80  “accepts” connection, notifying client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6843976" y="4739906"/>
            <a:ext cx="5394870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20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 server receives request message, forms </a:t>
            </a:r>
            <a:r>
              <a:rPr lang="en-US" sz="2400" b="0" i="1" u="none" strike="noStrike" cap="non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response message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containing requested object, and sends message into its socket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8" name="Google Shape;348;p12"/>
          <p:cNvCxnSpPr/>
          <p:nvPr/>
        </p:nvCxnSpPr>
        <p:spPr>
          <a:xfrm>
            <a:off x="5102530" y="4961816"/>
            <a:ext cx="1800180" cy="601955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9" name="Google Shape;349;p12"/>
          <p:cNvCxnSpPr/>
          <p:nvPr/>
        </p:nvCxnSpPr>
        <p:spPr>
          <a:xfrm flipH="1">
            <a:off x="5389517" y="5671992"/>
            <a:ext cx="1410287" cy="891868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0" name="Google Shape;350;p12"/>
          <p:cNvSpPr txBox="1"/>
          <p:nvPr/>
        </p:nvSpPr>
        <p:spPr>
          <a:xfrm>
            <a:off x="499883" y="5563771"/>
            <a:ext cx="673100" cy="4064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lang="en-US" sz="2000" b="0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1" name="Google Shape;351;p12"/>
          <p:cNvCxnSpPr/>
          <p:nvPr/>
        </p:nvCxnSpPr>
        <p:spPr>
          <a:xfrm>
            <a:off x="5156851" y="2779258"/>
            <a:ext cx="1551025" cy="523875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2" name="Google Shape;352;p12"/>
          <p:cNvCxnSpPr/>
          <p:nvPr/>
        </p:nvCxnSpPr>
        <p:spPr>
          <a:xfrm flipH="1">
            <a:off x="5102530" y="3366635"/>
            <a:ext cx="1551026" cy="1006986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3" name="Google Shape;353;p12"/>
          <p:cNvSpPr txBox="1"/>
          <p:nvPr/>
        </p:nvSpPr>
        <p:spPr>
          <a:xfrm>
            <a:off x="4677390" y="1660654"/>
            <a:ext cx="637840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(containing text, references to 10 jpeg images)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3508021" y="1414937"/>
            <a:ext cx="7942263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300"/>
              <a:buFont typeface="Noto Sans Symbols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www.someSchool.edu/someDepartment/home.index</a:t>
            </a:r>
            <a:endParaRPr lang="en-US" sz="2000" b="1" i="0" u="none" strike="noStrike" cap="none">
              <a:solidFill>
                <a:srgbClr val="000000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</p:txBody>
      </p:sp>
      <p:grpSp>
        <p:nvGrpSpPr>
          <p:cNvPr id="355" name="Google Shape;355;p12"/>
          <p:cNvGrpSpPr/>
          <p:nvPr/>
        </p:nvGrpSpPr>
        <p:grpSpPr>
          <a:xfrm>
            <a:off x="371687" y="2060763"/>
            <a:ext cx="784845" cy="730423"/>
            <a:chOff x="-44" y="1473"/>
            <a:chExt cx="981" cy="1105"/>
          </a:xfrm>
        </p:grpSpPr>
        <p:pic>
          <p:nvPicPr>
            <p:cNvPr id="356" name="Google Shape;356;p12" descr="desktop_computer_stylized_medium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7" name="Google Shape;357;p12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 panose="020B0604020202090204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grpSp>
        <p:nvGrpSpPr>
          <p:cNvPr id="358" name="Google Shape;358;p12"/>
          <p:cNvGrpSpPr/>
          <p:nvPr/>
        </p:nvGrpSpPr>
        <p:grpSpPr>
          <a:xfrm>
            <a:off x="6367322" y="2347016"/>
            <a:ext cx="286234" cy="640019"/>
            <a:chOff x="4140" y="429"/>
            <a:chExt cx="1425" cy="2396"/>
          </a:xfrm>
        </p:grpSpPr>
        <p:sp>
          <p:nvSpPr>
            <p:cNvPr id="359" name="Google Shape;359;p12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 panose="020B0604020202090204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360" name="Google Shape;360;p12"/>
            <p:cNvSpPr/>
            <p:nvPr/>
          </p:nvSpPr>
          <p:spPr>
            <a:xfrm>
              <a:off x="4205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 panose="020B0604020202090204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361" name="Google Shape;361;p12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 panose="020B0604020202090204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362" name="Google Shape;362;p12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 panose="020B0604020202090204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363" name="Google Shape;363;p12"/>
            <p:cNvSpPr/>
            <p:nvPr/>
          </p:nvSpPr>
          <p:spPr>
            <a:xfrm>
              <a:off x="4212" y="693"/>
              <a:ext cx="595" cy="47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 panose="020B0604020202090204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grpSp>
          <p:nvGrpSpPr>
            <p:cNvPr id="364" name="Google Shape;364;p12"/>
            <p:cNvGrpSpPr/>
            <p:nvPr/>
          </p:nvGrpSpPr>
          <p:grpSpPr>
            <a:xfrm>
              <a:off x="4748" y="669"/>
              <a:ext cx="583" cy="140"/>
              <a:chOff x="613" y="2569"/>
              <a:chExt cx="727" cy="134"/>
            </a:xfrm>
          </p:grpSpPr>
          <p:sp>
            <p:nvSpPr>
              <p:cNvPr id="365" name="Google Shape;365;p12"/>
              <p:cNvSpPr/>
              <p:nvPr/>
            </p:nvSpPr>
            <p:spPr>
              <a:xfrm>
                <a:off x="613" y="2569"/>
                <a:ext cx="727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 panose="020B0604020202090204"/>
                  <a:buNone/>
                </a:pPr>
                <a:endParaRPr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366" name="Google Shape;366;p12"/>
              <p:cNvSpPr/>
              <p:nvPr/>
            </p:nvSpPr>
            <p:spPr>
              <a:xfrm>
                <a:off x="629" y="2586"/>
                <a:ext cx="694" cy="9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 panose="020B0604020202090204"/>
                  <a:buNone/>
                </a:pPr>
                <a:endParaRPr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sp>
          <p:nvSpPr>
            <p:cNvPr id="367" name="Google Shape;367;p12"/>
            <p:cNvSpPr/>
            <p:nvPr/>
          </p:nvSpPr>
          <p:spPr>
            <a:xfrm>
              <a:off x="4225" y="1019"/>
              <a:ext cx="595" cy="47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 panose="020B0604020202090204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grpSp>
          <p:nvGrpSpPr>
            <p:cNvPr id="368" name="Google Shape;368;p12"/>
            <p:cNvGrpSpPr/>
            <p:nvPr/>
          </p:nvGrpSpPr>
          <p:grpSpPr>
            <a:xfrm>
              <a:off x="4749" y="995"/>
              <a:ext cx="579" cy="133"/>
              <a:chOff x="616" y="2569"/>
              <a:chExt cx="723" cy="138"/>
            </a:xfrm>
          </p:grpSpPr>
          <p:sp>
            <p:nvSpPr>
              <p:cNvPr id="369" name="Google Shape;369;p12"/>
              <p:cNvSpPr/>
              <p:nvPr/>
            </p:nvSpPr>
            <p:spPr>
              <a:xfrm>
                <a:off x="616" y="2569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 panose="020B0604020202090204"/>
                  <a:buNone/>
                </a:pPr>
                <a:endParaRPr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370" name="Google Shape;370;p12"/>
              <p:cNvSpPr/>
              <p:nvPr/>
            </p:nvSpPr>
            <p:spPr>
              <a:xfrm>
                <a:off x="632" y="2588"/>
                <a:ext cx="690" cy="10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 panose="020B0604020202090204"/>
                  <a:buNone/>
                </a:pPr>
                <a:endParaRPr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sp>
          <p:nvSpPr>
            <p:cNvPr id="371" name="Google Shape;371;p12"/>
            <p:cNvSpPr/>
            <p:nvPr/>
          </p:nvSpPr>
          <p:spPr>
            <a:xfrm>
              <a:off x="4218" y="1357"/>
              <a:ext cx="595" cy="47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 panose="020B0604020202090204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372" name="Google Shape;372;p12"/>
            <p:cNvSpPr/>
            <p:nvPr/>
          </p:nvSpPr>
          <p:spPr>
            <a:xfrm>
              <a:off x="4228" y="1654"/>
              <a:ext cx="595" cy="47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 panose="020B0604020202090204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grpSp>
          <p:nvGrpSpPr>
            <p:cNvPr id="373" name="Google Shape;373;p12"/>
            <p:cNvGrpSpPr/>
            <p:nvPr/>
          </p:nvGrpSpPr>
          <p:grpSpPr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74" name="Google Shape;374;p12"/>
              <p:cNvSpPr/>
              <p:nvPr/>
            </p:nvSpPr>
            <p:spPr>
              <a:xfrm>
                <a:off x="614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 panose="020B0604020202090204"/>
                  <a:buNone/>
                </a:pPr>
                <a:endParaRPr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375" name="Google Shape;375;p12"/>
              <p:cNvSpPr/>
              <p:nvPr/>
            </p:nvSpPr>
            <p:spPr>
              <a:xfrm>
                <a:off x="631" y="2584"/>
                <a:ext cx="693" cy="106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 panose="020B0604020202090204"/>
                  <a:buNone/>
                </a:pPr>
                <a:endParaRPr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sp>
          <p:nvSpPr>
            <p:cNvPr id="376" name="Google Shape;376;p12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 panose="020B0604020202090204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grpSp>
          <p:nvGrpSpPr>
            <p:cNvPr id="377" name="Google Shape;377;p12"/>
            <p:cNvGrpSpPr/>
            <p:nvPr/>
          </p:nvGrpSpPr>
          <p:grpSpPr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78" name="Google Shape;378;p12"/>
              <p:cNvSpPr/>
              <p:nvPr/>
            </p:nvSpPr>
            <p:spPr>
              <a:xfrm>
                <a:off x="614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 panose="020B0604020202090204"/>
                  <a:buNone/>
                </a:pPr>
                <a:endParaRPr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379" name="Google Shape;379;p12"/>
              <p:cNvSpPr/>
              <p:nvPr/>
            </p:nvSpPr>
            <p:spPr>
              <a:xfrm>
                <a:off x="630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 panose="020B0604020202090204"/>
                  <a:buNone/>
                </a:pPr>
                <a:endParaRPr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sp>
          <p:nvSpPr>
            <p:cNvPr id="380" name="Google Shape;380;p12"/>
            <p:cNvSpPr/>
            <p:nvPr/>
          </p:nvSpPr>
          <p:spPr>
            <a:xfrm>
              <a:off x="5249" y="432"/>
              <a:ext cx="68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 panose="020B0604020202090204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381" name="Google Shape;381;p12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 panose="020B0604020202090204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382" name="Google Shape;382;p12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 panose="020B0604020202090204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383" name="Google Shape;383;p12"/>
            <p:cNvSpPr/>
            <p:nvPr/>
          </p:nvSpPr>
          <p:spPr>
            <a:xfrm>
              <a:off x="5516" y="2611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 panose="020B0604020202090204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384" name="Google Shape;384;p12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 panose="020B0604020202090204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385" name="Google Shape;385;p12"/>
            <p:cNvSpPr/>
            <p:nvPr/>
          </p:nvSpPr>
          <p:spPr>
            <a:xfrm>
              <a:off x="4140" y="2677"/>
              <a:ext cx="1201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 panose="020B0604020202090204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386" name="Google Shape;386;p12"/>
            <p:cNvSpPr/>
            <p:nvPr/>
          </p:nvSpPr>
          <p:spPr>
            <a:xfrm>
              <a:off x="4205" y="2712"/>
              <a:ext cx="1070" cy="8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 panose="020B0604020202090204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387" name="Google Shape;387;p12"/>
            <p:cNvSpPr/>
            <p:nvPr/>
          </p:nvSpPr>
          <p:spPr>
            <a:xfrm>
              <a:off x="4309" y="2383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 panose="020B0604020202090204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388" name="Google Shape;388;p12"/>
            <p:cNvSpPr/>
            <p:nvPr/>
          </p:nvSpPr>
          <p:spPr>
            <a:xfrm>
              <a:off x="4485" y="2383"/>
              <a:ext cx="163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rgbClr val="FF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389" name="Google Shape;389;p12"/>
            <p:cNvSpPr/>
            <p:nvPr/>
          </p:nvSpPr>
          <p:spPr>
            <a:xfrm>
              <a:off x="4661" y="2380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 panose="020B0604020202090204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390" name="Google Shape;390;p12"/>
            <p:cNvSpPr/>
            <p:nvPr/>
          </p:nvSpPr>
          <p:spPr>
            <a:xfrm>
              <a:off x="5061" y="1835"/>
              <a:ext cx="88" cy="762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 panose="020B0604020202090204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sp>
        <p:nvSpPr>
          <p:cNvPr id="391" name="Google Shape;391;p12"/>
          <p:cNvSpPr txBox="1"/>
          <p:nvPr>
            <p:ph type="sldNum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Application Layer: 2-</a:t>
            </a:r>
            <a:fld id="{00000000-1234-1234-1234-123412341234}" type="slidenum">
              <a:rPr lang="en-US"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100" b="0" i="0" u="none" strike="noStrike" cap="non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3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Non-persistent HTTP: example (cont.)</a:t>
            </a:r>
            <a:endParaRPr sz="4400"/>
          </a:p>
        </p:txBody>
      </p:sp>
      <p:sp>
        <p:nvSpPr>
          <p:cNvPr id="398" name="Google Shape;398;p13"/>
          <p:cNvSpPr txBox="1"/>
          <p:nvPr/>
        </p:nvSpPr>
        <p:spPr>
          <a:xfrm>
            <a:off x="809349" y="1351435"/>
            <a:ext cx="7942262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52425" marR="0" lvl="0" indent="-222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enters URL: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3"/>
          <p:cNvSpPr txBox="1"/>
          <p:nvPr/>
        </p:nvSpPr>
        <p:spPr>
          <a:xfrm>
            <a:off x="4677390" y="1660654"/>
            <a:ext cx="637840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(containing text, references to 10 jpeg images)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3"/>
          <p:cNvSpPr/>
          <p:nvPr/>
        </p:nvSpPr>
        <p:spPr>
          <a:xfrm>
            <a:off x="3508021" y="1414937"/>
            <a:ext cx="7942263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300"/>
              <a:buFont typeface="Noto Sans Symbols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www.someSchool.edu/someDepartment/home.index</a:t>
            </a:r>
            <a:endParaRPr lang="en-US" sz="2000" b="1" i="0" u="none" strike="noStrike" cap="none">
              <a:solidFill>
                <a:srgbClr val="000000"/>
              </a:solidFill>
              <a:latin typeface="Courier New" panose="02070409020205090404"/>
              <a:ea typeface="Courier New" panose="02070409020205090404"/>
              <a:cs typeface="Courier New" panose="02070409020205090404"/>
              <a:sym typeface="Courier New" panose="02070409020205090404"/>
            </a:endParaRPr>
          </a:p>
        </p:txBody>
      </p:sp>
      <p:grpSp>
        <p:nvGrpSpPr>
          <p:cNvPr id="401" name="Google Shape;401;p13"/>
          <p:cNvGrpSpPr/>
          <p:nvPr/>
        </p:nvGrpSpPr>
        <p:grpSpPr>
          <a:xfrm>
            <a:off x="371687" y="2060763"/>
            <a:ext cx="784845" cy="730423"/>
            <a:chOff x="-44" y="1473"/>
            <a:chExt cx="981" cy="1105"/>
          </a:xfrm>
        </p:grpSpPr>
        <p:pic>
          <p:nvPicPr>
            <p:cNvPr id="402" name="Google Shape;402;p13" descr="desktop_computer_stylized_medium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3" name="Google Shape;403;p13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 panose="020B0604020202090204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grpSp>
        <p:nvGrpSpPr>
          <p:cNvPr id="404" name="Google Shape;404;p13"/>
          <p:cNvGrpSpPr/>
          <p:nvPr/>
        </p:nvGrpSpPr>
        <p:grpSpPr>
          <a:xfrm>
            <a:off x="6367322" y="2347016"/>
            <a:ext cx="286234" cy="640019"/>
            <a:chOff x="4140" y="429"/>
            <a:chExt cx="1425" cy="2396"/>
          </a:xfrm>
        </p:grpSpPr>
        <p:sp>
          <p:nvSpPr>
            <p:cNvPr id="405" name="Google Shape;405;p13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 panose="020B0604020202090204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406" name="Google Shape;406;p13"/>
            <p:cNvSpPr/>
            <p:nvPr/>
          </p:nvSpPr>
          <p:spPr>
            <a:xfrm>
              <a:off x="4205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 panose="020B0604020202090204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407" name="Google Shape;407;p13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 panose="020B0604020202090204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408" name="Google Shape;408;p13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 panose="020B0604020202090204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409" name="Google Shape;409;p13"/>
            <p:cNvSpPr/>
            <p:nvPr/>
          </p:nvSpPr>
          <p:spPr>
            <a:xfrm>
              <a:off x="4212" y="693"/>
              <a:ext cx="595" cy="47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 panose="020B0604020202090204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grpSp>
          <p:nvGrpSpPr>
            <p:cNvPr id="410" name="Google Shape;410;p13"/>
            <p:cNvGrpSpPr/>
            <p:nvPr/>
          </p:nvGrpSpPr>
          <p:grpSpPr>
            <a:xfrm>
              <a:off x="4748" y="669"/>
              <a:ext cx="583" cy="140"/>
              <a:chOff x="613" y="2569"/>
              <a:chExt cx="727" cy="134"/>
            </a:xfrm>
          </p:grpSpPr>
          <p:sp>
            <p:nvSpPr>
              <p:cNvPr id="411" name="Google Shape;411;p13"/>
              <p:cNvSpPr/>
              <p:nvPr/>
            </p:nvSpPr>
            <p:spPr>
              <a:xfrm>
                <a:off x="613" y="2569"/>
                <a:ext cx="727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 panose="020B0604020202090204"/>
                  <a:buNone/>
                </a:pPr>
                <a:endParaRPr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412" name="Google Shape;412;p13"/>
              <p:cNvSpPr/>
              <p:nvPr/>
            </p:nvSpPr>
            <p:spPr>
              <a:xfrm>
                <a:off x="629" y="2586"/>
                <a:ext cx="694" cy="9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 panose="020B0604020202090204"/>
                  <a:buNone/>
                </a:pPr>
                <a:endParaRPr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sp>
          <p:nvSpPr>
            <p:cNvPr id="413" name="Google Shape;413;p13"/>
            <p:cNvSpPr/>
            <p:nvPr/>
          </p:nvSpPr>
          <p:spPr>
            <a:xfrm>
              <a:off x="4225" y="1019"/>
              <a:ext cx="595" cy="47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 panose="020B0604020202090204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grpSp>
          <p:nvGrpSpPr>
            <p:cNvPr id="414" name="Google Shape;414;p13"/>
            <p:cNvGrpSpPr/>
            <p:nvPr/>
          </p:nvGrpSpPr>
          <p:grpSpPr>
            <a:xfrm>
              <a:off x="4749" y="995"/>
              <a:ext cx="579" cy="133"/>
              <a:chOff x="616" y="2569"/>
              <a:chExt cx="723" cy="138"/>
            </a:xfrm>
          </p:grpSpPr>
          <p:sp>
            <p:nvSpPr>
              <p:cNvPr id="415" name="Google Shape;415;p13"/>
              <p:cNvSpPr/>
              <p:nvPr/>
            </p:nvSpPr>
            <p:spPr>
              <a:xfrm>
                <a:off x="616" y="2569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 panose="020B0604020202090204"/>
                  <a:buNone/>
                </a:pPr>
                <a:endParaRPr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416" name="Google Shape;416;p13"/>
              <p:cNvSpPr/>
              <p:nvPr/>
            </p:nvSpPr>
            <p:spPr>
              <a:xfrm>
                <a:off x="632" y="2588"/>
                <a:ext cx="690" cy="10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 panose="020B0604020202090204"/>
                  <a:buNone/>
                </a:pPr>
                <a:endParaRPr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sp>
          <p:nvSpPr>
            <p:cNvPr id="417" name="Google Shape;417;p13"/>
            <p:cNvSpPr/>
            <p:nvPr/>
          </p:nvSpPr>
          <p:spPr>
            <a:xfrm>
              <a:off x="4218" y="1357"/>
              <a:ext cx="595" cy="47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 panose="020B0604020202090204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418" name="Google Shape;418;p13"/>
            <p:cNvSpPr/>
            <p:nvPr/>
          </p:nvSpPr>
          <p:spPr>
            <a:xfrm>
              <a:off x="4228" y="1654"/>
              <a:ext cx="595" cy="47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 panose="020B0604020202090204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grpSp>
          <p:nvGrpSpPr>
            <p:cNvPr id="419" name="Google Shape;419;p13"/>
            <p:cNvGrpSpPr/>
            <p:nvPr/>
          </p:nvGrpSpPr>
          <p:grpSpPr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20" name="Google Shape;420;p13"/>
              <p:cNvSpPr/>
              <p:nvPr/>
            </p:nvSpPr>
            <p:spPr>
              <a:xfrm>
                <a:off x="614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 panose="020B0604020202090204"/>
                  <a:buNone/>
                </a:pPr>
                <a:endParaRPr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421" name="Google Shape;421;p13"/>
              <p:cNvSpPr/>
              <p:nvPr/>
            </p:nvSpPr>
            <p:spPr>
              <a:xfrm>
                <a:off x="631" y="2584"/>
                <a:ext cx="693" cy="106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 panose="020B0604020202090204"/>
                  <a:buNone/>
                </a:pPr>
                <a:endParaRPr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sp>
          <p:nvSpPr>
            <p:cNvPr id="422" name="Google Shape;422;p13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 panose="020B0604020202090204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grpSp>
          <p:nvGrpSpPr>
            <p:cNvPr id="423" name="Google Shape;423;p13"/>
            <p:cNvGrpSpPr/>
            <p:nvPr/>
          </p:nvGrpSpPr>
          <p:grpSpPr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24" name="Google Shape;424;p13"/>
              <p:cNvSpPr/>
              <p:nvPr/>
            </p:nvSpPr>
            <p:spPr>
              <a:xfrm>
                <a:off x="614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 panose="020B0604020202090204"/>
                  <a:buNone/>
                </a:pPr>
                <a:endParaRPr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425" name="Google Shape;425;p13"/>
              <p:cNvSpPr/>
              <p:nvPr/>
            </p:nvSpPr>
            <p:spPr>
              <a:xfrm>
                <a:off x="630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 panose="020B0604020202090204"/>
                  <a:buNone/>
                </a:pPr>
                <a:endParaRPr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sp>
          <p:nvSpPr>
            <p:cNvPr id="426" name="Google Shape;426;p13"/>
            <p:cNvSpPr/>
            <p:nvPr/>
          </p:nvSpPr>
          <p:spPr>
            <a:xfrm>
              <a:off x="5249" y="432"/>
              <a:ext cx="68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 panose="020B0604020202090204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427" name="Google Shape;427;p13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 panose="020B0604020202090204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428" name="Google Shape;428;p13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 panose="020B0604020202090204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429" name="Google Shape;429;p13"/>
            <p:cNvSpPr/>
            <p:nvPr/>
          </p:nvSpPr>
          <p:spPr>
            <a:xfrm>
              <a:off x="5516" y="2611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 panose="020B0604020202090204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430" name="Google Shape;430;p13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 panose="020B0604020202090204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431" name="Google Shape;431;p13"/>
            <p:cNvSpPr/>
            <p:nvPr/>
          </p:nvSpPr>
          <p:spPr>
            <a:xfrm>
              <a:off x="4140" y="2677"/>
              <a:ext cx="1201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 panose="020B0604020202090204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432" name="Google Shape;432;p13"/>
            <p:cNvSpPr/>
            <p:nvPr/>
          </p:nvSpPr>
          <p:spPr>
            <a:xfrm>
              <a:off x="4205" y="2712"/>
              <a:ext cx="1070" cy="8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 panose="020B0604020202090204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433" name="Google Shape;433;p13"/>
            <p:cNvSpPr/>
            <p:nvPr/>
          </p:nvSpPr>
          <p:spPr>
            <a:xfrm>
              <a:off x="4309" y="2383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 panose="020B0604020202090204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434" name="Google Shape;434;p13"/>
            <p:cNvSpPr/>
            <p:nvPr/>
          </p:nvSpPr>
          <p:spPr>
            <a:xfrm>
              <a:off x="4485" y="2383"/>
              <a:ext cx="163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rgbClr val="FF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435" name="Google Shape;435;p13"/>
            <p:cNvSpPr/>
            <p:nvPr/>
          </p:nvSpPr>
          <p:spPr>
            <a:xfrm>
              <a:off x="4661" y="2380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 panose="020B0604020202090204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436" name="Google Shape;436;p13"/>
            <p:cNvSpPr/>
            <p:nvPr/>
          </p:nvSpPr>
          <p:spPr>
            <a:xfrm>
              <a:off x="5061" y="1835"/>
              <a:ext cx="88" cy="762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 panose="020B0604020202090204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sp>
        <p:nvSpPr>
          <p:cNvPr id="437" name="Google Shape;437;p13"/>
          <p:cNvSpPr txBox="1"/>
          <p:nvPr/>
        </p:nvSpPr>
        <p:spPr>
          <a:xfrm>
            <a:off x="798691" y="3200188"/>
            <a:ext cx="5085273" cy="2010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52425" marR="0" lvl="0" indent="-222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24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HTTP client receives response message containing html file, displays html.  Parsing html file, finds 10 referenced jpeg  objects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3"/>
          <p:cNvSpPr/>
          <p:nvPr/>
        </p:nvSpPr>
        <p:spPr>
          <a:xfrm>
            <a:off x="970480" y="4851930"/>
            <a:ext cx="38100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6.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Steps 1-5 repeated for each of 10 jpeg objects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3"/>
          <p:cNvSpPr/>
          <p:nvPr/>
        </p:nvSpPr>
        <p:spPr>
          <a:xfrm>
            <a:off x="6706580" y="2782360"/>
            <a:ext cx="3810000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HTTP server closes TCP connection. 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0" name="Google Shape;440;p13"/>
          <p:cNvCxnSpPr/>
          <p:nvPr/>
        </p:nvCxnSpPr>
        <p:spPr>
          <a:xfrm flipH="1">
            <a:off x="5587465" y="3200187"/>
            <a:ext cx="1095375" cy="523875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1" name="Google Shape;441;p13"/>
          <p:cNvCxnSpPr/>
          <p:nvPr/>
        </p:nvCxnSpPr>
        <p:spPr>
          <a:xfrm>
            <a:off x="798691" y="2868166"/>
            <a:ext cx="10658" cy="3480471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2" name="Google Shape;442;p13"/>
          <p:cNvSpPr/>
          <p:nvPr/>
        </p:nvSpPr>
        <p:spPr>
          <a:xfrm>
            <a:off x="490358" y="5641558"/>
            <a:ext cx="657225" cy="2952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3"/>
          <p:cNvSpPr txBox="1"/>
          <p:nvPr/>
        </p:nvSpPr>
        <p:spPr>
          <a:xfrm>
            <a:off x="499883" y="5563771"/>
            <a:ext cx="673100" cy="4064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lang="en-US" sz="2000" b="0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3"/>
          <p:cNvSpPr txBox="1"/>
          <p:nvPr>
            <p:ph type="sldNum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Application Layer: 2-</a:t>
            </a:r>
            <a:fld id="{00000000-1234-1234-1234-123412341234}" type="slidenum">
              <a:rPr lang="en-US"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100" b="0" i="0" u="none" strike="noStrike" cap="non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4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Non-persistent HTTP: response time</a:t>
            </a:r>
            <a:endParaRPr sz="4400"/>
          </a:p>
        </p:txBody>
      </p:sp>
      <p:sp>
        <p:nvSpPr>
          <p:cNvPr id="451" name="Google Shape;451;p14"/>
          <p:cNvSpPr txBox="1"/>
          <p:nvPr/>
        </p:nvSpPr>
        <p:spPr>
          <a:xfrm>
            <a:off x="736393" y="1919178"/>
            <a:ext cx="5683502" cy="333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52425" marR="0" lvl="0" indent="-222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RTT (definition):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time for a small packet to travel from client to server and back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0" indent="-2222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HTTP response time (per object):</a:t>
            </a:r>
            <a:endParaRPr lang="en-US" sz="2800" b="0" i="0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60375" marR="0" lvl="0" indent="-215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one RTT to initiate TCP connection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60375" marR="0" lvl="0" indent="-215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one RTT for HTTP request and first few bytes of HTTP response to return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60375" marR="0" lvl="0" indent="-215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object/file transmission time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0" indent="-2222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2" name="Google Shape;452;p14"/>
          <p:cNvCxnSpPr/>
          <p:nvPr/>
        </p:nvCxnSpPr>
        <p:spPr>
          <a:xfrm>
            <a:off x="8197229" y="2671284"/>
            <a:ext cx="0" cy="28321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453" name="Google Shape;453;p14"/>
          <p:cNvCxnSpPr/>
          <p:nvPr/>
        </p:nvCxnSpPr>
        <p:spPr>
          <a:xfrm>
            <a:off x="9887916" y="2664934"/>
            <a:ext cx="0" cy="2881312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454" name="Google Shape;454;p14"/>
          <p:cNvCxnSpPr/>
          <p:nvPr/>
        </p:nvCxnSpPr>
        <p:spPr>
          <a:xfrm>
            <a:off x="8211516" y="2903059"/>
            <a:ext cx="1684338" cy="39052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5" name="Google Shape;455;p14"/>
          <p:cNvCxnSpPr/>
          <p:nvPr/>
        </p:nvCxnSpPr>
        <p:spPr>
          <a:xfrm flipH="1">
            <a:off x="8197229" y="3341209"/>
            <a:ext cx="1673225" cy="40322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6" name="Google Shape;456;p14"/>
          <p:cNvCxnSpPr/>
          <p:nvPr/>
        </p:nvCxnSpPr>
        <p:spPr>
          <a:xfrm>
            <a:off x="8205166" y="3849209"/>
            <a:ext cx="1684338" cy="39052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57" name="Google Shape;457;p14"/>
          <p:cNvSpPr/>
          <p:nvPr/>
        </p:nvSpPr>
        <p:spPr>
          <a:xfrm>
            <a:off x="9903942" y="4249143"/>
            <a:ext cx="99857" cy="161739"/>
          </a:xfrm>
          <a:prstGeom prst="rightBrace">
            <a:avLst>
              <a:gd name="adj1" fmla="val 20390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90204"/>
              <a:buNone/>
            </a:pP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4"/>
          <p:cNvSpPr txBox="1"/>
          <p:nvPr/>
        </p:nvSpPr>
        <p:spPr>
          <a:xfrm>
            <a:off x="9997454" y="3944459"/>
            <a:ext cx="1123577" cy="879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time to </a:t>
            </a:r>
            <a:endParaRPr lang="en-US" sz="2000" b="0" i="0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transmit </a:t>
            </a:r>
            <a:endParaRPr lang="en-US" sz="2000" b="0" i="0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file</a:t>
            </a:r>
            <a:endParaRPr lang="en-US" sz="2000" b="0" i="0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9" name="Google Shape;459;p14"/>
          <p:cNvCxnSpPr/>
          <p:nvPr/>
        </p:nvCxnSpPr>
        <p:spPr>
          <a:xfrm>
            <a:off x="7806704" y="2877659"/>
            <a:ext cx="390525" cy="15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0" name="Google Shape;460;p14"/>
          <p:cNvSpPr txBox="1"/>
          <p:nvPr/>
        </p:nvSpPr>
        <p:spPr>
          <a:xfrm>
            <a:off x="6516660" y="2563010"/>
            <a:ext cx="1363707" cy="61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initiate TCP</a:t>
            </a:r>
            <a:endParaRPr lang="en-US" sz="2000" b="0" i="0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connection</a:t>
            </a:r>
            <a:endParaRPr lang="en-US" sz="2000" b="0" i="0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4"/>
          <p:cNvSpPr/>
          <p:nvPr/>
        </p:nvSpPr>
        <p:spPr>
          <a:xfrm>
            <a:off x="7941641" y="2928459"/>
            <a:ext cx="128588" cy="803275"/>
          </a:xfrm>
          <a:prstGeom prst="leftBrace">
            <a:avLst>
              <a:gd name="adj1" fmla="val 52057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90204"/>
              <a:buNone/>
            </a:pP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4"/>
          <p:cNvSpPr txBox="1"/>
          <p:nvPr/>
        </p:nvSpPr>
        <p:spPr>
          <a:xfrm>
            <a:off x="7459041" y="3139596"/>
            <a:ext cx="575222" cy="35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RTT</a:t>
            </a:r>
            <a:endParaRPr lang="en-US"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3" name="Google Shape;463;p14"/>
          <p:cNvCxnSpPr/>
          <p:nvPr/>
        </p:nvCxnSpPr>
        <p:spPr>
          <a:xfrm>
            <a:off x="7855916" y="3782534"/>
            <a:ext cx="354013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4" name="Google Shape;464;p14"/>
          <p:cNvSpPr txBox="1"/>
          <p:nvPr/>
        </p:nvSpPr>
        <p:spPr>
          <a:xfrm>
            <a:off x="6493113" y="3589815"/>
            <a:ext cx="1969956" cy="35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request file</a:t>
            </a:r>
            <a:endParaRPr lang="en-US" sz="2000" b="0" i="0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4"/>
          <p:cNvSpPr/>
          <p:nvPr/>
        </p:nvSpPr>
        <p:spPr>
          <a:xfrm>
            <a:off x="7947991" y="3838096"/>
            <a:ext cx="128588" cy="803275"/>
          </a:xfrm>
          <a:prstGeom prst="leftBrace">
            <a:avLst>
              <a:gd name="adj1" fmla="val 52057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90204"/>
              <a:buNone/>
            </a:pP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4"/>
          <p:cNvSpPr txBox="1"/>
          <p:nvPr/>
        </p:nvSpPr>
        <p:spPr>
          <a:xfrm>
            <a:off x="7478091" y="4061934"/>
            <a:ext cx="575222" cy="35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RTT</a:t>
            </a:r>
            <a:endParaRPr lang="en-US"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7" name="Google Shape;467;p14"/>
          <p:cNvCxnSpPr/>
          <p:nvPr/>
        </p:nvCxnSpPr>
        <p:spPr>
          <a:xfrm flipH="1">
            <a:off x="7818988" y="4805006"/>
            <a:ext cx="361323" cy="223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8" name="Google Shape;468;p14"/>
          <p:cNvSpPr txBox="1"/>
          <p:nvPr/>
        </p:nvSpPr>
        <p:spPr>
          <a:xfrm>
            <a:off x="6405684" y="4617233"/>
            <a:ext cx="1647627" cy="35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file received</a:t>
            </a:r>
            <a:endParaRPr lang="en-US" sz="2000" b="0" i="0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4"/>
          <p:cNvSpPr txBox="1"/>
          <p:nvPr/>
        </p:nvSpPr>
        <p:spPr>
          <a:xfrm>
            <a:off x="7971804" y="5517671"/>
            <a:ext cx="663964" cy="356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lang="en-US"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4"/>
          <p:cNvSpPr txBox="1"/>
          <p:nvPr/>
        </p:nvSpPr>
        <p:spPr>
          <a:xfrm>
            <a:off x="9649791" y="5500209"/>
            <a:ext cx="66396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lang="en-US"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1" name="Google Shape;471;p14"/>
          <p:cNvGrpSpPr/>
          <p:nvPr/>
        </p:nvGrpSpPr>
        <p:grpSpPr>
          <a:xfrm>
            <a:off x="9687891" y="1898171"/>
            <a:ext cx="423863" cy="684213"/>
            <a:chOff x="4140" y="429"/>
            <a:chExt cx="1425" cy="2396"/>
          </a:xfrm>
        </p:grpSpPr>
        <p:sp>
          <p:nvSpPr>
            <p:cNvPr id="472" name="Google Shape;472;p14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14"/>
            <p:cNvSpPr/>
            <p:nvPr/>
          </p:nvSpPr>
          <p:spPr>
            <a:xfrm>
              <a:off x="4204" y="429"/>
              <a:ext cx="1051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14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14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14"/>
            <p:cNvSpPr/>
            <p:nvPr/>
          </p:nvSpPr>
          <p:spPr>
            <a:xfrm>
              <a:off x="4209" y="690"/>
              <a:ext cx="598" cy="5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77" name="Google Shape;477;p14"/>
            <p:cNvGrpSpPr/>
            <p:nvPr/>
          </p:nvGrpSpPr>
          <p:grpSpPr>
            <a:xfrm>
              <a:off x="4748" y="668"/>
              <a:ext cx="582" cy="145"/>
              <a:chOff x="613" y="2568"/>
              <a:chExt cx="726" cy="139"/>
            </a:xfrm>
          </p:grpSpPr>
          <p:sp>
            <p:nvSpPr>
              <p:cNvPr id="478" name="Google Shape;478;p14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p14"/>
              <p:cNvSpPr/>
              <p:nvPr/>
            </p:nvSpPr>
            <p:spPr>
              <a:xfrm>
                <a:off x="627" y="2584"/>
                <a:ext cx="693" cy="10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80" name="Google Shape;480;p14"/>
            <p:cNvSpPr/>
            <p:nvPr/>
          </p:nvSpPr>
          <p:spPr>
            <a:xfrm>
              <a:off x="4225" y="1018"/>
              <a:ext cx="592" cy="5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1" name="Google Shape;481;p14"/>
            <p:cNvGrpSpPr/>
            <p:nvPr/>
          </p:nvGrpSpPr>
          <p:grpSpPr>
            <a:xfrm>
              <a:off x="4749" y="996"/>
              <a:ext cx="582" cy="133"/>
              <a:chOff x="616" y="2570"/>
              <a:chExt cx="726" cy="138"/>
            </a:xfrm>
          </p:grpSpPr>
          <p:sp>
            <p:nvSpPr>
              <p:cNvPr id="482" name="Google Shape;482;p14"/>
              <p:cNvSpPr/>
              <p:nvPr/>
            </p:nvSpPr>
            <p:spPr>
              <a:xfrm>
                <a:off x="616" y="2570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" name="Google Shape;483;p14"/>
              <p:cNvSpPr/>
              <p:nvPr/>
            </p:nvSpPr>
            <p:spPr>
              <a:xfrm>
                <a:off x="629" y="2587"/>
                <a:ext cx="693" cy="104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84" name="Google Shape;484;p14"/>
            <p:cNvSpPr/>
            <p:nvPr/>
          </p:nvSpPr>
          <p:spPr>
            <a:xfrm>
              <a:off x="4215" y="1357"/>
              <a:ext cx="598" cy="44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14"/>
            <p:cNvSpPr/>
            <p:nvPr/>
          </p:nvSpPr>
          <p:spPr>
            <a:xfrm>
              <a:off x="4225" y="1658"/>
              <a:ext cx="598" cy="44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6" name="Google Shape;486;p14"/>
            <p:cNvGrpSpPr/>
            <p:nvPr/>
          </p:nvGrpSpPr>
          <p:grpSpPr>
            <a:xfrm>
              <a:off x="4733" y="1641"/>
              <a:ext cx="587" cy="139"/>
              <a:chOff x="611" y="2581"/>
              <a:chExt cx="731" cy="128"/>
            </a:xfrm>
          </p:grpSpPr>
          <p:sp>
            <p:nvSpPr>
              <p:cNvPr id="487" name="Google Shape;487;p14"/>
              <p:cNvSpPr/>
              <p:nvPr/>
            </p:nvSpPr>
            <p:spPr>
              <a:xfrm>
                <a:off x="611" y="2581"/>
                <a:ext cx="731" cy="128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" name="Google Shape;488;p14"/>
              <p:cNvSpPr/>
              <p:nvPr/>
            </p:nvSpPr>
            <p:spPr>
              <a:xfrm>
                <a:off x="624" y="2586"/>
                <a:ext cx="698" cy="10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89" name="Google Shape;489;p14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90" name="Google Shape;490;p14"/>
            <p:cNvGrpSpPr/>
            <p:nvPr/>
          </p:nvGrpSpPr>
          <p:grpSpPr>
            <a:xfrm>
              <a:off x="4737" y="1335"/>
              <a:ext cx="582" cy="139"/>
              <a:chOff x="612" y="2576"/>
              <a:chExt cx="725" cy="139"/>
            </a:xfrm>
          </p:grpSpPr>
          <p:sp>
            <p:nvSpPr>
              <p:cNvPr id="491" name="Google Shape;491;p14"/>
              <p:cNvSpPr/>
              <p:nvPr/>
            </p:nvSpPr>
            <p:spPr>
              <a:xfrm>
                <a:off x="612" y="2576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14"/>
              <p:cNvSpPr/>
              <p:nvPr/>
            </p:nvSpPr>
            <p:spPr>
              <a:xfrm>
                <a:off x="626" y="2587"/>
                <a:ext cx="691" cy="106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90204"/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93" name="Google Shape;493;p14"/>
            <p:cNvSpPr/>
            <p:nvPr/>
          </p:nvSpPr>
          <p:spPr>
            <a:xfrm>
              <a:off x="5250" y="429"/>
              <a:ext cx="69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" name="Google Shape;494;p14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14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14"/>
            <p:cNvSpPr/>
            <p:nvPr/>
          </p:nvSpPr>
          <p:spPr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14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14"/>
            <p:cNvSpPr/>
            <p:nvPr/>
          </p:nvSpPr>
          <p:spPr>
            <a:xfrm>
              <a:off x="4140" y="2680"/>
              <a:ext cx="1201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14"/>
            <p:cNvSpPr/>
            <p:nvPr/>
          </p:nvSpPr>
          <p:spPr>
            <a:xfrm>
              <a:off x="4204" y="2708"/>
              <a:ext cx="1073" cy="83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14"/>
            <p:cNvSpPr/>
            <p:nvPr/>
          </p:nvSpPr>
          <p:spPr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14"/>
            <p:cNvSpPr/>
            <p:nvPr/>
          </p:nvSpPr>
          <p:spPr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90204"/>
                <a:buNone/>
              </a:pPr>
              <a:endParaRPr sz="2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14"/>
            <p:cNvSpPr/>
            <p:nvPr/>
          </p:nvSpPr>
          <p:spPr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14"/>
            <p:cNvSpPr/>
            <p:nvPr/>
          </p:nvSpPr>
          <p:spPr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4" name="Google Shape;504;p14"/>
          <p:cNvGrpSpPr/>
          <p:nvPr/>
        </p:nvGrpSpPr>
        <p:grpSpPr>
          <a:xfrm>
            <a:off x="7686054" y="1920396"/>
            <a:ext cx="698500" cy="709613"/>
            <a:chOff x="-44" y="1473"/>
            <a:chExt cx="981" cy="1105"/>
          </a:xfrm>
        </p:grpSpPr>
        <p:pic>
          <p:nvPicPr>
            <p:cNvPr id="505" name="Google Shape;505;p14" descr="desktop_computer_stylized_medium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6" name="Google Shape;506;p14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7" name="Google Shape;507;p14"/>
          <p:cNvSpPr/>
          <p:nvPr/>
        </p:nvSpPr>
        <p:spPr>
          <a:xfrm>
            <a:off x="8188984" y="4246818"/>
            <a:ext cx="1700270" cy="558188"/>
          </a:xfrm>
          <a:custGeom>
            <a:avLst/>
            <a:gdLst/>
            <a:ahLst/>
            <a:cxnLst/>
            <a:rect l="l" t="t" r="r" b="b"/>
            <a:pathLst>
              <a:path w="1700270" h="558188" extrusionOk="0">
                <a:moveTo>
                  <a:pt x="0" y="389262"/>
                </a:moveTo>
                <a:lnTo>
                  <a:pt x="1700270" y="0"/>
                </a:lnTo>
                <a:lnTo>
                  <a:pt x="1696598" y="176269"/>
                </a:lnTo>
                <a:lnTo>
                  <a:pt x="7344" y="558188"/>
                </a:lnTo>
                <a:lnTo>
                  <a:pt x="0" y="389262"/>
                </a:lnTo>
                <a:close/>
              </a:path>
            </a:pathLst>
          </a:custGeom>
          <a:solidFill>
            <a:srgbClr val="0000A8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4"/>
          <p:cNvSpPr/>
          <p:nvPr/>
        </p:nvSpPr>
        <p:spPr>
          <a:xfrm rot="10800000">
            <a:off x="8069711" y="4643267"/>
            <a:ext cx="99857" cy="161739"/>
          </a:xfrm>
          <a:prstGeom prst="rightBrace">
            <a:avLst>
              <a:gd name="adj1" fmla="val 20390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90204"/>
              <a:buNone/>
            </a:pP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4"/>
          <p:cNvSpPr txBox="1"/>
          <p:nvPr/>
        </p:nvSpPr>
        <p:spPr>
          <a:xfrm>
            <a:off x="1056514" y="5919854"/>
            <a:ext cx="925724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Non-persistent HTTP response time =  2RTT+ file transmission  time</a:t>
            </a:r>
            <a:endParaRPr lang="en-US" sz="24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4"/>
          <p:cNvSpPr txBox="1"/>
          <p:nvPr>
            <p:ph type="sldNum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Application Layer: 2-</a:t>
            </a:r>
            <a:fld id="{00000000-1234-1234-1234-123412341234}" type="slidenum">
              <a:rPr lang="en-US"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100" b="0" i="0" u="none" strike="noStrike" cap="non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5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Persistent HTTP </a:t>
            </a:r>
            <a:r>
              <a:rPr lang="en-US" sz="3200"/>
              <a:t>(HTTP 1.1)</a:t>
            </a:r>
            <a:endParaRPr sz="4400"/>
          </a:p>
        </p:txBody>
      </p:sp>
      <p:sp>
        <p:nvSpPr>
          <p:cNvPr id="517" name="Google Shape;517;p15"/>
          <p:cNvSpPr txBox="1"/>
          <p:nvPr/>
        </p:nvSpPr>
        <p:spPr>
          <a:xfrm>
            <a:off x="798691" y="1401764"/>
            <a:ext cx="5165547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30505" marR="0" lvl="0" indent="-215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 b="0" i="1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Non-persistent HTTP issues:</a:t>
            </a:r>
            <a:endParaRPr lang="en-US" sz="3200" b="0" i="1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6075" marR="0" lvl="0" indent="-21717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requires 2 RTTs per object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6075" marR="0" lvl="0" indent="-21717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OS overhead for </a:t>
            </a:r>
            <a:r>
              <a:rPr lang="en-US" sz="28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TCP connection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6075" marR="0" lvl="0" indent="-21717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browsers often open multiple parallel TCP connections to fetch referenced objects in parallel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0" indent="-2222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0" indent="-952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0" indent="-952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5"/>
          <p:cNvSpPr txBox="1"/>
          <p:nvPr/>
        </p:nvSpPr>
        <p:spPr>
          <a:xfrm>
            <a:off x="6227762" y="1414463"/>
            <a:ext cx="5735053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30505" marR="0" lvl="0" indent="-215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 b="0" i="1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Persistent  HTTP </a:t>
            </a:r>
            <a:r>
              <a:rPr lang="en-US" sz="2400" b="0" i="1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(HTTP1.1):</a:t>
            </a:r>
            <a:endParaRPr sz="3200" b="0" i="1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6075" marR="0" lvl="0" indent="-21717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 leaves connection open after sending response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6075" marR="0" lvl="0" indent="-21717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subsequent HTTP messages  between same client/server sent over open connection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6075" marR="0" lvl="0" indent="-21717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sends requests as soon as it encounters a referenced object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6075" marR="0" lvl="0" indent="-21717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 little as one RTT for all the referenced objects (cutting response time in half)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5"/>
          <p:cNvSpPr txBox="1"/>
          <p:nvPr>
            <p:ph type="sldNum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Application Layer: 2-</a:t>
            </a:r>
            <a:fld id="{00000000-1234-1234-1234-123412341234}" type="slidenum">
              <a:rPr lang="en-US"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100" b="0" i="0" u="none" strike="noStrike" cap="non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bfb98a0a88_0_0"/>
          <p:cNvSpPr txBox="1"/>
          <p:nvPr>
            <p:ph type="title"/>
          </p:nvPr>
        </p:nvSpPr>
        <p:spPr>
          <a:xfrm>
            <a:off x="798691" y="430001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 panose="02020503050405090304"/>
              <a:buNone/>
            </a:pPr>
            <a:r>
              <a:rPr lang="en-US" sz="44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HTTP response </a:t>
            </a:r>
            <a:r>
              <a:rPr lang="en-US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s</a:t>
            </a:r>
            <a:r>
              <a:rPr lang="en-US" sz="44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tatus </a:t>
            </a:r>
            <a:r>
              <a:rPr lang="en-US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c</a:t>
            </a:r>
            <a:r>
              <a:rPr lang="en-US" sz="44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odes</a:t>
            </a:r>
            <a:endParaRPr sz="4400"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526" name="Google Shape;526;g3bfb98a0a88_0_0"/>
          <p:cNvSpPr txBox="1"/>
          <p:nvPr/>
        </p:nvSpPr>
        <p:spPr>
          <a:xfrm>
            <a:off x="1179871" y="2274314"/>
            <a:ext cx="10678200" cy="41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52425" marR="0" lvl="0" indent="-2222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 b="0" i="0" u="none" strike="noStrike" cap="none">
                <a:solidFill>
                  <a:srgbClr val="CC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200 OK</a:t>
            </a:r>
            <a:endParaRPr lang="en-US" sz="2800" b="0" i="0" u="none" strike="noStrike" cap="none">
              <a:solidFill>
                <a:srgbClr val="CC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695325" marR="0" lvl="1" indent="-231775" algn="l" rtl="0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 panose="020B0604020202090204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request succeeded, requested object later in this message</a:t>
            </a:r>
            <a:endParaRPr lang="en-US" sz="2400" b="0" i="0" u="none" strike="noStrike" cap="none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352425" marR="0" lvl="0" indent="-222250" algn="l" rtl="0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 b="0" i="0" u="none" strike="noStrike" cap="none">
                <a:solidFill>
                  <a:srgbClr val="CC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301 Moved Permanently</a:t>
            </a:r>
            <a:endParaRPr lang="en-US" sz="2800" b="0" i="0" u="none" strike="noStrike" cap="none">
              <a:solidFill>
                <a:srgbClr val="CC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695325" marR="0" lvl="1" indent="-231775" algn="l" rtl="0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 panose="020B0604020202090204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requested object moved, new location specified later in this message (in Location: field)</a:t>
            </a:r>
            <a:endParaRPr lang="en-US" sz="2400" b="0" i="0" u="none" strike="noStrike" cap="none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352425" marR="0" lvl="0" indent="-222250" algn="l" rtl="0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 b="0" i="0" u="none" strike="noStrike" cap="none">
                <a:solidFill>
                  <a:srgbClr val="CC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400 Bad Request</a:t>
            </a:r>
            <a:endParaRPr lang="en-US" sz="2800" b="0" i="0" u="none" strike="noStrike" cap="none">
              <a:solidFill>
                <a:srgbClr val="CC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695325" marR="0" lvl="1" indent="-231775" algn="l" rtl="0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 panose="020B0604020202090204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request msg not understood by server</a:t>
            </a:r>
            <a:endParaRPr lang="en-US" sz="2400" b="0" i="0" u="none" strike="noStrike" cap="none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352425" marR="0" lvl="0" indent="-222250" algn="l" rtl="0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 b="0" i="0" u="none" strike="noStrike" cap="none">
                <a:solidFill>
                  <a:srgbClr val="CC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404 Not Found</a:t>
            </a:r>
            <a:endParaRPr lang="en-US" sz="2800" b="0" i="0" u="none" strike="noStrike" cap="none">
              <a:solidFill>
                <a:srgbClr val="CC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695325" marR="0" lvl="1" indent="-231775" algn="l" rtl="0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 panose="020B0604020202090204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requested document not found on this server</a:t>
            </a:r>
            <a:endParaRPr lang="en-US" sz="2400" b="0" i="0" u="none" strike="noStrike" cap="none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352425" marR="0" lvl="0" indent="-222250" algn="l" rtl="0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 b="0" i="0" u="none" strike="noStrike" cap="none">
                <a:solidFill>
                  <a:srgbClr val="CC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505 HTTP Version Not Supported</a:t>
            </a:r>
            <a:endParaRPr lang="en-US" sz="2800" b="0" i="0" u="none" strike="noStrike" cap="none">
              <a:solidFill>
                <a:srgbClr val="CC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527" name="Google Shape;527;g3bfb98a0a88_0_0"/>
          <p:cNvSpPr/>
          <p:nvPr/>
        </p:nvSpPr>
        <p:spPr>
          <a:xfrm>
            <a:off x="798691" y="1325562"/>
            <a:ext cx="108564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50520" marR="0" lvl="0" indent="-3505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status code appears in 1st line in server-to-client response message.</a:t>
            </a:r>
            <a:endParaRPr lang="en-US" sz="2800" b="0" i="0" u="none" strike="noStrike" cap="none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350520" marR="0" lvl="0" indent="-3505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some sample codes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:</a:t>
            </a:r>
            <a:endParaRPr lang="en-US" sz="2400" b="0" i="0" u="none" strike="noStrike" cap="none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528" name="Google Shape;528;g3bfb98a0a88_0_0"/>
          <p:cNvSpPr txBox="1"/>
          <p:nvPr>
            <p:ph type="sldNum" idx="12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6340</Words>
  <Application>WPS Presentation</Application>
  <PresentationFormat/>
  <Paragraphs>347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2" baseType="lpstr">
      <vt:lpstr>Arial</vt:lpstr>
      <vt:lpstr>SimSun</vt:lpstr>
      <vt:lpstr>Wingdings</vt:lpstr>
      <vt:lpstr>Arial</vt:lpstr>
      <vt:lpstr>Calibri</vt:lpstr>
      <vt:lpstr>Helvetica Neue</vt:lpstr>
      <vt:lpstr>Noto Sans Symbols</vt:lpstr>
      <vt:lpstr>Courier New</vt:lpstr>
      <vt:lpstr>Courier</vt:lpstr>
      <vt:lpstr>Times New Roman</vt:lpstr>
      <vt:lpstr>Thonburi</vt:lpstr>
      <vt:lpstr>Microsoft YaHei</vt:lpstr>
      <vt:lpstr>汉仪旗黑</vt:lpstr>
      <vt:lpstr>Arial Unicode MS</vt:lpstr>
      <vt:lpstr>宋体-简</vt:lpstr>
      <vt:lpstr>Office Theme</vt:lpstr>
      <vt:lpstr>IT694 Computer Networks</vt:lpstr>
      <vt:lpstr>What will we learn?</vt:lpstr>
      <vt:lpstr>A lifecyle of URL request</vt:lpstr>
      <vt:lpstr>Web and HTTP</vt:lpstr>
      <vt:lpstr>HTTP overview (continued)</vt:lpstr>
      <vt:lpstr>HTTP overview</vt:lpstr>
      <vt:lpstr>HTTP request message</vt:lpstr>
      <vt:lpstr>HTTP request message: general format</vt:lpstr>
      <vt:lpstr>Other HTTP request messages</vt:lpstr>
      <vt:lpstr>HTTP response message</vt:lpstr>
      <vt:lpstr>HTTP connections: two types</vt:lpstr>
      <vt:lpstr>Non-persistent HTTP: example</vt:lpstr>
      <vt:lpstr>Non-persistent HTTP: example (cont.)</vt:lpstr>
      <vt:lpstr>Non-persistent HTTP: response time</vt:lpstr>
      <vt:lpstr>Persistent HTTP (HTTP 1.1)</vt:lpstr>
      <vt:lpstr>HTTP response status codes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IT694 Computer Networks</dc:title>
  <dc:creator>Microsoft Office User</dc:creator>
  <cp:lastModifiedBy>2025 12100</cp:lastModifiedBy>
  <cp:revision>2</cp:revision>
  <dcterms:created xsi:type="dcterms:W3CDTF">2026-02-12T02:47:55Z</dcterms:created>
  <dcterms:modified xsi:type="dcterms:W3CDTF">2026-02-12T02:47:55Z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E9B386DE40099A1840D38C695A33FFEF_42</vt:lpwstr>
  </property>
  <property fmtid="{D5CDD505-2E9C-101B-9397-08002B2CF9AE}" pid="3" name="KSOProductBuildVer">
    <vt:lpwstr>1033-12.1.23155.23155</vt:lpwstr>
  </property>
</Properties>
</file>