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277" r:id="rId4"/>
    <p:sldId id="279" r:id="rId5"/>
    <p:sldId id="280" r:id="rId6"/>
    <p:sldId id="278" r:id="rId7"/>
    <p:sldId id="257" r:id="rId8"/>
    <p:sldId id="258" r:id="rId9"/>
    <p:sldId id="259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81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154"/>
  </p:normalViewPr>
  <p:slideViewPr>
    <p:cSldViewPr snapToGrid="0" snapToObjects="1">
      <p:cViewPr varScale="1">
        <p:scale>
          <a:sx n="122" d="100"/>
          <a:sy n="122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09D1-798B-884B-A3AD-DFE0E0CC502D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F6B47-808B-8A4A-8950-16D76A0E7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2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3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9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65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608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31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08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80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111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71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9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7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893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91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799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04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975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39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7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5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7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8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8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15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0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2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9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1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4D576-015D-844F-B4D9-6A4EB5AF5EE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DD243-0BC2-F74F-9C9A-10D39E32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3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Week10_Lec1</a:t>
            </a:r>
          </a:p>
          <a:p>
            <a:r>
              <a:rPr lang="en-US" dirty="0" smtClean="0"/>
              <a:t>(Routing principles)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54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Network-layer functions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959312D-6602-054C-94D1-70724062AE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6FDE94C0-73F6-B048-AAAB-8D0D8D89E2D1}"/>
              </a:ext>
            </a:extLst>
          </p:cNvPr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="" xmlns:a16="http://schemas.microsoft.com/office/drawing/2014/main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6725" indent="-336550"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forwarding: </a:t>
              </a:r>
              <a:r>
                <a:rPr lang="en-US" dirty="0"/>
                <a:t>move packets from router’</a:t>
              </a:r>
              <a:r>
                <a:rPr lang="en-US" altLang="ja-JP" dirty="0"/>
                <a:t>s input to appropriate router output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="" xmlns:a16="http://schemas.microsoft.com/office/drawing/2014/main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3600" i="1" dirty="0">
                  <a:solidFill>
                    <a:srgbClr val="000090"/>
                  </a:solidFill>
                </a:rPr>
                <a:t>data plane</a:t>
              </a: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endParaRPr lang="en-US" sz="2800" dirty="0"/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DF499515-ACC5-5E44-BAC7-0535D920E0BE}"/>
              </a:ext>
            </a:extLst>
          </p:cNvPr>
          <p:cNvGrpSpPr/>
          <p:nvPr/>
        </p:nvGrpSpPr>
        <p:grpSpPr>
          <a:xfrm>
            <a:off x="970936" y="2697621"/>
            <a:ext cx="9825520" cy="920619"/>
            <a:chOff x="1314797" y="2881877"/>
            <a:chExt cx="9825520" cy="920619"/>
          </a:xfrm>
        </p:grpSpPr>
        <p:sp>
          <p:nvSpPr>
            <p:cNvPr id="10" name="Rectangle 4">
              <a:extLst>
                <a:ext uri="{FF2B5EF4-FFF2-40B4-BE49-F238E27FC236}">
                  <a16:creationId xmlns="" xmlns:a16="http://schemas.microsoft.com/office/drawing/2014/main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3600" i="1" dirty="0">
                  <a:solidFill>
                    <a:srgbClr val="000099"/>
                  </a:solidFill>
                </a:rPr>
                <a:t>control</a:t>
              </a:r>
              <a:r>
                <a:rPr lang="en-US" sz="3600" b="1" i="1" dirty="0">
                  <a:solidFill>
                    <a:srgbClr val="000099"/>
                  </a:solidFill>
                </a:rPr>
                <a:t> </a:t>
              </a:r>
              <a:r>
                <a:rPr lang="en-US" sz="3600" i="1" dirty="0">
                  <a:solidFill>
                    <a:srgbClr val="000099"/>
                  </a:solidFill>
                </a:rPr>
                <a:t>plane</a:t>
              </a:r>
              <a:endParaRPr lang="en-US" sz="3600" i="1" dirty="0"/>
            </a:p>
            <a:p>
              <a:pPr marL="342900" indent="-3429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800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="" xmlns:a16="http://schemas.microsoft.com/office/drawing/2014/main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797" y="2881877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FAA26D3D-D897-4be2-8F04-BA451C77F1D7}">
                <ma14:placeholderFlag xmlns:ma14="http://schemas.microsoft.com/office/mac/drawingml/2011/main" val="1"/>
              </a:ex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routing: </a:t>
              </a:r>
              <a:r>
                <a:rPr lang="en-US" dirty="0"/>
                <a:t>determine route taken by packets from source to destination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08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G</a:t>
            </a: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oal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sz="2400" dirty="0">
                <a:latin typeface="+mj-lt"/>
              </a:rPr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sz="2400" dirty="0">
                <a:solidFill>
                  <a:srgbClr val="C00000"/>
                </a:solidFill>
                <a:latin typeface="+mj-lt"/>
              </a:rPr>
              <a:t>path: </a:t>
            </a:r>
            <a:r>
              <a:rPr lang="en-US" sz="2400" dirty="0">
                <a:latin typeface="+mj-lt"/>
              </a:rPr>
              <a:t>sequence of routers packets traverse from given initial source host to final destination host</a:t>
            </a:r>
          </a:p>
          <a:p>
            <a:pPr marL="407988" indent="-277813"/>
            <a:r>
              <a:rPr lang="en-US" sz="2400" dirty="0">
                <a:solidFill>
                  <a:srgbClr val="C00000"/>
                </a:solidFill>
                <a:latin typeface="+mj-lt"/>
              </a:rPr>
              <a:t>“good”: </a:t>
            </a:r>
            <a:r>
              <a:rPr lang="en-US" sz="2400" dirty="0">
                <a:latin typeface="+mj-lt"/>
              </a:rPr>
              <a:t>least “cost”, “fastest”, “least congested”</a:t>
            </a:r>
          </a:p>
          <a:p>
            <a:r>
              <a:rPr lang="en-US" sz="2400" dirty="0" smtClean="0"/>
              <a:t>Routers forward packets using static or dynamic routes.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=""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=""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=""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=""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=""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=""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=""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=""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=""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=""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=""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=""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=""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=""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=""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=""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=""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=""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=""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=""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=""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=""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=""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=""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=""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=""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=""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=""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=""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=""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=""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=""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=""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=""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=""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=""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=""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=""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=""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=""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=""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=""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=""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=""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=""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=""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=""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=""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=""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=""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=""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=""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=""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=""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=""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=""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=""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=""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=""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=""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=""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=""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=""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=""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=""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=""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=""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=""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=""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=""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=""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=""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=""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=""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=""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=""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=""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=""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=""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=""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=""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=""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=""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=""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=""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=""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=""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=""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=""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=""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=""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=""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=""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=""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=""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=""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=""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=""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=""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=""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=""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=""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=""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=""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=""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=""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=""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=""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=""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=""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=""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=""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=""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=""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=""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=""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=""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=""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=""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=""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=""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=""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=""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=""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=""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=""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=""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=""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=""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=""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=""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=""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=""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=""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=""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=""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=""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=""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=""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=""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=""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=""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=""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=""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=""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=""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=""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=""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=""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=""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=""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=""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=""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=""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=""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=""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=""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=""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=""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=""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=""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=""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=""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=""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=""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=""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=""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=""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=""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=""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=""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=""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=""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=""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=""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=""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=""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=""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=""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=""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=""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=""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=""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=""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=""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=""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=""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=""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=""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=""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=""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=""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=""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=""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=""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=""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=""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=""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=""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=""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=""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=""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=""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=""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=""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=""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=""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=""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=""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=""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=""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=""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=""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=""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=""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=""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=""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=""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=""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=""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=""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=""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=""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=""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=""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=""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=""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=""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=""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=""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=""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=""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=""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=""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=""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=""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=""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=""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=""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=""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=""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=""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=""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=""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=""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=""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=""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=""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=""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=""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=""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=""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=""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=""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=""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=""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=""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=""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=""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=""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=""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=""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=""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=""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=""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=""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=""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=""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=""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=""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=""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=""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=""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=""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=""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=""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=""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=""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=""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=""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=""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=""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=""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=""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=""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=""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=""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=""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=""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=""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=""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=""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=""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=""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=""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=""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=""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=""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=""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=""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=""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=""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=""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=""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=""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=""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=""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=""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=""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=""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=""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=""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=""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=""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=""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=""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=""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=""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=""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=""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=""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=""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=""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=""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=""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=""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=""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=""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=""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=""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=""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=""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=""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=""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=""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=""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=""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=""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=""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=""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=""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=""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=""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=""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=""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=""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=""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=""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=""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=""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=""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=""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=""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=""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=""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=""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=""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=""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=""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=""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=""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=""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=""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=""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=""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=""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=""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=""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=""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=""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=""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=""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=""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=""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=""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=""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=""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=""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=""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=""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=""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=""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=""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=""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=""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=""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=""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=""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=""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=""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=""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=""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=""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=""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=""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=""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=""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=""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=""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=""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=""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=""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=""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=""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=""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=""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=""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=""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=""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=""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=""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=""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=""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=""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=""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=""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=""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=""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=""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=""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=""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=""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=""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=""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=""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=""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=""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=""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=""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=""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=""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=""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=""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=""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=""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=""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=""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=""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=""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=""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=""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=""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=""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=""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=""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=""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=""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=""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=""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=""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=""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=""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=""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=""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=""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=""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=""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=""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=""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=""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=""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=""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=""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=""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=""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=""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=""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=""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=""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=""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=""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=""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=""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=""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=""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=""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=""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=""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=""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=""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=""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=""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=""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=""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=""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=""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=""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=""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=""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=""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=""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=""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=""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=""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=""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=""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=""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=""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=""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=""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=""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=""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=""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=""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=""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=""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=""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=""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=""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=""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=""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=""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=""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=""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=""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Slide Number Placeholder 4">
            <a:extLst>
              <a:ext uri="{FF2B5EF4-FFF2-40B4-BE49-F238E27FC236}">
                <a16:creationId xmlns=""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=""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=""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1" name="Rectangle 3">
              <a:extLst>
                <a:ext uri="{FF2B5EF4-FFF2-40B4-BE49-F238E27FC236}">
                  <a16:creationId xmlns=""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  <a:latin typeface="+mj-lt"/>
                </a:rPr>
                <a:t>global: </a:t>
              </a:r>
              <a:r>
                <a:rPr lang="en-US" sz="2400" dirty="0">
                  <a:latin typeface="+mj-lt"/>
                </a:rPr>
                <a:t>all routers have </a:t>
              </a:r>
              <a:r>
                <a:rPr lang="en-US" sz="2400" i="1" dirty="0">
                  <a:latin typeface="+mj-lt"/>
                </a:rPr>
                <a:t>complete</a:t>
              </a:r>
              <a:r>
                <a:rPr lang="en-US" sz="2400" dirty="0">
                  <a:latin typeface="+mj-lt"/>
                </a:rPr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u="sng" dirty="0">
                  <a:solidFill>
                    <a:srgbClr val="000099"/>
                  </a:solidFill>
                  <a:latin typeface="+mj-lt"/>
                </a:rPr>
                <a:t>“link state” </a:t>
              </a:r>
              <a:r>
                <a:rPr lang="en-US" altLang="ja-JP" sz="2400" dirty="0">
                  <a:latin typeface="+mj-lt"/>
                </a:rPr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2" name="Rectangle 3">
              <a:extLst>
                <a:ext uri="{FF2B5EF4-FFF2-40B4-BE49-F238E27FC236}">
                  <a16:creationId xmlns=""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  <a:latin typeface="+mj-lt"/>
                </a:rPr>
                <a:t>decentralized: </a:t>
              </a:r>
              <a:r>
                <a:rPr lang="en-US" sz="2400" dirty="0">
                  <a:latin typeface="+mj-lt"/>
                </a:rPr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+mj-lt"/>
                </a:rPr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u="sng" dirty="0">
                  <a:solidFill>
                    <a:srgbClr val="000099"/>
                  </a:solidFill>
                  <a:latin typeface="+mj-lt"/>
                </a:rPr>
                <a:t>“distance vector” </a:t>
              </a:r>
              <a:r>
                <a:rPr lang="en-US" altLang="ja-JP" sz="2400" dirty="0">
                  <a:latin typeface="+mj-lt"/>
                </a:rPr>
                <a:t>algorithms</a:t>
              </a:r>
              <a:endParaRPr lang="en-US" sz="2400" dirty="0">
                <a:latin typeface="+mj-lt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=""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+mj-lt"/>
              </a:rPr>
              <a:t>How fast do 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=""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96" name="Rectangle 4">
              <a:extLst>
                <a:ext uri="{FF2B5EF4-FFF2-40B4-BE49-F238E27FC236}">
                  <a16:creationId xmlns=""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  <a:latin typeface="+mj-lt"/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  <a:latin typeface="+mj-lt"/>
                </a:rPr>
                <a:t>: </a:t>
              </a:r>
              <a:r>
                <a:rPr lang="en-US" sz="2400" dirty="0">
                  <a:latin typeface="+mj-lt"/>
                </a:rPr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>
                  <a:latin typeface="+mj-lt"/>
                </a:rPr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=""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95" name="Rectangle 3">
              <a:extLst>
                <a:ext uri="{FF2B5EF4-FFF2-40B4-BE49-F238E27FC236}">
                  <a16:creationId xmlns=""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  <a:latin typeface="+mj-lt"/>
                </a:rPr>
                <a:t>static: </a:t>
              </a:r>
              <a:r>
                <a:rPr lang="en-US" sz="2400" dirty="0">
                  <a:latin typeface="+mj-lt"/>
                </a:rPr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0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57" y="128830"/>
            <a:ext cx="7171063" cy="1325563"/>
          </a:xfrm>
        </p:spPr>
        <p:txBody>
          <a:bodyPr/>
          <a:lstStyle/>
          <a:p>
            <a:r>
              <a:t>Static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582" y="1359607"/>
            <a:ext cx="4989723" cy="1362534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+mj-lt"/>
              </a:rPr>
              <a:t>Manually configured routes.</a:t>
            </a:r>
          </a:p>
          <a:p>
            <a:r>
              <a:rPr dirty="0">
                <a:latin typeface="+mj-lt"/>
              </a:rPr>
              <a:t>Low resource usage.</a:t>
            </a:r>
          </a:p>
          <a:p>
            <a:r>
              <a:rPr dirty="0">
                <a:latin typeface="+mj-lt"/>
              </a:rPr>
              <a:t>More secure but less flexible.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9263" y="346895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+mj-lt"/>
              </a:rPr>
              <a:t>No automatic updates</a:t>
            </a:r>
          </a:p>
          <a:p>
            <a:r>
              <a:rPr lang="en-US" dirty="0" smtClean="0">
                <a:latin typeface="+mj-lt"/>
              </a:rPr>
              <a:t>Manual intervention required</a:t>
            </a:r>
          </a:p>
          <a:p>
            <a:r>
              <a:rPr lang="en-US" dirty="0" smtClean="0">
                <a:latin typeface="+mj-lt"/>
              </a:rPr>
              <a:t>Failure handling issues</a:t>
            </a:r>
            <a:endParaRPr lang="en-US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24232" y="1579209"/>
            <a:ext cx="33858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Low bandwidth usage</a:t>
            </a:r>
          </a:p>
          <a:p>
            <a:r>
              <a:rPr lang="en-US" dirty="0" smtClean="0">
                <a:latin typeface="+mj-lt"/>
              </a:rPr>
              <a:t>Less CPU/memory</a:t>
            </a:r>
          </a:p>
          <a:p>
            <a:r>
              <a:rPr lang="en-US" dirty="0" smtClean="0">
                <a:latin typeface="+mj-lt"/>
              </a:rPr>
              <a:t>Simple configuration</a:t>
            </a:r>
            <a:endParaRPr lang="en-US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300" y="3930622"/>
            <a:ext cx="2616200" cy="2171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12" y="3188159"/>
            <a:ext cx="4102100" cy="330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9426" y="1112703"/>
            <a:ext cx="153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Advantages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24232" y="3075638"/>
            <a:ext cx="1720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Disadvantages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602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=""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=""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=""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=""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=""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=""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=""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=""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=""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=""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=""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=""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=""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=""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=""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=""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=""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=""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=""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=""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=""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=""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=""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=""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=""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=""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=""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=""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=""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=""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=""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=""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=""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=""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=""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=""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=""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=""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=""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=""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=""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=""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=""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=""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9" y="1744"/>
              <a:ext cx="197" cy="252"/>
              <a:chOff x="2958" y="2425"/>
              <a:chExt cx="200" cy="252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=""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=""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20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=""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=""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=""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=""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=""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=""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=""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=""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=""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=""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=""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=""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=""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9" y="1756"/>
              <a:ext cx="202" cy="291"/>
              <a:chOff x="2954" y="2395"/>
              <a:chExt cx="204" cy="291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=""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=""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395"/>
                <a:ext cx="20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=""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=""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=""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=""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=""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=""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=""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=""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=""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=""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=""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8" y="3898081"/>
            <a:ext cx="266130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j-lt"/>
              </a:rPr>
              <a:t>graph: </a:t>
            </a:r>
            <a:r>
              <a:rPr lang="en-US" sz="2800" i="1" dirty="0">
                <a:latin typeface="+mj-lt"/>
              </a:rPr>
              <a:t>G = (N,E)</a:t>
            </a:r>
          </a:p>
          <a:p>
            <a:pPr eaLnBrk="1" hangingPunct="1"/>
            <a:endParaRPr lang="en-US" sz="28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+mj-lt"/>
              </a:rPr>
              <a:t>c</a:t>
            </a:r>
            <a:r>
              <a:rPr lang="en-US" sz="2400" i="1" baseline="-25000" dirty="0">
                <a:latin typeface="+mj-lt"/>
              </a:rPr>
              <a:t>a,b</a:t>
            </a:r>
            <a:r>
              <a:rPr lang="en-US" sz="2400" i="1" dirty="0">
                <a:latin typeface="+mj-lt"/>
              </a:rPr>
              <a:t>: </a:t>
            </a:r>
            <a:r>
              <a:rPr lang="en-US" sz="2400" dirty="0">
                <a:latin typeface="+mj-lt"/>
              </a:rPr>
              <a:t>cost of </a:t>
            </a:r>
            <a:r>
              <a:rPr lang="en-US" sz="2400" i="1" dirty="0">
                <a:solidFill>
                  <a:srgbClr val="0000A8"/>
                </a:solidFill>
                <a:latin typeface="+mj-lt"/>
              </a:rPr>
              <a:t>direct</a:t>
            </a:r>
            <a:r>
              <a:rPr lang="en-US" sz="2400" dirty="0">
                <a:latin typeface="+mj-lt"/>
              </a:rPr>
              <a:t> link connecting </a:t>
            </a:r>
            <a:r>
              <a:rPr lang="en-US" sz="2400" i="1" dirty="0" smtClean="0">
                <a:latin typeface="+mj-lt"/>
              </a:rPr>
              <a:t>two routers</a:t>
            </a:r>
            <a:endParaRPr lang="en-US" sz="2400" i="1" dirty="0">
              <a:latin typeface="+mj-lt"/>
            </a:endParaRPr>
          </a:p>
          <a:p>
            <a:r>
              <a:rPr lang="en-US" sz="2400" dirty="0">
                <a:latin typeface="+mj-lt"/>
              </a:rPr>
              <a:t>             </a:t>
            </a:r>
            <a:r>
              <a:rPr lang="en-US" sz="2400" i="1" dirty="0">
                <a:latin typeface="+mj-lt"/>
              </a:rPr>
              <a:t>e.g., c</a:t>
            </a:r>
            <a:r>
              <a:rPr lang="en-US" sz="2400" i="1" baseline="-25000" dirty="0">
                <a:latin typeface="+mj-lt"/>
              </a:rPr>
              <a:t>w,z </a:t>
            </a:r>
            <a:r>
              <a:rPr lang="en-US" sz="2400" dirty="0">
                <a:latin typeface="+mj-lt"/>
              </a:rPr>
              <a:t>= 5, 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i="1" baseline="-25000" dirty="0">
                <a:latin typeface="+mj-lt"/>
              </a:rPr>
              <a:t>u,z </a:t>
            </a:r>
            <a:r>
              <a:rPr lang="en-US" sz="2400" dirty="0">
                <a:latin typeface="+mj-lt"/>
              </a:rPr>
              <a:t>= </a:t>
            </a:r>
            <a:r>
              <a:rPr lang="en-US" sz="2400" dirty="0">
                <a:latin typeface="+mj-lt"/>
                <a:cs typeface="Arial" charset="0"/>
              </a:rPr>
              <a:t>∞</a:t>
            </a:r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pPr marL="801688" lvl="1"/>
            <a:r>
              <a:rPr lang="en-US" sz="2400" dirty="0">
                <a:latin typeface="+mj-lt"/>
              </a:rPr>
              <a:t>cost defined by network operator: could always be 1, or inversely related to bandwidth, or inversely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=""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537178"/>
            <a:ext cx="5273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j-lt"/>
              </a:rPr>
              <a:t>N: </a:t>
            </a:r>
            <a:r>
              <a:rPr lang="en-US" sz="2800" dirty="0">
                <a:latin typeface="+mj-lt"/>
              </a:rPr>
              <a:t>set of routers = { </a:t>
            </a:r>
            <a:r>
              <a:rPr lang="en-US" sz="2800" i="1" dirty="0">
                <a:latin typeface="+mj-lt"/>
              </a:rPr>
              <a:t>u, v, w, x, y, z </a:t>
            </a:r>
            <a:r>
              <a:rPr lang="en-US" sz="2800" dirty="0">
                <a:latin typeface="+mj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=""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376329"/>
            <a:ext cx="105423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j-lt"/>
              </a:rPr>
              <a:t>E: </a:t>
            </a:r>
            <a:r>
              <a:rPr lang="en-US" sz="2800" dirty="0">
                <a:latin typeface="+mj-lt"/>
              </a:rPr>
              <a:t>set of links =</a:t>
            </a:r>
            <a:r>
              <a:rPr lang="en-US" sz="3200" dirty="0">
                <a:latin typeface="+mj-lt"/>
              </a:rPr>
              <a:t>{</a:t>
            </a:r>
            <a:r>
              <a:rPr lang="en-US" sz="3600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u,v), (u,x), (v,x), (v,w), (x,w), (x,y), (w,y), (w,z), (y,z</a:t>
            </a:r>
            <a:r>
              <a:rPr lang="en-US" sz="2800" dirty="0">
                <a:latin typeface="+mj-lt"/>
              </a:rPr>
              <a:t>) </a:t>
            </a:r>
            <a:r>
              <a:rPr lang="en-US" sz="3200" dirty="0">
                <a:latin typeface="+mj-lt"/>
              </a:rPr>
              <a:t>}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743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CAD535FA-3323-5A43-A352-F3C8C44E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813026" cy="517728"/>
          </a:xfrm>
        </p:spPr>
        <p:txBody>
          <a:bodyPr>
            <a:normAutofit fontScale="85000" lnSpcReduction="10000"/>
          </a:bodyPr>
          <a:lstStyle/>
          <a:p>
            <a:pPr marL="130175" indent="0">
              <a:buNone/>
            </a:pPr>
            <a:r>
              <a:rPr lang="en-US" sz="3200" dirty="0"/>
              <a:t>Based on </a:t>
            </a:r>
            <a:r>
              <a:rPr lang="en-US" sz="3200" i="1" dirty="0">
                <a:solidFill>
                  <a:srgbClr val="0000A8"/>
                </a:solidFill>
              </a:rPr>
              <a:t>Bellman-Ford</a:t>
            </a:r>
            <a:r>
              <a:rPr lang="en-US" sz="3200" dirty="0"/>
              <a:t> (BF) equation (dynamic programming):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2FFC0ED4-C8EE-C348-BF6A-3B5057DBF745}"/>
              </a:ext>
            </a:extLst>
          </p:cNvPr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8" name="Rectangle 3">
              <a:extLst>
                <a:ext uri="{FF2B5EF4-FFF2-40B4-BE49-F238E27FC236}">
                  <a16:creationId xmlns="" xmlns:a16="http://schemas.microsoft.com/office/drawing/2014/main" id="{16172113-4B9B-B44F-B37E-0F9E92FBD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Let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000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(y):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cost of least-cost path from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Then:</a:t>
              </a:r>
            </a:p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= </a:t>
              </a:r>
              <a:r>
                <a:rPr lang="en-US" sz="32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{ c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x,v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}</a:t>
              </a:r>
            </a:p>
            <a:p>
              <a:pPr>
                <a:buFont typeface="Wingdings" charset="0"/>
                <a:buNone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>
                <a:buFont typeface="Wingdings" charset="0"/>
                <a:buNone/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CB5C580C-1126-504E-8FA4-8CD48ACEC90C}"/>
                </a:ext>
              </a:extLst>
            </p:cNvPr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19693CD9-8C4E-4040-AB87-525C3BB2DD5B}"/>
                </a:ext>
              </a:extLst>
            </p:cNvPr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Bellman-Ford equation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CAC9B7B6-F48D-464C-80B7-D4E3FFE8A0DD}"/>
              </a:ext>
            </a:extLst>
          </p:cNvPr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13" name="Text Box 8">
              <a:extLst>
                <a:ext uri="{FF2B5EF4-FFF2-40B4-BE49-F238E27FC236}">
                  <a16:creationId xmlns="" xmlns:a16="http://schemas.microsoft.com/office/drawing/2014/main" id="{3EF53877-706D-1B4F-97A3-D4D8AB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min</a:t>
              </a:r>
              <a:r>
                <a:rPr lang="en-US" dirty="0">
                  <a:latin typeface="+mn-lt"/>
                </a:rPr>
                <a:t> taken over all neighbors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of </a:t>
              </a:r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15" name="Line 10">
              <a:extLst>
                <a:ext uri="{FF2B5EF4-FFF2-40B4-BE49-F238E27FC236}">
                  <a16:creationId xmlns="" xmlns:a16="http://schemas.microsoft.com/office/drawing/2014/main" id="{C88D2D32-84DC-074E-91A8-72F035B2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694" y="4374411"/>
              <a:ext cx="0" cy="1357464"/>
            </a:xfrm>
            <a:prstGeom prst="line">
              <a:avLst/>
            </a:prstGeom>
            <a:noFill/>
            <a:ln w="12700">
              <a:solidFill>
                <a:srgbClr val="0000A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59653ED9-AAD1-2C47-B7F8-1C4C9C2392B7}"/>
              </a:ext>
            </a:extLst>
          </p:cNvPr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14" name="Text Box 9">
              <a:extLst>
                <a:ext uri="{FF2B5EF4-FFF2-40B4-BE49-F238E27FC236}">
                  <a16:creationId xmlns="" xmlns:a16="http://schemas.microsoft.com/office/drawing/2014/main" id="{84D3DDF1-A07C-4944-BFAD-0934045A4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v</a:t>
              </a:r>
              <a:r>
                <a:rPr lang="en-US" dirty="0">
                  <a:latin typeface="+mn-lt"/>
                </a:rPr>
                <a:t>’s estimated least-cost-path cost to </a:t>
              </a:r>
              <a:r>
                <a:rPr lang="en-US" i="1" dirty="0">
                  <a:latin typeface="+mn-lt"/>
                </a:rPr>
                <a:t>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897FA599-E18E-564C-8B44-C47AC16D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9107" y="4684735"/>
              <a:ext cx="0" cy="713983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9DDF3FC-7958-1A4C-9958-CFEED50F7D04}"/>
              </a:ext>
            </a:extLst>
          </p:cNvPr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12" name="Text Box 7">
              <a:extLst>
                <a:ext uri="{FF2B5EF4-FFF2-40B4-BE49-F238E27FC236}">
                  <a16:creationId xmlns="" xmlns:a16="http://schemas.microsoft.com/office/drawing/2014/main" id="{4E51D062-C026-C442-99A3-A58F234CF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direct cost of link from</a:t>
              </a:r>
              <a:r>
                <a:rPr lang="en-US" i="1" dirty="0">
                  <a:latin typeface="+mn-lt"/>
                </a:rPr>
                <a:t> x </a:t>
              </a:r>
              <a:r>
                <a:rPr lang="en-US" dirty="0">
                  <a:latin typeface="+mn-lt"/>
                </a:rPr>
                <a:t>to </a:t>
              </a:r>
              <a:r>
                <a:rPr lang="en-US" i="1" dirty="0">
                  <a:latin typeface="+mn-lt"/>
                </a:rPr>
                <a:t>v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DBA47127-1CA2-C945-9F12-07114230E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1847" y="4749453"/>
              <a:ext cx="0" cy="1338196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620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</a:rPr>
              <a:t>Network Layer: 5-</a:t>
            </a:r>
            <a:fld id="{C4204591-24BD-A542-B9D5-F8D8A88D2FEE}" type="slidenum">
              <a:rPr lang="en-US" smtClean="0">
                <a:latin typeface="+mj-lt"/>
              </a:rPr>
              <a:pPr/>
              <a:t>8</a:t>
            </a:fld>
            <a:endParaRPr lang="en-US" dirty="0">
              <a:latin typeface="+mj-lt"/>
            </a:endParaRPr>
          </a:p>
        </p:txBody>
      </p:sp>
      <p:sp>
        <p:nvSpPr>
          <p:cNvPr id="101" name="Freeform 4">
            <a:extLst>
              <a:ext uri="{FF2B5EF4-FFF2-40B4-BE49-F238E27FC236}">
                <a16:creationId xmlns="" xmlns:a16="http://schemas.microsoft.com/office/drawing/2014/main" id="{B3361BDC-FC6E-7D45-AF3A-D0E68A57BA18}"/>
              </a:ext>
            </a:extLst>
          </p:cNvPr>
          <p:cNvSpPr>
            <a:spLocks/>
          </p:cNvSpPr>
          <p:nvPr/>
        </p:nvSpPr>
        <p:spPr bwMode="auto">
          <a:xfrm>
            <a:off x="1464895" y="2577601"/>
            <a:ext cx="3571875" cy="2236788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02" name="Freeform 5">
            <a:extLst>
              <a:ext uri="{FF2B5EF4-FFF2-40B4-BE49-F238E27FC236}">
                <a16:creationId xmlns="" xmlns:a16="http://schemas.microsoft.com/office/drawing/2014/main" id="{EB384ECE-A843-C347-B24C-9E275CEAC2CD}"/>
              </a:ext>
            </a:extLst>
          </p:cNvPr>
          <p:cNvSpPr>
            <a:spLocks/>
          </p:cNvSpPr>
          <p:nvPr/>
        </p:nvSpPr>
        <p:spPr bwMode="auto">
          <a:xfrm>
            <a:off x="1974545" y="3431326"/>
            <a:ext cx="542925" cy="29527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03" name="Oval 6">
            <a:extLst>
              <a:ext uri="{FF2B5EF4-FFF2-40B4-BE49-F238E27FC236}">
                <a16:creationId xmlns="" xmlns:a16="http://schemas.microsoft.com/office/drawing/2014/main" id="{AB39D95A-2416-9A44-A4A8-038FB65B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04" name="Line 7">
            <a:extLst>
              <a:ext uri="{FF2B5EF4-FFF2-40B4-BE49-F238E27FC236}">
                <a16:creationId xmlns="" xmlns:a16="http://schemas.microsoft.com/office/drawing/2014/main" id="{E78BA6E9-D2DE-3B4C-B8F0-0B60FECF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1795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05" name="Line 8">
            <a:extLst>
              <a:ext uri="{FF2B5EF4-FFF2-40B4-BE49-F238E27FC236}">
                <a16:creationId xmlns="" xmlns:a16="http://schemas.microsoft.com/office/drawing/2014/main" id="{A0D47CD4-5213-7747-B8ED-B82CB1DF3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8683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06" name="Rectangle 9">
            <a:extLst>
              <a:ext uri="{FF2B5EF4-FFF2-40B4-BE49-F238E27FC236}">
                <a16:creationId xmlns="" xmlns:a16="http://schemas.microsoft.com/office/drawing/2014/main" id="{9CC7A1F3-7121-9A4D-8ED5-61BE06416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07" name="Oval 10">
            <a:extLst>
              <a:ext uri="{FF2B5EF4-FFF2-40B4-BE49-F238E27FC236}">
                <a16:creationId xmlns="" xmlns:a16="http://schemas.microsoft.com/office/drawing/2014/main" id="{942A74E2-4B12-2844-8247-4DD1081A4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3" name="Oval 26">
            <a:extLst>
              <a:ext uri="{FF2B5EF4-FFF2-40B4-BE49-F238E27FC236}">
                <a16:creationId xmlns="" xmlns:a16="http://schemas.microsoft.com/office/drawing/2014/main" id="{74166FED-9DB6-AE4B-B5E4-19FFE332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4" name="Line 27">
            <a:extLst>
              <a:ext uri="{FF2B5EF4-FFF2-40B4-BE49-F238E27FC236}">
                <a16:creationId xmlns="" xmlns:a16="http://schemas.microsoft.com/office/drawing/2014/main" id="{69186391-9606-034D-9306-C735925D8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8058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5" name="Line 28">
            <a:extLst>
              <a:ext uri="{FF2B5EF4-FFF2-40B4-BE49-F238E27FC236}">
                <a16:creationId xmlns="" xmlns:a16="http://schemas.microsoft.com/office/drawing/2014/main" id="{75BB6334-D1C4-D94A-BA99-4367AA958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945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="" xmlns:a16="http://schemas.microsoft.com/office/drawing/2014/main" id="{4D831A84-D0A6-2A4D-89B7-0B39B1BD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7" name="Oval 30">
            <a:extLst>
              <a:ext uri="{FF2B5EF4-FFF2-40B4-BE49-F238E27FC236}">
                <a16:creationId xmlns="" xmlns:a16="http://schemas.microsoft.com/office/drawing/2014/main" id="{D0D42B8D-5E2B-7841-A6D2-30BC2148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8" name="Oval 31">
            <a:extLst>
              <a:ext uri="{FF2B5EF4-FFF2-40B4-BE49-F238E27FC236}">
                <a16:creationId xmlns="" xmlns:a16="http://schemas.microsoft.com/office/drawing/2014/main" id="{12DF998B-81DA-CA49-8C5F-CC780FA0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29" name="Line 32">
            <a:extLst>
              <a:ext uri="{FF2B5EF4-FFF2-40B4-BE49-F238E27FC236}">
                <a16:creationId xmlns="" xmlns:a16="http://schemas.microsoft.com/office/drawing/2014/main" id="{0931E746-EEC9-4149-B22C-B128CADA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4995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="" xmlns:a16="http://schemas.microsoft.com/office/drawing/2014/main" id="{18A78410-02D9-124E-8247-E082F132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1883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="" xmlns:a16="http://schemas.microsoft.com/office/drawing/2014/main" id="{200B969E-4AA3-A14C-AF42-EAA87444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2" name="Oval 35">
            <a:extLst>
              <a:ext uri="{FF2B5EF4-FFF2-40B4-BE49-F238E27FC236}">
                <a16:creationId xmlns="" xmlns:a16="http://schemas.microsoft.com/office/drawing/2014/main" id="{79F8363D-C882-3044-8464-7FCFFC28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3" name="Freeform 36">
            <a:extLst>
              <a:ext uri="{FF2B5EF4-FFF2-40B4-BE49-F238E27FC236}">
                <a16:creationId xmlns="" xmlns:a16="http://schemas.microsoft.com/office/drawing/2014/main" id="{C5ED50C5-F56B-144B-B077-B4B2FEDC3660}"/>
              </a:ext>
            </a:extLst>
          </p:cNvPr>
          <p:cNvSpPr>
            <a:spLocks/>
          </p:cNvSpPr>
          <p:nvPr/>
        </p:nvSpPr>
        <p:spPr bwMode="auto">
          <a:xfrm>
            <a:off x="3655708" y="3474188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4" name="Freeform 37">
            <a:extLst>
              <a:ext uri="{FF2B5EF4-FFF2-40B4-BE49-F238E27FC236}">
                <a16:creationId xmlns="" xmlns:a16="http://schemas.microsoft.com/office/drawing/2014/main" id="{A19ED863-F302-4C4B-BF32-9ED18D75863D}"/>
              </a:ext>
            </a:extLst>
          </p:cNvPr>
          <p:cNvSpPr>
            <a:spLocks/>
          </p:cNvSpPr>
          <p:nvPr/>
        </p:nvSpPr>
        <p:spPr bwMode="auto">
          <a:xfrm>
            <a:off x="2555570" y="3483713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5" name="Freeform 38">
            <a:extLst>
              <a:ext uri="{FF2B5EF4-FFF2-40B4-BE49-F238E27FC236}">
                <a16:creationId xmlns="" xmlns:a16="http://schemas.microsoft.com/office/drawing/2014/main" id="{6BF3134C-2B3E-1548-AB3D-A3BDFF4F4A5C}"/>
              </a:ext>
            </a:extLst>
          </p:cNvPr>
          <p:cNvSpPr>
            <a:spLocks/>
          </p:cNvSpPr>
          <p:nvPr/>
        </p:nvSpPr>
        <p:spPr bwMode="auto">
          <a:xfrm>
            <a:off x="2817508" y="3459901"/>
            <a:ext cx="800100" cy="952500"/>
          </a:xfrm>
          <a:custGeom>
            <a:avLst/>
            <a:gdLst>
              <a:gd name="T0" fmla="*/ 0 w 378"/>
              <a:gd name="T1" fmla="*/ 11993521 h 174"/>
              <a:gd name="T2" fmla="*/ 5035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6" name="Freeform 39">
            <a:extLst>
              <a:ext uri="{FF2B5EF4-FFF2-40B4-BE49-F238E27FC236}">
                <a16:creationId xmlns="" xmlns:a16="http://schemas.microsoft.com/office/drawing/2014/main" id="{C6245707-E1A1-D049-ABCA-63F805299AF1}"/>
              </a:ext>
            </a:extLst>
          </p:cNvPr>
          <p:cNvSpPr>
            <a:spLocks/>
          </p:cNvSpPr>
          <p:nvPr/>
        </p:nvSpPr>
        <p:spPr bwMode="auto">
          <a:xfrm>
            <a:off x="3908120" y="4012351"/>
            <a:ext cx="581025" cy="428625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7" name="Freeform 40">
            <a:extLst>
              <a:ext uri="{FF2B5EF4-FFF2-40B4-BE49-F238E27FC236}">
                <a16:creationId xmlns="" xmlns:a16="http://schemas.microsoft.com/office/drawing/2014/main" id="{4B76FA55-0E59-6C45-8AD8-BE40BC0A5648}"/>
              </a:ext>
            </a:extLst>
          </p:cNvPr>
          <p:cNvSpPr>
            <a:spLocks/>
          </p:cNvSpPr>
          <p:nvPr/>
        </p:nvSpPr>
        <p:spPr bwMode="auto">
          <a:xfrm>
            <a:off x="2827033" y="4460026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8" name="Freeform 41">
            <a:extLst>
              <a:ext uri="{FF2B5EF4-FFF2-40B4-BE49-F238E27FC236}">
                <a16:creationId xmlns="" xmlns:a16="http://schemas.microsoft.com/office/drawing/2014/main" id="{478F5CA3-540D-704B-A0A9-843221692BFB}"/>
              </a:ext>
            </a:extLst>
          </p:cNvPr>
          <p:cNvSpPr>
            <a:spLocks/>
          </p:cNvSpPr>
          <p:nvPr/>
        </p:nvSpPr>
        <p:spPr bwMode="auto">
          <a:xfrm>
            <a:off x="1888820" y="3945676"/>
            <a:ext cx="438150" cy="41910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39" name="Freeform 42">
            <a:extLst>
              <a:ext uri="{FF2B5EF4-FFF2-40B4-BE49-F238E27FC236}">
                <a16:creationId xmlns="" xmlns:a16="http://schemas.microsoft.com/office/drawing/2014/main" id="{09441A01-DB3D-8849-9E6E-B61A9E1DF7A5}"/>
              </a:ext>
            </a:extLst>
          </p:cNvPr>
          <p:cNvSpPr>
            <a:spLocks/>
          </p:cNvSpPr>
          <p:nvPr/>
        </p:nvSpPr>
        <p:spPr bwMode="auto">
          <a:xfrm>
            <a:off x="2817508" y="3364651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40" name="Freeform 43">
            <a:extLst>
              <a:ext uri="{FF2B5EF4-FFF2-40B4-BE49-F238E27FC236}">
                <a16:creationId xmlns="" xmlns:a16="http://schemas.microsoft.com/office/drawing/2014/main" id="{FFD32857-C28D-9847-80E0-9E7FFFB0893C}"/>
              </a:ext>
            </a:extLst>
          </p:cNvPr>
          <p:cNvSpPr>
            <a:spLocks/>
          </p:cNvSpPr>
          <p:nvPr/>
        </p:nvSpPr>
        <p:spPr bwMode="auto">
          <a:xfrm>
            <a:off x="3889070" y="3359888"/>
            <a:ext cx="628650" cy="423863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41" name="Freeform 44">
            <a:extLst>
              <a:ext uri="{FF2B5EF4-FFF2-40B4-BE49-F238E27FC236}">
                <a16:creationId xmlns="" xmlns:a16="http://schemas.microsoft.com/office/drawing/2014/main" id="{95317AFD-8425-9047-82D2-5C53D86FC4B1}"/>
              </a:ext>
            </a:extLst>
          </p:cNvPr>
          <p:cNvSpPr>
            <a:spLocks/>
          </p:cNvSpPr>
          <p:nvPr/>
        </p:nvSpPr>
        <p:spPr bwMode="auto">
          <a:xfrm>
            <a:off x="1798333" y="2678851"/>
            <a:ext cx="1762125" cy="1023938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grpSp>
        <p:nvGrpSpPr>
          <p:cNvPr id="142" name="Group 45">
            <a:extLst>
              <a:ext uri="{FF2B5EF4-FFF2-40B4-BE49-F238E27FC236}">
                <a16:creationId xmlns="" xmlns:a16="http://schemas.microsoft.com/office/drawing/2014/main" id="{8EA0B5C0-FA92-A244-9016-9BA3D6889A5F}"/>
              </a:ext>
            </a:extLst>
          </p:cNvPr>
          <p:cNvGrpSpPr>
            <a:grpSpLocks/>
          </p:cNvGrpSpPr>
          <p:nvPr/>
        </p:nvGrpSpPr>
        <p:grpSpPr bwMode="auto">
          <a:xfrm>
            <a:off x="1645839" y="3628176"/>
            <a:ext cx="312921" cy="400050"/>
            <a:chOff x="2958" y="2425"/>
            <a:chExt cx="200" cy="252"/>
          </a:xfrm>
        </p:grpSpPr>
        <p:sp>
          <p:nvSpPr>
            <p:cNvPr id="168" name="Rectangle 46">
              <a:extLst>
                <a:ext uri="{FF2B5EF4-FFF2-40B4-BE49-F238E27FC236}">
                  <a16:creationId xmlns="" xmlns:a16="http://schemas.microsoft.com/office/drawing/2014/main" id="{F6376756-4852-A74B-A929-795C123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69" name="Text Box 47">
              <a:extLst>
                <a:ext uri="{FF2B5EF4-FFF2-40B4-BE49-F238E27FC236}">
                  <a16:creationId xmlns="" xmlns:a16="http://schemas.microsoft.com/office/drawing/2014/main" id="{8D21A96D-93CD-CC4E-9802-65B183FC9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2425"/>
              <a:ext cx="2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u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</p:grpSp>
      <p:grpSp>
        <p:nvGrpSpPr>
          <p:cNvPr id="143" name="Group 48">
            <a:extLst>
              <a:ext uri="{FF2B5EF4-FFF2-40B4-BE49-F238E27FC236}">
                <a16:creationId xmlns="" xmlns:a16="http://schemas.microsoft.com/office/drawing/2014/main" id="{BAEC1726-7585-D84C-8544-8B19570BB0D1}"/>
              </a:ext>
            </a:extLst>
          </p:cNvPr>
          <p:cNvGrpSpPr>
            <a:grpSpLocks/>
          </p:cNvGrpSpPr>
          <p:nvPr/>
        </p:nvGrpSpPr>
        <p:grpSpPr bwMode="auto"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166" name="Rectangle 49">
              <a:extLst>
                <a:ext uri="{FF2B5EF4-FFF2-40B4-BE49-F238E27FC236}">
                  <a16:creationId xmlns="" xmlns:a16="http://schemas.microsoft.com/office/drawing/2014/main" id="{30D6A47E-3051-2642-B778-56D0A6AD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67" name="Text Box 50">
              <a:extLst>
                <a:ext uri="{FF2B5EF4-FFF2-40B4-BE49-F238E27FC236}">
                  <a16:creationId xmlns="" xmlns:a16="http://schemas.microsoft.com/office/drawing/2014/main" id="{657B88CD-80B6-9149-A47C-0E4E4721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y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</p:grpSp>
      <p:grpSp>
        <p:nvGrpSpPr>
          <p:cNvPr id="147" name="Group 60">
            <a:extLst>
              <a:ext uri="{FF2B5EF4-FFF2-40B4-BE49-F238E27FC236}">
                <a16:creationId xmlns="" xmlns:a16="http://schemas.microsoft.com/office/drawing/2014/main" id="{C6605578-FE95-B24F-BADA-356BBFD8BB95}"/>
              </a:ext>
            </a:extLst>
          </p:cNvPr>
          <p:cNvGrpSpPr>
            <a:grpSpLocks/>
          </p:cNvGrpSpPr>
          <p:nvPr/>
        </p:nvGrpSpPr>
        <p:grpSpPr bwMode="auto">
          <a:xfrm>
            <a:off x="4406516" y="3647230"/>
            <a:ext cx="320823" cy="461963"/>
            <a:chOff x="2954" y="2395"/>
            <a:chExt cx="204" cy="291"/>
          </a:xfrm>
        </p:grpSpPr>
        <p:sp>
          <p:nvSpPr>
            <p:cNvPr id="158" name="Rectangle 61">
              <a:extLst>
                <a:ext uri="{FF2B5EF4-FFF2-40B4-BE49-F238E27FC236}">
                  <a16:creationId xmlns="" xmlns:a16="http://schemas.microsoft.com/office/drawing/2014/main" id="{41CF463B-AC90-B448-AB77-AD1A2A48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59" name="Text Box 62">
              <a:extLst>
                <a:ext uri="{FF2B5EF4-FFF2-40B4-BE49-F238E27FC236}">
                  <a16:creationId xmlns="" xmlns:a16="http://schemas.microsoft.com/office/drawing/2014/main" id="{6948C996-9399-804D-A0BC-5489BB15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2395"/>
              <a:ext cx="2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z</a:t>
              </a:r>
            </a:p>
          </p:txBody>
        </p:sp>
      </p:grpSp>
      <p:sp>
        <p:nvSpPr>
          <p:cNvPr id="148" name="Text Box 63">
            <a:extLst>
              <a:ext uri="{FF2B5EF4-FFF2-40B4-BE49-F238E27FC236}">
                <a16:creationId xmlns="" xmlns:a16="http://schemas.microsoft.com/office/drawing/2014/main" id="{5119DE63-46A3-DA49-98F8-27DCAD97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49" name="Text Box 64">
            <a:extLst>
              <a:ext uri="{FF2B5EF4-FFF2-40B4-BE49-F238E27FC236}">
                <a16:creationId xmlns="" xmlns:a16="http://schemas.microsoft.com/office/drawing/2014/main" id="{C6DA4233-38DD-5642-A09A-BB31A7CE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0" name="Text Box 65">
            <a:extLst>
              <a:ext uri="{FF2B5EF4-FFF2-40B4-BE49-F238E27FC236}">
                <a16:creationId xmlns="" xmlns:a16="http://schemas.microsoft.com/office/drawing/2014/main" id="{6E303301-D563-6140-AA2B-70CA3406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1" name="Text Box 66">
            <a:extLst>
              <a:ext uri="{FF2B5EF4-FFF2-40B4-BE49-F238E27FC236}">
                <a16:creationId xmlns="" xmlns:a16="http://schemas.microsoft.com/office/drawing/2014/main" id="{CBC99722-8514-834D-85FC-347C8216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2" name="Text Box 67">
            <a:extLst>
              <a:ext uri="{FF2B5EF4-FFF2-40B4-BE49-F238E27FC236}">
                <a16:creationId xmlns="" xmlns:a16="http://schemas.microsoft.com/office/drawing/2014/main" id="{83B046CC-9905-9C43-9054-62843B40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3" name="Text Box 68">
            <a:extLst>
              <a:ext uri="{FF2B5EF4-FFF2-40B4-BE49-F238E27FC236}">
                <a16:creationId xmlns="" xmlns:a16="http://schemas.microsoft.com/office/drawing/2014/main" id="{534112F7-D709-B040-8EB3-28DABCD6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4" name="Text Box 69">
            <a:extLst>
              <a:ext uri="{FF2B5EF4-FFF2-40B4-BE49-F238E27FC236}">
                <a16:creationId xmlns="" xmlns:a16="http://schemas.microsoft.com/office/drawing/2014/main" id="{23747841-C3BA-4F4A-AF0C-5509D7AD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5" name="Text Box 70">
            <a:extLst>
              <a:ext uri="{FF2B5EF4-FFF2-40B4-BE49-F238E27FC236}">
                <a16:creationId xmlns="" xmlns:a16="http://schemas.microsoft.com/office/drawing/2014/main" id="{505A16BA-1B4E-2946-BF56-95BF07F6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6" name="Text Box 71">
            <a:extLst>
              <a:ext uri="{FF2B5EF4-FFF2-40B4-BE49-F238E27FC236}">
                <a16:creationId xmlns="" xmlns:a16="http://schemas.microsoft.com/office/drawing/2014/main" id="{629902D3-50B9-0949-B491-4ABB1814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57" name="Text Box 72">
            <a:extLst>
              <a:ext uri="{FF2B5EF4-FFF2-40B4-BE49-F238E27FC236}">
                <a16:creationId xmlns="" xmlns:a16="http://schemas.microsoft.com/office/drawing/2014/main" id="{165ABB11-551D-C643-B086-8CDB0076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ＭＳ Ｐゴシック" charset="0"/>
            </a:endParaRPr>
          </a:p>
        </p:txBody>
      </p:sp>
      <p:sp>
        <p:nvSpPr>
          <p:cNvPr id="170" name="Text Box 73">
            <a:extLst>
              <a:ext uri="{FF2B5EF4-FFF2-40B4-BE49-F238E27FC236}">
                <a16:creationId xmlns="" xmlns:a16="http://schemas.microsoft.com/office/drawing/2014/main" id="{50793FC3-EA52-8A46-B2EB-EA9264E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Suppose that </a:t>
            </a:r>
            <a:r>
              <a:rPr kumimoji="0" lang="en-US" sz="2800" b="0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’s neighboring node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s, x,v,w,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know that for destination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 z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="" xmlns:a16="http://schemas.microsoft.com/office/drawing/2014/main" id="{B6EDB62A-BA4E-E241-91FE-0B3F85B42586}"/>
              </a:ext>
            </a:extLst>
          </p:cNvPr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171" name="Text Box 74">
              <a:extLst>
                <a:ext uri="{FF2B5EF4-FFF2-40B4-BE49-F238E27FC236}">
                  <a16:creationId xmlns="" xmlns:a16="http://schemas.microsoft.com/office/drawing/2014/main" id="{08AC163F-B177-6F4C-8CFD-A821A7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7193" y="2803678"/>
              <a:ext cx="3395481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u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= min {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u,v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v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u,x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x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u,w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w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}</a:t>
              </a:r>
            </a:p>
          </p:txBody>
        </p:sp>
        <p:sp>
          <p:nvSpPr>
            <p:cNvPr id="173" name="Text Box 76">
              <a:extLst>
                <a:ext uri="{FF2B5EF4-FFF2-40B4-BE49-F238E27FC236}">
                  <a16:creationId xmlns="" xmlns:a16="http://schemas.microsoft.com/office/drawing/2014/main" id="{75683FA0-BB30-1143-8370-A231590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Bellman-Ford equation says: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D0322153-8ADE-0E45-A262-AA9A6F947B78}"/>
              </a:ext>
            </a:extLst>
          </p:cNvPr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05CDC77B-12CB-3641-B097-13A93B9A5519}"/>
              </a:ext>
            </a:extLst>
          </p:cNvPr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17" name="Freeform 16">
              <a:extLst>
                <a:ext uri="{FF2B5EF4-FFF2-40B4-BE49-F238E27FC236}">
                  <a16:creationId xmlns="" xmlns:a16="http://schemas.microsoft.com/office/drawing/2014/main" id="{2F6815DA-1947-6340-8445-6A386E65C0A9}"/>
                </a:ext>
              </a:extLst>
            </p:cNvPr>
            <p:cNvSpPr/>
            <p:nvPr/>
          </p:nvSpPr>
          <p:spPr>
            <a:xfrm>
              <a:off x="851770" y="2630466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B6668ED3-D130-3D45-B084-001DB41CD429}"/>
                </a:ext>
              </a:extLst>
            </p:cNvPr>
            <p:cNvGrpSpPr/>
            <p:nvPr/>
          </p:nvGrpSpPr>
          <p:grpSpPr>
            <a:xfrm>
              <a:off x="764088" y="2192055"/>
              <a:ext cx="1430200" cy="461665"/>
              <a:chOff x="764088" y="2192055"/>
              <a:chExt cx="1430200" cy="46166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="" xmlns:a16="http://schemas.microsoft.com/office/drawing/2014/main" id="{3BEA4562-9169-7C42-BB3A-DDCF769E8C27}"/>
                  </a:ext>
                </a:extLst>
              </p:cNvPr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CFA04257-DEFD-8540-BF6E-236DE2C4C53F}"/>
                  </a:ext>
                </a:extLst>
              </p:cNvPr>
              <p:cNvSpPr txBox="1"/>
              <p:nvPr/>
            </p:nvSpPr>
            <p:spPr>
              <a:xfrm>
                <a:off x="764088" y="2192055"/>
                <a:ext cx="14302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v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(z) </a:t>
                </a:r>
                <a:r>
                  <a:rPr lang="en-US" sz="2400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= 5</a:t>
                </a:r>
                <a:endParaRPr lang="en-US" sz="24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="" xmlns:a16="http://schemas.microsoft.com/office/drawing/2014/main" id="{C721CBAE-72DC-0B4C-AC71-D468764AA3F0}"/>
              </a:ext>
            </a:extLst>
          </p:cNvPr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179" name="Group 178">
              <a:extLst>
                <a:ext uri="{FF2B5EF4-FFF2-40B4-BE49-F238E27FC236}">
                  <a16:creationId xmlns="" xmlns:a16="http://schemas.microsoft.com/office/drawing/2014/main" id="{A465F243-8453-E94C-A8EB-000E66654551}"/>
                </a:ext>
              </a:extLst>
            </p:cNvPr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113" name="Oval 16">
                <a:extLst>
                  <a:ext uri="{FF2B5EF4-FFF2-40B4-BE49-F238E27FC236}">
                    <a16:creationId xmlns="" xmlns:a16="http://schemas.microsoft.com/office/drawing/2014/main" id="{0853C746-773B-9B4B-9E9D-1A3FFD58F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4" name="Line 17">
                <a:extLst>
                  <a:ext uri="{FF2B5EF4-FFF2-40B4-BE49-F238E27FC236}">
                    <a16:creationId xmlns="" xmlns:a16="http://schemas.microsoft.com/office/drawing/2014/main" id="{02D5EB0A-0D47-D64A-94C0-9489ADD6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920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5" name="Line 18">
                <a:extLst>
                  <a:ext uri="{FF2B5EF4-FFF2-40B4-BE49-F238E27FC236}">
                    <a16:creationId xmlns="" xmlns:a16="http://schemas.microsoft.com/office/drawing/2014/main" id="{19267F03-A18E-E94D-AFBE-D36264403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808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6" name="Rectangle 19">
                <a:extLst>
                  <a:ext uri="{FF2B5EF4-FFF2-40B4-BE49-F238E27FC236}">
                    <a16:creationId xmlns="" xmlns:a16="http://schemas.microsoft.com/office/drawing/2014/main" id="{5775B4BF-7190-E346-A0C4-3136C4FD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="" xmlns:a16="http://schemas.microsoft.com/office/drawing/2014/main" id="{527A7EAA-5AB1-D541-8B8E-A74D44BA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  <p:grpSp>
          <p:nvGrpSpPr>
            <p:cNvPr id="146" name="Group 57">
              <a:extLst>
                <a:ext uri="{FF2B5EF4-FFF2-40B4-BE49-F238E27FC236}">
                  <a16:creationId xmlns="" xmlns:a16="http://schemas.microsoft.com/office/drawing/2014/main" id="{E5EC63B4-77F4-0244-AFB9-0658A6C7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160" name="Rectangle 58">
                <a:extLst>
                  <a:ext uri="{FF2B5EF4-FFF2-40B4-BE49-F238E27FC236}">
                    <a16:creationId xmlns="" xmlns:a16="http://schemas.microsoft.com/office/drawing/2014/main" id="{DD912960-89ED-D147-B665-AC6CCFCE5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61" name="Text Box 59">
                <a:extLst>
                  <a:ext uri="{FF2B5EF4-FFF2-40B4-BE49-F238E27FC236}">
                    <a16:creationId xmlns="" xmlns:a16="http://schemas.microsoft.com/office/drawing/2014/main" id="{540DB369-7FE9-DE41-B6CA-42B11EC1D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="" xmlns:a16="http://schemas.microsoft.com/office/drawing/2014/main" id="{F0B3B02B-083F-B544-92D3-D4A53099AC16}"/>
              </a:ext>
            </a:extLst>
          </p:cNvPr>
          <p:cNvGrpSpPr/>
          <p:nvPr/>
        </p:nvGrpSpPr>
        <p:grpSpPr>
          <a:xfrm>
            <a:off x="3717682" y="2156537"/>
            <a:ext cx="1726438" cy="1131193"/>
            <a:chOff x="3717682" y="2156537"/>
            <a:chExt cx="1726438" cy="1131193"/>
          </a:xfrm>
        </p:grpSpPr>
        <p:sp>
          <p:nvSpPr>
            <p:cNvPr id="182" name="Freeform 181">
              <a:extLst>
                <a:ext uri="{FF2B5EF4-FFF2-40B4-BE49-F238E27FC236}">
                  <a16:creationId xmlns="" xmlns:a16="http://schemas.microsoft.com/office/drawing/2014/main" id="{ADC690BC-B355-8B44-A59E-02C693DA19C7}"/>
                </a:ext>
              </a:extLst>
            </p:cNvPr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28A5A808-82DD-BB42-BA0F-146BE0A1F565}"/>
                </a:ext>
              </a:extLst>
            </p:cNvPr>
            <p:cNvGrpSpPr/>
            <p:nvPr/>
          </p:nvGrpSpPr>
          <p:grpSpPr>
            <a:xfrm>
              <a:off x="3933770" y="2156537"/>
              <a:ext cx="1510350" cy="461665"/>
              <a:chOff x="5257869" y="2364355"/>
              <a:chExt cx="1510350" cy="461665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="" xmlns:a16="http://schemas.microsoft.com/office/drawing/2014/main" id="{549EF23C-2FFE-C14C-951E-E59A0690CED4}"/>
                  </a:ext>
                </a:extLst>
              </p:cNvPr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="" xmlns:a16="http://schemas.microsoft.com/office/drawing/2014/main" id="{649CD771-2F80-AF41-B52D-63EB08A14300}"/>
                  </a:ext>
                </a:extLst>
              </p:cNvPr>
              <p:cNvSpPr txBox="1"/>
              <p:nvPr/>
            </p:nvSpPr>
            <p:spPr>
              <a:xfrm>
                <a:off x="5257869" y="2364355"/>
                <a:ext cx="1510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w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(z) = </a:t>
                </a:r>
                <a:r>
                  <a:rPr lang="en-US" sz="2400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3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="" xmlns:a16="http://schemas.microsoft.com/office/drawing/2014/main" id="{D186D734-0E35-0848-877D-0B8A6851C7C0}"/>
              </a:ext>
            </a:extLst>
          </p:cNvPr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118" name="Oval 21">
              <a:extLst>
                <a:ext uri="{FF2B5EF4-FFF2-40B4-BE49-F238E27FC236}">
                  <a16:creationId xmlns="" xmlns:a16="http://schemas.microsoft.com/office/drawing/2014/main" id="{CA014D69-6A3C-9242-91D0-7DCB5FF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19" name="Line 22">
              <a:extLst>
                <a:ext uri="{FF2B5EF4-FFF2-40B4-BE49-F238E27FC236}">
                  <a16:creationId xmlns="" xmlns:a16="http://schemas.microsoft.com/office/drawing/2014/main" id="{A6BCF00D-E263-8C4C-AD85-5BD8F55AD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1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20" name="Line 23">
              <a:extLst>
                <a:ext uri="{FF2B5EF4-FFF2-40B4-BE49-F238E27FC236}">
                  <a16:creationId xmlns="" xmlns:a16="http://schemas.microsoft.com/office/drawing/2014/main" id="{CDCA1E47-6B43-D144-9AB7-28160C22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4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21" name="Rectangle 24">
              <a:extLst>
                <a:ext uri="{FF2B5EF4-FFF2-40B4-BE49-F238E27FC236}">
                  <a16:creationId xmlns="" xmlns:a16="http://schemas.microsoft.com/office/drawing/2014/main" id="{B3CD70A8-E93D-AC46-8A88-E9576AB39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22" name="Oval 25">
              <a:extLst>
                <a:ext uri="{FF2B5EF4-FFF2-40B4-BE49-F238E27FC236}">
                  <a16:creationId xmlns="" xmlns:a16="http://schemas.microsoft.com/office/drawing/2014/main" id="{C2A5705E-82DA-3146-B8C6-31D21086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grpSp>
          <p:nvGrpSpPr>
            <p:cNvPr id="145" name="Group 54">
              <a:extLst>
                <a:ext uri="{FF2B5EF4-FFF2-40B4-BE49-F238E27FC236}">
                  <a16:creationId xmlns="" xmlns:a16="http://schemas.microsoft.com/office/drawing/2014/main" id="{10D52570-25C6-A74A-94B9-5AE0B127B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162" name="Rectangle 55">
                <a:extLst>
                  <a:ext uri="{FF2B5EF4-FFF2-40B4-BE49-F238E27FC236}">
                    <a16:creationId xmlns="" xmlns:a16="http://schemas.microsoft.com/office/drawing/2014/main" id="{E048F283-E3E7-474A-9EB5-932E8F2E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63" name="Text Box 56">
                <a:extLst>
                  <a:ext uri="{FF2B5EF4-FFF2-40B4-BE49-F238E27FC236}">
                    <a16:creationId xmlns="" xmlns:a16="http://schemas.microsoft.com/office/drawing/2014/main" id="{44012ACC-934B-934B-8D00-F664ACDB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="" xmlns:a16="http://schemas.microsoft.com/office/drawing/2014/main" id="{860B586A-B5CC-CE4A-9EA2-334F6AEAC3E2}"/>
              </a:ext>
            </a:extLst>
          </p:cNvPr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190" name="Freeform 189">
              <a:extLst>
                <a:ext uri="{FF2B5EF4-FFF2-40B4-BE49-F238E27FC236}">
                  <a16:creationId xmlns="" xmlns:a16="http://schemas.microsoft.com/office/drawing/2014/main" id="{0FDAB56E-7C26-614E-9058-3AA449B7210D}"/>
                </a:ext>
              </a:extLst>
            </p:cNvPr>
            <p:cNvSpPr/>
            <p:nvPr/>
          </p:nvSpPr>
          <p:spPr>
            <a:xfrm flipV="1">
              <a:off x="936877" y="4372180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="" xmlns:a16="http://schemas.microsoft.com/office/drawing/2014/main" id="{31779409-6F55-874D-8E5A-3B311FFB355F}"/>
                </a:ext>
              </a:extLst>
            </p:cNvPr>
            <p:cNvGrpSpPr/>
            <p:nvPr/>
          </p:nvGrpSpPr>
          <p:grpSpPr>
            <a:xfrm>
              <a:off x="848468" y="5017459"/>
              <a:ext cx="1430200" cy="461665"/>
              <a:chOff x="296266" y="4536509"/>
              <a:chExt cx="1430200" cy="461665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="" xmlns:a16="http://schemas.microsoft.com/office/drawing/2014/main" id="{6D48F49C-5FEB-D94C-B56E-06D13EA9B5E1}"/>
                  </a:ext>
                </a:extLst>
              </p:cNvPr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="" xmlns:a16="http://schemas.microsoft.com/office/drawing/2014/main" id="{1DB737CC-056A-554D-A2BB-CD3B4E0B69C1}"/>
                  </a:ext>
                </a:extLst>
              </p:cNvPr>
              <p:cNvSpPr txBox="1"/>
              <p:nvPr/>
            </p:nvSpPr>
            <p:spPr>
              <a:xfrm>
                <a:off x="296266" y="4536509"/>
                <a:ext cx="14302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x</a:t>
                </a:r>
                <a:r>
                  <a:rPr lang="en-US" sz="2400" i="1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(z)</a:t>
                </a:r>
                <a:r>
                  <a:rPr lang="en-US" sz="2400" kern="0" dirty="0">
                    <a:solidFill>
                      <a:srgbClr val="000000"/>
                    </a:solidFill>
                    <a:latin typeface="+mj-lt"/>
                    <a:ea typeface="ＭＳ Ｐゴシック" charset="0"/>
                  </a:rPr>
                  <a:t> = 3</a:t>
                </a:r>
                <a:endParaRPr lang="en-US" sz="24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="" xmlns:a16="http://schemas.microsoft.com/office/drawing/2014/main" id="{58A5A6F4-5535-7044-9045-AFBC8693D3DD}"/>
              </a:ext>
            </a:extLst>
          </p:cNvPr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108" name="Oval 11">
              <a:extLst>
                <a:ext uri="{FF2B5EF4-FFF2-40B4-BE49-F238E27FC236}">
                  <a16:creationId xmlns="" xmlns:a16="http://schemas.microsoft.com/office/drawing/2014/main" id="{470E1052-993B-F24E-9782-67DE07D0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09" name="Line 12">
              <a:extLst>
                <a:ext uri="{FF2B5EF4-FFF2-40B4-BE49-F238E27FC236}">
                  <a16:creationId xmlns="" xmlns:a16="http://schemas.microsoft.com/office/drawing/2014/main" id="{31D48756-4D3F-4547-BA38-955DF048F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270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10" name="Line 13">
              <a:extLst>
                <a:ext uri="{FF2B5EF4-FFF2-40B4-BE49-F238E27FC236}">
                  <a16:creationId xmlns="" xmlns:a16="http://schemas.microsoft.com/office/drawing/2014/main" id="{739610AA-5AAB-D14A-A48E-0A54C959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158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="" xmlns:a16="http://schemas.microsoft.com/office/drawing/2014/main" id="{360C5DF9-4C76-A744-9F0B-26316821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112" name="Oval 15">
              <a:extLst>
                <a:ext uri="{FF2B5EF4-FFF2-40B4-BE49-F238E27FC236}">
                  <a16:creationId xmlns="" xmlns:a16="http://schemas.microsoft.com/office/drawing/2014/main" id="{2CD5FE5E-F3FC-794D-801F-716C3113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grpSp>
          <p:nvGrpSpPr>
            <p:cNvPr id="144" name="Group 51">
              <a:extLst>
                <a:ext uri="{FF2B5EF4-FFF2-40B4-BE49-F238E27FC236}">
                  <a16:creationId xmlns="" xmlns:a16="http://schemas.microsoft.com/office/drawing/2014/main" id="{0ED4F197-C93F-DA4E-8544-F01425D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164" name="Rectangle 52">
                <a:extLst>
                  <a:ext uri="{FF2B5EF4-FFF2-40B4-BE49-F238E27FC236}">
                    <a16:creationId xmlns="" xmlns:a16="http://schemas.microsoft.com/office/drawing/2014/main" id="{CE500E28-5EFE-184C-AFDD-8A846D35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65" name="Text Box 53">
                <a:extLst>
                  <a:ext uri="{FF2B5EF4-FFF2-40B4-BE49-F238E27FC236}">
                    <a16:creationId xmlns="" xmlns:a16="http://schemas.microsoft.com/office/drawing/2014/main" id="{37535D4F-07D0-264C-A07C-015C89C4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x</a:t>
                </a:r>
              </a:p>
            </p:txBody>
          </p:sp>
        </p:grpSp>
      </p:grpSp>
      <p:sp>
        <p:nvSpPr>
          <p:cNvPr id="197" name="Text Box 74">
            <a:extLst>
              <a:ext uri="{FF2B5EF4-FFF2-40B4-BE49-F238E27FC236}">
                <a16:creationId xmlns="" xmlns:a16="http://schemas.microsoft.com/office/drawing/2014/main" id="{6F64D06C-3D4A-B04D-8692-766E31CD8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11" y="3940800"/>
            <a:ext cx="23711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= min {2 + 5,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           1 + 3,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rPr>
              <a:t>           5 + 3}  = 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="" xmlns:a16="http://schemas.microsoft.com/office/drawing/2014/main" id="{8A292125-2EE5-8447-8FF0-AEFFAC0F3684}"/>
              </a:ext>
            </a:extLst>
          </p:cNvPr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172" name="Text Box 75">
              <a:extLst>
                <a:ext uri="{FF2B5EF4-FFF2-40B4-BE49-F238E27FC236}">
                  <a16:creationId xmlns="" xmlns:a16="http://schemas.microsoft.com/office/drawing/2014/main" id="{D4C1EC73-3BE9-374D-9155-88EE026D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j-lt"/>
                </a:rPr>
                <a:t>node achieving minimum (x) is next hop on estimated least-cost path to destination (z)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="" xmlns:a16="http://schemas.microsoft.com/office/drawing/2014/main" id="{2177DC18-8CDE-BA4F-8FF1-5BE42EF07A19}"/>
                </a:ext>
              </a:extLst>
            </p:cNvPr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00" name="Oval 199">
                <a:extLst>
                  <a:ext uri="{FF2B5EF4-FFF2-40B4-BE49-F238E27FC236}">
                    <a16:creationId xmlns="" xmlns:a16="http://schemas.microsoft.com/office/drawing/2014/main" id="{CF226A95-9353-0345-B51C-FDB35A8DBEBD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="" xmlns:a16="http://schemas.microsoft.com/office/drawing/2014/main" id="{700A119D-A8CE-A24F-8ACD-5859569B99F4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="" xmlns:a16="http://schemas.microsoft.com/office/drawing/2014/main" id="{02459B3A-8E65-7640-A5B7-E7540BECDC06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518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</a:rPr>
              <a:t>Network Layer: 5-</a:t>
            </a:r>
            <a:fld id="{C4204591-24BD-A542-B9D5-F8D8A88D2FEE}" type="slidenum">
              <a:rPr lang="en-US" smtClean="0">
                <a:latin typeface="+mj-lt"/>
              </a:rPr>
              <a:pPr/>
              <a:t>9</a:t>
            </a:fld>
            <a:endParaRPr lang="en-US" dirty="0">
              <a:latin typeface="+mj-lt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="" xmlns:a16="http://schemas.microsoft.com/office/drawing/2014/main" id="{E33E7BCD-C9D1-7D45-9F57-213BDDBFDBF8}"/>
              </a:ext>
            </a:extLst>
          </p:cNvPr>
          <p:cNvSpPr txBox="1">
            <a:spLocks noChangeArrowheads="1"/>
          </p:cNvSpPr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+mj-lt"/>
              </a:rPr>
              <a:t>key idea: </a:t>
            </a:r>
          </a:p>
          <a:p>
            <a:pPr marL="460375" indent="-330200">
              <a:defRPr/>
            </a:pPr>
            <a:r>
              <a:rPr lang="en-US" dirty="0">
                <a:latin typeface="+mj-lt"/>
              </a:rPr>
              <a:t>from time-to-time, each node sends its own distance vector estimate to neighbors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="" xmlns:a16="http://schemas.microsoft.com/office/drawing/2014/main" id="{64DF72B6-39CC-344C-9D00-C68FD6E1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pitchFamily="2" charset="2"/>
              <a:buChar char="§"/>
            </a:pPr>
            <a:r>
              <a:rPr lang="en-US" sz="2800" dirty="0">
                <a:latin typeface="+mj-lt"/>
              </a:rPr>
              <a:t>under minor, natural conditions, the estimate </a:t>
            </a:r>
            <a:r>
              <a:rPr lang="en-US" sz="2800" i="1" dirty="0">
                <a:latin typeface="+mj-lt"/>
                <a:cs typeface="Times New Roman" charset="0"/>
              </a:rPr>
              <a:t>D</a:t>
            </a:r>
            <a:r>
              <a:rPr lang="en-US" sz="2800" i="1" baseline="-30000" dirty="0">
                <a:latin typeface="+mj-lt"/>
                <a:cs typeface="Times New Roman" charset="0"/>
              </a:rPr>
              <a:t>x</a:t>
            </a:r>
            <a:r>
              <a:rPr lang="en-US" sz="2800" i="1" dirty="0">
                <a:latin typeface="+mj-lt"/>
                <a:cs typeface="Times New Roman" charset="0"/>
              </a:rPr>
              <a:t>(y) converge to the actual least cost </a:t>
            </a:r>
            <a:r>
              <a:rPr lang="en-US" sz="2800" dirty="0">
                <a:latin typeface="+mj-lt"/>
              </a:rPr>
              <a:t>d</a:t>
            </a:r>
            <a:r>
              <a:rPr lang="en-US" sz="2800" baseline="-25000" dirty="0">
                <a:latin typeface="+mj-lt"/>
              </a:rPr>
              <a:t>x</a:t>
            </a:r>
            <a:r>
              <a:rPr lang="en-US" sz="2800" dirty="0">
                <a:latin typeface="+mj-lt"/>
              </a:rPr>
              <a:t>(y)</a:t>
            </a:r>
            <a:r>
              <a:rPr lang="en-US" sz="2400" dirty="0">
                <a:latin typeface="+mj-lt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D26794A-966A-6D45-813B-D1EAD011046F}"/>
              </a:ext>
            </a:extLst>
          </p:cNvPr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" name="Rectangle 4">
              <a:extLst>
                <a:ext uri="{FF2B5EF4-FFF2-40B4-BE49-F238E27FC236}">
                  <a16:creationId xmlns="" xmlns:a16="http://schemas.microsoft.com/office/drawing/2014/main" id="{8820A465-F22E-4E44-9E83-58539B59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528" y="3681273"/>
              <a:ext cx="69846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2800" i="1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D</a:t>
              </a:r>
              <a:r>
                <a:rPr lang="en-US" sz="2800" i="1" baseline="-30000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x</a:t>
              </a:r>
              <a:r>
                <a:rPr lang="en-US" sz="2800" i="1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(y) ← min</a:t>
              </a:r>
              <a:r>
                <a:rPr lang="en-US" sz="2800" i="1" baseline="-30000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{c</a:t>
              </a:r>
              <a:r>
                <a:rPr lang="en-US" sz="2800" i="1" baseline="-25000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x,v </a:t>
              </a:r>
              <a:r>
                <a:rPr lang="en-US" sz="2800" i="1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+ D</a:t>
              </a:r>
              <a:r>
                <a:rPr lang="en-US" sz="2800" i="1" baseline="-30000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latin typeface="+mj-lt"/>
                  <a:cs typeface="Times New Roman" charset="0"/>
                </a:rPr>
                <a:t>(y)}  </a:t>
              </a:r>
              <a:r>
                <a:rPr lang="en-US" sz="2800" dirty="0">
                  <a:latin typeface="+mj-lt"/>
                  <a:cs typeface="Times New Roman" charset="0"/>
                </a:rPr>
                <a:t>for each node </a:t>
              </a:r>
              <a:r>
                <a:rPr lang="en-US" sz="2800" i="1" dirty="0">
                  <a:latin typeface="+mj-lt"/>
                  <a:cs typeface="Times New Roman" charset="0"/>
                </a:rPr>
                <a:t>y</a:t>
              </a:r>
              <a:r>
                <a:rPr lang="en-US" sz="2800" dirty="0">
                  <a:latin typeface="+mj-lt"/>
                  <a:cs typeface="Times New Roman" charset="0"/>
                </a:rPr>
                <a:t> </a:t>
              </a:r>
              <a:r>
                <a:rPr lang="en-US" sz="2800" dirty="0">
                  <a:latin typeface="+mj-lt"/>
                  <a:ea typeface="MS Mincho" charset="0"/>
                  <a:cs typeface="MS Mincho" charset="0"/>
                </a:rPr>
                <a:t>∊</a:t>
              </a:r>
              <a:r>
                <a:rPr lang="en-US" sz="2800" dirty="0">
                  <a:latin typeface="+mj-lt"/>
                  <a:cs typeface="Times New Roman" charset="0"/>
                </a:rPr>
                <a:t> </a:t>
              </a:r>
              <a:r>
                <a:rPr lang="en-US" sz="2800" i="1" dirty="0">
                  <a:latin typeface="+mj-lt"/>
                  <a:cs typeface="Times New Roman" charset="0"/>
                </a:rPr>
                <a:t>N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="" xmlns:a16="http://schemas.microsoft.com/office/drawing/2014/main" id="{76402688-900A-584B-96BE-A2D2A8F80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0375" indent="-330200">
                <a:defRPr/>
              </a:pPr>
              <a:r>
                <a:rPr lang="en-US" dirty="0">
                  <a:latin typeface="+mj-lt"/>
                </a:rPr>
                <a:t>when </a:t>
              </a:r>
              <a:r>
                <a:rPr lang="en-US" i="1" dirty="0">
                  <a:latin typeface="+mj-lt"/>
                </a:rPr>
                <a:t>x</a:t>
              </a:r>
              <a:r>
                <a:rPr lang="en-US" dirty="0">
                  <a:latin typeface="+mj-lt"/>
                </a:rPr>
                <a:t> receives new DV estimate from any neighbor, it updates its own DV using B-F equation: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298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7">
            <a:extLst>
              <a:ext uri="{FF2B5EF4-FFF2-40B4-BE49-F238E27FC236}">
                <a16:creationId xmlns="" xmlns:a16="http://schemas.microsoft.com/office/drawing/2014/main" id="{EFC6901E-6625-8845-BE3F-534E18DC96EB}"/>
              </a:ext>
            </a:extLst>
          </p:cNvPr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359" name="Freeform 358">
              <a:extLst>
                <a:ext uri="{FF2B5EF4-FFF2-40B4-BE49-F238E27FC236}">
                  <a16:creationId xmlns="" xmlns:a16="http://schemas.microsoft.com/office/drawing/2014/main" id="{4CD71459-EB0F-DA48-840A-CE1D12C897D0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="" xmlns:a16="http://schemas.microsoft.com/office/drawing/2014/main" id="{0EDC177C-D23A-4F4C-864F-FFDFF6E33129}"/>
                </a:ext>
              </a:extLst>
            </p:cNvPr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="" xmlns:a16="http://schemas.microsoft.com/office/drawing/2014/main" id="{F9DA473D-F5CB-3B48-B236-B65636E0B23E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="" xmlns:a16="http://schemas.microsoft.com/office/drawing/2014/main" id="{FBAC5385-3193-A948-B616-246766D0C301}"/>
                  </a:ext>
                </a:extLst>
              </p:cNvPr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="" xmlns:a16="http://schemas.microsoft.com/office/drawing/2014/main" id="{62FD532C-FB8E-AD49-9559-40749CB0E8D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="" xmlns:a16="http://schemas.microsoft.com/office/drawing/2014/main" id="{21E168E0-497F-9044-9F81-6819E97B423F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="" xmlns:a16="http://schemas.microsoft.com/office/drawing/2014/main" id="{B09A1AE0-8356-D74F-B5C2-A657CA3ED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="" xmlns:a16="http://schemas.microsoft.com/office/drawing/2014/main" id="{06F76BBD-7406-A34C-951B-FADCC0FF3664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="" xmlns:a16="http://schemas.microsoft.com/office/drawing/2014/main" id="{20D98609-9181-0C4A-AE2C-346DD87867AA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27" name="TextBox 226">
              <a:extLst>
                <a:ext uri="{FF2B5EF4-FFF2-40B4-BE49-F238E27FC236}">
                  <a16:creationId xmlns="" xmlns:a16="http://schemas.microsoft.com/office/drawing/2014/main" id="{28F628B2-E287-644F-9022-BD27AE29D1B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t=0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="" xmlns:a16="http://schemas.microsoft.com/office/drawing/2014/main" id="{CC49A0EA-8708-104C-8A7B-0A0875E68DB4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228" name="Oval 227">
                <a:extLst>
                  <a:ext uri="{FF2B5EF4-FFF2-40B4-BE49-F238E27FC236}">
                    <a16:creationId xmlns="" xmlns:a16="http://schemas.microsoft.com/office/drawing/2014/main" id="{17BA58CB-2477-BE4F-97AD-F6234ACEAEAE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="" xmlns:a16="http://schemas.microsoft.com/office/drawing/2014/main" id="{A83B3BF1-2FE7-D941-8F17-F53DF698D3D4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="" xmlns:a16="http://schemas.microsoft.com/office/drawing/2014/main" id="{809C848E-61D7-604B-904F-F46B1F70915E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="" xmlns:a16="http://schemas.microsoft.com/office/drawing/2014/main" id="{6E443275-F9DD-D04E-8D60-BAD1DFBA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="" xmlns:a16="http://schemas.microsoft.com/office/drawing/2014/main" id="{1A40FE45-C3D5-8644-80E7-3A6FF3B0D4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="" xmlns:a16="http://schemas.microsoft.com/office/drawing/2014/main" id="{A92626E3-5D76-4747-8F59-14CDEC81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="" xmlns:a16="http://schemas.microsoft.com/office/drawing/2014/main" id="{4BE49970-1DAF-8145-AC4C-92BBC982E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="" xmlns:a16="http://schemas.microsoft.com/office/drawing/2014/main" id="{1D7190C8-8824-E245-88FF-07416CD845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="" xmlns:a16="http://schemas.microsoft.com/office/drawing/2014/main" id="{B93D5913-A28D-6F4C-84E5-4BFBB5E94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="" xmlns:a16="http://schemas.microsoft.com/office/drawing/2014/main" id="{0DAC6B31-B886-0043-8195-9BFF5909E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="" xmlns:a16="http://schemas.microsoft.com/office/drawing/2014/main" id="{FE8501E0-4894-EB46-9A8C-90438C4B45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="" xmlns:a16="http://schemas.microsoft.com/office/drawing/2014/main" id="{7D05F761-1E2D-D242-8145-FA6CB5216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="" xmlns:a16="http://schemas.microsoft.com/office/drawing/2014/main" id="{E8E9805E-BE5E-D841-AC71-C07001BD4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Oval 249">
                <a:extLst>
                  <a:ext uri="{FF2B5EF4-FFF2-40B4-BE49-F238E27FC236}">
                    <a16:creationId xmlns="" xmlns:a16="http://schemas.microsoft.com/office/drawing/2014/main" id="{FC54B5C3-6CE5-0444-91FF-053BF6CE589C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="" xmlns:a16="http://schemas.microsoft.com/office/drawing/2014/main" id="{1FFD0838-0271-4340-8F0B-74EF50011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2725" y="3548510"/>
                <a:ext cx="0" cy="207515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="" xmlns:a16="http://schemas.microsoft.com/office/drawing/2014/main" id="{748F6DEF-668E-5841-A6A2-B63A0C4711C1}"/>
              </a:ext>
            </a:extLst>
          </p:cNvPr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have distance estimates to nearest neighbors (only)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="" xmlns:a16="http://schemas.microsoft.com/office/drawing/2014/main" id="{317D5632-B975-3440-BACC-A257B3D4043E}"/>
              </a:ext>
            </a:extLst>
          </p:cNvPr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1024" name="TextBox 1023">
              <a:extLst>
                <a:ext uri="{FF2B5EF4-FFF2-40B4-BE49-F238E27FC236}">
                  <a16:creationId xmlns="" xmlns:a16="http://schemas.microsoft.com/office/drawing/2014/main" id="{F3693395-6389-7A45-93DD-EF462B33B043}"/>
                </a:ext>
              </a:extLst>
            </p:cNvPr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few asymmetries: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missing link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larger cost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="" xmlns:a16="http://schemas.microsoft.com/office/drawing/2014/main" id="{4E929335-40BB-CB40-86CA-FAACFF10EC6F}"/>
                </a:ext>
              </a:extLst>
            </p:cNvPr>
            <p:cNvCxnSpPr/>
            <p:nvPr/>
          </p:nvCxnSpPr>
          <p:spPr>
            <a:xfrm flipH="1" flipV="1">
              <a:off x="8414795" y="3032568"/>
              <a:ext cx="995423" cy="1111169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="" xmlns:a16="http://schemas.microsoft.com/office/drawing/2014/main" id="{8C615253-8FD8-C347-9EAB-9A57486BF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694" y="2293717"/>
              <a:ext cx="3726112" cy="2091470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2" name="Right Arrow 1031">
            <a:extLst>
              <a:ext uri="{FF2B5EF4-FFF2-40B4-BE49-F238E27FC236}">
                <a16:creationId xmlns=""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=""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=""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=""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=""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=""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=""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=""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=""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=""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=""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=""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=""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=""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=""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=""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=""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=""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=""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=""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=""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=""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TextBox 355">
            <a:extLst>
              <a:ext uri="{FF2B5EF4-FFF2-40B4-BE49-F238E27FC236}">
                <a16:creationId xmlns="" xmlns:a16="http://schemas.microsoft.com/office/drawing/2014/main" id="{51404446-23C0-2D44-BCD1-6A216A38E9F1}"/>
              </a:ext>
            </a:extLst>
          </p:cNvPr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send their local distance vector to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177037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=""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1752" y="3564494"/>
                <a:ext cx="137579" cy="231764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8" name="Straight Connector 177">
            <a:extLst>
              <a:ext uri="{FF2B5EF4-FFF2-40B4-BE49-F238E27FC236}">
                <a16:creationId xmlns="" xmlns:a16="http://schemas.microsoft.com/office/drawing/2014/main" id="{AB5E9CBF-AF97-5D48-B9CB-2EC5C2C526F5}"/>
              </a:ext>
            </a:extLst>
          </p:cNvPr>
          <p:cNvCxnSpPr>
            <a:cxnSpLocks/>
            <a:stCxn id="180" idx="2"/>
            <a:endCxn id="180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="" xmlns:a16="http://schemas.microsoft.com/office/drawing/2014/main" id="{D7EFE419-3569-2941-B21B-FEE938B00519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="" xmlns:a16="http://schemas.microsoft.com/office/drawing/2014/main" id="{4E468BF4-771A-9F4F-B78A-F622D4132D71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1" name="Rectangle 180">
            <a:extLst>
              <a:ext uri="{FF2B5EF4-FFF2-40B4-BE49-F238E27FC236}">
                <a16:creationId xmlns="" xmlns:a16="http://schemas.microsoft.com/office/drawing/2014/main" id="{CE684AEF-59A3-F546-87AC-81E722615FE7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2" name="Group 181">
            <a:extLst>
              <a:ext uri="{FF2B5EF4-FFF2-40B4-BE49-F238E27FC236}">
                <a16:creationId xmlns="" xmlns:a16="http://schemas.microsoft.com/office/drawing/2014/main" id="{90024695-3FDD-964E-B152-496C22A4D46B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3" name="Group 182">
              <a:extLst>
                <a:ext uri="{FF2B5EF4-FFF2-40B4-BE49-F238E27FC236}">
                  <a16:creationId xmlns="" xmlns:a16="http://schemas.microsoft.com/office/drawing/2014/main" id="{6C8EE3F3-AE25-054F-9105-9B7FA34FFD32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="" xmlns:a16="http://schemas.microsoft.com/office/drawing/2014/main" id="{5D6CC66D-1EF8-A444-9970-9D45735DBF9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8" name="Oval 5">
                  <a:extLst>
                    <a:ext uri="{FF2B5EF4-FFF2-40B4-BE49-F238E27FC236}">
                      <a16:creationId xmlns="" xmlns:a16="http://schemas.microsoft.com/office/drawing/2014/main" id="{19EC7CC2-5F3C-F044-855B-3528C7625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1" name="Line 6">
                  <a:extLst>
                    <a:ext uri="{FF2B5EF4-FFF2-40B4-BE49-F238E27FC236}">
                      <a16:creationId xmlns="" xmlns:a16="http://schemas.microsoft.com/office/drawing/2014/main" id="{6779C44F-E1F7-DF44-9610-B2A0F6F27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2" name="Line 7">
                  <a:extLst>
                    <a:ext uri="{FF2B5EF4-FFF2-40B4-BE49-F238E27FC236}">
                      <a16:creationId xmlns="" xmlns:a16="http://schemas.microsoft.com/office/drawing/2014/main" id="{D14FB091-AFB7-A944-A8E6-CDE6BB06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5" name="Rectangle 8">
                  <a:extLst>
                    <a:ext uri="{FF2B5EF4-FFF2-40B4-BE49-F238E27FC236}">
                      <a16:creationId xmlns="" xmlns:a16="http://schemas.microsoft.com/office/drawing/2014/main" id="{3C11373B-941E-A341-8B50-3B1BAB288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7" name="Oval 9">
                  <a:extLst>
                    <a:ext uri="{FF2B5EF4-FFF2-40B4-BE49-F238E27FC236}">
                      <a16:creationId xmlns="" xmlns:a16="http://schemas.microsoft.com/office/drawing/2014/main" id="{59F44B8F-8F72-CD4B-B450-03B98435A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66" name="Group 44">
                <a:extLst>
                  <a:ext uri="{FF2B5EF4-FFF2-40B4-BE49-F238E27FC236}">
                    <a16:creationId xmlns="" xmlns:a16="http://schemas.microsoft.com/office/drawing/2014/main" id="{C69DC42A-1FAB-8243-B34F-E94F334C7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6" name="Rectangle 45">
                  <a:extLst>
                    <a:ext uri="{FF2B5EF4-FFF2-40B4-BE49-F238E27FC236}">
                      <a16:creationId xmlns="" xmlns:a16="http://schemas.microsoft.com/office/drawing/2014/main" id="{70E25FC2-8CD7-BD46-8EEF-1398E7F97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77" name="Text Box 46">
                  <a:extLst>
                    <a:ext uri="{FF2B5EF4-FFF2-40B4-BE49-F238E27FC236}">
                      <a16:creationId xmlns="" xmlns:a16="http://schemas.microsoft.com/office/drawing/2014/main" id="{F9BD9777-D95A-EA46-92E1-12A0C4095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="" xmlns:a16="http://schemas.microsoft.com/office/drawing/2014/main" id="{1916AC98-2221-2E46-9C20-FABA3737D42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="" xmlns:a16="http://schemas.microsoft.com/office/drawing/2014/main" id="{276E517F-B609-7C4D-AF44-D726D3196676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" name="Oval 5">
                  <a:extLst>
                    <a:ext uri="{FF2B5EF4-FFF2-40B4-BE49-F238E27FC236}">
                      <a16:creationId xmlns="" xmlns:a16="http://schemas.microsoft.com/office/drawing/2014/main" id="{DB42A8EC-C196-C840-A504-2428E394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1" name="Line 6">
                  <a:extLst>
                    <a:ext uri="{FF2B5EF4-FFF2-40B4-BE49-F238E27FC236}">
                      <a16:creationId xmlns="" xmlns:a16="http://schemas.microsoft.com/office/drawing/2014/main" id="{3F365F5A-D6EA-D742-8402-8A4394B31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2" name="Line 7">
                  <a:extLst>
                    <a:ext uri="{FF2B5EF4-FFF2-40B4-BE49-F238E27FC236}">
                      <a16:creationId xmlns="" xmlns:a16="http://schemas.microsoft.com/office/drawing/2014/main" id="{9177141B-66C5-2C42-A137-216B8B13C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3" name="Rectangle 8">
                  <a:extLst>
                    <a:ext uri="{FF2B5EF4-FFF2-40B4-BE49-F238E27FC236}">
                      <a16:creationId xmlns="" xmlns:a16="http://schemas.microsoft.com/office/drawing/2014/main" id="{AE62DE18-0008-9444-9562-C4F5BAA68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4" name="Oval 9">
                  <a:extLst>
                    <a:ext uri="{FF2B5EF4-FFF2-40B4-BE49-F238E27FC236}">
                      <a16:creationId xmlns="" xmlns:a16="http://schemas.microsoft.com/office/drawing/2014/main" id="{152F8C8A-0D1A-8B45-807C-D91E53567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56" name="Group 44">
                <a:extLst>
                  <a:ext uri="{FF2B5EF4-FFF2-40B4-BE49-F238E27FC236}">
                    <a16:creationId xmlns="" xmlns:a16="http://schemas.microsoft.com/office/drawing/2014/main" id="{B39FA0FD-C7BF-0944-A9C2-76560B3C5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7" name="Rectangle 45">
                  <a:extLst>
                    <a:ext uri="{FF2B5EF4-FFF2-40B4-BE49-F238E27FC236}">
                      <a16:creationId xmlns="" xmlns:a16="http://schemas.microsoft.com/office/drawing/2014/main" id="{EC0865B6-5078-B846-B9A1-B22AF242A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8" name="Text Box 46">
                  <a:extLst>
                    <a:ext uri="{FF2B5EF4-FFF2-40B4-BE49-F238E27FC236}">
                      <a16:creationId xmlns="" xmlns:a16="http://schemas.microsoft.com/office/drawing/2014/main" id="{31AE0430-51CF-024F-9407-1E001488D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="" xmlns:a16="http://schemas.microsoft.com/office/drawing/2014/main" id="{117B399C-7375-8C45-B153-5E0DDE79A730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="" xmlns:a16="http://schemas.microsoft.com/office/drawing/2014/main" id="{4F9AB240-E175-A144-B6B9-2DEE10D553A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8" name="Oval 5">
                  <a:extLst>
                    <a:ext uri="{FF2B5EF4-FFF2-40B4-BE49-F238E27FC236}">
                      <a16:creationId xmlns="" xmlns:a16="http://schemas.microsoft.com/office/drawing/2014/main" id="{3D7BCFC3-725F-A347-AF8E-208167808D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3" name="Line 6">
                  <a:extLst>
                    <a:ext uri="{FF2B5EF4-FFF2-40B4-BE49-F238E27FC236}">
                      <a16:creationId xmlns="" xmlns:a16="http://schemas.microsoft.com/office/drawing/2014/main" id="{A8673090-13F7-EA46-8F52-E99871255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4" name="Line 7">
                  <a:extLst>
                    <a:ext uri="{FF2B5EF4-FFF2-40B4-BE49-F238E27FC236}">
                      <a16:creationId xmlns="" xmlns:a16="http://schemas.microsoft.com/office/drawing/2014/main" id="{CA6A678E-A8F1-4341-B140-0132895B8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5" name="Rectangle 8">
                  <a:extLst>
                    <a:ext uri="{FF2B5EF4-FFF2-40B4-BE49-F238E27FC236}">
                      <a16:creationId xmlns="" xmlns:a16="http://schemas.microsoft.com/office/drawing/2014/main" id="{CB19ADB2-AFF7-0341-97AC-822A64365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6" name="Oval 9">
                  <a:extLst>
                    <a:ext uri="{FF2B5EF4-FFF2-40B4-BE49-F238E27FC236}">
                      <a16:creationId xmlns="" xmlns:a16="http://schemas.microsoft.com/office/drawing/2014/main" id="{129E19EF-F5CE-AE49-A59D-F98EA32F7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31" name="Group 44">
                <a:extLst>
                  <a:ext uri="{FF2B5EF4-FFF2-40B4-BE49-F238E27FC236}">
                    <a16:creationId xmlns="" xmlns:a16="http://schemas.microsoft.com/office/drawing/2014/main" id="{33BC9284-082A-C547-80A2-CE5B33183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6" name="Rectangle 45">
                  <a:extLst>
                    <a:ext uri="{FF2B5EF4-FFF2-40B4-BE49-F238E27FC236}">
                      <a16:creationId xmlns="" xmlns:a16="http://schemas.microsoft.com/office/drawing/2014/main" id="{4193C60B-BF7A-AF45-81F6-7D7BE48E1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7" name="Text Box 46">
                  <a:extLst>
                    <a:ext uri="{FF2B5EF4-FFF2-40B4-BE49-F238E27FC236}">
                      <a16:creationId xmlns="" xmlns:a16="http://schemas.microsoft.com/office/drawing/2014/main" id="{5F25081C-318C-894D-91F5-40D4DDBE2A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58" name="TextBox 357">
            <a:extLst>
              <a:ext uri="{FF2B5EF4-FFF2-40B4-BE49-F238E27FC236}">
                <a16:creationId xmlns="" xmlns:a16="http://schemas.microsoft.com/office/drawing/2014/main" id="{39063DBA-AA21-B940-821D-0DA362ACBFD2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="" xmlns:a16="http://schemas.microsoft.com/office/drawing/2014/main" id="{B6173759-393F-EF41-BF23-9FF3A6808F43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="" xmlns:a16="http://schemas.microsoft.com/office/drawing/2014/main" id="{A2333B97-3D20-6A48-A225-3ECD3BF3BDCC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="" xmlns:a16="http://schemas.microsoft.com/office/drawing/2014/main" id="{FDA085E2-BBF4-1640-BBF7-8F6C365AFCD6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="" xmlns:a16="http://schemas.microsoft.com/office/drawing/2014/main" id="{703C7E13-37F5-E945-B01D-1D28211C2728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="" xmlns:a16="http://schemas.microsoft.com/office/drawing/2014/main" id="{0ABBA765-6FBF-C847-827C-2F752F3AAE10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="" xmlns:a16="http://schemas.microsoft.com/office/drawing/2014/main" id="{EBDE6AFC-30C3-2441-8BF5-2620B9D87DE9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="" xmlns:a16="http://schemas.microsoft.com/office/drawing/2014/main" id="{CDA0FD3D-74E3-A34A-B988-BFD2BFA0DE3D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="" xmlns:a16="http://schemas.microsoft.com/office/drawing/2014/main" id="{43EDD2E3-77B9-4648-A935-D42AA319AD53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="" xmlns:a16="http://schemas.microsoft.com/office/drawing/2014/main" id="{CDBF86C5-B9CE-4442-83BB-63B8F31E7B05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="" xmlns:a16="http://schemas.microsoft.com/office/drawing/2014/main" id="{A7F4D230-4375-284D-93AF-56B3816424D0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9" name="Right Arrow 368">
            <a:extLst>
              <a:ext uri="{FF2B5EF4-FFF2-40B4-BE49-F238E27FC236}">
                <a16:creationId xmlns="" xmlns:a16="http://schemas.microsoft.com/office/drawing/2014/main" id="{BA6E4B87-B0D2-584A-8275-944F9B27A998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0" name="Right Arrow 369">
            <a:extLst>
              <a:ext uri="{FF2B5EF4-FFF2-40B4-BE49-F238E27FC236}">
                <a16:creationId xmlns="" xmlns:a16="http://schemas.microsoft.com/office/drawing/2014/main" id="{25938079-A318-4141-A85D-C146526D6BA5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1" name="Right Arrow 370">
            <a:extLst>
              <a:ext uri="{FF2B5EF4-FFF2-40B4-BE49-F238E27FC236}">
                <a16:creationId xmlns="" xmlns:a16="http://schemas.microsoft.com/office/drawing/2014/main" id="{92A84268-7A7F-1141-806B-F9720C1E86BA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Right Arrow 371">
            <a:extLst>
              <a:ext uri="{FF2B5EF4-FFF2-40B4-BE49-F238E27FC236}">
                <a16:creationId xmlns="" xmlns:a16="http://schemas.microsoft.com/office/drawing/2014/main" id="{5DCF7BEA-490D-7745-BC10-20C900207F60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Right Arrow 372">
            <a:extLst>
              <a:ext uri="{FF2B5EF4-FFF2-40B4-BE49-F238E27FC236}">
                <a16:creationId xmlns="" xmlns:a16="http://schemas.microsoft.com/office/drawing/2014/main" id="{093DBBC2-F1D6-0B4E-A923-77744DD15C01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4" name="Right Arrow 373">
            <a:extLst>
              <a:ext uri="{FF2B5EF4-FFF2-40B4-BE49-F238E27FC236}">
                <a16:creationId xmlns="" xmlns:a16="http://schemas.microsoft.com/office/drawing/2014/main" id="{0F571382-3562-BB46-B385-29691871F5CE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5" name="Right Arrow 374">
            <a:extLst>
              <a:ext uri="{FF2B5EF4-FFF2-40B4-BE49-F238E27FC236}">
                <a16:creationId xmlns="" xmlns:a16="http://schemas.microsoft.com/office/drawing/2014/main" id="{876E6BAE-D896-7444-8D9A-FECC0D13BE6B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6" name="Right Arrow 375">
            <a:extLst>
              <a:ext uri="{FF2B5EF4-FFF2-40B4-BE49-F238E27FC236}">
                <a16:creationId xmlns="" xmlns:a16="http://schemas.microsoft.com/office/drawing/2014/main" id="{8005B430-D654-C548-A728-7231A3350154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7" name="Right Arrow 376">
            <a:extLst>
              <a:ext uri="{FF2B5EF4-FFF2-40B4-BE49-F238E27FC236}">
                <a16:creationId xmlns="" xmlns:a16="http://schemas.microsoft.com/office/drawing/2014/main" id="{07B2F373-535A-9748-8358-0787A35EDF9D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8" name="Right Arrow 377">
            <a:extLst>
              <a:ext uri="{FF2B5EF4-FFF2-40B4-BE49-F238E27FC236}">
                <a16:creationId xmlns="" xmlns:a16="http://schemas.microsoft.com/office/drawing/2014/main" id="{52E07261-BA5A-9643-AF15-22A0B236F904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9" name="Right Arrow 378">
            <a:extLst>
              <a:ext uri="{FF2B5EF4-FFF2-40B4-BE49-F238E27FC236}">
                <a16:creationId xmlns="" xmlns:a16="http://schemas.microsoft.com/office/drawing/2014/main" id="{2402EEBC-A1F3-1446-AA76-F9332E75154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Right Arrow 379">
            <a:extLst>
              <a:ext uri="{FF2B5EF4-FFF2-40B4-BE49-F238E27FC236}">
                <a16:creationId xmlns="" xmlns:a16="http://schemas.microsoft.com/office/drawing/2014/main" id="{C1018A25-D7FD-F941-918C-CEFF20CD743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1" name="Group 380">
            <a:extLst>
              <a:ext uri="{FF2B5EF4-FFF2-40B4-BE49-F238E27FC236}">
                <a16:creationId xmlns="" xmlns:a16="http://schemas.microsoft.com/office/drawing/2014/main" id="{2C52FCE5-76B4-7B4F-BED3-D2285766D778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82" name="Group 381">
              <a:extLst>
                <a:ext uri="{FF2B5EF4-FFF2-40B4-BE49-F238E27FC236}">
                  <a16:creationId xmlns="" xmlns:a16="http://schemas.microsoft.com/office/drawing/2014/main" id="{E5B74157-FBC4-9B41-9413-6A9523B4475D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="" xmlns:a16="http://schemas.microsoft.com/office/drawing/2014/main" id="{BE1F897A-859B-D840-8C66-A7F185CFDEE9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" name="Oval 5">
                  <a:extLst>
                    <a:ext uri="{FF2B5EF4-FFF2-40B4-BE49-F238E27FC236}">
                      <a16:creationId xmlns="" xmlns:a16="http://schemas.microsoft.com/office/drawing/2014/main" id="{44AFD1B0-34FB-A345-9A4A-558E115EE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8" name="Line 6">
                  <a:extLst>
                    <a:ext uri="{FF2B5EF4-FFF2-40B4-BE49-F238E27FC236}">
                      <a16:creationId xmlns="" xmlns:a16="http://schemas.microsoft.com/office/drawing/2014/main" id="{92EE8670-6890-3E48-81E2-F25290369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9" name="Line 7">
                  <a:extLst>
                    <a:ext uri="{FF2B5EF4-FFF2-40B4-BE49-F238E27FC236}">
                      <a16:creationId xmlns="" xmlns:a16="http://schemas.microsoft.com/office/drawing/2014/main" id="{B5C3C8FB-696B-B740-A582-1BC475E8A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0" name="Rectangle 8">
                  <a:extLst>
                    <a:ext uri="{FF2B5EF4-FFF2-40B4-BE49-F238E27FC236}">
                      <a16:creationId xmlns="" xmlns:a16="http://schemas.microsoft.com/office/drawing/2014/main" id="{4B0E4D59-1BC8-C542-BCF2-181FC4E1D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1" name="Oval 9">
                  <a:extLst>
                    <a:ext uri="{FF2B5EF4-FFF2-40B4-BE49-F238E27FC236}">
                      <a16:creationId xmlns="" xmlns:a16="http://schemas.microsoft.com/office/drawing/2014/main" id="{60D48562-6FC2-394A-9762-DB852AC2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04" name="Group 44">
                <a:extLst>
                  <a:ext uri="{FF2B5EF4-FFF2-40B4-BE49-F238E27FC236}">
                    <a16:creationId xmlns="" xmlns:a16="http://schemas.microsoft.com/office/drawing/2014/main" id="{74519609-955F-A840-86C0-6A339E537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5" name="Rectangle 45">
                  <a:extLst>
                    <a:ext uri="{FF2B5EF4-FFF2-40B4-BE49-F238E27FC236}">
                      <a16:creationId xmlns="" xmlns:a16="http://schemas.microsoft.com/office/drawing/2014/main" id="{3E79CB50-C86A-B743-885D-FCF36192F3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6" name="Text Box 46">
                  <a:extLst>
                    <a:ext uri="{FF2B5EF4-FFF2-40B4-BE49-F238E27FC236}">
                      <a16:creationId xmlns="" xmlns:a16="http://schemas.microsoft.com/office/drawing/2014/main" id="{AD8E9D3F-52FF-4D4D-A215-818DE1942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3" name="Group 382">
              <a:extLst>
                <a:ext uri="{FF2B5EF4-FFF2-40B4-BE49-F238E27FC236}">
                  <a16:creationId xmlns="" xmlns:a16="http://schemas.microsoft.com/office/drawing/2014/main" id="{20A7C2A6-7DD0-0445-AF7C-F9E28B75F235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="" xmlns:a16="http://schemas.microsoft.com/office/drawing/2014/main" id="{5E0509C9-19D8-1641-9666-B248C5EAA15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8" name="Oval 5">
                  <a:extLst>
                    <a:ext uri="{FF2B5EF4-FFF2-40B4-BE49-F238E27FC236}">
                      <a16:creationId xmlns="" xmlns:a16="http://schemas.microsoft.com/office/drawing/2014/main" id="{F800737F-8972-794E-8C64-2C8CDAC48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9" name="Line 6">
                  <a:extLst>
                    <a:ext uri="{FF2B5EF4-FFF2-40B4-BE49-F238E27FC236}">
                      <a16:creationId xmlns="" xmlns:a16="http://schemas.microsoft.com/office/drawing/2014/main" id="{0099617B-FF31-3340-810C-247A1ED31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0" name="Line 7">
                  <a:extLst>
                    <a:ext uri="{FF2B5EF4-FFF2-40B4-BE49-F238E27FC236}">
                      <a16:creationId xmlns="" xmlns:a16="http://schemas.microsoft.com/office/drawing/2014/main" id="{AEB4753D-35A0-4B4F-AAE8-4B80DF3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1" name="Rectangle 8">
                  <a:extLst>
                    <a:ext uri="{FF2B5EF4-FFF2-40B4-BE49-F238E27FC236}">
                      <a16:creationId xmlns="" xmlns:a16="http://schemas.microsoft.com/office/drawing/2014/main" id="{4BEFDEDD-8E64-8543-BC9A-2BCF6DAD6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2" name="Oval 9">
                  <a:extLst>
                    <a:ext uri="{FF2B5EF4-FFF2-40B4-BE49-F238E27FC236}">
                      <a16:creationId xmlns="" xmlns:a16="http://schemas.microsoft.com/office/drawing/2014/main" id="{D2A5D1FC-C342-FF42-8178-52927BF00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5" name="Group 44">
                <a:extLst>
                  <a:ext uri="{FF2B5EF4-FFF2-40B4-BE49-F238E27FC236}">
                    <a16:creationId xmlns="" xmlns:a16="http://schemas.microsoft.com/office/drawing/2014/main" id="{FF45955A-4D2C-0E44-91D6-2BEA7A78D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6" name="Rectangle 45">
                  <a:extLst>
                    <a:ext uri="{FF2B5EF4-FFF2-40B4-BE49-F238E27FC236}">
                      <a16:creationId xmlns="" xmlns:a16="http://schemas.microsoft.com/office/drawing/2014/main" id="{77268971-CD1F-DD41-BB7D-8BAB708D2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7" name="Text Box 46">
                  <a:extLst>
                    <a:ext uri="{FF2B5EF4-FFF2-40B4-BE49-F238E27FC236}">
                      <a16:creationId xmlns="" xmlns:a16="http://schemas.microsoft.com/office/drawing/2014/main" id="{FD2F45D0-872F-6A45-A595-CB348ADD2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4" name="Group 383">
              <a:extLst>
                <a:ext uri="{FF2B5EF4-FFF2-40B4-BE49-F238E27FC236}">
                  <a16:creationId xmlns="" xmlns:a16="http://schemas.microsoft.com/office/drawing/2014/main" id="{7CB50BA4-E6E4-A54D-B90C-A0EA7DDA6E81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5" name="Group 384">
                <a:extLst>
                  <a:ext uri="{FF2B5EF4-FFF2-40B4-BE49-F238E27FC236}">
                    <a16:creationId xmlns="" xmlns:a16="http://schemas.microsoft.com/office/drawing/2014/main" id="{F0C7D337-D5DC-B146-B6A0-5EAD6635091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" name="Oval 5">
                  <a:extLst>
                    <a:ext uri="{FF2B5EF4-FFF2-40B4-BE49-F238E27FC236}">
                      <a16:creationId xmlns="" xmlns:a16="http://schemas.microsoft.com/office/drawing/2014/main" id="{4E201FD3-CC75-2B4F-83C6-9C945200D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0" name="Line 6">
                  <a:extLst>
                    <a:ext uri="{FF2B5EF4-FFF2-40B4-BE49-F238E27FC236}">
                      <a16:creationId xmlns="" xmlns:a16="http://schemas.microsoft.com/office/drawing/2014/main" id="{A2B75435-5655-8E4D-A5FD-B37E0BE1D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1" name="Line 7">
                  <a:extLst>
                    <a:ext uri="{FF2B5EF4-FFF2-40B4-BE49-F238E27FC236}">
                      <a16:creationId xmlns="" xmlns:a16="http://schemas.microsoft.com/office/drawing/2014/main" id="{84B12EFB-7BAE-C446-AAAD-5507060F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2" name="Rectangle 8">
                  <a:extLst>
                    <a:ext uri="{FF2B5EF4-FFF2-40B4-BE49-F238E27FC236}">
                      <a16:creationId xmlns="" xmlns:a16="http://schemas.microsoft.com/office/drawing/2014/main" id="{3F9824EC-B6A0-EA4F-97FB-E73B52F6A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3" name="Oval 9">
                  <a:extLst>
                    <a:ext uri="{FF2B5EF4-FFF2-40B4-BE49-F238E27FC236}">
                      <a16:creationId xmlns="" xmlns:a16="http://schemas.microsoft.com/office/drawing/2014/main" id="{9BB965F5-6CB9-8945-9FD8-314A82137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86" name="Group 44">
                <a:extLst>
                  <a:ext uri="{FF2B5EF4-FFF2-40B4-BE49-F238E27FC236}">
                    <a16:creationId xmlns="" xmlns:a16="http://schemas.microsoft.com/office/drawing/2014/main" id="{78550AC4-ABD8-394D-8ED0-A5E3144FA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87" name="Rectangle 45">
                  <a:extLst>
                    <a:ext uri="{FF2B5EF4-FFF2-40B4-BE49-F238E27FC236}">
                      <a16:creationId xmlns="" xmlns:a16="http://schemas.microsoft.com/office/drawing/2014/main" id="{97E14D4A-6296-D445-802B-C680BA361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88" name="Text Box 46">
                  <a:extLst>
                    <a:ext uri="{FF2B5EF4-FFF2-40B4-BE49-F238E27FC236}">
                      <a16:creationId xmlns="" xmlns:a16="http://schemas.microsoft.com/office/drawing/2014/main" id="{AAD06BA3-96DB-BD47-BF7B-5CEB82B1BB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12" name="Group 411">
            <a:extLst>
              <a:ext uri="{FF2B5EF4-FFF2-40B4-BE49-F238E27FC236}">
                <a16:creationId xmlns="" xmlns:a16="http://schemas.microsoft.com/office/drawing/2014/main" id="{D6141904-3F73-4D45-A9C2-BEB109B06772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13" name="Group 412">
              <a:extLst>
                <a:ext uri="{FF2B5EF4-FFF2-40B4-BE49-F238E27FC236}">
                  <a16:creationId xmlns="" xmlns:a16="http://schemas.microsoft.com/office/drawing/2014/main" id="{930A2AFF-1070-E64E-9D6A-1403FCE21009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4" name="Group 433">
                <a:extLst>
                  <a:ext uri="{FF2B5EF4-FFF2-40B4-BE49-F238E27FC236}">
                    <a16:creationId xmlns="" xmlns:a16="http://schemas.microsoft.com/office/drawing/2014/main" id="{24483B8D-6CBB-CD46-8745-5EBE21AF869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8" name="Oval 5">
                  <a:extLst>
                    <a:ext uri="{FF2B5EF4-FFF2-40B4-BE49-F238E27FC236}">
                      <a16:creationId xmlns="" xmlns:a16="http://schemas.microsoft.com/office/drawing/2014/main" id="{6FDC2129-9A8F-5A45-8E76-775246AE3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Line 6">
                  <a:extLst>
                    <a:ext uri="{FF2B5EF4-FFF2-40B4-BE49-F238E27FC236}">
                      <a16:creationId xmlns="" xmlns:a16="http://schemas.microsoft.com/office/drawing/2014/main" id="{E05E39C5-0238-1446-A5B0-A3A1B984A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Line 7">
                  <a:extLst>
                    <a:ext uri="{FF2B5EF4-FFF2-40B4-BE49-F238E27FC236}">
                      <a16:creationId xmlns="" xmlns:a16="http://schemas.microsoft.com/office/drawing/2014/main" id="{60B86382-D07D-7040-A2F7-505F52DA7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Rectangle 8">
                  <a:extLst>
                    <a:ext uri="{FF2B5EF4-FFF2-40B4-BE49-F238E27FC236}">
                      <a16:creationId xmlns="" xmlns:a16="http://schemas.microsoft.com/office/drawing/2014/main" id="{07BC4E59-E5C2-AC45-9E61-0CAEAC713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Oval 9">
                  <a:extLst>
                    <a:ext uri="{FF2B5EF4-FFF2-40B4-BE49-F238E27FC236}">
                      <a16:creationId xmlns="" xmlns:a16="http://schemas.microsoft.com/office/drawing/2014/main" id="{D15E7F48-03A4-C644-AB3D-9A07A4F2F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44">
                <a:extLst>
                  <a:ext uri="{FF2B5EF4-FFF2-40B4-BE49-F238E27FC236}">
                    <a16:creationId xmlns="" xmlns:a16="http://schemas.microsoft.com/office/drawing/2014/main" id="{0F84DC72-6B88-3747-8140-C35EAAD00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6" name="Rectangle 45">
                  <a:extLst>
                    <a:ext uri="{FF2B5EF4-FFF2-40B4-BE49-F238E27FC236}">
                      <a16:creationId xmlns="" xmlns:a16="http://schemas.microsoft.com/office/drawing/2014/main" id="{F778FC4B-8EF8-414B-9536-D30CF641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Text Box 46">
                  <a:extLst>
                    <a:ext uri="{FF2B5EF4-FFF2-40B4-BE49-F238E27FC236}">
                      <a16:creationId xmlns="" xmlns:a16="http://schemas.microsoft.com/office/drawing/2014/main" id="{912A3E35-D77A-6A40-B073-4EA003CCD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413">
              <a:extLst>
                <a:ext uri="{FF2B5EF4-FFF2-40B4-BE49-F238E27FC236}">
                  <a16:creationId xmlns="" xmlns:a16="http://schemas.microsoft.com/office/drawing/2014/main" id="{5CC18FC4-2A37-CC43-84F4-2E4969E1E18C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="" xmlns:a16="http://schemas.microsoft.com/office/drawing/2014/main" id="{571FFDA0-7CCD-6541-9470-2DAA896E540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" name="Oval 5">
                  <a:extLst>
                    <a:ext uri="{FF2B5EF4-FFF2-40B4-BE49-F238E27FC236}">
                      <a16:creationId xmlns="" xmlns:a16="http://schemas.microsoft.com/office/drawing/2014/main" id="{890F9138-93A9-9E4A-B33F-A3118CA22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Line 6">
                  <a:extLst>
                    <a:ext uri="{FF2B5EF4-FFF2-40B4-BE49-F238E27FC236}">
                      <a16:creationId xmlns="" xmlns:a16="http://schemas.microsoft.com/office/drawing/2014/main" id="{5898E9B3-AFBD-234D-8D95-0C6F496AB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Line 7">
                  <a:extLst>
                    <a:ext uri="{FF2B5EF4-FFF2-40B4-BE49-F238E27FC236}">
                      <a16:creationId xmlns="" xmlns:a16="http://schemas.microsoft.com/office/drawing/2014/main" id="{2FA91DB3-B0C8-CE4B-AD03-14386A8F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Rectangle 8">
                  <a:extLst>
                    <a:ext uri="{FF2B5EF4-FFF2-40B4-BE49-F238E27FC236}">
                      <a16:creationId xmlns="" xmlns:a16="http://schemas.microsoft.com/office/drawing/2014/main" id="{75D7AA85-AA3C-9A41-8DDF-35ED561A0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Oval 9">
                  <a:extLst>
                    <a:ext uri="{FF2B5EF4-FFF2-40B4-BE49-F238E27FC236}">
                      <a16:creationId xmlns="" xmlns:a16="http://schemas.microsoft.com/office/drawing/2014/main" id="{FFDDC1A2-DDBC-D54C-899E-4ED7244E7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6" name="Group 44">
                <a:extLst>
                  <a:ext uri="{FF2B5EF4-FFF2-40B4-BE49-F238E27FC236}">
                    <a16:creationId xmlns="" xmlns:a16="http://schemas.microsoft.com/office/drawing/2014/main" id="{8AC75149-FF4E-FF47-B9D1-2A503E9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7" name="Rectangle 45">
                  <a:extLst>
                    <a:ext uri="{FF2B5EF4-FFF2-40B4-BE49-F238E27FC236}">
                      <a16:creationId xmlns="" xmlns:a16="http://schemas.microsoft.com/office/drawing/2014/main" id="{A1C72749-E916-C743-95AD-77A7093C5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Text Box 46">
                  <a:extLst>
                    <a:ext uri="{FF2B5EF4-FFF2-40B4-BE49-F238E27FC236}">
                      <a16:creationId xmlns="" xmlns:a16="http://schemas.microsoft.com/office/drawing/2014/main" id="{61C11CB2-AF11-A34A-BC61-DAC0A8724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="" xmlns:a16="http://schemas.microsoft.com/office/drawing/2014/main" id="{F92775E6-8E4A-DC47-8C00-D7CDF3BF3A89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="" xmlns:a16="http://schemas.microsoft.com/office/drawing/2014/main" id="{DF065D3B-3767-8B4A-9038-653B9F8AEE7B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0" name="Oval 5">
                  <a:extLst>
                    <a:ext uri="{FF2B5EF4-FFF2-40B4-BE49-F238E27FC236}">
                      <a16:creationId xmlns="" xmlns:a16="http://schemas.microsoft.com/office/drawing/2014/main" id="{D0A3835C-514D-5140-9584-0164B8BAB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1" name="Line 6">
                  <a:extLst>
                    <a:ext uri="{FF2B5EF4-FFF2-40B4-BE49-F238E27FC236}">
                      <a16:creationId xmlns="" xmlns:a16="http://schemas.microsoft.com/office/drawing/2014/main" id="{6401BEF0-9CAC-7843-8992-54C5933DC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Line 7">
                  <a:extLst>
                    <a:ext uri="{FF2B5EF4-FFF2-40B4-BE49-F238E27FC236}">
                      <a16:creationId xmlns="" xmlns:a16="http://schemas.microsoft.com/office/drawing/2014/main" id="{081C22D9-FA0D-3545-860C-4BCDAC6A9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8">
                  <a:extLst>
                    <a:ext uri="{FF2B5EF4-FFF2-40B4-BE49-F238E27FC236}">
                      <a16:creationId xmlns="" xmlns:a16="http://schemas.microsoft.com/office/drawing/2014/main" id="{A27FBD24-DB32-FF46-A024-AA93825D4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4" name="Oval 9">
                  <a:extLst>
                    <a:ext uri="{FF2B5EF4-FFF2-40B4-BE49-F238E27FC236}">
                      <a16:creationId xmlns="" xmlns:a16="http://schemas.microsoft.com/office/drawing/2014/main" id="{C5D9CABA-76B6-FD40-A227-AF591EA2E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17" name="Group 44">
                <a:extLst>
                  <a:ext uri="{FF2B5EF4-FFF2-40B4-BE49-F238E27FC236}">
                    <a16:creationId xmlns="" xmlns:a16="http://schemas.microsoft.com/office/drawing/2014/main" id="{B927058A-3D5D-DD42-8DDB-77B48BB3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418" name="Rectangle 45">
                  <a:extLst>
                    <a:ext uri="{FF2B5EF4-FFF2-40B4-BE49-F238E27FC236}">
                      <a16:creationId xmlns="" xmlns:a16="http://schemas.microsoft.com/office/drawing/2014/main" id="{3F62028C-EF22-0244-93E4-6925CE49F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9" name="Text Box 46">
                  <a:extLst>
                    <a:ext uri="{FF2B5EF4-FFF2-40B4-BE49-F238E27FC236}">
                      <a16:creationId xmlns="" xmlns:a16="http://schemas.microsoft.com/office/drawing/2014/main" id="{07E837AC-92AC-014D-85FB-20B861230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443" name="Right Arrow 442">
            <a:extLst>
              <a:ext uri="{FF2B5EF4-FFF2-40B4-BE49-F238E27FC236}">
                <a16:creationId xmlns="" xmlns:a16="http://schemas.microsoft.com/office/drawing/2014/main" id="{08994EEC-226A-DA44-9536-FEE4129AED34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4" name="Right Arrow 443">
            <a:extLst>
              <a:ext uri="{FF2B5EF4-FFF2-40B4-BE49-F238E27FC236}">
                <a16:creationId xmlns="" xmlns:a16="http://schemas.microsoft.com/office/drawing/2014/main" id="{A48E270D-862C-1C45-BEF7-EC00D39823A7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5" name="Right Arrow 444">
            <a:extLst>
              <a:ext uri="{FF2B5EF4-FFF2-40B4-BE49-F238E27FC236}">
                <a16:creationId xmlns="" xmlns:a16="http://schemas.microsoft.com/office/drawing/2014/main" id="{BC4763BF-FECA-554B-AFF7-E2BC3FABA73B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Right Arrow 445">
            <a:extLst>
              <a:ext uri="{FF2B5EF4-FFF2-40B4-BE49-F238E27FC236}">
                <a16:creationId xmlns="" xmlns:a16="http://schemas.microsoft.com/office/drawing/2014/main" id="{B6066F19-55AA-384C-BDDF-80DC7824160A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7" name="Right Arrow 446">
            <a:extLst>
              <a:ext uri="{FF2B5EF4-FFF2-40B4-BE49-F238E27FC236}">
                <a16:creationId xmlns="" xmlns:a16="http://schemas.microsoft.com/office/drawing/2014/main" id="{CD8CACDD-8F79-BE47-96D9-8C52DBCA67F7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8" name="Right Arrow 447">
            <a:extLst>
              <a:ext uri="{FF2B5EF4-FFF2-40B4-BE49-F238E27FC236}">
                <a16:creationId xmlns="" xmlns:a16="http://schemas.microsoft.com/office/drawing/2014/main" id="{0E6CECC5-E326-E14B-A49E-FA2AB4DFBA5F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9" name="Right Arrow 448">
            <a:extLst>
              <a:ext uri="{FF2B5EF4-FFF2-40B4-BE49-F238E27FC236}">
                <a16:creationId xmlns="" xmlns:a16="http://schemas.microsoft.com/office/drawing/2014/main" id="{80466F61-87C0-9E4D-B619-90D68FA0F69E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" name="Right Arrow 449">
            <a:extLst>
              <a:ext uri="{FF2B5EF4-FFF2-40B4-BE49-F238E27FC236}">
                <a16:creationId xmlns="" xmlns:a16="http://schemas.microsoft.com/office/drawing/2014/main" id="{841A6B82-10F1-7644-AE66-76DBC46F143D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1" name="Right Arrow 450">
            <a:extLst>
              <a:ext uri="{FF2B5EF4-FFF2-40B4-BE49-F238E27FC236}">
                <a16:creationId xmlns="" xmlns:a16="http://schemas.microsoft.com/office/drawing/2014/main" id="{7609754F-07F6-FA45-93A2-C8E47D2319FE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2" name="Right Arrow 451">
            <a:extLst>
              <a:ext uri="{FF2B5EF4-FFF2-40B4-BE49-F238E27FC236}">
                <a16:creationId xmlns="" xmlns:a16="http://schemas.microsoft.com/office/drawing/2014/main" id="{5C844F20-C817-CD45-8859-550B71FF0669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3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=""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=""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=""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=""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=""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=""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=""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=""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=""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=""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=""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=""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=""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=""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=""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=""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=""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=""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=""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=""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=""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=""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=""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=""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=""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=""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01961" y="1975104"/>
            <a:ext cx="151428" cy="257429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63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=""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=""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=""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=""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=""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=""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=""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=""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=""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=""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=""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=""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=""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=""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=""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=""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=""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=""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=""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=""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=""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=""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08583" y="1975104"/>
            <a:ext cx="148463" cy="24613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60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=""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=""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=""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=""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=""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=""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=""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=""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=""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=""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=""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="" xmlns:a16="http://schemas.microsoft.com/office/drawing/2014/main" id="{19CD2293-67D5-3048-9FAC-78E0AEE8C31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=""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="" xmlns:a16="http://schemas.microsoft.com/office/drawing/2014/main" id="{E9AE3BA5-DCA8-5D4F-A6D6-75EF46834F58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=""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="" xmlns:a16="http://schemas.microsoft.com/office/drawing/2014/main" id="{D96C2F6A-C449-3E42-9B4A-5B9F8178C165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="" xmlns:a16="http://schemas.microsoft.com/office/drawing/2014/main" id="{39F8950B-5EB1-4B4E-A0EF-73943A219C7C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="" xmlns:a16="http://schemas.microsoft.com/office/drawing/2014/main" id="{DF406DB6-2900-7C44-9860-A0ADA23E2211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=""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="" xmlns:a16="http://schemas.microsoft.com/office/drawing/2014/main" id="{C5E35028-9133-1F45-82D3-DD70357904CF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=""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="" xmlns:a16="http://schemas.microsoft.com/office/drawing/2014/main" id="{EBB9FB89-D51A-8145-8D43-15C959806E3C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=""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5498" y="3656685"/>
                <a:ext cx="240612" cy="121026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3029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=""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=""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=""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=""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=""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=""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=""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=""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=""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=""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=""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=""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=""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=""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=""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=""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=""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=""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=""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=""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=""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=""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=""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=""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=""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=""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72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=""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=""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=""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=""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=""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=""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=""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=""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=""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=""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=""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=""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=""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=""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=""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=""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=""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=""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=""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=""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=""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=""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9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=""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=""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=""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=""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=""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=""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=""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=""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=""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=""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=""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=""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=""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=""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=""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=""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=""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=""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=""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=""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=""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=""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=""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=""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=""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=""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=""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=""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=""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=""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=""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=""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=""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=""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=""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=""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=""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=""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=""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=""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=""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644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345" grpId="0" animBg="1"/>
      <p:bldP spid="356" grpId="0" animBg="1"/>
      <p:bldP spid="357" grpId="0" animBg="1"/>
      <p:bldP spid="18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=""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6" name="Group 265">
            <a:extLst>
              <a:ext uri="{FF2B5EF4-FFF2-40B4-BE49-F238E27FC236}">
                <a16:creationId xmlns="" xmlns:a16="http://schemas.microsoft.com/office/drawing/2014/main" id="{F5A721E1-D89A-D04F-AF9A-53AC581D1684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267" name="Freeform 266">
              <a:extLst>
                <a:ext uri="{FF2B5EF4-FFF2-40B4-BE49-F238E27FC236}">
                  <a16:creationId xmlns="" xmlns:a16="http://schemas.microsoft.com/office/drawing/2014/main" id="{49DB6681-9B63-7A46-990C-D2A795B1B751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="" xmlns:a16="http://schemas.microsoft.com/office/drawing/2014/main" id="{69CB876D-91B9-C142-AA5B-DC2AF8DEC6AE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="" xmlns:a16="http://schemas.microsoft.com/office/drawing/2014/main" id="{FC99428F-669F-1E46-A55A-26DF3A9BEA1B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0" name="Group 269">
                <a:extLst>
                  <a:ext uri="{FF2B5EF4-FFF2-40B4-BE49-F238E27FC236}">
                    <a16:creationId xmlns="" xmlns:a16="http://schemas.microsoft.com/office/drawing/2014/main" id="{677BBA41-FB32-774E-B537-76ECED6020C6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271" name="Rectangle 270">
                  <a:extLst>
                    <a:ext uri="{FF2B5EF4-FFF2-40B4-BE49-F238E27FC236}">
                      <a16:creationId xmlns="" xmlns:a16="http://schemas.microsoft.com/office/drawing/2014/main" id="{4648EB17-23D0-A848-88DD-EC56D3EAAB24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="" xmlns:a16="http://schemas.microsoft.com/office/drawing/2014/main" id="{FF1D7D44-0F2C-4347-A4A1-BBEC5CE4FD94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="" xmlns:a16="http://schemas.microsoft.com/office/drawing/2014/main" id="{8B19CF8A-DF73-AB45-8BDA-ABCDA25B8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tangle 273">
                  <a:extLst>
                    <a:ext uri="{FF2B5EF4-FFF2-40B4-BE49-F238E27FC236}">
                      <a16:creationId xmlns="" xmlns:a16="http://schemas.microsoft.com/office/drawing/2014/main" id="{916DB935-59F3-ED4F-9B27-B2F6B2896EC2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75" name="Group 274">
            <a:extLst>
              <a:ext uri="{FF2B5EF4-FFF2-40B4-BE49-F238E27FC236}">
                <a16:creationId xmlns="" xmlns:a16="http://schemas.microsoft.com/office/drawing/2014/main" id="{A2F1D687-C332-114C-A115-90CF8BBB8F39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76" name="Freeform 275">
              <a:extLst>
                <a:ext uri="{FF2B5EF4-FFF2-40B4-BE49-F238E27FC236}">
                  <a16:creationId xmlns="" xmlns:a16="http://schemas.microsoft.com/office/drawing/2014/main" id="{7C98B51F-B4A6-3B45-888C-5FBB44E4FF36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="" xmlns:a16="http://schemas.microsoft.com/office/drawing/2014/main" id="{A45539DD-F434-7243-8ECC-25D3434D7334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="" xmlns:a16="http://schemas.microsoft.com/office/drawing/2014/main" id="{CA406176-DE57-4844-B765-7A5DBC46A9EB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="" xmlns:a16="http://schemas.microsoft.com/office/drawing/2014/main" id="{D1BD4369-9943-0043-95A9-A467EAB2D21E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="" xmlns:a16="http://schemas.microsoft.com/office/drawing/2014/main" id="{089F8FCB-FEC8-0A4A-8AC9-A05239270264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="" xmlns:a16="http://schemas.microsoft.com/office/drawing/2014/main" id="{618E84D4-ACDD-F443-9A75-31985FCC03A1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346" name="Straight Connector 345">
                  <a:extLst>
                    <a:ext uri="{FF2B5EF4-FFF2-40B4-BE49-F238E27FC236}">
                      <a16:creationId xmlns="" xmlns:a16="http://schemas.microsoft.com/office/drawing/2014/main" id="{076AD015-1EF6-8F4C-958E-F02708D5F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7" name="Rectangle 346">
                  <a:extLst>
                    <a:ext uri="{FF2B5EF4-FFF2-40B4-BE49-F238E27FC236}">
                      <a16:creationId xmlns="" xmlns:a16="http://schemas.microsoft.com/office/drawing/2014/main" id="{397C8588-CD10-484F-9B94-94120FF4354A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="" xmlns:a16="http://schemas.microsoft.com/office/drawing/2014/main" id="{470F7948-0893-B143-8C47-CBE72D6C5729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="" xmlns:a16="http://schemas.microsoft.com/office/drawing/2014/main" id="{60E7DAE4-8059-1543-AFD1-A4A0E4F2EF26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grpSp>
        <p:nvGrpSpPr>
          <p:cNvPr id="350" name="Group 349">
            <a:extLst>
              <a:ext uri="{FF2B5EF4-FFF2-40B4-BE49-F238E27FC236}">
                <a16:creationId xmlns="" xmlns:a16="http://schemas.microsoft.com/office/drawing/2014/main" id="{D4D406BB-E3BB-5344-B200-F9B30FAC676C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1" name="Freeform 350">
              <a:extLst>
                <a:ext uri="{FF2B5EF4-FFF2-40B4-BE49-F238E27FC236}">
                  <a16:creationId xmlns="" xmlns:a16="http://schemas.microsoft.com/office/drawing/2014/main" id="{29570479-0D3A-DD40-AC69-6246D2D0E3AE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2" name="Group 351">
              <a:extLst>
                <a:ext uri="{FF2B5EF4-FFF2-40B4-BE49-F238E27FC236}">
                  <a16:creationId xmlns="" xmlns:a16="http://schemas.microsoft.com/office/drawing/2014/main" id="{C0DD3948-CF89-1B4A-9C82-0AB37CAEB9E9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="" xmlns:a16="http://schemas.microsoft.com/office/drawing/2014/main" id="{437B9C08-3BDF-8F4F-A9C0-02990BD722CE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="" xmlns:a16="http://schemas.microsoft.com/office/drawing/2014/main" id="{E7008705-C479-2D4C-9959-510B7A9B8EE6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5" name="Rectangle 354">
                  <a:extLst>
                    <a:ext uri="{FF2B5EF4-FFF2-40B4-BE49-F238E27FC236}">
                      <a16:creationId xmlns="" xmlns:a16="http://schemas.microsoft.com/office/drawing/2014/main" id="{085258CE-30FC-464C-A0FC-0D9E6D9AB74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TextBox 380">
                  <a:extLst>
                    <a:ext uri="{FF2B5EF4-FFF2-40B4-BE49-F238E27FC236}">
                      <a16:creationId xmlns="" xmlns:a16="http://schemas.microsoft.com/office/drawing/2014/main" id="{B9BA6274-E0A0-3948-A5DB-55B7676924DC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82" name="Straight Connector 381">
                  <a:extLst>
                    <a:ext uri="{FF2B5EF4-FFF2-40B4-BE49-F238E27FC236}">
                      <a16:creationId xmlns="" xmlns:a16="http://schemas.microsoft.com/office/drawing/2014/main" id="{AFF98828-2852-754C-BEFC-C6380D94C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3" name="Rectangle 382">
                  <a:extLst>
                    <a:ext uri="{FF2B5EF4-FFF2-40B4-BE49-F238E27FC236}">
                      <a16:creationId xmlns="" xmlns:a16="http://schemas.microsoft.com/office/drawing/2014/main" id="{999BD57D-FB10-9E43-BD0A-D8BC2F0EB29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84" name="Group 383">
            <a:extLst>
              <a:ext uri="{FF2B5EF4-FFF2-40B4-BE49-F238E27FC236}">
                <a16:creationId xmlns="" xmlns:a16="http://schemas.microsoft.com/office/drawing/2014/main" id="{FB03A273-627E-574B-BDC0-F4AE140B7CE4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85" name="Rectangle 384">
              <a:extLst>
                <a:ext uri="{FF2B5EF4-FFF2-40B4-BE49-F238E27FC236}">
                  <a16:creationId xmlns="" xmlns:a16="http://schemas.microsoft.com/office/drawing/2014/main" id="{98C9FAD2-B0B7-5F4B-8DEA-95D7BB126D5B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="" xmlns:a16="http://schemas.microsoft.com/office/drawing/2014/main" id="{86276953-83B5-3D47-A4D9-B87794FE4688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="" xmlns:a16="http://schemas.microsoft.com/office/drawing/2014/main" id="{26F330CB-993E-B144-B52B-1CE527DC352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="" xmlns:a16="http://schemas.microsoft.com/office/drawing/2014/main" id="{61BA57FB-5FEA-284A-9CDD-7BA22D224965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="" xmlns:a16="http://schemas.microsoft.com/office/drawing/2014/main" id="{15485626-0681-5545-8700-8078D9D0C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>
                <a:extLst>
                  <a:ext uri="{FF2B5EF4-FFF2-40B4-BE49-F238E27FC236}">
                    <a16:creationId xmlns="" xmlns:a16="http://schemas.microsoft.com/office/drawing/2014/main" id="{F3B40FD9-7D9E-B44D-9695-EAE9651C456A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=""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e, computes:</a:t>
            </a:r>
          </a:p>
        </p:txBody>
      </p:sp>
      <p:sp>
        <p:nvSpPr>
          <p:cNvPr id="356" name="Right Arrow 355">
            <a:extLst>
              <a:ext uri="{FF2B5EF4-FFF2-40B4-BE49-F238E27FC236}">
                <a16:creationId xmlns=""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=""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="" xmlns:a16="http://schemas.microsoft.com/office/drawing/2014/main" id="{2C0204D3-6B89-BB42-939B-2BC738257374}"/>
              </a:ext>
            </a:extLst>
          </p:cNvPr>
          <p:cNvSpPr/>
          <p:nvPr/>
        </p:nvSpPr>
        <p:spPr>
          <a:xfrm>
            <a:off x="3078478" y="2885440"/>
            <a:ext cx="5923281" cy="38201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9" name="Group 238">
            <a:extLst>
              <a:ext uri="{FF2B5EF4-FFF2-40B4-BE49-F238E27FC236}">
                <a16:creationId xmlns="" xmlns:a16="http://schemas.microsoft.com/office/drawing/2014/main" id="{0E0A9FB0-8302-2744-A9AC-61FA5D0E591E}"/>
              </a:ext>
            </a:extLst>
          </p:cNvPr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240" name="Rectangle 239">
              <a:extLst>
                <a:ext uri="{FF2B5EF4-FFF2-40B4-BE49-F238E27FC236}">
                  <a16:creationId xmlns="" xmlns:a16="http://schemas.microsoft.com/office/drawing/2014/main" id="{D243147C-9122-B241-8C55-25D0B03D8B27}"/>
                </a:ext>
              </a:extLst>
            </p:cNvPr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="" xmlns:a16="http://schemas.microsoft.com/office/drawing/2014/main" id="{6D2336AA-0C32-324B-A00A-57F9CA7ECD15}"/>
                </a:ext>
              </a:extLst>
            </p:cNvPr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="" xmlns:a16="http://schemas.microsoft.com/office/drawing/2014/main" id="{9DC590FA-D1AC-6D48-9AED-FD23B9858548}"/>
                  </a:ext>
                </a:extLst>
              </p:cNvPr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="" xmlns:a16="http://schemas.microsoft.com/office/drawing/2014/main" id="{8366C6AB-4C92-574D-ABC4-3F2AE3DE7BA4}"/>
                  </a:ext>
                </a:extLst>
              </p:cNvPr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b:</a:t>
                </a: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="" xmlns:a16="http://schemas.microsoft.com/office/drawing/2014/main" id="{D0A767ED-844F-1848-B773-F20F449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895" y="49525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Rectangle 255">
                <a:extLst>
                  <a:ext uri="{FF2B5EF4-FFF2-40B4-BE49-F238E27FC236}">
                    <a16:creationId xmlns="" xmlns:a16="http://schemas.microsoft.com/office/drawing/2014/main" id="{14FE793B-897D-AE4D-809B-4BC6049E42EF}"/>
                  </a:ext>
                </a:extLst>
              </p:cNvPr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="" xmlns:a16="http://schemas.microsoft.com/office/drawing/2014/main" id="{4C7B8338-DF18-834C-9D16-A6EFCD25492C}"/>
                  </a:ext>
                </a:extLst>
              </p:cNvPr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="" xmlns:a16="http://schemas.microsoft.com/office/drawing/2014/main" id="{35BC9C8C-D610-0F40-9928-D68B0361F296}"/>
                  </a:ext>
                </a:extLst>
              </p:cNvPr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(a) = 8</a:t>
                </a:r>
                <a:endParaRPr lang="en-US" sz="1600" dirty="0">
                  <a:cs typeface="Arial" charset="0"/>
                </a:endParaRPr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="" xmlns:a16="http://schemas.microsoft.com/office/drawing/2014/main" id="{89D4687F-AFE7-244E-A453-8BB8262DAAC3}"/>
              </a:ext>
            </a:extLst>
          </p:cNvPr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179" name="Group 178">
              <a:extLst>
                <a:ext uri="{FF2B5EF4-FFF2-40B4-BE49-F238E27FC236}">
                  <a16:creationId xmlns="" xmlns:a16="http://schemas.microsoft.com/office/drawing/2014/main" id="{C2BE01E6-70E6-8E4C-BA8D-DED393966A32}"/>
                </a:ext>
              </a:extLst>
            </p:cNvPr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214" name="Oval 5">
                <a:extLst>
                  <a:ext uri="{FF2B5EF4-FFF2-40B4-BE49-F238E27FC236}">
                    <a16:creationId xmlns="" xmlns:a16="http://schemas.microsoft.com/office/drawing/2014/main" id="{576AA6BD-E7DD-0A40-BFA5-EFAB7BD8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6">
                <a:extLst>
                  <a:ext uri="{FF2B5EF4-FFF2-40B4-BE49-F238E27FC236}">
                    <a16:creationId xmlns="" xmlns:a16="http://schemas.microsoft.com/office/drawing/2014/main" id="{FB5F05C7-2780-E646-8583-F10D5D55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332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Line 7">
                <a:extLst>
                  <a:ext uri="{FF2B5EF4-FFF2-40B4-BE49-F238E27FC236}">
                    <a16:creationId xmlns="" xmlns:a16="http://schemas.microsoft.com/office/drawing/2014/main" id="{240BBD39-ACCD-DF48-9D18-EC6A730D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0220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8">
                <a:extLst>
                  <a:ext uri="{FF2B5EF4-FFF2-40B4-BE49-F238E27FC236}">
                    <a16:creationId xmlns="" xmlns:a16="http://schemas.microsoft.com/office/drawing/2014/main" id="{349823E2-5D3A-874F-8AEA-E5A577221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9" name="Oval 9">
                <a:extLst>
                  <a:ext uri="{FF2B5EF4-FFF2-40B4-BE49-F238E27FC236}">
                    <a16:creationId xmlns="" xmlns:a16="http://schemas.microsoft.com/office/drawing/2014/main" id="{6A08B5E5-AB62-2748-A4C8-66903F65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0" name="Group 44">
              <a:extLst>
                <a:ext uri="{FF2B5EF4-FFF2-40B4-BE49-F238E27FC236}">
                  <a16:creationId xmlns="" xmlns:a16="http://schemas.microsoft.com/office/drawing/2014/main" id="{43C35E11-2685-B047-A4DC-8CC297487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181" name="Rectangle 45">
                <a:extLst>
                  <a:ext uri="{FF2B5EF4-FFF2-40B4-BE49-F238E27FC236}">
                    <a16:creationId xmlns="" xmlns:a16="http://schemas.microsoft.com/office/drawing/2014/main" id="{EC128E69-3091-E647-8AD6-7159F3103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Text Box 46">
                <a:extLst>
                  <a:ext uri="{FF2B5EF4-FFF2-40B4-BE49-F238E27FC236}">
                    <a16:creationId xmlns="" xmlns:a16="http://schemas.microsoft.com/office/drawing/2014/main" id="{A7A5AEDE-B171-4F4D-BA15-5EAD8693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59" name="Right Arrow 258">
            <a:extLst>
              <a:ext uri="{FF2B5EF4-FFF2-40B4-BE49-F238E27FC236}">
                <a16:creationId xmlns="" xmlns:a16="http://schemas.microsoft.com/office/drawing/2014/main" id="{E250E3B0-8C1E-E145-9521-A455E8D67258}"/>
              </a:ext>
            </a:extLst>
          </p:cNvPr>
          <p:cNvSpPr/>
          <p:nvPr/>
        </p:nvSpPr>
        <p:spPr>
          <a:xfrm rot="16200000">
            <a:off x="6307392" y="303096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Freeform 263">
            <a:extLst>
              <a:ext uri="{FF2B5EF4-FFF2-40B4-BE49-F238E27FC236}">
                <a16:creationId xmlns="" xmlns:a16="http://schemas.microsoft.com/office/drawing/2014/main" id="{858E32EE-CF9A-BC4E-8C7A-5B0F4E196DDB}"/>
              </a:ext>
            </a:extLst>
          </p:cNvPr>
          <p:cNvSpPr/>
          <p:nvPr/>
        </p:nvSpPr>
        <p:spPr>
          <a:xfrm>
            <a:off x="6784256" y="3016538"/>
            <a:ext cx="289986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Down Arrow 264">
            <a:extLst>
              <a:ext uri="{FF2B5EF4-FFF2-40B4-BE49-F238E27FC236}">
                <a16:creationId xmlns="" xmlns:a16="http://schemas.microsoft.com/office/drawing/2014/main" id="{3CB1AFBB-CB3F-1542-8613-2F98EF8BBFE5}"/>
              </a:ext>
            </a:extLst>
          </p:cNvPr>
          <p:cNvSpPr/>
          <p:nvPr/>
        </p:nvSpPr>
        <p:spPr>
          <a:xfrm rot="16200000">
            <a:off x="661290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B3DD77FF-E95C-9640-83A8-8668D2A2C680}"/>
              </a:ext>
            </a:extLst>
          </p:cNvPr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176" name="Rectangle 175">
              <a:extLst>
                <a:ext uri="{FF2B5EF4-FFF2-40B4-BE49-F238E27FC236}">
                  <a16:creationId xmlns="" xmlns:a16="http://schemas.microsoft.com/office/drawing/2014/main" id="{F01C52F0-787E-E542-8310-BD2127FCC025}"/>
                </a:ext>
              </a:extLst>
            </p:cNvPr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0B553762-65E4-7242-AB73-E073D39B1FB6}"/>
                </a:ext>
              </a:extLst>
            </p:cNvPr>
            <p:cNvSpPr/>
            <p:nvPr/>
          </p:nvSpPr>
          <p:spPr>
            <a:xfrm>
              <a:off x="751840" y="2113280"/>
              <a:ext cx="6014720" cy="1838960"/>
            </a:xfrm>
            <a:custGeom>
              <a:avLst/>
              <a:gdLst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="" xmlns:a16="http://schemas.microsoft.com/office/drawing/2014/main" id="{F7FE6501-59AE-7E4F-A363-64532C89299C}"/>
              </a:ext>
            </a:extLst>
          </p:cNvPr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="" xmlns:a16="http://schemas.microsoft.com/office/drawing/2014/main" id="{C63ACF7A-01CE-D940-9A14-306A3279A424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="" xmlns:a16="http://schemas.microsoft.com/office/drawing/2014/main" id="{669F4A56-8AD8-9443-9DD4-4E6082993E4D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="" xmlns:a16="http://schemas.microsoft.com/office/drawing/2014/main" id="{AD73DF7B-C6A1-8C43-92E7-35914D44AF5F}"/>
              </a:ext>
            </a:extLst>
          </p:cNvPr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="" xmlns:a16="http://schemas.microsoft.com/office/drawing/2014/main" id="{592C8CA7-0104-4B46-8A79-58E2F147158C}"/>
              </a:ext>
            </a:extLst>
          </p:cNvPr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(a)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(a),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(a), c</a:t>
            </a:r>
            <a:r>
              <a:rPr lang="en-US" sz="1600" baseline="-25000" dirty="0"/>
              <a:t>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(a)}  = min{8,</a:t>
            </a:r>
            <a:r>
              <a:rPr lang="en-US" sz="1600" dirty="0">
                <a:cs typeface="Arial" charset="0"/>
              </a:rPr>
              <a:t>∞,∞} = 8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="" xmlns:a16="http://schemas.microsoft.com/office/drawing/2014/main" id="{DCFB5697-087A-6A4F-A48D-98A3E75CFA5F}"/>
              </a:ext>
            </a:extLst>
          </p:cNvPr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(c)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(c),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(c),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(c)}  = min{</a:t>
            </a:r>
            <a:r>
              <a:rPr lang="en-US" sz="1600" dirty="0">
                <a:cs typeface="Arial" charset="0"/>
              </a:rPr>
              <a:t>∞,1,∞} = 1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="" xmlns:a16="http://schemas.microsoft.com/office/drawing/2014/main" id="{0E1E6414-BFC2-6F49-BF7D-69F4679C38EE}"/>
              </a:ext>
            </a:extLst>
          </p:cNvPr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(d)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(d),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(d),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(d)}  = min{</a:t>
            </a:r>
            <a:r>
              <a:rPr lang="en-US" sz="1600" dirty="0">
                <a:cs typeface="Arial" charset="0"/>
              </a:rPr>
              <a:t>9,2,∞} = 2 </a:t>
            </a:r>
            <a:endParaRPr lang="en-US" sz="1600" dirty="0"/>
          </a:p>
        </p:txBody>
      </p:sp>
      <p:sp>
        <p:nvSpPr>
          <p:cNvPr id="235" name="TextBox 234">
            <a:extLst>
              <a:ext uri="{FF2B5EF4-FFF2-40B4-BE49-F238E27FC236}">
                <a16:creationId xmlns="" xmlns:a16="http://schemas.microsoft.com/office/drawing/2014/main" id="{3834A49C-F57F-2B4C-8C1E-8CA2C48DB280}"/>
              </a:ext>
            </a:extLst>
          </p:cNvPr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(f)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(f),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(f),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(f)}  = min{</a:t>
            </a:r>
            <a:r>
              <a:rPr lang="en-US" sz="1600" dirty="0">
                <a:cs typeface="Arial" charset="0"/>
              </a:rPr>
              <a:t>∞,∞,2} = 2 </a:t>
            </a:r>
            <a:endParaRPr lang="en-US" sz="1600" dirty="0"/>
          </a:p>
        </p:txBody>
      </p:sp>
      <p:sp>
        <p:nvSpPr>
          <p:cNvPr id="237" name="TextBox 236">
            <a:extLst>
              <a:ext uri="{FF2B5EF4-FFF2-40B4-BE49-F238E27FC236}">
                <a16:creationId xmlns="" xmlns:a16="http://schemas.microsoft.com/office/drawing/2014/main" id="{0F652DFE-1D53-2E40-AA65-BBF6D49AD967}"/>
              </a:ext>
            </a:extLst>
          </p:cNvPr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(i)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(i),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(i),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(i)}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="" xmlns:a16="http://schemas.microsoft.com/office/drawing/2014/main" id="{6F6C5C23-C561-3C45-BF6E-B71BD8ABBA6F}"/>
              </a:ext>
            </a:extLst>
          </p:cNvPr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(h)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(h),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(h),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(h)}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2} = 2 </a:t>
            </a:r>
            <a:endParaRPr lang="en-US" sz="1600" dirty="0"/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BADCD68C-1DA0-8447-9D21-763071468EAD}"/>
              </a:ext>
            </a:extLst>
          </p:cNvPr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(e)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(e),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(e),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(e)}  = min{</a:t>
            </a:r>
            <a:r>
              <a:rPr lang="en-US" sz="1600" dirty="0">
                <a:cs typeface="Arial" charset="0"/>
              </a:rPr>
              <a:t>∞,∞,1} = 1 </a:t>
            </a:r>
            <a:endParaRPr lang="en-US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="" xmlns:a16="http://schemas.microsoft.com/office/drawing/2014/main" id="{CD08082F-26E1-5D4C-847F-FBDD59BB5533}"/>
              </a:ext>
            </a:extLst>
          </p:cNvPr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(g)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(g),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(g),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(g)}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460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6 L -0.0013 -0.7143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5" grpId="0" animBg="1"/>
      <p:bldP spid="230" grpId="0"/>
      <p:bldP spid="231" grpId="0"/>
      <p:bldP spid="232" grpId="0"/>
      <p:bldP spid="235" grpId="0"/>
      <p:bldP spid="237" grpId="0"/>
      <p:bldP spid="238" grpId="0"/>
      <p:bldP spid="233" grpId="0"/>
      <p:bldP spid="2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=""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=""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=""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=""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=""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=""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=""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=""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=""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=""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=""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=""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=""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=""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=""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=""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=""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=""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=""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=""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=""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=""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=""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=""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=""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=""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=""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=""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=""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=""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=""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=""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=""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=""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=""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=""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=""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=""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=""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=""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=""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76" name="Right Arrow 175">
            <a:extLst>
              <a:ext uri="{FF2B5EF4-FFF2-40B4-BE49-F238E27FC236}">
                <a16:creationId xmlns=""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2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345" grpId="0" animBg="1"/>
      <p:bldP spid="356" grpId="0" animBg="1"/>
      <p:bldP spid="357" grpId="0" animBg="1"/>
      <p:bldP spid="183" grpId="0" animBg="1"/>
      <p:bldP spid="17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=""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=""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=""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=""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=""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=""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=""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=""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=""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=""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=""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=""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=""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 computes: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=""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=""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=""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=""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=""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=""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=""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=""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76" name="Right Arrow 175">
            <a:extLst>
              <a:ext uri="{FF2B5EF4-FFF2-40B4-BE49-F238E27FC236}">
                <a16:creationId xmlns=""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Freeform 176">
            <a:extLst>
              <a:ext uri="{FF2B5EF4-FFF2-40B4-BE49-F238E27FC236}">
                <a16:creationId xmlns="" xmlns:a16="http://schemas.microsoft.com/office/drawing/2014/main" id="{331A1580-F5D4-CF4F-8042-0A1E5AEF8310}"/>
              </a:ext>
            </a:extLst>
          </p:cNvPr>
          <p:cNvSpPr/>
          <p:nvPr/>
        </p:nvSpPr>
        <p:spPr>
          <a:xfrm>
            <a:off x="3281678" y="1747520"/>
            <a:ext cx="5923281" cy="49885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  <a:gd name="connsiteX0" fmla="*/ 1239799 w 5760999"/>
              <a:gd name="connsiteY0" fmla="*/ 386080 h 4206240"/>
              <a:gd name="connsiteX1" fmla="*/ 2987319 w 5760999"/>
              <a:gd name="connsiteY1" fmla="*/ 386080 h 4206240"/>
              <a:gd name="connsiteX2" fmla="*/ 3570336 w 5760999"/>
              <a:gd name="connsiteY2" fmla="*/ 0 h 4206240"/>
              <a:gd name="connsiteX3" fmla="*/ 5730519 w 5760999"/>
              <a:gd name="connsiteY3" fmla="*/ 1168400 h 4206240"/>
              <a:gd name="connsiteX4" fmla="*/ 5760999 w 5760999"/>
              <a:gd name="connsiteY4" fmla="*/ 4206240 h 4206240"/>
              <a:gd name="connsiteX5" fmla="*/ 0 w 5760999"/>
              <a:gd name="connsiteY5" fmla="*/ 4196080 h 4206240"/>
              <a:gd name="connsiteX6" fmla="*/ 69172 w 5760999"/>
              <a:gd name="connsiteY6" fmla="*/ 1341120 h 4206240"/>
              <a:gd name="connsiteX7" fmla="*/ 917184 w 5760999"/>
              <a:gd name="connsiteY7" fmla="*/ 1290320 h 4206240"/>
              <a:gd name="connsiteX8" fmla="*/ 1239799 w 5760999"/>
              <a:gd name="connsiteY8" fmla="*/ 386080 h 4206240"/>
              <a:gd name="connsiteX0" fmla="*/ 1239799 w 5760999"/>
              <a:gd name="connsiteY0" fmla="*/ 599440 h 4419600"/>
              <a:gd name="connsiteX1" fmla="*/ 2829213 w 5760999"/>
              <a:gd name="connsiteY1" fmla="*/ 0 h 4419600"/>
              <a:gd name="connsiteX2" fmla="*/ 3570336 w 5760999"/>
              <a:gd name="connsiteY2" fmla="*/ 213360 h 4419600"/>
              <a:gd name="connsiteX3" fmla="*/ 5730519 w 5760999"/>
              <a:gd name="connsiteY3" fmla="*/ 1381760 h 4419600"/>
              <a:gd name="connsiteX4" fmla="*/ 5760999 w 5760999"/>
              <a:gd name="connsiteY4" fmla="*/ 4419600 h 4419600"/>
              <a:gd name="connsiteX5" fmla="*/ 0 w 5760999"/>
              <a:gd name="connsiteY5" fmla="*/ 4409440 h 4419600"/>
              <a:gd name="connsiteX6" fmla="*/ 69172 w 5760999"/>
              <a:gd name="connsiteY6" fmla="*/ 1554480 h 4419600"/>
              <a:gd name="connsiteX7" fmla="*/ 917184 w 5760999"/>
              <a:gd name="connsiteY7" fmla="*/ 1503680 h 4419600"/>
              <a:gd name="connsiteX8" fmla="*/ 1239799 w 5760999"/>
              <a:gd name="connsiteY8" fmla="*/ 599440 h 4419600"/>
              <a:gd name="connsiteX0" fmla="*/ 2524413 w 5760999"/>
              <a:gd name="connsiteY0" fmla="*/ 0 h 4958080"/>
              <a:gd name="connsiteX1" fmla="*/ 2829213 w 5760999"/>
              <a:gd name="connsiteY1" fmla="*/ 538480 h 4958080"/>
              <a:gd name="connsiteX2" fmla="*/ 3570336 w 5760999"/>
              <a:gd name="connsiteY2" fmla="*/ 751840 h 4958080"/>
              <a:gd name="connsiteX3" fmla="*/ 5730519 w 5760999"/>
              <a:gd name="connsiteY3" fmla="*/ 1920240 h 4958080"/>
              <a:gd name="connsiteX4" fmla="*/ 5760999 w 5760999"/>
              <a:gd name="connsiteY4" fmla="*/ 4958080 h 4958080"/>
              <a:gd name="connsiteX5" fmla="*/ 0 w 5760999"/>
              <a:gd name="connsiteY5" fmla="*/ 4947920 h 4958080"/>
              <a:gd name="connsiteX6" fmla="*/ 69172 w 5760999"/>
              <a:gd name="connsiteY6" fmla="*/ 2092960 h 4958080"/>
              <a:gd name="connsiteX7" fmla="*/ 917184 w 5760999"/>
              <a:gd name="connsiteY7" fmla="*/ 2042160 h 4958080"/>
              <a:gd name="connsiteX8" fmla="*/ 2524413 w 5760999"/>
              <a:gd name="connsiteY8" fmla="*/ 0 h 495808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69172 w 5760999"/>
              <a:gd name="connsiteY6" fmla="*/ 212344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138344 w 5760999"/>
              <a:gd name="connsiteY6" fmla="*/ 2032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="" xmlns:a16="http://schemas.microsoft.com/office/drawing/2014/main" id="{56DAE9A3-A8D4-1F4F-87B8-95E9E01E9ED6}"/>
              </a:ext>
            </a:extLst>
          </p:cNvPr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="" xmlns:a16="http://schemas.microsoft.com/office/drawing/2014/main" id="{6435970D-289F-5C44-88EB-0ED68EC089EF}"/>
              </a:ext>
            </a:extLst>
          </p:cNvPr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(a)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(a}} </a:t>
            </a:r>
            <a:r>
              <a:rPr lang="en-US" sz="1600" dirty="0">
                <a:cs typeface="Arial" charset="0"/>
              </a:rPr>
              <a:t>= 1 + 8 = 9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="" xmlns:a16="http://schemas.microsoft.com/office/drawing/2014/main" id="{2915EDBD-C6AE-C34B-A2D2-6F98B54A26DF}"/>
              </a:ext>
            </a:extLst>
          </p:cNvPr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(b)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(b)} = 1 + 0 = 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="" xmlns:a16="http://schemas.microsoft.com/office/drawing/2014/main" id="{2ACDF90F-67A6-E647-A359-36DFD3E0EAEE}"/>
              </a:ext>
            </a:extLst>
          </p:cNvPr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(d)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(d)}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="" xmlns:a16="http://schemas.microsoft.com/office/drawing/2014/main" id="{DD24FB0F-A16D-AD44-B13C-8FACD3AE60AA}"/>
              </a:ext>
            </a:extLst>
          </p:cNvPr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(e)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(e)} = 1 + 1 = 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="" xmlns:a16="http://schemas.microsoft.com/office/drawing/2014/main" id="{392C7836-E2B2-3344-B33C-D0311C182CE1}"/>
              </a:ext>
            </a:extLst>
          </p:cNvPr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(f)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(f)}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="" xmlns:a16="http://schemas.microsoft.com/office/drawing/2014/main" id="{A4B5D70E-C9D4-A94D-83A5-723A3BC5D7B2}"/>
              </a:ext>
            </a:extLst>
          </p:cNvPr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(g)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(g)}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1" name="TextBox 230">
            <a:extLst>
              <a:ext uri="{FF2B5EF4-FFF2-40B4-BE49-F238E27FC236}">
                <a16:creationId xmlns="" xmlns:a16="http://schemas.microsoft.com/office/drawing/2014/main" id="{98C46536-27F6-EA4E-8DAA-99731029B077}"/>
              </a:ext>
            </a:extLst>
          </p:cNvPr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(i)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(i)}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="" xmlns:a16="http://schemas.microsoft.com/office/drawing/2014/main" id="{5B587E4B-98D8-314C-AD6C-D5C59E491D12}"/>
              </a:ext>
            </a:extLst>
          </p:cNvPr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(h) = min{c</a:t>
            </a:r>
            <a:r>
              <a:rPr lang="en-US" sz="1600" baseline="-25000" dirty="0"/>
              <a:t>bc,b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(h)}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8" name="Down Arrow 237">
            <a:extLst>
              <a:ext uri="{FF2B5EF4-FFF2-40B4-BE49-F238E27FC236}">
                <a16:creationId xmlns="" xmlns:a16="http://schemas.microsoft.com/office/drawing/2014/main" id="{1B75EA05-516F-1A42-869B-A05112D9F54E}"/>
              </a:ext>
            </a:extLst>
          </p:cNvPr>
          <p:cNvSpPr/>
          <p:nvPr/>
        </p:nvSpPr>
        <p:spPr>
          <a:xfrm rot="16200000">
            <a:off x="670434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2" name="Group 251">
            <a:extLst>
              <a:ext uri="{FF2B5EF4-FFF2-40B4-BE49-F238E27FC236}">
                <a16:creationId xmlns="" xmlns:a16="http://schemas.microsoft.com/office/drawing/2014/main" id="{7E5DB8CA-DD05-F947-B8C0-C515F9C0A281}"/>
              </a:ext>
            </a:extLst>
          </p:cNvPr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253" name="Rectangle 252">
              <a:extLst>
                <a:ext uri="{FF2B5EF4-FFF2-40B4-BE49-F238E27FC236}">
                  <a16:creationId xmlns="" xmlns:a16="http://schemas.microsoft.com/office/drawing/2014/main" id="{90DA1C9B-D797-2940-9D9A-52DB91665546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="" xmlns:a16="http://schemas.microsoft.com/office/drawing/2014/main" id="{A438FEFE-9A0E-E14F-A20C-433AD0E31E2A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="" xmlns:a16="http://schemas.microsoft.com/office/drawing/2014/main" id="{0DDE6AB4-1AAE-4740-BF48-DF453B07DF19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="" xmlns:a16="http://schemas.microsoft.com/office/drawing/2014/main" id="{E5208DC7-BADD-0348-8188-DDEF7D011927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c: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9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7" name="Straight Connector 256">
                <a:extLst>
                  <a:ext uri="{FF2B5EF4-FFF2-40B4-BE49-F238E27FC236}">
                    <a16:creationId xmlns="" xmlns:a16="http://schemas.microsoft.com/office/drawing/2014/main" id="{27A1646E-2395-DE4C-9EB7-A010C4C5A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Rectangle 257">
                <a:extLst>
                  <a:ext uri="{FF2B5EF4-FFF2-40B4-BE49-F238E27FC236}">
                    <a16:creationId xmlns="" xmlns:a16="http://schemas.microsoft.com/office/drawing/2014/main" id="{5D06E1AD-42EC-234A-8990-0D862398AAF1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Freeform 2">
            <a:extLst>
              <a:ext uri="{FF2B5EF4-FFF2-40B4-BE49-F238E27FC236}">
                <a16:creationId xmlns="" xmlns:a16="http://schemas.microsoft.com/office/drawing/2014/main" id="{49C604FF-993B-294E-A4FB-B0CD03969C40}"/>
              </a:ext>
            </a:extLst>
          </p:cNvPr>
          <p:cNvSpPr/>
          <p:nvPr/>
        </p:nvSpPr>
        <p:spPr>
          <a:xfrm>
            <a:off x="3068320" y="2194560"/>
            <a:ext cx="5598160" cy="1625600"/>
          </a:xfrm>
          <a:custGeom>
            <a:avLst/>
            <a:gdLst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10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="" xmlns:a16="http://schemas.microsoft.com/office/drawing/2014/main" id="{A044BE68-E074-7343-AA40-5C62E04FEF33}"/>
              </a:ext>
            </a:extLst>
          </p:cNvPr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235" name="Freeform 234">
              <a:extLst>
                <a:ext uri="{FF2B5EF4-FFF2-40B4-BE49-F238E27FC236}">
                  <a16:creationId xmlns="" xmlns:a16="http://schemas.microsoft.com/office/drawing/2014/main" id="{C432037B-C0B1-0946-9310-8F414043AC97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="" xmlns:a16="http://schemas.microsoft.com/office/drawing/2014/main" id="{282C0F4B-EE5D-3F44-A552-A4006C30F736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178" name="TextBox 1">
            <a:extLst>
              <a:ext uri="{FF2B5EF4-FFF2-40B4-BE49-F238E27FC236}">
                <a16:creationId xmlns="" xmlns:a16="http://schemas.microsoft.com/office/drawing/2014/main" id="{864085B5-CC56-654B-9AEA-E4EFBB59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5289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20417 -0.54653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9" y="-2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82" grpId="0" animBg="1"/>
      <p:bldP spid="214" grpId="0"/>
      <p:bldP spid="220" grpId="0"/>
      <p:bldP spid="227" grpId="0"/>
      <p:bldP spid="228" grpId="0"/>
      <p:bldP spid="229" grpId="0"/>
      <p:bldP spid="230" grpId="0"/>
      <p:bldP spid="231" grpId="0"/>
      <p:bldP spid="232" grpId="0"/>
      <p:bldP spid="238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=""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=""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=""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=""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5" name="TextBox 214">
            <a:extLst>
              <a:ext uri="{FF2B5EF4-FFF2-40B4-BE49-F238E27FC236}">
                <a16:creationId xmlns=""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=""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=""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=""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=""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=""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=""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=""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=""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=""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=""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=""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=""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=""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=""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=""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=""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=""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=""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=""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=""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=""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=""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=""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=""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=""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=""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=""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=""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=""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=""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=""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=""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=""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=""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=""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=""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=""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=""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=""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=""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e receives DVs from b, d, f, h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=""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=""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=""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=""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=""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=""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=""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=""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=""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=""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=""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=""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=""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=""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=""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=""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=""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=""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=""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=""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=""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=""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=""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=""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=""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=""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=""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=""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=""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=""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74755" y="1106458"/>
            <a:ext cx="2967758" cy="301457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19663 w 2987119"/>
              <a:gd name="connsiteY3" fmla="*/ 2526890 h 2593750"/>
              <a:gd name="connsiteX4" fmla="*/ 0 w 2987119"/>
              <a:gd name="connsiteY4" fmla="*/ 2319101 h 2593750"/>
              <a:gd name="connsiteX0" fmla="*/ 0 w 3017599"/>
              <a:gd name="connsiteY0" fmla="*/ 2390221 h 2593750"/>
              <a:gd name="connsiteX1" fmla="*/ 3010964 w 3017599"/>
              <a:gd name="connsiteY1" fmla="*/ 0 h 2593750"/>
              <a:gd name="connsiteX2" fmla="*/ 3000805 w 3017599"/>
              <a:gd name="connsiteY2" fmla="*/ 2593750 h 2593750"/>
              <a:gd name="connsiteX3" fmla="*/ 50143 w 3017599"/>
              <a:gd name="connsiteY3" fmla="*/ 2526890 h 2593750"/>
              <a:gd name="connsiteX4" fmla="*/ 0 w 3017599"/>
              <a:gd name="connsiteY4" fmla="*/ 2390221 h 259375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Freeform 177">
            <a:extLst>
              <a:ext uri="{FF2B5EF4-FFF2-40B4-BE49-F238E27FC236}">
                <a16:creationId xmlns="" xmlns:a16="http://schemas.microsoft.com/office/drawing/2014/main" id="{871D2208-E245-1F4C-95E8-E69A25614938}"/>
              </a:ext>
            </a:extLst>
          </p:cNvPr>
          <p:cNvSpPr/>
          <p:nvPr/>
        </p:nvSpPr>
        <p:spPr>
          <a:xfrm>
            <a:off x="8446236" y="3874156"/>
            <a:ext cx="1239192" cy="2428567"/>
          </a:xfrm>
          <a:custGeom>
            <a:avLst/>
            <a:gdLst>
              <a:gd name="connsiteX0" fmla="*/ 9833 w 786581"/>
              <a:gd name="connsiteY0" fmla="*/ 501445 h 2458064"/>
              <a:gd name="connsiteX1" fmla="*/ 747252 w 786581"/>
              <a:gd name="connsiteY1" fmla="*/ 0 h 2458064"/>
              <a:gd name="connsiteX2" fmla="*/ 786581 w 786581"/>
              <a:gd name="connsiteY2" fmla="*/ 2458064 h 2458064"/>
              <a:gd name="connsiteX3" fmla="*/ 0 w 786581"/>
              <a:gd name="connsiteY3" fmla="*/ 668593 h 2458064"/>
              <a:gd name="connsiteX4" fmla="*/ 9833 w 786581"/>
              <a:gd name="connsiteY4" fmla="*/ 501445 h 2458064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9" name="Group 178">
            <a:extLst>
              <a:ext uri="{FF2B5EF4-FFF2-40B4-BE49-F238E27FC236}">
                <a16:creationId xmlns="" xmlns:a16="http://schemas.microsoft.com/office/drawing/2014/main" id="{10DDEBD4-7353-9541-B72F-43E36357B966}"/>
              </a:ext>
            </a:extLst>
          </p:cNvPr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180" name="Rectangle 179">
              <a:extLst>
                <a:ext uri="{FF2B5EF4-FFF2-40B4-BE49-F238E27FC236}">
                  <a16:creationId xmlns="" xmlns:a16="http://schemas.microsoft.com/office/drawing/2014/main" id="{E0ED8B3F-2D0A-3B4F-8597-6D523A519ACE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="" xmlns:a16="http://schemas.microsoft.com/office/drawing/2014/main" id="{FCC75114-1E36-B840-9A29-0C23BD09F41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="" xmlns:a16="http://schemas.microsoft.com/office/drawing/2014/main" id="{263C8C73-22EE-D041-BE86-2A0A330003BA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="" xmlns:a16="http://schemas.microsoft.com/office/drawing/2014/main" id="{1D4B225B-56A4-C54E-B06D-75AF9FB2D768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f: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="" xmlns:a16="http://schemas.microsoft.com/office/drawing/2014/main" id="{E590C634-B576-E54C-94F8-7B2EAD85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Rectangle 226">
                <a:extLst>
                  <a:ext uri="{FF2B5EF4-FFF2-40B4-BE49-F238E27FC236}">
                    <a16:creationId xmlns="" xmlns:a16="http://schemas.microsoft.com/office/drawing/2014/main" id="{03080151-68AE-D642-A727-713A5B002CA3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06A226F5-E1A0-0745-A702-A2A97BFBFCD7}"/>
              </a:ext>
            </a:extLst>
          </p:cNvPr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366" name="Rectangle 365">
              <a:extLst>
                <a:ext uri="{FF2B5EF4-FFF2-40B4-BE49-F238E27FC236}">
                  <a16:creationId xmlns=""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="" xmlns:a16="http://schemas.microsoft.com/office/drawing/2014/main" id="{F6C3876C-103E-634C-8619-285D4D96A9C8}"/>
                </a:ext>
              </a:extLst>
            </p:cNvPr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="" xmlns:a16="http://schemas.microsoft.com/office/drawing/2014/main" id="{7C7420E3-75DE-FB4C-B805-F6E92683D068}"/>
                </a:ext>
              </a:extLst>
            </p:cNvPr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000" dirty="0">
                  <a:solidFill>
                    <a:schemeClr val="bg1"/>
                  </a:solidFill>
                </a:rPr>
                <a:t>DV in e: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(a) =</a:t>
              </a:r>
              <a:r>
                <a:rPr lang="en-US" sz="1600" dirty="0">
                  <a:cs typeface="Arial" charset="0"/>
                </a:rPr>
                <a:t> ∞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(b)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(c)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(d) =</a:t>
              </a:r>
              <a:r>
                <a:rPr lang="en-US" sz="1600" dirty="0">
                  <a:cs typeface="Arial" charset="0"/>
                </a:rPr>
                <a:t> 1</a:t>
              </a:r>
            </a:p>
            <a:p>
              <a:pPr marL="114300" lvl="1"/>
              <a:r>
                <a:rPr lang="en-US" sz="1600" dirty="0">
                  <a:cs typeface="Arial" charset="0"/>
                </a:rPr>
                <a:t>D</a:t>
              </a:r>
              <a:r>
                <a:rPr lang="en-US" sz="1600" baseline="-25000" dirty="0">
                  <a:cs typeface="Arial" charset="0"/>
                </a:rPr>
                <a:t>e</a:t>
              </a:r>
              <a:r>
                <a:rPr lang="en-US" sz="1600" dirty="0">
                  <a:cs typeface="Arial" charset="0"/>
                </a:rPr>
                <a:t>(e) = 0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(f)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(g)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(h)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(i)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="" xmlns:a16="http://schemas.microsoft.com/office/drawing/2014/main" id="{1DC7A48D-E2F6-C84C-A00F-2E0AAD58111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0450" y="1225636"/>
              <a:ext cx="11486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="" xmlns:a16="http://schemas.microsoft.com/office/drawing/2014/main" id="{D7FCACB9-7EBD-6042-B148-4018CD65A0BC}"/>
                </a:ext>
              </a:extLst>
            </p:cNvPr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="" xmlns:a16="http://schemas.microsoft.com/office/drawing/2014/main" id="{9413BF4D-A39A-5642-A43D-A3C2CE1A0D9F}"/>
              </a:ext>
            </a:extLst>
          </p:cNvPr>
          <p:cNvGrpSpPr/>
          <p:nvPr/>
        </p:nvGrpSpPr>
        <p:grpSpPr>
          <a:xfrm>
            <a:off x="2595648" y="4070637"/>
            <a:ext cx="1149458" cy="2667397"/>
            <a:chOff x="9764348" y="1447800"/>
            <a:chExt cx="1149458" cy="2667397"/>
          </a:xfrm>
        </p:grpSpPr>
        <p:sp>
          <p:nvSpPr>
            <p:cNvPr id="229" name="Rectangle 228">
              <a:extLst>
                <a:ext uri="{FF2B5EF4-FFF2-40B4-BE49-F238E27FC236}">
                  <a16:creationId xmlns="" xmlns:a16="http://schemas.microsoft.com/office/drawing/2014/main" id="{9ADF260B-6661-034F-A0B1-9434C10CB6EA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="" xmlns:a16="http://schemas.microsoft.com/office/drawing/2014/main" id="{A0F6E678-018D-9043-9B9E-520CE9425B4F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="" xmlns:a16="http://schemas.microsoft.com/office/drawing/2014/main" id="{3C54479A-6447-6C41-A65D-8CDF02997F4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="" xmlns:a16="http://schemas.microsoft.com/office/drawing/2014/main" id="{EAB40A06-F7FC-E544-9A35-C1EB6AB93171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h: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="" xmlns:a16="http://schemas.microsoft.com/office/drawing/2014/main" id="{4EE88B9D-48AE-3C41-ACEF-AB953A3D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="" xmlns:a16="http://schemas.microsoft.com/office/drawing/2014/main" id="{B0D4837F-C7E1-464E-AE20-E7BA24E30BAB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="" xmlns:a16="http://schemas.microsoft.com/office/drawing/2014/main" id="{E5D1DC4A-8FFB-BC47-A0A1-C5FDF0C7BB15}"/>
              </a:ext>
            </a:extLst>
          </p:cNvPr>
          <p:cNvGrpSpPr/>
          <p:nvPr/>
        </p:nvGrpSpPr>
        <p:grpSpPr>
          <a:xfrm>
            <a:off x="2544848" y="1246157"/>
            <a:ext cx="1149458" cy="2667397"/>
            <a:chOff x="9764348" y="1447800"/>
            <a:chExt cx="1149458" cy="2667397"/>
          </a:xfrm>
        </p:grpSpPr>
        <p:sp>
          <p:nvSpPr>
            <p:cNvPr id="237" name="Rectangle 236">
              <a:extLst>
                <a:ext uri="{FF2B5EF4-FFF2-40B4-BE49-F238E27FC236}">
                  <a16:creationId xmlns="" xmlns:a16="http://schemas.microsoft.com/office/drawing/2014/main" id="{C5D97005-6275-0E40-AC90-33504E6F88D3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="" xmlns:a16="http://schemas.microsoft.com/office/drawing/2014/main" id="{F0F5EFAC-DD71-6445-A54E-E854D4BF79C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="" xmlns:a16="http://schemas.microsoft.com/office/drawing/2014/main" id="{96962042-8A2E-A64D-8876-1FD7A84833E5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="" xmlns:a16="http://schemas.microsoft.com/office/drawing/2014/main" id="{940904E2-A3C0-D842-9DA2-FE7E9C839DC9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d: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 </a:t>
                </a:r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="" xmlns:a16="http://schemas.microsoft.com/office/drawing/2014/main" id="{A4C13240-3690-274C-B6C9-0173DDE8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angle 252">
                <a:extLst>
                  <a:ext uri="{FF2B5EF4-FFF2-40B4-BE49-F238E27FC236}">
                    <a16:creationId xmlns="" xmlns:a16="http://schemas.microsoft.com/office/drawing/2014/main" id="{8546D7D6-52BC-7B4C-A56A-8A4EB693C647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Freeform 8">
            <a:extLst>
              <a:ext uri="{FF2B5EF4-FFF2-40B4-BE49-F238E27FC236}">
                <a16:creationId xmlns="" xmlns:a16="http://schemas.microsoft.com/office/drawing/2014/main" id="{FE2F627E-78F3-5D44-9884-C049E1334721}"/>
              </a:ext>
            </a:extLst>
          </p:cNvPr>
          <p:cNvSpPr/>
          <p:nvPr/>
        </p:nvSpPr>
        <p:spPr>
          <a:xfrm>
            <a:off x="3677920" y="1280160"/>
            <a:ext cx="853440" cy="282448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=""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=""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=""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=""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=""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=""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=""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=""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=""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=""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=""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=""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=""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=""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=""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=""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=""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=""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=""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=""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=""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=""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=""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=""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=""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=""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=""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=""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=""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=""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=""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4" name="Freeform 253">
            <a:extLst>
              <a:ext uri="{FF2B5EF4-FFF2-40B4-BE49-F238E27FC236}">
                <a16:creationId xmlns="" xmlns:a16="http://schemas.microsoft.com/office/drawing/2014/main" id="{5E971120-97A0-A04E-98CB-2AE07466929F}"/>
              </a:ext>
            </a:extLst>
          </p:cNvPr>
          <p:cNvSpPr/>
          <p:nvPr/>
        </p:nvSpPr>
        <p:spPr>
          <a:xfrm>
            <a:off x="3728720" y="4114800"/>
            <a:ext cx="2722880" cy="256032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2529840 w 2702560"/>
              <a:gd name="connsiteY0" fmla="*/ 2824480 h 3438178"/>
              <a:gd name="connsiteX1" fmla="*/ 0 w 2702560"/>
              <a:gd name="connsiteY1" fmla="*/ 3434080 h 3438178"/>
              <a:gd name="connsiteX2" fmla="*/ 1849120 w 2702560"/>
              <a:gd name="connsiteY2" fmla="*/ 0 h 3438178"/>
              <a:gd name="connsiteX3" fmla="*/ 2702560 w 2702560"/>
              <a:gd name="connsiteY3" fmla="*/ 2631440 h 3438178"/>
              <a:gd name="connsiteX4" fmla="*/ 2529840 w 2702560"/>
              <a:gd name="connsiteY4" fmla="*/ 2824480 h 3438178"/>
              <a:gd name="connsiteX0" fmla="*/ 2529840 w 2702560"/>
              <a:gd name="connsiteY0" fmla="*/ 2824480 h 3434080"/>
              <a:gd name="connsiteX1" fmla="*/ 0 w 2702560"/>
              <a:gd name="connsiteY1" fmla="*/ 3434080 h 3434080"/>
              <a:gd name="connsiteX2" fmla="*/ 1849120 w 2702560"/>
              <a:gd name="connsiteY2" fmla="*/ 0 h 3434080"/>
              <a:gd name="connsiteX3" fmla="*/ 2702560 w 2702560"/>
              <a:gd name="connsiteY3" fmla="*/ 2631440 h 3434080"/>
              <a:gd name="connsiteX4" fmla="*/ 2529840 w 2702560"/>
              <a:gd name="connsiteY4" fmla="*/ 2824480 h 343408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4" name="Group 1033">
            <a:extLst>
              <a:ext uri="{FF2B5EF4-FFF2-40B4-BE49-F238E27FC236}">
                <a16:creationId xmlns=""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=""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=""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=""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=""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=""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=""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=""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=""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=""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=""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=""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=""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=""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=""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=""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=""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=""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=""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=""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=""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=""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=""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=""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=""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=""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=""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=""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=""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5" name="Rectangle 254">
            <a:extLst>
              <a:ext uri="{FF2B5EF4-FFF2-40B4-BE49-F238E27FC236}">
                <a16:creationId xmlns="" xmlns:a16="http://schemas.microsoft.com/office/drawing/2014/main" id="{F5690667-A0AD-3441-901C-58ACD8DB9CB9}"/>
              </a:ext>
            </a:extLst>
          </p:cNvPr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Q: what is new DV computed in e at </a:t>
            </a:r>
            <a:r>
              <a:rPr lang="en-US" i="1" dirty="0">
                <a:solidFill>
                  <a:schemeClr val="tx1"/>
                </a:solidFill>
              </a:rPr>
              <a:t>t=1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6" name="Right Arrow 255">
            <a:extLst>
              <a:ext uri="{FF2B5EF4-FFF2-40B4-BE49-F238E27FC236}">
                <a16:creationId xmlns="" xmlns:a16="http://schemas.microsoft.com/office/drawing/2014/main" id="{3F3727DD-64E4-8E44-A860-1B6F3AAFA945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ight Arrow 256">
            <a:extLst>
              <a:ext uri="{FF2B5EF4-FFF2-40B4-BE49-F238E27FC236}">
                <a16:creationId xmlns="" xmlns:a16="http://schemas.microsoft.com/office/drawing/2014/main" id="{243C704B-7CF3-234F-BE06-49455A56103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Right Arrow 257">
            <a:extLst>
              <a:ext uri="{FF2B5EF4-FFF2-40B4-BE49-F238E27FC236}">
                <a16:creationId xmlns="" xmlns:a16="http://schemas.microsoft.com/office/drawing/2014/main" id="{10D66682-A305-4140-B8C3-5D5379725A71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Right Arrow 258">
            <a:extLst>
              <a:ext uri="{FF2B5EF4-FFF2-40B4-BE49-F238E27FC236}">
                <a16:creationId xmlns="" xmlns:a16="http://schemas.microsoft.com/office/drawing/2014/main" id="{5082A0A8-497B-E44C-BB21-E8FA27FE24FB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0" name="Group 259">
            <a:extLst>
              <a:ext uri="{FF2B5EF4-FFF2-40B4-BE49-F238E27FC236}">
                <a16:creationId xmlns="" xmlns:a16="http://schemas.microsoft.com/office/drawing/2014/main" id="{C27D4E3A-D1FC-A141-84A4-309423E9F3B8}"/>
              </a:ext>
            </a:extLst>
          </p:cNvPr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="" xmlns:a16="http://schemas.microsoft.com/office/drawing/2014/main" id="{5F0B966E-6247-6947-B318-2BE50246EA22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="" xmlns:a16="http://schemas.microsoft.com/office/drawing/2014/main" id="{6012C683-6837-1240-8EA8-A8A29041E157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0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255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algorithm: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</a:rPr>
              <a:t>Network Layer: 5-</a:t>
            </a:r>
            <a:fld id="{C4204591-24BD-A542-B9D5-F8D8A88D2FEE}" type="slidenum">
              <a:rPr lang="en-US" smtClean="0">
                <a:latin typeface="+mj-lt"/>
              </a:rPr>
              <a:pPr/>
              <a:t>22</a:t>
            </a:fld>
            <a:endParaRPr lang="en-US" dirty="0">
              <a:latin typeface="+mj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5F891EAD-A289-0847-8476-12FDB9A2A09E}"/>
              </a:ext>
            </a:extLst>
          </p:cNvPr>
          <p:cNvSpPr txBox="1">
            <a:spLocks noChangeArrowheads="1"/>
          </p:cNvSpPr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+mj-lt"/>
              </a:rPr>
              <a:t>iterative, asynchronous: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each local iteration caused by: </a:t>
            </a:r>
          </a:p>
          <a:p>
            <a:pPr marL="460375" indent="-223838"/>
            <a:r>
              <a:rPr lang="en-US" sz="2400" dirty="0">
                <a:latin typeface="+mj-lt"/>
              </a:rPr>
              <a:t>local link cost change </a:t>
            </a:r>
          </a:p>
          <a:p>
            <a:pPr marL="460375" indent="-223838"/>
            <a:r>
              <a:rPr lang="en-US" sz="2400" dirty="0">
                <a:latin typeface="+mj-lt"/>
              </a:rPr>
              <a:t>DV update message from neighbor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="" xmlns:a16="http://schemas.microsoft.com/office/drawing/2014/main" id="{B41893AC-4325-F74F-8450-C793E4D0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dirty="0">
              <a:latin typeface="+mj-lt"/>
            </a:endParaRPr>
          </a:p>
          <a:p>
            <a:pPr algn="ctr">
              <a:lnSpc>
                <a:spcPct val="90000"/>
              </a:lnSpc>
            </a:pPr>
            <a:r>
              <a:rPr lang="en-US" sz="2800" i="1" dirty="0">
                <a:solidFill>
                  <a:srgbClr val="000099"/>
                </a:solidFill>
                <a:latin typeface="+mj-lt"/>
              </a:rPr>
              <a:t>wait</a:t>
            </a:r>
            <a:r>
              <a:rPr lang="en-US" dirty="0">
                <a:solidFill>
                  <a:srgbClr val="000099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for (change in local link cost or msg from neighbor)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+mj-lt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+mj-lt"/>
            </a:endParaRPr>
          </a:p>
          <a:p>
            <a:pPr algn="ctr">
              <a:spcBef>
                <a:spcPct val="50000"/>
              </a:spcBef>
            </a:pPr>
            <a:endParaRPr lang="en-US" dirty="0">
              <a:latin typeface="+mj-lt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="" xmlns:a16="http://schemas.microsoft.com/office/drawing/2014/main" id="{71AD5EDC-87FD-634A-9465-87600AAF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305" y="1397588"/>
            <a:ext cx="19527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solidFill>
                  <a:srgbClr val="CC0000"/>
                </a:solidFill>
                <a:latin typeface="+mj-lt"/>
              </a:rPr>
              <a:t>each node: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="" xmlns:a16="http://schemas.microsoft.com/office/drawing/2014/main" id="{5302920D-3833-AE4E-83FE-DE8AB636259C}"/>
              </a:ext>
            </a:extLst>
          </p:cNvPr>
          <p:cNvSpPr txBox="1">
            <a:spLocks noChangeArrowheads="1"/>
          </p:cNvSpPr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  <a:latin typeface="+mj-lt"/>
              </a:rPr>
              <a:t>distributed, self-stopping: </a:t>
            </a:r>
            <a:r>
              <a:rPr lang="en-US" sz="2400" dirty="0">
                <a:latin typeface="+mj-lt"/>
              </a:rPr>
              <a:t>each node notifies neighbors </a:t>
            </a:r>
            <a:r>
              <a:rPr lang="en-US" sz="2400" i="1" dirty="0">
                <a:latin typeface="+mj-lt"/>
              </a:rPr>
              <a:t>only</a:t>
            </a:r>
            <a:r>
              <a:rPr lang="en-US" sz="2400" dirty="0">
                <a:latin typeface="+mj-lt"/>
              </a:rPr>
              <a:t> when its DV changes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neighbors then notify their neighbors – </a:t>
            </a:r>
            <a:r>
              <a:rPr lang="en-US" i="1" dirty="0">
                <a:latin typeface="+mj-lt"/>
              </a:rPr>
              <a:t>only if necessary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no notification received, no actions taken!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B53C11C6-D826-5F43-A2B4-6804C1E58E41}"/>
              </a:ext>
            </a:extLst>
          </p:cNvPr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sp>
          <p:nvSpPr>
            <p:cNvPr id="11" name="Line 5">
              <a:extLst>
                <a:ext uri="{FF2B5EF4-FFF2-40B4-BE49-F238E27FC236}">
                  <a16:creationId xmlns="" xmlns:a16="http://schemas.microsoft.com/office/drawing/2014/main" id="{3F1A2ABA-C0FF-3042-AB19-EBB20A32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463" y="3169084"/>
              <a:ext cx="0" cy="42258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" name="Text Box 4">
              <a:extLst>
                <a:ext uri="{FF2B5EF4-FFF2-40B4-BE49-F238E27FC236}">
                  <a16:creationId xmlns="" xmlns:a16="http://schemas.microsoft.com/office/drawing/2014/main" id="{0127FDB6-1E7E-B747-9FF9-706AF3DA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i="1" dirty="0">
                  <a:solidFill>
                    <a:srgbClr val="000099"/>
                  </a:solidFill>
                  <a:latin typeface="+mj-lt"/>
                </a:rPr>
                <a:t>recompute</a:t>
              </a:r>
              <a:r>
                <a:rPr lang="en-US" sz="2800" dirty="0">
                  <a:latin typeface="+mj-lt"/>
                </a:rPr>
                <a:t> DV estimates using DV received from neighbor</a:t>
              </a:r>
            </a:p>
            <a:p>
              <a:pPr>
                <a:lnSpc>
                  <a:spcPct val="90000"/>
                </a:lnSpc>
              </a:pPr>
              <a:endParaRPr lang="en-US" sz="2000" dirty="0">
                <a:latin typeface="+mj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AB2E6A7-BBBF-E942-BD5C-47863B3A0DE5}"/>
              </a:ext>
            </a:extLst>
          </p:cNvPr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sp>
          <p:nvSpPr>
            <p:cNvPr id="12" name="Line 6">
              <a:extLst>
                <a:ext uri="{FF2B5EF4-FFF2-40B4-BE49-F238E27FC236}">
                  <a16:creationId xmlns="" xmlns:a16="http://schemas.microsoft.com/office/drawing/2014/main" id="{D8667227-75F3-2946-9800-49EF5E66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268" y="4396635"/>
              <a:ext cx="0" cy="439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" name="Text Box 4">
              <a:extLst>
                <a:ext uri="{FF2B5EF4-FFF2-40B4-BE49-F238E27FC236}">
                  <a16:creationId xmlns="" xmlns:a16="http://schemas.microsoft.com/office/drawing/2014/main" id="{397A11E9-C3A3-2347-8FE5-1B38BBB5C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dirty="0">
                  <a:latin typeface="+mj-lt"/>
                </a:rPr>
                <a:t>if DV to any destination has changed, </a:t>
              </a:r>
              <a:r>
                <a:rPr lang="en-US" sz="2800" i="1" dirty="0">
                  <a:solidFill>
                    <a:srgbClr val="000099"/>
                  </a:solidFill>
                  <a:latin typeface="+mj-lt"/>
                </a:rPr>
                <a:t>notify</a:t>
              </a:r>
              <a:r>
                <a:rPr lang="en-US" sz="2800" dirty="0">
                  <a:latin typeface="+mj-lt"/>
                </a:rPr>
                <a:t> neighbors 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A5F1EEA1-E3D6-FE44-9DE6-5BA118248F5E}"/>
              </a:ext>
            </a:extLst>
          </p:cNvPr>
          <p:cNvCxnSpPr/>
          <p:nvPr/>
        </p:nvCxnSpPr>
        <p:spPr>
          <a:xfrm flipV="1">
            <a:off x="3369501" y="5718132"/>
            <a:ext cx="0" cy="454068"/>
          </a:xfrm>
          <a:prstGeom prst="line">
            <a:avLst/>
          </a:prstGeom>
          <a:ln w="190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E1A9ECAE-CD60-CD4E-8453-32556903D047}"/>
              </a:ext>
            </a:extLst>
          </p:cNvPr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="" xmlns:a16="http://schemas.microsoft.com/office/drawing/2014/main" id="{2E0990E6-E4F6-004A-983C-35F56F91D474}"/>
              </a:ext>
            </a:extLst>
          </p:cNvPr>
          <p:cNvCxnSpPr/>
          <p:nvPr/>
        </p:nvCxnSpPr>
        <p:spPr>
          <a:xfrm>
            <a:off x="1052186" y="6172200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81994047-8DFC-3848-A093-707102890135}"/>
              </a:ext>
            </a:extLst>
          </p:cNvPr>
          <p:cNvCxnSpPr/>
          <p:nvPr/>
        </p:nvCxnSpPr>
        <p:spPr>
          <a:xfrm>
            <a:off x="1052186" y="2178485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6BD0BEAE-AFEE-C84E-B69C-BA9C126D7B96}"/>
              </a:ext>
            </a:extLst>
          </p:cNvPr>
          <p:cNvCxnSpPr>
            <a:cxnSpLocks/>
          </p:cNvCxnSpPr>
          <p:nvPr/>
        </p:nvCxnSpPr>
        <p:spPr>
          <a:xfrm>
            <a:off x="1039660" y="2167003"/>
            <a:ext cx="0" cy="40051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99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Distance vector: link cost changes</a:t>
            </a:r>
          </a:p>
        </p:txBody>
      </p:sp>
      <p:sp>
        <p:nvSpPr>
          <p:cNvPr id="80" name="Text Box 4">
            <a:extLst>
              <a:ext uri="{FF2B5EF4-FFF2-40B4-BE49-F238E27FC236}">
                <a16:creationId xmlns="" xmlns:a16="http://schemas.microsoft.com/office/drawing/2014/main" id="{438AA575-F82B-4140-AE52-BEE0F0C2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15" y="4245258"/>
            <a:ext cx="18413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ja-JP" sz="2000" dirty="0">
                <a:solidFill>
                  <a:srgbClr val="C00000"/>
                </a:solidFill>
                <a:latin typeface="+mj-lt"/>
              </a:rPr>
              <a:t>“good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news 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travels fast”</a:t>
            </a:r>
            <a:endParaRPr lang="en-US" sz="1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81" name="Rectangle 41">
            <a:extLst>
              <a:ext uri="{FF2B5EF4-FFF2-40B4-BE49-F238E27FC236}">
                <a16:creationId xmlns="" xmlns:a16="http://schemas.microsoft.com/office/drawing/2014/main" id="{C4C2BFAF-08F8-2B4E-84C9-E1AF7157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453" y="3768615"/>
            <a:ext cx="91113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sz="2000" i="1" dirty="0">
                <a:latin typeface="+mj-lt"/>
              </a:rPr>
              <a:t>t</a:t>
            </a:r>
            <a:r>
              <a:rPr lang="en-US" sz="2000" i="1" baseline="-25000" dirty="0">
                <a:latin typeface="+mj-lt"/>
              </a:rPr>
              <a:t>0 </a:t>
            </a:r>
            <a:r>
              <a:rPr lang="en-US" sz="2000" dirty="0">
                <a:latin typeface="+mj-lt"/>
              </a:rPr>
              <a:t>: </a:t>
            </a:r>
            <a:r>
              <a:rPr lang="en-US" sz="2000" i="1" dirty="0">
                <a:latin typeface="+mj-lt"/>
              </a:rPr>
              <a:t>y</a:t>
            </a:r>
            <a:r>
              <a:rPr lang="en-US" sz="2000" dirty="0">
                <a:latin typeface="+mj-lt"/>
              </a:rPr>
              <a:t> detects link-cost change, updates its DV, informs its neighbors.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sz="1600" dirty="0">
              <a:latin typeface="+mj-lt"/>
            </a:endParaRPr>
          </a:p>
        </p:txBody>
      </p:sp>
      <p:sp>
        <p:nvSpPr>
          <p:cNvPr id="82" name="Rectangle 42">
            <a:extLst>
              <a:ext uri="{FF2B5EF4-FFF2-40B4-BE49-F238E27FC236}">
                <a16:creationId xmlns="" xmlns:a16="http://schemas.microsoft.com/office/drawing/2014/main" id="{0B94A561-5BEF-5441-B104-E5096C7C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153" y="4293076"/>
            <a:ext cx="871033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334963" algn="l"/>
              </a:tabLst>
            </a:pPr>
            <a:r>
              <a:rPr lang="en-US" sz="2000" i="1" dirty="0">
                <a:latin typeface="+mj-lt"/>
              </a:rPr>
              <a:t>t</a:t>
            </a:r>
            <a:r>
              <a:rPr lang="en-US" sz="2000" i="1" baseline="-25000" dirty="0">
                <a:latin typeface="+mj-lt"/>
              </a:rPr>
              <a:t>1 </a:t>
            </a:r>
            <a:r>
              <a:rPr lang="en-US" sz="2000" dirty="0">
                <a:latin typeface="+mj-lt"/>
              </a:rPr>
              <a:t>: </a:t>
            </a:r>
            <a:r>
              <a:rPr lang="en-US" sz="2000" i="1" dirty="0">
                <a:latin typeface="+mj-lt"/>
              </a:rPr>
              <a:t>z</a:t>
            </a:r>
            <a:r>
              <a:rPr lang="en-US" sz="2000" dirty="0">
                <a:latin typeface="+mj-lt"/>
              </a:rPr>
              <a:t> receives update from </a:t>
            </a:r>
            <a:r>
              <a:rPr lang="en-US" sz="2000" i="1" dirty="0">
                <a:latin typeface="+mj-lt"/>
              </a:rPr>
              <a:t>y</a:t>
            </a:r>
            <a:r>
              <a:rPr lang="en-US" sz="2000" dirty="0">
                <a:latin typeface="+mj-lt"/>
              </a:rPr>
              <a:t>, updates its DV, computes new least cost to </a:t>
            </a:r>
            <a:r>
              <a:rPr lang="en-US" sz="2000" i="1" dirty="0">
                <a:latin typeface="+mj-lt"/>
              </a:rPr>
              <a:t>x</a:t>
            </a:r>
            <a:r>
              <a:rPr lang="en-US" sz="2000" dirty="0">
                <a:latin typeface="+mj-lt"/>
              </a:rPr>
              <a:t> , sends its neighbors its DV.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sz="1600" dirty="0">
              <a:latin typeface="+mj-lt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="" xmlns:a16="http://schemas.microsoft.com/office/drawing/2014/main" id="{02ED6D7B-6CD4-684F-802D-89045518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274" y="5125759"/>
            <a:ext cx="845011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457200" algn="l"/>
              </a:tabLst>
            </a:pPr>
            <a:r>
              <a:rPr lang="en-US" sz="2000" i="1" dirty="0">
                <a:latin typeface="+mj-lt"/>
              </a:rPr>
              <a:t>t</a:t>
            </a:r>
            <a:r>
              <a:rPr lang="en-US" sz="2000" i="1" baseline="-25000" dirty="0">
                <a:latin typeface="+mj-lt"/>
              </a:rPr>
              <a:t>2 </a:t>
            </a:r>
            <a:r>
              <a:rPr lang="en-US" sz="2000" dirty="0">
                <a:latin typeface="+mj-lt"/>
              </a:rPr>
              <a:t>: </a:t>
            </a:r>
            <a:r>
              <a:rPr lang="en-US" sz="2000" i="1" dirty="0">
                <a:latin typeface="+mj-lt"/>
              </a:rPr>
              <a:t>y</a:t>
            </a:r>
            <a:r>
              <a:rPr lang="en-US" sz="2000" dirty="0">
                <a:latin typeface="+mj-lt"/>
              </a:rPr>
              <a:t> receives </a:t>
            </a:r>
            <a:r>
              <a:rPr lang="en-US" sz="2000" i="1" dirty="0">
                <a:latin typeface="+mj-lt"/>
              </a:rPr>
              <a:t>z</a:t>
            </a:r>
            <a:r>
              <a:rPr lang="en-US" sz="2000" dirty="0">
                <a:latin typeface="+mj-lt"/>
              </a:rPr>
              <a:t>’</a:t>
            </a:r>
            <a:r>
              <a:rPr lang="en-US" altLang="ja-JP" sz="2000" dirty="0">
                <a:latin typeface="+mj-lt"/>
              </a:rPr>
              <a:t>s update, updates its DV.  </a:t>
            </a:r>
            <a:r>
              <a:rPr lang="en-US" altLang="ja-JP" sz="2000" i="1" dirty="0">
                <a:latin typeface="+mj-lt"/>
              </a:rPr>
              <a:t>y’</a:t>
            </a:r>
            <a:r>
              <a:rPr lang="en-US" altLang="ja-JP" sz="2000" dirty="0">
                <a:latin typeface="+mj-lt"/>
              </a:rPr>
              <a:t>s least costs do </a:t>
            </a:r>
            <a:r>
              <a:rPr lang="en-US" altLang="ja-JP" sz="2000" i="1" dirty="0">
                <a:latin typeface="+mj-lt"/>
              </a:rPr>
              <a:t>not</a:t>
            </a:r>
            <a:r>
              <a:rPr lang="en-US" altLang="ja-JP" sz="2000" dirty="0">
                <a:latin typeface="+mj-lt"/>
              </a:rPr>
              <a:t> change, so </a:t>
            </a:r>
            <a:r>
              <a:rPr lang="en-US" altLang="ja-JP" sz="2000" i="1" dirty="0">
                <a:latin typeface="+mj-lt"/>
              </a:rPr>
              <a:t>y</a:t>
            </a:r>
            <a:r>
              <a:rPr lang="en-US" altLang="ja-JP" sz="2000" dirty="0">
                <a:latin typeface="+mj-lt"/>
              </a:rPr>
              <a:t> does </a:t>
            </a:r>
            <a:r>
              <a:rPr lang="en-US" altLang="ja-JP" sz="2000" i="1" dirty="0">
                <a:solidFill>
                  <a:srgbClr val="0000A8"/>
                </a:solidFill>
                <a:latin typeface="+mj-lt"/>
              </a:rPr>
              <a:t>not</a:t>
            </a:r>
            <a:r>
              <a:rPr lang="en-US" altLang="ja-JP" sz="2000" dirty="0">
                <a:latin typeface="+mj-lt"/>
              </a:rPr>
              <a:t> send a message to </a:t>
            </a:r>
            <a:r>
              <a:rPr lang="en-US" altLang="ja-JP" sz="2000" i="1" dirty="0">
                <a:latin typeface="+mj-lt"/>
              </a:rPr>
              <a:t>z</a:t>
            </a:r>
            <a:r>
              <a:rPr lang="en-US" altLang="ja-JP" sz="2000" dirty="0">
                <a:latin typeface="+mj-lt"/>
              </a:rPr>
              <a:t>. 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sz="1600" dirty="0">
              <a:latin typeface="+mj-lt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="" xmlns:a16="http://schemas.microsoft.com/office/drawing/2014/main" id="{93DE2E22-15BF-CB43-9F27-84D8612D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2800" dirty="0">
                <a:solidFill>
                  <a:srgbClr val="0000A8"/>
                </a:solidFill>
                <a:latin typeface="+mj-lt"/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updates routing info, recalculates local DV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if DV changes, notify neighbors</a:t>
            </a:r>
            <a:r>
              <a:rPr lang="en-US" sz="2000" dirty="0">
                <a:latin typeface="+mj-lt"/>
              </a:rPr>
              <a:t> 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="" xmlns:a16="http://schemas.microsoft.com/office/drawing/2014/main" id="{40C2098D-55AC-D040-96C2-D888A70E084A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86" name="Freeform 6">
              <a:extLst>
                <a:ext uri="{FF2B5EF4-FFF2-40B4-BE49-F238E27FC236}">
                  <a16:creationId xmlns="" xmlns:a16="http://schemas.microsoft.com/office/drawing/2014/main" id="{AA88A075-09A8-CA4E-82D1-8922BDB9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="" xmlns:a16="http://schemas.microsoft.com/office/drawing/2014/main" id="{4B2EFECB-750C-904E-9CF2-153C9D959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88" name="Oval 8">
              <a:extLst>
                <a:ext uri="{FF2B5EF4-FFF2-40B4-BE49-F238E27FC236}">
                  <a16:creationId xmlns="" xmlns:a16="http://schemas.microsoft.com/office/drawing/2014/main" id="{B240CDD0-033A-094B-876D-BDAA0A22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="" xmlns:a16="http://schemas.microsoft.com/office/drawing/2014/main" id="{7A3FBC27-1E37-F54B-BC58-AC6D92BBB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0" name="Line 10">
              <a:extLst>
                <a:ext uri="{FF2B5EF4-FFF2-40B4-BE49-F238E27FC236}">
                  <a16:creationId xmlns="" xmlns:a16="http://schemas.microsoft.com/office/drawing/2014/main" id="{64C6B584-D5CB-894C-8DF1-970A8523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1" name="Rectangle 11">
              <a:extLst>
                <a:ext uri="{FF2B5EF4-FFF2-40B4-BE49-F238E27FC236}">
                  <a16:creationId xmlns="" xmlns:a16="http://schemas.microsoft.com/office/drawing/2014/main" id="{5C5412BE-59B0-934A-B7BA-B3DF57282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="" xmlns:a16="http://schemas.microsoft.com/office/drawing/2014/main" id="{CFAF80BD-A1F8-574D-9A78-AD60A8704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="" xmlns:a16="http://schemas.microsoft.com/office/drawing/2014/main" id="{B43B42B3-5A45-CC4B-AD55-97D4D7FE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4" name="Freeform 14">
              <a:extLst>
                <a:ext uri="{FF2B5EF4-FFF2-40B4-BE49-F238E27FC236}">
                  <a16:creationId xmlns="" xmlns:a16="http://schemas.microsoft.com/office/drawing/2014/main" id="{3F856C59-D658-7B43-A0E2-8332A0F4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grpSp>
          <p:nvGrpSpPr>
            <p:cNvPr id="95" name="Group 15">
              <a:extLst>
                <a:ext uri="{FF2B5EF4-FFF2-40B4-BE49-F238E27FC236}">
                  <a16:creationId xmlns="" xmlns:a16="http://schemas.microsoft.com/office/drawing/2014/main" id="{00AF41C0-42D7-4E44-8FBF-8783C29EF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6" y="1526"/>
              <a:ext cx="189" cy="233"/>
              <a:chOff x="2962" y="2429"/>
              <a:chExt cx="192" cy="233"/>
            </a:xfrm>
          </p:grpSpPr>
          <p:sp>
            <p:nvSpPr>
              <p:cNvPr id="119" name="Rectangle 16">
                <a:extLst>
                  <a:ext uri="{FF2B5EF4-FFF2-40B4-BE49-F238E27FC236}">
                    <a16:creationId xmlns="" xmlns:a16="http://schemas.microsoft.com/office/drawing/2014/main" id="{25143E32-38AB-E141-9359-174A66B2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20" name="Text Box 17">
                <a:extLst>
                  <a:ext uri="{FF2B5EF4-FFF2-40B4-BE49-F238E27FC236}">
                    <a16:creationId xmlns="" xmlns:a16="http://schemas.microsoft.com/office/drawing/2014/main" id="{5FBE30DE-B9C1-4142-BA4A-6C0267A38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2" y="2429"/>
                <a:ext cx="1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rPr>
                  <a:t>x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</p:grpSp>
        <p:grpSp>
          <p:nvGrpSpPr>
            <p:cNvPr id="96" name="Group 18">
              <a:extLst>
                <a:ext uri="{FF2B5EF4-FFF2-40B4-BE49-F238E27FC236}">
                  <a16:creationId xmlns="" xmlns:a16="http://schemas.microsoft.com/office/drawing/2014/main" id="{1CCB28C8-C25F-6D45-99D6-934E4DB7A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33"/>
              <a:chOff x="1740" y="2306"/>
              <a:chExt cx="316" cy="233"/>
            </a:xfrm>
          </p:grpSpPr>
          <p:sp>
            <p:nvSpPr>
              <p:cNvPr id="111" name="Oval 19">
                <a:extLst>
                  <a:ext uri="{FF2B5EF4-FFF2-40B4-BE49-F238E27FC236}">
                    <a16:creationId xmlns="" xmlns:a16="http://schemas.microsoft.com/office/drawing/2014/main" id="{0BA6C611-2030-A540-9BCB-553B5913B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2" name="Line 20">
                <a:extLst>
                  <a:ext uri="{FF2B5EF4-FFF2-40B4-BE49-F238E27FC236}">
                    <a16:creationId xmlns="" xmlns:a16="http://schemas.microsoft.com/office/drawing/2014/main" id="{EAA6F2A9-76FB-FB44-B560-6F7BA3722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3" name="Line 21">
                <a:extLst>
                  <a:ext uri="{FF2B5EF4-FFF2-40B4-BE49-F238E27FC236}">
                    <a16:creationId xmlns="" xmlns:a16="http://schemas.microsoft.com/office/drawing/2014/main" id="{3E85F84C-1240-7543-9663-416F41E0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="" xmlns:a16="http://schemas.microsoft.com/office/drawing/2014/main" id="{2E0B953E-0313-0841-B1F0-D4A85EE0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15" name="Oval 23">
                <a:extLst>
                  <a:ext uri="{FF2B5EF4-FFF2-40B4-BE49-F238E27FC236}">
                    <a16:creationId xmlns="" xmlns:a16="http://schemas.microsoft.com/office/drawing/2014/main" id="{8F6108B2-EB1F-D245-A6FC-F779F7F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grpSp>
            <p:nvGrpSpPr>
              <p:cNvPr id="116" name="Group 24">
                <a:extLst>
                  <a:ext uri="{FF2B5EF4-FFF2-40B4-BE49-F238E27FC236}">
                    <a16:creationId xmlns="" xmlns:a16="http://schemas.microsoft.com/office/drawing/2014/main" id="{ED45E093-AC43-4E49-AF6B-E506C127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6" y="2306"/>
                <a:ext cx="181" cy="233"/>
                <a:chOff x="2966" y="2429"/>
                <a:chExt cx="184" cy="233"/>
              </a:xfrm>
            </p:grpSpPr>
            <p:sp>
              <p:nvSpPr>
                <p:cNvPr id="117" name="Rectangle 25">
                  <a:extLst>
                    <a:ext uri="{FF2B5EF4-FFF2-40B4-BE49-F238E27FC236}">
                      <a16:creationId xmlns="" xmlns:a16="http://schemas.microsoft.com/office/drawing/2014/main" id="{6D3355A1-B945-5447-8024-3F52F6D0D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endParaRPr>
                </a:p>
              </p:txBody>
            </p:sp>
            <p:sp>
              <p:nvSpPr>
                <p:cNvPr id="118" name="Text Box 26">
                  <a:extLst>
                    <a:ext uri="{FF2B5EF4-FFF2-40B4-BE49-F238E27FC236}">
                      <a16:creationId xmlns="" xmlns:a16="http://schemas.microsoft.com/office/drawing/2014/main" id="{1EA4AFE9-8666-394D-A688-4C7388B89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2429"/>
                  <a:ext cx="184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  <a:ea typeface="ＭＳ Ｐゴシック" charset="0"/>
                    </a:rPr>
                    <a:t>z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7" name="Text Box 27">
              <a:extLst>
                <a:ext uri="{FF2B5EF4-FFF2-40B4-BE49-F238E27FC236}">
                  <a16:creationId xmlns="" xmlns:a16="http://schemas.microsoft.com/office/drawing/2014/main" id="{8D486D45-3211-2E42-9C51-652738E0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1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8" name="Text Box 28">
              <a:extLst>
                <a:ext uri="{FF2B5EF4-FFF2-40B4-BE49-F238E27FC236}">
                  <a16:creationId xmlns="" xmlns:a16="http://schemas.microsoft.com/office/drawing/2014/main" id="{C4EEA417-D5C5-ED4D-88D6-31DEF02A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1325"/>
              <a:ext cx="1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4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sp>
          <p:nvSpPr>
            <p:cNvPr id="99" name="Text Box 29">
              <a:extLst>
                <a:ext uri="{FF2B5EF4-FFF2-40B4-BE49-F238E27FC236}">
                  <a16:creationId xmlns="" xmlns:a16="http://schemas.microsoft.com/office/drawing/2014/main" id="{6DB9746E-151B-D246-AE3B-7C96BB80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4" y="1658"/>
              <a:ext cx="24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rPr>
                <a:t>50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  <p:grpSp>
          <p:nvGrpSpPr>
            <p:cNvPr id="100" name="Group 30">
              <a:extLst>
                <a:ext uri="{FF2B5EF4-FFF2-40B4-BE49-F238E27FC236}">
                  <a16:creationId xmlns="" xmlns:a16="http://schemas.microsoft.com/office/drawing/2014/main" id="{6091DEB1-C5BF-E040-8EF0-C995C85E26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33"/>
              <a:chOff x="1740" y="2306"/>
              <a:chExt cx="316" cy="233"/>
            </a:xfrm>
          </p:grpSpPr>
          <p:sp>
            <p:nvSpPr>
              <p:cNvPr id="103" name="Oval 31">
                <a:extLst>
                  <a:ext uri="{FF2B5EF4-FFF2-40B4-BE49-F238E27FC236}">
                    <a16:creationId xmlns="" xmlns:a16="http://schemas.microsoft.com/office/drawing/2014/main" id="{51AA4501-AE8F-BF45-9219-96A74877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04" name="Line 32">
                <a:extLst>
                  <a:ext uri="{FF2B5EF4-FFF2-40B4-BE49-F238E27FC236}">
                    <a16:creationId xmlns="" xmlns:a16="http://schemas.microsoft.com/office/drawing/2014/main" id="{FB4052E6-F89B-5144-8146-574A7EFF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05" name="Line 33">
                <a:extLst>
                  <a:ext uri="{FF2B5EF4-FFF2-40B4-BE49-F238E27FC236}">
                    <a16:creationId xmlns="" xmlns:a16="http://schemas.microsoft.com/office/drawing/2014/main" id="{C74DC608-BD5B-6840-AF47-0933A3D7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06" name="Rectangle 34">
                <a:extLst>
                  <a:ext uri="{FF2B5EF4-FFF2-40B4-BE49-F238E27FC236}">
                    <a16:creationId xmlns="" xmlns:a16="http://schemas.microsoft.com/office/drawing/2014/main" id="{3A1AFE8A-9C2C-D640-A73A-1B89A22C2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sp>
            <p:nvSpPr>
              <p:cNvPr id="107" name="Oval 35">
                <a:extLst>
                  <a:ext uri="{FF2B5EF4-FFF2-40B4-BE49-F238E27FC236}">
                    <a16:creationId xmlns="" xmlns:a16="http://schemas.microsoft.com/office/drawing/2014/main" id="{BC6727D8-BE5E-224D-85D1-54398439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ＭＳ Ｐゴシック" charset="0"/>
                </a:endParaRPr>
              </a:p>
            </p:txBody>
          </p:sp>
          <p:grpSp>
            <p:nvGrpSpPr>
              <p:cNvPr id="108" name="Group 36">
                <a:extLst>
                  <a:ext uri="{FF2B5EF4-FFF2-40B4-BE49-F238E27FC236}">
                    <a16:creationId xmlns="" xmlns:a16="http://schemas.microsoft.com/office/drawing/2014/main" id="{0047B545-BB3D-7249-B046-CE8A2718B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5" y="2306"/>
                <a:ext cx="189" cy="233"/>
                <a:chOff x="2962" y="2429"/>
                <a:chExt cx="192" cy="233"/>
              </a:xfrm>
            </p:grpSpPr>
            <p:sp>
              <p:nvSpPr>
                <p:cNvPr id="109" name="Rectangle 37">
                  <a:extLst>
                    <a:ext uri="{FF2B5EF4-FFF2-40B4-BE49-F238E27FC236}">
                      <a16:creationId xmlns="" xmlns:a16="http://schemas.microsoft.com/office/drawing/2014/main" id="{318364A7-97F1-1F4E-988F-46922CCB2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endParaRPr>
                </a:p>
              </p:txBody>
            </p:sp>
            <p:sp>
              <p:nvSpPr>
                <p:cNvPr id="110" name="Text Box 38">
                  <a:extLst>
                    <a:ext uri="{FF2B5EF4-FFF2-40B4-BE49-F238E27FC236}">
                      <a16:creationId xmlns="" xmlns:a16="http://schemas.microsoft.com/office/drawing/2014/main" id="{E578598E-0919-2540-8611-872BA7F56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2" y="2429"/>
                  <a:ext cx="192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  <a:ea typeface="ＭＳ Ｐゴシック" charset="0"/>
                    </a:rPr>
                    <a:t>y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01" name="Text Box 39">
              <a:extLst>
                <a:ext uri="{FF2B5EF4-FFF2-40B4-BE49-F238E27FC236}">
                  <a16:creationId xmlns="" xmlns:a16="http://schemas.microsoft.com/office/drawing/2014/main" id="{1DED0BC9-977B-8046-8C36-2E4B0876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1076"/>
              <a:ext cx="1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srgbClr val="FF0000"/>
                  </a:solidFill>
                  <a:latin typeface="+mj-lt"/>
                </a:rPr>
                <a:t>1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2" name="Line 40">
              <a:extLst>
                <a:ext uri="{FF2B5EF4-FFF2-40B4-BE49-F238E27FC236}">
                  <a16:creationId xmlns="" xmlns:a16="http://schemas.microsoft.com/office/drawing/2014/main" id="{09BE1DC2-4B0A-DA43-B4B9-66A1A38E5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44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2" grpId="0"/>
      <p:bldP spid="8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D3F0A53B-EF0A-F14F-83F8-2625C7BB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9246010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“bad news travels slow” </a:t>
            </a:r>
            <a:r>
              <a:rPr lang="en-US" sz="2800" dirty="0"/>
              <a:t>– count-to-infinity problem:</a:t>
            </a:r>
          </a:p>
        </p:txBody>
      </p:sp>
      <p:grpSp>
        <p:nvGrpSpPr>
          <p:cNvPr id="43" name="Group 5">
            <a:extLst>
              <a:ext uri="{FF2B5EF4-FFF2-40B4-BE49-F238E27FC236}">
                <a16:creationId xmlns="" xmlns:a16="http://schemas.microsoft.com/office/drawing/2014/main" id="{53548EC1-9C54-AF46-9B41-624583B976B0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4" name="Freeform 6">
              <a:extLst>
                <a:ext uri="{FF2B5EF4-FFF2-40B4-BE49-F238E27FC236}">
                  <a16:creationId xmlns="" xmlns:a16="http://schemas.microsoft.com/office/drawing/2014/main" id="{33A5FF50-7C95-DF45-AA77-5718630E8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="" xmlns:a16="http://schemas.microsoft.com/office/drawing/2014/main" id="{6612A2CD-4C6B-DA4A-A743-D71528CFC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Oval 8">
              <a:extLst>
                <a:ext uri="{FF2B5EF4-FFF2-40B4-BE49-F238E27FC236}">
                  <a16:creationId xmlns="" xmlns:a16="http://schemas.microsoft.com/office/drawing/2014/main" id="{7E8971E6-BEA2-874D-B1E4-61CF622D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">
              <a:extLst>
                <a:ext uri="{FF2B5EF4-FFF2-40B4-BE49-F238E27FC236}">
                  <a16:creationId xmlns="" xmlns:a16="http://schemas.microsoft.com/office/drawing/2014/main" id="{7D294D69-AF88-234B-B581-BE8C218C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="" xmlns:a16="http://schemas.microsoft.com/office/drawing/2014/main" id="{67E1C9F1-E4C7-5D42-AEB7-AA8E2621A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="" xmlns:a16="http://schemas.microsoft.com/office/drawing/2014/main" id="{45C496EF-F8C3-F740-9541-702695F3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0" name="Oval 12">
              <a:extLst>
                <a:ext uri="{FF2B5EF4-FFF2-40B4-BE49-F238E27FC236}">
                  <a16:creationId xmlns="" xmlns:a16="http://schemas.microsoft.com/office/drawing/2014/main" id="{4BA59B67-A386-7243-9AB5-2A0415A5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="" xmlns:a16="http://schemas.microsoft.com/office/drawing/2014/main" id="{98C215AE-6010-1343-8BB0-929BDFAA6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="" xmlns:a16="http://schemas.microsoft.com/office/drawing/2014/main" id="{4B2DB31F-6877-E640-B5F7-0BFCC7893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" name="Group 15">
              <a:extLst>
                <a:ext uri="{FF2B5EF4-FFF2-40B4-BE49-F238E27FC236}">
                  <a16:creationId xmlns="" xmlns:a16="http://schemas.microsoft.com/office/drawing/2014/main" id="{EEB81C2A-A0B1-7444-8561-297CF350C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77" name="Rectangle 16">
                <a:extLst>
                  <a:ext uri="{FF2B5EF4-FFF2-40B4-BE49-F238E27FC236}">
                    <a16:creationId xmlns="" xmlns:a16="http://schemas.microsoft.com/office/drawing/2014/main" id="{F8E4C5AC-0844-044C-BB78-B139DD8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Text Box 17">
                <a:extLst>
                  <a:ext uri="{FF2B5EF4-FFF2-40B4-BE49-F238E27FC236}">
                    <a16:creationId xmlns="" xmlns:a16="http://schemas.microsoft.com/office/drawing/2014/main" id="{CF77536C-E1FF-C944-841A-DD711E91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54" name="Group 18">
              <a:extLst>
                <a:ext uri="{FF2B5EF4-FFF2-40B4-BE49-F238E27FC236}">
                  <a16:creationId xmlns="" xmlns:a16="http://schemas.microsoft.com/office/drawing/2014/main" id="{5CBB15BA-4A40-AB4B-B9EC-BA4E18A4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9" name="Oval 19">
                <a:extLst>
                  <a:ext uri="{FF2B5EF4-FFF2-40B4-BE49-F238E27FC236}">
                    <a16:creationId xmlns="" xmlns:a16="http://schemas.microsoft.com/office/drawing/2014/main" id="{0A200021-D040-DA45-B158-588926E5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0" name="Line 20">
                <a:extLst>
                  <a:ext uri="{FF2B5EF4-FFF2-40B4-BE49-F238E27FC236}">
                    <a16:creationId xmlns="" xmlns:a16="http://schemas.microsoft.com/office/drawing/2014/main" id="{79386E2C-CB0C-9645-B7C5-2599A8A9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Line 21">
                <a:extLst>
                  <a:ext uri="{FF2B5EF4-FFF2-40B4-BE49-F238E27FC236}">
                    <a16:creationId xmlns="" xmlns:a16="http://schemas.microsoft.com/office/drawing/2014/main" id="{A48EA00D-73A4-AF4B-B223-5949CA704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="" xmlns:a16="http://schemas.microsoft.com/office/drawing/2014/main" id="{08DBF7C1-ED9B-9D40-8D84-0B5C3304C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3" name="Oval 23">
                <a:extLst>
                  <a:ext uri="{FF2B5EF4-FFF2-40B4-BE49-F238E27FC236}">
                    <a16:creationId xmlns="" xmlns:a16="http://schemas.microsoft.com/office/drawing/2014/main" id="{3E9346AE-E519-354C-810A-16DEADE45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" name="Group 24">
                <a:extLst>
                  <a:ext uri="{FF2B5EF4-FFF2-40B4-BE49-F238E27FC236}">
                    <a16:creationId xmlns="" xmlns:a16="http://schemas.microsoft.com/office/drawing/2014/main" id="{2999FEF8-4C59-634B-A19F-C8299FF59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75" name="Rectangle 25">
                  <a:extLst>
                    <a:ext uri="{FF2B5EF4-FFF2-40B4-BE49-F238E27FC236}">
                      <a16:creationId xmlns="" xmlns:a16="http://schemas.microsoft.com/office/drawing/2014/main" id="{563F9320-3842-A643-A717-FFF39989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" name="Text Box 26">
                  <a:extLst>
                    <a:ext uri="{FF2B5EF4-FFF2-40B4-BE49-F238E27FC236}">
                      <a16:creationId xmlns="" xmlns:a16="http://schemas.microsoft.com/office/drawing/2014/main" id="{8960A5DB-B3CA-144F-B2CA-63FA639D9C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5" name="Text Box 27">
              <a:extLst>
                <a:ext uri="{FF2B5EF4-FFF2-40B4-BE49-F238E27FC236}">
                  <a16:creationId xmlns="" xmlns:a16="http://schemas.microsoft.com/office/drawing/2014/main" id="{7E80773C-8042-6A43-AC5A-44D7A16EA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="" xmlns:a16="http://schemas.microsoft.com/office/drawing/2014/main" id="{C55355DC-E7CE-B140-B094-F538DB0E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="" xmlns:a16="http://schemas.microsoft.com/office/drawing/2014/main" id="{355C66B1-698A-184B-8DA8-9BE05384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="" xmlns:a16="http://schemas.microsoft.com/office/drawing/2014/main" id="{5525A171-AA7D-8E43-AA99-783CD6693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1" name="Oval 31">
                <a:extLst>
                  <a:ext uri="{FF2B5EF4-FFF2-40B4-BE49-F238E27FC236}">
                    <a16:creationId xmlns="" xmlns:a16="http://schemas.microsoft.com/office/drawing/2014/main" id="{D84C6EE9-75F6-2B46-AA10-45E7BF28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" name="Line 32">
                <a:extLst>
                  <a:ext uri="{FF2B5EF4-FFF2-40B4-BE49-F238E27FC236}">
                    <a16:creationId xmlns="" xmlns:a16="http://schemas.microsoft.com/office/drawing/2014/main" id="{2567FA46-08FC-BD4D-8FF6-A3A4C69A8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Line 33">
                <a:extLst>
                  <a:ext uri="{FF2B5EF4-FFF2-40B4-BE49-F238E27FC236}">
                    <a16:creationId xmlns="" xmlns:a16="http://schemas.microsoft.com/office/drawing/2014/main" id="{26FB35EB-138C-CF45-AA13-8A120FEA7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" name="Rectangle 34">
                <a:extLst>
                  <a:ext uri="{FF2B5EF4-FFF2-40B4-BE49-F238E27FC236}">
                    <a16:creationId xmlns="" xmlns:a16="http://schemas.microsoft.com/office/drawing/2014/main" id="{6D96E9E3-BC4D-1842-BF12-AA066722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5" name="Oval 35">
                <a:extLst>
                  <a:ext uri="{FF2B5EF4-FFF2-40B4-BE49-F238E27FC236}">
                    <a16:creationId xmlns="" xmlns:a16="http://schemas.microsoft.com/office/drawing/2014/main" id="{D1D0B359-3B66-D143-BE1A-57596411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6" name="Group 36">
                <a:extLst>
                  <a:ext uri="{FF2B5EF4-FFF2-40B4-BE49-F238E27FC236}">
                    <a16:creationId xmlns="" xmlns:a16="http://schemas.microsoft.com/office/drawing/2014/main" id="{3D130FA3-1656-2E4D-A448-FBC3A12A3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7" name="Rectangle 37">
                  <a:extLst>
                    <a:ext uri="{FF2B5EF4-FFF2-40B4-BE49-F238E27FC236}">
                      <a16:creationId xmlns="" xmlns:a16="http://schemas.microsoft.com/office/drawing/2014/main" id="{CC9AB493-6B84-8A4F-849B-352E8FEF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Text Box 38">
                  <a:extLst>
                    <a:ext uri="{FF2B5EF4-FFF2-40B4-BE49-F238E27FC236}">
                      <a16:creationId xmlns="" xmlns:a16="http://schemas.microsoft.com/office/drawing/2014/main" id="{08E9F813-DB7C-084E-B829-ED11637E6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9" name="Text Box 39">
              <a:extLst>
                <a:ext uri="{FF2B5EF4-FFF2-40B4-BE49-F238E27FC236}">
                  <a16:creationId xmlns="" xmlns:a16="http://schemas.microsoft.com/office/drawing/2014/main" id="{F204BFEE-4A9D-1242-8E82-0E122FB4F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6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60" name="Line 40">
              <a:extLst>
                <a:ext uri="{FF2B5EF4-FFF2-40B4-BE49-F238E27FC236}">
                  <a16:creationId xmlns="" xmlns:a16="http://schemas.microsoft.com/office/drawing/2014/main" id="{4A0CC945-C558-D74F-91C0-D7DC05E3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Rectangle 3">
            <a:extLst>
              <a:ext uri="{FF2B5EF4-FFF2-40B4-BE49-F238E27FC236}">
                <a16:creationId xmlns="" xmlns:a16="http://schemas.microsoft.com/office/drawing/2014/main" id="{6855C03C-8E44-EF41-9C64-F301F7F5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sees direct link to </a:t>
            </a:r>
            <a:r>
              <a:rPr lang="en-US" sz="2400" i="1" dirty="0"/>
              <a:t>x</a:t>
            </a:r>
            <a:r>
              <a:rPr lang="en-US" sz="2400" dirty="0"/>
              <a:t> has new cost 60, but z has said it has a path at cost of 5. So </a:t>
            </a:r>
            <a:r>
              <a:rPr lang="en-US" sz="2400" i="1" dirty="0"/>
              <a:t>y</a:t>
            </a:r>
            <a:r>
              <a:rPr lang="en-US" sz="2400" dirty="0"/>
              <a:t> computes “my new cost to x will be 6, via z); notifies </a:t>
            </a:r>
            <a:r>
              <a:rPr lang="en-US" sz="2400" i="1" dirty="0"/>
              <a:t>z</a:t>
            </a:r>
            <a:r>
              <a:rPr lang="en-US" sz="2400" dirty="0"/>
              <a:t> of new cost of 6 to </a:t>
            </a:r>
            <a:r>
              <a:rPr lang="en-US" sz="2400" i="1" dirty="0"/>
              <a:t>x.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="" xmlns:a16="http://schemas.microsoft.com/office/drawing/2014/main" id="{209F57E2-5D18-394E-8877-449361B2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6,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7 via y), notifies </a:t>
            </a:r>
            <a:r>
              <a:rPr lang="en-US" sz="2400" i="1" dirty="0"/>
              <a:t>y</a:t>
            </a:r>
            <a:r>
              <a:rPr lang="en-US" sz="2400" dirty="0"/>
              <a:t> of new cost of 7 to </a:t>
            </a:r>
            <a:r>
              <a:rPr lang="en-US" sz="2400" i="1" dirty="0"/>
              <a:t>x.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="" xmlns:a16="http://schemas.microsoft.com/office/drawing/2014/main" id="{0C0B111B-B4A7-664F-87FA-C7247397A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 </a:t>
            </a:r>
            <a:r>
              <a:rPr lang="en-US" sz="2400" i="1" dirty="0"/>
              <a:t>z </a:t>
            </a:r>
            <a:r>
              <a:rPr lang="en-US" sz="2400" dirty="0"/>
              <a:t>has new cost 7, so </a:t>
            </a:r>
            <a:r>
              <a:rPr lang="en-US" sz="2400" i="1" dirty="0"/>
              <a:t>y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8 via y), notifies </a:t>
            </a:r>
            <a:r>
              <a:rPr lang="en-US" sz="2400" i="1" dirty="0"/>
              <a:t>z</a:t>
            </a:r>
            <a:r>
              <a:rPr lang="en-US" sz="2400" dirty="0"/>
              <a:t> of new cost of 8 to </a:t>
            </a:r>
            <a:r>
              <a:rPr lang="en-US" sz="2400" i="1" dirty="0"/>
              <a:t>x.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="" xmlns:a16="http://schemas.microsoft.com/office/drawing/2014/main" id="{7E0DCDFE-D830-1B42-B16D-8968BB106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8,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9 via y), notifies </a:t>
            </a:r>
            <a:r>
              <a:rPr lang="en-US" sz="2400" i="1" dirty="0"/>
              <a:t>y</a:t>
            </a:r>
            <a:r>
              <a:rPr lang="en-US" sz="2400" dirty="0"/>
              <a:t> of new cost of 9 to </a:t>
            </a:r>
            <a:r>
              <a:rPr lang="en-US" sz="2400" i="1" dirty="0"/>
              <a:t>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BE410B7-81B2-C140-A5EB-EE7F3B11820D}"/>
              </a:ext>
            </a:extLst>
          </p:cNvPr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="" xmlns:a16="http://schemas.microsoft.com/office/drawing/2014/main" id="{F5EE352E-983D-7043-B7BC-2EEB81513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see text for solutions.  </a:t>
            </a:r>
            <a:r>
              <a:rPr lang="en-US" sz="2800" i="1" dirty="0"/>
              <a:t>Distributed algorithms are tricky!</a:t>
            </a:r>
          </a:p>
        </p:txBody>
      </p:sp>
    </p:spTree>
    <p:extLst>
      <p:ext uri="{BB962C8B-B14F-4D97-AF65-F5344CB8AC3E}">
        <p14:creationId xmlns:p14="http://schemas.microsoft.com/office/powerpoint/2010/main" val="154949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2825</Words>
  <Application>Microsoft Macintosh PowerPoint</Application>
  <PresentationFormat>Widescreen</PresentationFormat>
  <Paragraphs>796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Calibri</vt:lpstr>
      <vt:lpstr>Comic Sans MS</vt:lpstr>
      <vt:lpstr>Gill Sans MT</vt:lpstr>
      <vt:lpstr>MS Mincho</vt:lpstr>
      <vt:lpstr>MS PGothic</vt:lpstr>
      <vt:lpstr>ＭＳ Ｐゴシック</vt:lpstr>
      <vt:lpstr>Times New Roman</vt:lpstr>
      <vt:lpstr>Wingdings</vt:lpstr>
      <vt:lpstr>Arial</vt:lpstr>
      <vt:lpstr>Office Theme</vt:lpstr>
      <vt:lpstr>IT694 Computer Networks</vt:lpstr>
      <vt:lpstr>Network-layer functions</vt:lpstr>
      <vt:lpstr>Routing protocols</vt:lpstr>
      <vt:lpstr>Routing algorithm classification</vt:lpstr>
      <vt:lpstr>Static Routing</vt:lpstr>
      <vt:lpstr>Graph abstraction: link costs</vt:lpstr>
      <vt:lpstr>Distance vector algorithm </vt:lpstr>
      <vt:lpstr>Bellman-Ford Example</vt:lpstr>
      <vt:lpstr>Distance vector algorithm </vt:lpstr>
      <vt:lpstr>Distance vector: example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algorithm:  </vt:lpstr>
      <vt:lpstr>Distance vector: link cost changes</vt:lpstr>
      <vt:lpstr>Distance vector: link cost changes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7</cp:revision>
  <dcterms:created xsi:type="dcterms:W3CDTF">2026-03-24T04:47:53Z</dcterms:created>
  <dcterms:modified xsi:type="dcterms:W3CDTF">2026-03-24T05:13:30Z</dcterms:modified>
</cp:coreProperties>
</file>