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386"/>
  </p:normalViewPr>
  <p:slideViewPr>
    <p:cSldViewPr snapToGrid="0" snapToObjects="1">
      <p:cViewPr varScale="1">
        <p:scale>
          <a:sx n="122" d="100"/>
          <a:sy n="122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78622-21EA-264C-9E33-307079711BFB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1FD90-A197-DD41-AB79-FC35287B2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4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282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53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983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3938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073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887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350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139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614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54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09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0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7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5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81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4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1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3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04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B4DCD-A0C7-3A45-B8C7-310116D043C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12093-D69B-7C46-9A9D-CCDB8B99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14_Lec2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97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Domain Name System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xmlns="" id="{35F7BF1A-0385-C246-9EE3-5E4E54C86490}"/>
              </a:ext>
            </a:extLst>
          </p:cNvPr>
          <p:cNvSpPr txBox="1">
            <a:spLocks noChangeArrowheads="1"/>
          </p:cNvSpPr>
          <p:nvPr/>
        </p:nvSpPr>
        <p:spPr>
          <a:xfrm>
            <a:off x="753721" y="1340962"/>
            <a:ext cx="490197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many identifiers: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SSN, name, passport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hosts, routers: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 (32 bit) - used for addressing datagrams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“name”, e.g., cs.umass.edu - used by humans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how to map between IP address and name, and vice versa ?</a:t>
            </a:r>
          </a:p>
        </p:txBody>
      </p:sp>
      <p:sp>
        <p:nvSpPr>
          <p:cNvPr id="128" name="Rectangle 4">
            <a:extLst>
              <a:ext uri="{FF2B5EF4-FFF2-40B4-BE49-F238E27FC236}">
                <a16:creationId xmlns:a16="http://schemas.microsoft.com/office/drawing/2014/main" xmlns="" id="{3851BC29-45CA-8744-BD4D-21254F83A516}"/>
              </a:ext>
            </a:extLst>
          </p:cNvPr>
          <p:cNvSpPr txBox="1">
            <a:spLocks noChangeArrowheads="1"/>
          </p:cNvSpPr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Domain Name System (DNS):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implemented in hierarchy of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application-layer protocol: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hosts, DNS servers communicate to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resolve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names (address/name translation)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core Internet function,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implemented as application-layer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complexity at network’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“edge”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xmlns="" id="{49189B4D-1C2B-F245-A96D-9F110BA47D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22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a distributed, hierarchical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atabase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xmlns="" id="{A444882F-E18F-DD45-9D52-E80EEEA5B2C4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; 1</a:t>
            </a:r>
            <a:r>
              <a:rPr kumimoji="0" lang="en-US" alt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approximation: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root server to find .com 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.com DNS server to get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 to get 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86A00663-77DA-9B4C-A51A-04EBC6FBCCA0}"/>
              </a:ext>
            </a:extLst>
          </p:cNvPr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xmlns="" id="{8DB0E7C3-8033-5949-9183-2915D95A7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.com DNS servers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xmlns="" id="{2E5F716F-8E9B-6F4D-879A-CC62D69D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.org DNS servers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xmlns="" id="{67230760-6F08-C443-A901-7D6991E0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.edu DNS servers</a:t>
              </a: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xmlns="" id="{BA67319E-9089-5D4D-83FF-3AE2DB5B1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547" y="1831861"/>
              <a:ext cx="2075302" cy="6011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xmlns="" id="{64A53551-2118-9045-B6B4-1F713C8B8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588" y="1815164"/>
              <a:ext cx="0" cy="616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xmlns="" id="{B45A6D89-577E-7C44-A516-DED5E6DB8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908" y="1831861"/>
              <a:ext cx="2146864" cy="601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xmlns="" id="{B9DABBB2-671A-2742-937B-8D9DEE87B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xmlns="" id="{F8EBAC0E-17AF-6147-BA8E-98BDF7436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47834A79-77AF-0047-9901-2474CA5CB805}"/>
                </a:ext>
              </a:extLst>
            </p:cNvPr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 Level 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A62B1BD-DD42-D845-9BBE-BE085C24631D}"/>
              </a:ext>
            </a:extLst>
          </p:cNvPr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xmlns="" id="{10CE294D-681E-A241-BD53-A34355A3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Root DNS Servers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306AE851-5852-CE4F-8F0F-42EF70A401C4}"/>
                </a:ext>
              </a:extLst>
            </p:cNvPr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Root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CC7CCAC6-2E30-B94C-ABE6-16301CFD8E18}"/>
              </a:ext>
            </a:extLst>
          </p:cNvPr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xmlns="" id="{48A982BB-AB47-3F43-B500-136E59167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xmlns="" id="{2B6BDDC7-E847-3847-933D-4C32FCB6E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umass.edu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xmlns="" id="{320DE5FB-B16F-134F-A6AE-3A733BA85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4130" y="2766905"/>
              <a:ext cx="559079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xmlns="" id="{083E8C6B-45A7-4E4F-BE58-4778B3424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2582" y="2766905"/>
              <a:ext cx="500935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xmlns="" id="{36B8F6F2-4690-8E4C-937E-0E9481B1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yahoo.com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xmlns="" id="{550F9EB0-5008-3D46-90EE-C86931D20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amazon.com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xmlns="" id="{369E9B65-3B7C-454D-AB1F-5B2406B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383" y="2773863"/>
              <a:ext cx="369738" cy="413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xmlns="" id="{D471AC56-09F2-7C4D-B61A-6CCAD59D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547" y="2773863"/>
              <a:ext cx="429373" cy="425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xmlns="" id="{1C077A09-1FCB-034D-952A-AD8C28E51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pbs.org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xmlns="" id="{C40276EB-9757-DA42-B8CE-16A23EEE1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570" y="2766905"/>
              <a:ext cx="0" cy="417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A0556E67-E222-8D43-B71A-156691CCA0D4}"/>
                </a:ext>
              </a:extLst>
            </p:cNvPr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Authoritative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xmlns="" id="{F5BAA8E7-838D-494A-81C4-58D94A012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xmlns="" id="{2AD59D99-9460-DA4B-AF7A-451CBE5B3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xmlns="" id="{2B85C740-28F8-0449-B6AC-74E686461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xmlns="" id="{D033AF36-F2BE-7F41-93BB-422A537D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xmlns="" id="{E1EB010C-42C7-6E42-AA6D-C225E874AD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01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Top-Level Domain, and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uthoritative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00E43FE-C520-D344-A4CF-6105B63E22D6}"/>
              </a:ext>
            </a:extLst>
          </p:cNvPr>
          <p:cNvSpPr txBox="1">
            <a:spLocks noChangeArrowheads="1"/>
          </p:cNvSpPr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Top-Level Domain (TLD) servers: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responsible for .com, .org, .net, .edu, .aero, .jobs, .museums, and all top-level country domains, e.g.: .cn, .uk, .fr, .ca, .jp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Solutions: authoritative registry for .com, .net TLD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Educause: .edu TLD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ED24547E-6033-E341-B415-9EEF0C28B3B1}"/>
              </a:ext>
            </a:extLst>
          </p:cNvPr>
          <p:cNvSpPr txBox="1">
            <a:spLocks noChangeArrowheads="1"/>
          </p:cNvSpPr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authoritative DNS servers: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organization’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own DNS server(s), providing authoritative hostname to IP mappings for organization’s named hosts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can be maintained by organization or service provider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326F0AB-9C7D-C946-94B2-B58E3B09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2" y="3122476"/>
            <a:ext cx="5317067" cy="160647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16353F64-060B-1F4E-AD0A-5FBB20E02BE4}"/>
              </a:ext>
            </a:extLst>
          </p:cNvPr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6C93592B-610F-B041-9201-B6C557DB96B0}"/>
                </a:ext>
              </a:extLst>
            </p:cNvPr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0259AE09-DC39-F54E-8B9C-A94C202C2543}"/>
                </a:ext>
              </a:extLst>
            </p:cNvPr>
            <p:cNvCxnSpPr/>
            <p:nvPr/>
          </p:nvCxnSpPr>
          <p:spPr>
            <a:xfrm>
              <a:off x="4419600" y="1744133"/>
              <a:ext cx="1998133" cy="1998133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E01D7C10-72B2-BE47-9B8C-600F740CAFCE}"/>
              </a:ext>
            </a:extLst>
          </p:cNvPr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B251AA5-C4FF-7E4A-BCEA-7D8B252E12F3}"/>
                </a:ext>
              </a:extLst>
            </p:cNvPr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491835C5-DBDE-9A48-8554-EF6EB2FAD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333" y="4267199"/>
              <a:ext cx="999068" cy="541868"/>
            </a:xfrm>
            <a:prstGeom prst="line">
              <a:avLst/>
            </a:prstGeom>
            <a:ln w="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xmlns="" id="{363187FC-BBBC-984E-BB71-64F11F5AB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20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Local DNS name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2BB20960-3674-7943-92CD-05431EA8487B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host makes DNS query, it is sent to its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DNS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returns reply, answering: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 its local cache of recent name-to-address translation pairs (possibly out of date!)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forwarding request into DNS hierarchy for resolution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ISP has local DNS name server; to find yours: 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MacOS: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% scutil --dns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&gt;ipconfig /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all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xmlns="" id="{D9D88440-FC58-A548-AA80-854235DE08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61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iterated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xmlns="" id="{B2D75AD3-AD5C-7747-A9C2-6EF45A12CB21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xmlns="" id="{EB73751A-16ED-6643-8E9C-1B1DDF5D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Iterated query: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contacted server replies with name of server to contact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“I don’t know this name, but ask this server”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xmlns="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xmlns="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xmlns="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xmlns="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235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xmlns="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8785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xmlns="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4535" y="3167743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xmlns="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54535" y="3339193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xmlns="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8335" y="2234293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xmlns="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1511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xmlns="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xmlns="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xmlns="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xmlns="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xmlns="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xmlns="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xmlns="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xmlns="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xmlns="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xmlns="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xmlns="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xmlns="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xmlns="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860" y="3499530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xmlns="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48173" y="3624943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xmlns="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xmlns="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xmlns="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xmlns="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xmlns="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xmlns="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xmlns="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xmlns="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xmlns="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xmlns="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xmlns="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xmlns="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xmlns="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xmlns="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xmlns="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xmlns="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xmlns="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xmlns="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xmlns="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xmlns="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xmlns="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xmlns="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xmlns="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xmlns="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xmlns="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xmlns="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xmlns="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xmlns="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xmlns="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xmlns="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xmlns="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xmlns="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xmlns="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xmlns="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xmlns="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xmlns="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xmlns="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xmlns="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xmlns="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xmlns="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xmlns="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xmlns="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xmlns="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xmlns="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xmlns="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xmlns="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xmlns="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xmlns="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xmlns="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xmlns="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xmlns="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xmlns="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xmlns="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xmlns="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xmlns="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xmlns="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xmlns="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xmlns="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xmlns="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xmlns="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xmlns="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xmlns="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xmlns="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xmlns="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xmlns="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xmlns="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xmlns="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xmlns="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xmlns="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xmlns="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xmlns="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xmlns="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xmlns="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xmlns="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xmlns="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xmlns="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xmlns="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xmlns="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xmlns="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xmlns="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xmlns="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xmlns="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xmlns="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xmlns="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xmlns="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xmlns="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xmlns="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xmlns="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xmlns="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xmlns="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xmlns="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xmlns="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xmlns="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xmlns="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xmlns="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xmlns="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xmlns="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xmlns="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xmlns="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xmlns="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xmlns="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xmlns="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xmlns="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xmlns="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xmlns="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xmlns="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xmlns="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xmlns="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xmlns="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xmlns="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xmlns="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xmlns="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xmlns="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xmlns="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xmlns="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xmlns="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xmlns="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xmlns="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xmlns="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xmlns="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xmlns="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xmlns="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xmlns="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xmlns="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xmlns="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xmlns="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xmlns="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xmlns="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xmlns="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xmlns="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xmlns="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xmlns="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xmlns="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xmlns="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xmlns="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xmlns="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xmlns="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xmlns="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xmlns="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7" name="Slide Number Placeholder 2">
            <a:extLst>
              <a:ext uri="{FF2B5EF4-FFF2-40B4-BE49-F238E27FC236}">
                <a16:creationId xmlns:a16="http://schemas.microsoft.com/office/drawing/2014/main" xmlns="" id="{0480BCEF-F94C-E34B-B55C-97CE664B5D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46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recursive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xmlns="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xmlns="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xmlns="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xmlns="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4927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xmlns="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4477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xmlns="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2062" y="3760198"/>
            <a:ext cx="2427" cy="702311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xmlns="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91701" y="3747010"/>
            <a:ext cx="2427" cy="73491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xmlns="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8381" y="2075731"/>
            <a:ext cx="405154" cy="84121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xmlns="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7203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xmlns="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xmlns="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xmlns="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xmlns="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xmlns="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xmlns="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xmlns="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xmlns="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xmlns="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xmlns="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xmlns="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xmlns="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xmlns="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81775" y="2427554"/>
            <a:ext cx="344289" cy="645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xmlns="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2268" y="2275514"/>
            <a:ext cx="710991" cy="774754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xmlns="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xmlns="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xmlns="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xmlns="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xmlns="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xmlns="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xmlns="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xmlns="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xmlns="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xmlns="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xmlns="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xmlns="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xmlns="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xmlns="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xmlns="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xmlns="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xmlns="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xmlns="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xmlns="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xmlns="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xmlns="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xmlns="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xmlns="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xmlns="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xmlns="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xmlns="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xmlns="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xmlns="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xmlns="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xmlns="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xmlns="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xmlns="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xmlns="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xmlns="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xmlns="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xmlns="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xmlns="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xmlns="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xmlns="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xmlns="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xmlns="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xmlns="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xmlns="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xmlns="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xmlns="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xmlns="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xmlns="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xmlns="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xmlns="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xmlns="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xmlns="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xmlns="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xmlns="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xmlns="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xmlns="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xmlns="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xmlns="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xmlns="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xmlns="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xmlns="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xmlns="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xmlns="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xmlns="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xmlns="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xmlns="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xmlns="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xmlns="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xmlns="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xmlns="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xmlns="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xmlns="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xmlns="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xmlns="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xmlns="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xmlns="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xmlns="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xmlns="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xmlns="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xmlns="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xmlns="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xmlns="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xmlns="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xmlns="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xmlns="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xmlns="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xmlns="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xmlns="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xmlns="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xmlns="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xmlns="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xmlns="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xmlns="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xmlns="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xmlns="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xmlns="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xmlns="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xmlns="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xmlns="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xmlns="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xmlns="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xmlns="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xmlns="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xmlns="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xmlns="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xmlns="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xmlns="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xmlns="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xmlns="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xmlns="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xmlns="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xmlns="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xmlns="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xmlns="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xmlns="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xmlns="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xmlns="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xmlns="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xmlns="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xmlns="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xmlns="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xmlns="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xmlns="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xmlns="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xmlns="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xmlns="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xmlns="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xmlns="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xmlns="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xmlns="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xmlns="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xmlns="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xmlns="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xmlns="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xmlns="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xmlns="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xmlns="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xmlns="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xmlns="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xmlns="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8" name="Rectangle 67">
            <a:extLst>
              <a:ext uri="{FF2B5EF4-FFF2-40B4-BE49-F238E27FC236}">
                <a16:creationId xmlns:a16="http://schemas.microsoft.com/office/drawing/2014/main" xmlns="" id="{7033F479-89A5-0143-B345-2FFB1A7A7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Recursive query: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puts burden of name resolution on contacted name server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heavy load at upper levels of hierarchy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167" name="Rectangle 67">
            <a:extLst>
              <a:ext uri="{FF2B5EF4-FFF2-40B4-BE49-F238E27FC236}">
                <a16:creationId xmlns:a16="http://schemas.microsoft.com/office/drawing/2014/main" xmlns="" id="{FC920AB6-C679-FB4D-8FB0-F8831E569238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Slide Number Placeholder 2">
            <a:extLst>
              <a:ext uri="{FF2B5EF4-FFF2-40B4-BE49-F238E27FC236}">
                <a16:creationId xmlns:a16="http://schemas.microsoft.com/office/drawing/2014/main" xmlns="" id="{A8961CBE-FE41-8D44-9128-97B15DEF4B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0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Caching DNS Information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67" name="Rectangle 3">
            <a:extLst>
              <a:ext uri="{FF2B5EF4-FFF2-40B4-BE49-F238E27FC236}">
                <a16:creationId xmlns:a16="http://schemas.microsoft.com/office/drawing/2014/main" xmlns="" id="{796C1A8B-325B-1A4B-BF89-EF3A65965833}"/>
              </a:ext>
            </a:extLst>
          </p:cNvPr>
          <p:cNvSpPr txBox="1">
            <a:spLocks noChangeArrowheads="1"/>
          </p:cNvSpPr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once (any) name server learns mapping, it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mapping, and i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mmediately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returns a cached mapping in response to a query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caching improves response time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 entries timeout (disappear) after some time (TTL)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TLD servers typically cached in local name servers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cached entries may be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out-of-date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if named host changes IP address, may not be known Internet-wide until all TTLs expire!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best-effort name-to-address translation!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xmlns="" id="{AF23161C-A7AE-1A48-A402-4FD497E924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0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records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xmlns="" id="{D08588B2-F267-5D46-821D-D0D5A216E8F9}"/>
              </a:ext>
            </a:extLst>
          </p:cNvPr>
          <p:cNvSpPr txBox="1">
            <a:spLocks noChangeArrowheads="1"/>
          </p:cNvSpPr>
          <p:nvPr/>
        </p:nvSpPr>
        <p:spPr>
          <a:xfrm>
            <a:off x="1347787" y="1358900"/>
            <a:ext cx="9574213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distributed database storing resource records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(RR)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xmlns="" id="{3AF614AE-5EFE-CD4F-98FF-6CA8EFEA6A47}"/>
              </a:ext>
            </a:extLst>
          </p:cNvPr>
          <p:cNvSpPr txBox="1">
            <a:spLocks noChangeArrowheads="1"/>
          </p:cNvSpPr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type=NS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domain (e.g., foo.com)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hostname of authoritative name server for this domain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xmlns="" id="{D7409DB2-6342-834D-ABB2-A1B3DA3A9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 format: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name, value, type, ttl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xmlns="" id="{5FF3C084-C8BC-1946-AC92-BACA78ED2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type=A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hostname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IP address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xmlns="" id="{133ECBD3-7BA2-AC4D-ADED-9C9DE52E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type=CNAME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alias name for some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canonical” (the real) 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20000"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www.ibm.com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really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servereast.backup2.ibm.com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canonical 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xmlns="" id="{B62233DC-6662-1844-8E5F-FDE26481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type=MX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name of SMTP mail server associated with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434497C-A235-8C46-8A1B-FDC4DB9ACC31}"/>
              </a:ext>
            </a:extLst>
          </p:cNvPr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xmlns="" id="{E3AF190D-9153-4849-8D73-82E2FC3A40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7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3C9A6680-5220-C94B-B54B-8246CBDC5236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xmlns="" id="{99BE727C-D65D-1B40-96AC-483DEC4F5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xmlns="" id="{D3137C12-F806-3641-A910-12D839D30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xmlns="" id="{EDBF86F0-1464-CB44-8885-0806AB78A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xmlns="" id="{B63A2FA5-43E4-954D-9AB5-1D874BF6F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xmlns="" id="{AAF4D57F-AE3F-9647-BE59-19E830D1D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xmlns="" id="{679A37C6-A060-1A4E-9044-88577B96F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xmlns="" id="{673541D1-57E3-2945-9429-F01192764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xmlns="" id="{54CFADCD-AE37-1644-BF88-67FE47DB3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0">
              <a:extLst>
                <a:ext uri="{FF2B5EF4-FFF2-40B4-BE49-F238E27FC236}">
                  <a16:creationId xmlns:a16="http://schemas.microsoft.com/office/drawing/2014/main" xmlns="" id="{3D1A7AB7-6B0B-CF47-A475-00A1549B5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29" name="Text Box 21">
              <a:extLst>
                <a:ext uri="{FF2B5EF4-FFF2-40B4-BE49-F238E27FC236}">
                  <a16:creationId xmlns:a16="http://schemas.microsoft.com/office/drawing/2014/main" xmlns="" id="{F6CD8852-97C9-AA40-BE0D-939C3F203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30" name="Text Box 22">
              <a:extLst>
                <a:ext uri="{FF2B5EF4-FFF2-40B4-BE49-F238E27FC236}">
                  <a16:creationId xmlns:a16="http://schemas.microsoft.com/office/drawing/2014/main" xmlns="" id="{8E843694-5A82-3146-BF88-2166E2F00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xmlns="" id="{647BB3F6-ABB6-7745-BEE2-09BC405C0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xmlns="" id="{43C35098-F1D5-F844-AD59-9E1AB2E6B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xmlns="" id="{C77DED5D-F85E-BD49-A1EA-E279AC50D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xmlns="" id="{570DB478-D786-3F43-96D9-4A3EFE52D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xmlns="" id="{EC9CAD9A-2ACC-E841-964A-C51614A31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36" name="Text Box 31">
              <a:extLst>
                <a:ext uri="{FF2B5EF4-FFF2-40B4-BE49-F238E27FC236}">
                  <a16:creationId xmlns:a16="http://schemas.microsoft.com/office/drawing/2014/main" xmlns="" id="{C50AEEC2-E934-374F-AD10-414E9A36F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xmlns="" id="{0F454706-890A-194D-A8B9-1F027F5A5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40" name="Group 60">
              <a:extLst>
                <a:ext uri="{FF2B5EF4-FFF2-40B4-BE49-F238E27FC236}">
                  <a16:creationId xmlns:a16="http://schemas.microsoft.com/office/drawing/2014/main" xmlns="" id="{B20DF2CE-5427-7642-BC04-9D36B08A4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41" name="Text Box 57">
                <a:extLst>
                  <a:ext uri="{FF2B5EF4-FFF2-40B4-BE49-F238E27FC236}">
                    <a16:creationId xmlns:a16="http://schemas.microsoft.com/office/drawing/2014/main" xmlns="" id="{4CC1EC8B-ED8A-534D-B8AB-0E3E39481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2" name="Line 58">
                <a:extLst>
                  <a:ext uri="{FF2B5EF4-FFF2-40B4-BE49-F238E27FC236}">
                    <a16:creationId xmlns:a16="http://schemas.microsoft.com/office/drawing/2014/main" xmlns="" id="{FD720698-F5B3-5C47-A102-5E4786459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Line 59">
                <a:extLst>
                  <a:ext uri="{FF2B5EF4-FFF2-40B4-BE49-F238E27FC236}">
                    <a16:creationId xmlns:a16="http://schemas.microsoft.com/office/drawing/2014/main" xmlns="" id="{5FE43354-E99E-6549-837E-529B4A967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61">
              <a:extLst>
                <a:ext uri="{FF2B5EF4-FFF2-40B4-BE49-F238E27FC236}">
                  <a16:creationId xmlns:a16="http://schemas.microsoft.com/office/drawing/2014/main" xmlns="" id="{7B6CBFB9-B999-324E-91C4-CB7BCE5D8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45" name="Text Box 62">
                <a:extLst>
                  <a:ext uri="{FF2B5EF4-FFF2-40B4-BE49-F238E27FC236}">
                    <a16:creationId xmlns:a16="http://schemas.microsoft.com/office/drawing/2014/main" xmlns="" id="{E2F0F997-6116-0C45-BA9F-CBA730A15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6" name="Line 63">
                <a:extLst>
                  <a:ext uri="{FF2B5EF4-FFF2-40B4-BE49-F238E27FC236}">
                    <a16:creationId xmlns:a16="http://schemas.microsoft.com/office/drawing/2014/main" xmlns="" id="{17A912FD-E8A8-8442-8F53-5994F2716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Line 64">
                <a:extLst>
                  <a:ext uri="{FF2B5EF4-FFF2-40B4-BE49-F238E27FC236}">
                    <a16:creationId xmlns:a16="http://schemas.microsoft.com/office/drawing/2014/main" xmlns="" id="{07B7A39C-E852-2B4C-941E-0B488FF8C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xmlns="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F978C79B-5602-8E43-829C-44002A5A2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message header: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identification: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16 bit # for query, reply to query uses same #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flags: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query or reply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desired 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available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reply is authoritative</a:t>
            </a:r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xmlns="" id="{03A0FB20-73AE-C645-8115-85F6EEA5B5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0672" y="2610864"/>
            <a:ext cx="2902854" cy="295274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xmlns="" id="{1A55A89B-1CD7-B54F-863D-E99720E03B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2675" y="2590227"/>
            <a:ext cx="6383337" cy="12080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xmlns="" id="{B83050FC-315F-2544-B90A-1FF8E08E69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53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F3A966D3-2C53-7043-9726-8E5764BD36FD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xmlns="" id="{D3568E88-5955-424B-B8F5-A21359D5E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xmlns="" id="{F1DAA21C-2CC0-F041-B1F7-E51160880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xmlns="" id="{507E3301-3AAB-0340-A7F1-6C5751508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xmlns="" id="{C84DEA63-7944-AC4C-88AD-6817D3954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xmlns="" id="{DC9B8E6D-9F7D-004C-98A3-75DEEEBD9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xmlns="" id="{306014BE-BC39-824E-9F78-D660CD267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xmlns="" id="{A42C2C1E-84BD-9743-97E0-09CF9FCFF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xmlns="" id="{A5708C43-6E7B-824A-980E-C5EB81FC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 Box 20">
              <a:extLst>
                <a:ext uri="{FF2B5EF4-FFF2-40B4-BE49-F238E27FC236}">
                  <a16:creationId xmlns:a16="http://schemas.microsoft.com/office/drawing/2014/main" xmlns="" id="{B5DFDF92-2319-2549-A363-2E65C1291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xmlns="" id="{D4E993B8-AE34-384B-8C59-1B56BB12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xmlns="" id="{B3DF818C-F6C8-E14D-A46C-FD306307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69" name="Text Box 23">
              <a:extLst>
                <a:ext uri="{FF2B5EF4-FFF2-40B4-BE49-F238E27FC236}">
                  <a16:creationId xmlns:a16="http://schemas.microsoft.com/office/drawing/2014/main" xmlns="" id="{9A6A9AC2-926A-8B4E-81B0-9CE0DD3BB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70" name="Text Box 26">
              <a:extLst>
                <a:ext uri="{FF2B5EF4-FFF2-40B4-BE49-F238E27FC236}">
                  <a16:creationId xmlns:a16="http://schemas.microsoft.com/office/drawing/2014/main" xmlns="" id="{C9071FBC-5A74-7341-A63F-649340BD8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71" name="Text Box 27">
              <a:extLst>
                <a:ext uri="{FF2B5EF4-FFF2-40B4-BE49-F238E27FC236}">
                  <a16:creationId xmlns:a16="http://schemas.microsoft.com/office/drawing/2014/main" xmlns="" id="{9513342D-3D82-2446-A7D3-28EDD5EAE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72" name="Text Box 28">
              <a:extLst>
                <a:ext uri="{FF2B5EF4-FFF2-40B4-BE49-F238E27FC236}">
                  <a16:creationId xmlns:a16="http://schemas.microsoft.com/office/drawing/2014/main" xmlns="" id="{83ED9871-C6FF-8644-98E4-EEE7A5BD0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73" name="Text Box 30">
              <a:extLst>
                <a:ext uri="{FF2B5EF4-FFF2-40B4-BE49-F238E27FC236}">
                  <a16:creationId xmlns:a16="http://schemas.microsoft.com/office/drawing/2014/main" xmlns="" id="{646FFA4C-D2F4-804F-BB10-D2E1E711F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74" name="Text Box 31">
              <a:extLst>
                <a:ext uri="{FF2B5EF4-FFF2-40B4-BE49-F238E27FC236}">
                  <a16:creationId xmlns:a16="http://schemas.microsoft.com/office/drawing/2014/main" xmlns="" id="{F169C7FC-D0F8-9546-93C0-00F4E6E4B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75" name="Text Box 32">
              <a:extLst>
                <a:ext uri="{FF2B5EF4-FFF2-40B4-BE49-F238E27FC236}">
                  <a16:creationId xmlns:a16="http://schemas.microsoft.com/office/drawing/2014/main" xmlns="" id="{2A810C4D-9EF9-0B42-8366-C238D3FBA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76" name="Group 60">
              <a:extLst>
                <a:ext uri="{FF2B5EF4-FFF2-40B4-BE49-F238E27FC236}">
                  <a16:creationId xmlns:a16="http://schemas.microsoft.com/office/drawing/2014/main" xmlns="" id="{8BF3E406-CCE3-D64E-8AB4-D91149714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81" name="Text Box 57">
                <a:extLst>
                  <a:ext uri="{FF2B5EF4-FFF2-40B4-BE49-F238E27FC236}">
                    <a16:creationId xmlns:a16="http://schemas.microsoft.com/office/drawing/2014/main" xmlns="" id="{C33F9937-2680-5C4C-811E-5F9E3D43B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xmlns="" id="{B39B871F-A818-1B4E-A225-DA01D5EDA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Line 59">
                <a:extLst>
                  <a:ext uri="{FF2B5EF4-FFF2-40B4-BE49-F238E27FC236}">
                    <a16:creationId xmlns:a16="http://schemas.microsoft.com/office/drawing/2014/main" xmlns="" id="{3CB8F9AE-D625-1D4A-8625-28F8772B9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61">
              <a:extLst>
                <a:ext uri="{FF2B5EF4-FFF2-40B4-BE49-F238E27FC236}">
                  <a16:creationId xmlns:a16="http://schemas.microsoft.com/office/drawing/2014/main" xmlns="" id="{711AFC78-9A4A-CD41-A49D-623142A48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78" name="Text Box 62">
                <a:extLst>
                  <a:ext uri="{FF2B5EF4-FFF2-40B4-BE49-F238E27FC236}">
                    <a16:creationId xmlns:a16="http://schemas.microsoft.com/office/drawing/2014/main" xmlns="" id="{D2686047-8DDE-AA4D-88A8-9F0670CBD0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79" name="Line 63">
                <a:extLst>
                  <a:ext uri="{FF2B5EF4-FFF2-40B4-BE49-F238E27FC236}">
                    <a16:creationId xmlns:a16="http://schemas.microsoft.com/office/drawing/2014/main" xmlns="" id="{A93491FC-3FC2-BA4A-B5FC-8BFED4270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Line 64">
                <a:extLst>
                  <a:ext uri="{FF2B5EF4-FFF2-40B4-BE49-F238E27FC236}">
                    <a16:creationId xmlns:a16="http://schemas.microsoft.com/office/drawing/2014/main" xmlns="" id="{B4EF32F5-CEE0-064C-98D1-0B2AED9C5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xmlns="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xmlns="" id="{95042E94-C8A0-BE46-8EB4-39429E2B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name, type fields for a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Text Box 5">
            <a:extLst>
              <a:ext uri="{FF2B5EF4-FFF2-40B4-BE49-F238E27FC236}">
                <a16:creationId xmlns:a16="http://schemas.microsoft.com/office/drawing/2014/main" xmlns="" id="{4E613433-F917-A147-AF5A-4DF4F76E7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RRs in response to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xmlns="" id="{3FD623A6-A024-6347-B591-DAC5D82FD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records for authoritative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xmlns="" id="{4B8555F6-7100-944F-9974-2E826BBBD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additional “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helpful”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 that may be used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37">
            <a:extLst>
              <a:ext uri="{FF2B5EF4-FFF2-40B4-BE49-F238E27FC236}">
                <a16:creationId xmlns:a16="http://schemas.microsoft.com/office/drawing/2014/main" xmlns="" id="{F803F024-9C8E-164E-BC96-48776D3FA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0475" y="6126704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Line 38">
            <a:extLst>
              <a:ext uri="{FF2B5EF4-FFF2-40B4-BE49-F238E27FC236}">
                <a16:creationId xmlns:a16="http://schemas.microsoft.com/office/drawing/2014/main" xmlns="" id="{316EAAA0-F793-2043-BFB7-87E6DFAFF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3" y="54678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Line 39">
            <a:extLst>
              <a:ext uri="{FF2B5EF4-FFF2-40B4-BE49-F238E27FC236}">
                <a16:creationId xmlns:a16="http://schemas.microsoft.com/office/drawing/2014/main" xmlns="" id="{408447E0-07FB-1341-9B44-D1DA4C677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4809079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xmlns="" id="{F708B0A3-0C69-D745-B00F-2DDF2924D4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2063" y="40835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xmlns="" id="{95E186ED-4245-C448-9822-1199EA93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xmlns="" id="{C19D16D8-DC06-E546-AA51-6069613B41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97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886</Words>
  <Application>Microsoft Macintosh PowerPoint</Application>
  <PresentationFormat>Widescreen</PresentationFormat>
  <Paragraphs>184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Courier</vt:lpstr>
      <vt:lpstr>ＭＳ Ｐゴシック</vt:lpstr>
      <vt:lpstr>Wingdings</vt:lpstr>
      <vt:lpstr>ZapfDingbats</vt:lpstr>
      <vt:lpstr>Office Theme</vt:lpstr>
      <vt:lpstr>IT694 Computer Networks</vt:lpstr>
      <vt:lpstr>DNS: Domain Name System</vt:lpstr>
      <vt:lpstr>DNS: a distributed, hierarchical database</vt:lpstr>
      <vt:lpstr>Top-Level Domain, and authoritative servers</vt:lpstr>
      <vt:lpstr>Local DNS name servers</vt:lpstr>
      <vt:lpstr>DNS name resolution: iterated query</vt:lpstr>
      <vt:lpstr>DNS name resolution: recursive query</vt:lpstr>
      <vt:lpstr>Caching DNS Information</vt:lpstr>
      <vt:lpstr>DNS records</vt:lpstr>
      <vt:lpstr>DNS protocol messages</vt:lpstr>
      <vt:lpstr>DNS protocol messages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2026-01-30T04:16:54Z</dcterms:created>
  <dcterms:modified xsi:type="dcterms:W3CDTF">2026-04-22T05:01:45Z</dcterms:modified>
</cp:coreProperties>
</file>