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1"/>
    <p:restoredTop sz="96154"/>
  </p:normalViewPr>
  <p:slideViewPr>
    <p:cSldViewPr snapToGrid="0" snapToObjects="1">
      <p:cViewPr varScale="1">
        <p:scale>
          <a:sx n="116" d="100"/>
          <a:sy n="116" d="100"/>
        </p:scale>
        <p:origin x="5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8587C2-6725-DF4A-AC70-1DE756066C03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B9D96-5D96-E343-8EEA-5276B0A70C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1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61574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7595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31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8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60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393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585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4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81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924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773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6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64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6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D8167-20FA-3C48-8E64-1D1DA67C7DD1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3F2E3-A958-2540-82D4-D46FDE7EE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0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IT694</a:t>
            </a:r>
            <a:br>
              <a:rPr lang="en-US" dirty="0" smtClean="0"/>
            </a:br>
            <a:r>
              <a:rPr lang="en-US" dirty="0" smtClean="0"/>
              <a:t>Computer Networks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IP Addressing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85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="" xmlns:a16="http://schemas.microsoft.com/office/drawing/2014/main" id="{19673C0F-EEA6-3549-BFCE-D83173D8E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2790" y="1409001"/>
            <a:ext cx="5557988" cy="4841896"/>
          </a:xfrm>
        </p:spPr>
        <p:txBody>
          <a:bodyPr>
            <a:normAutofit/>
          </a:bodyPr>
          <a:lstStyle/>
          <a:p>
            <a:pPr indent="-293688"/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address:</a:t>
            </a:r>
            <a:r>
              <a:rPr lang="en-US" altLang="en-US" dirty="0">
                <a:solidFill>
                  <a:srgbClr val="C0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32-bit identifier associated with each host or router </a:t>
            </a:r>
            <a:r>
              <a:rPr lang="en-US" altLang="en-US" i="1" dirty="0">
                <a:solidFill>
                  <a:srgbClr val="0000A3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indent="-293688"/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interface:</a:t>
            </a:r>
            <a:r>
              <a:rPr lang="en-US" altLang="en-US" dirty="0"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connection between host/router and physical link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router’</a:t>
            </a:r>
            <a:r>
              <a:rPr lang="en-US" altLang="ja-JP" sz="2800" dirty="0">
                <a:ea typeface="ＭＳ Ｐゴシック" panose="020B0600070205080204" pitchFamily="34" charset="-128"/>
              </a:rPr>
              <a:t>s typically have multiple interfaces</a:t>
            </a:r>
          </a:p>
          <a:p>
            <a:pPr marL="522288" lvl="1" indent="-298450"/>
            <a:r>
              <a:rPr lang="en-US" altLang="en-US" sz="2800" dirty="0">
                <a:ea typeface="ＭＳ Ｐゴシック" panose="020B0600070205080204" pitchFamily="34" charset="-128"/>
              </a:rPr>
              <a:t>host typically has one or two interfaces </a:t>
            </a:r>
            <a:r>
              <a:rPr lang="en-US" altLang="en-US" dirty="0">
                <a:ea typeface="ＭＳ Ｐゴシック" panose="020B0600070205080204" pitchFamily="34" charset="-128"/>
              </a:rPr>
              <a:t>(e.g., wired Ethernet, wireless 802.11)</a:t>
            </a:r>
          </a:p>
          <a:p>
            <a:pPr marL="298450" indent="0">
              <a:buNone/>
            </a:pPr>
            <a:endParaRPr lang="en-US" altLang="en-US" sz="3200" dirty="0"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IP addressing: introduction</a:t>
            </a:r>
            <a:endParaRPr lang="en-US" dirty="0"/>
          </a:p>
        </p:txBody>
      </p:sp>
      <p:sp>
        <p:nvSpPr>
          <p:cNvPr id="72" name="Freeform 140">
            <a:extLst>
              <a:ext uri="{FF2B5EF4-FFF2-40B4-BE49-F238E27FC236}">
                <a16:creationId xmlns=""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=""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=""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=""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8255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=""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6"/>
            <a:ext cx="920750" cy="276225"/>
            <a:chOff x="3251" y="608"/>
            <a:chExt cx="580" cy="174"/>
          </a:xfrm>
        </p:grpSpPr>
        <p:sp>
          <p:nvSpPr>
            <p:cNvPr id="77" name="Rectangle 28">
              <a:extLst>
                <a:ext uri="{FF2B5EF4-FFF2-40B4-BE49-F238E27FC236}">
                  <a16:creationId xmlns=""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=""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52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=""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=""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=""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8270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=""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8270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=""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=""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=""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8270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=""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82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=""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3"/>
            <a:ext cx="912812" cy="276225"/>
            <a:chOff x="4550" y="1257"/>
            <a:chExt cx="575" cy="174"/>
          </a:xfrm>
        </p:grpSpPr>
        <p:sp>
          <p:nvSpPr>
            <p:cNvPr id="94" name="Rectangle 58">
              <a:extLst>
                <a:ext uri="{FF2B5EF4-FFF2-40B4-BE49-F238E27FC236}">
                  <a16:creationId xmlns=""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=""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75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="" xmlns:a16="http://schemas.microsoft.com/office/drawing/2014/main" id="{ED9023E0-376B-B146-94EA-438BC342A185}"/>
              </a:ext>
            </a:extLst>
          </p:cNvPr>
          <p:cNvGrpSpPr/>
          <p:nvPr/>
        </p:nvGrpSpPr>
        <p:grpSpPr>
          <a:xfrm>
            <a:off x="6858453" y="5763539"/>
            <a:ext cx="5043488" cy="947504"/>
            <a:chOff x="6727825" y="5192036"/>
            <a:chExt cx="5043488" cy="822325"/>
          </a:xfrm>
        </p:grpSpPr>
        <p:sp>
          <p:nvSpPr>
            <p:cNvPr id="96" name="Text Box 60">
              <a:extLst>
                <a:ext uri="{FF2B5EF4-FFF2-40B4-BE49-F238E27FC236}">
                  <a16:creationId xmlns="" xmlns:a16="http://schemas.microsoft.com/office/drawing/2014/main" id="{A066F6CC-B2A4-4A44-A6F3-7443C298B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7825" y="5192036"/>
              <a:ext cx="50434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223.1.1.1 = 11011111 00000001 00000001 00000001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7" name="Freeform 61">
              <a:extLst>
                <a:ext uri="{FF2B5EF4-FFF2-40B4-BE49-F238E27FC236}">
                  <a16:creationId xmlns="" xmlns:a16="http://schemas.microsoft.com/office/drawing/2014/main" id="{9A73E928-E5EB-C34D-88B7-58A021715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5750" y="5447623"/>
              <a:ext cx="892175" cy="92075"/>
            </a:xfrm>
            <a:custGeom>
              <a:avLst/>
              <a:gdLst>
                <a:gd name="T0" fmla="*/ 0 w 562"/>
                <a:gd name="T1" fmla="*/ 0 h 58"/>
                <a:gd name="T2" fmla="*/ 0 w 562"/>
                <a:gd name="T3" fmla="*/ 2147483647 h 58"/>
                <a:gd name="T4" fmla="*/ 2147483647 w 562"/>
                <a:gd name="T5" fmla="*/ 2147483647 h 58"/>
                <a:gd name="T6" fmla="*/ 2147483647 w 562"/>
                <a:gd name="T7" fmla="*/ 2147483647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8"/>
                <a:gd name="T14" fmla="*/ 562 w 56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8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8" name="Freeform 62">
              <a:extLst>
                <a:ext uri="{FF2B5EF4-FFF2-40B4-BE49-F238E27FC236}">
                  <a16:creationId xmlns="" xmlns:a16="http://schemas.microsoft.com/office/drawing/2014/main" id="{6E3CCDCB-8017-6145-9139-4CD2DE6C4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5" y="5466673"/>
              <a:ext cx="892175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9" name="Freeform 63">
              <a:extLst>
                <a:ext uri="{FF2B5EF4-FFF2-40B4-BE49-F238E27FC236}">
                  <a16:creationId xmlns="" xmlns:a16="http://schemas.microsoft.com/office/drawing/2014/main" id="{4CAD5E46-231E-D24C-B38B-034B68E2C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32975" y="5469848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0" name="Freeform 64">
              <a:extLst>
                <a:ext uri="{FF2B5EF4-FFF2-40B4-BE49-F238E27FC236}">
                  <a16:creationId xmlns="" xmlns:a16="http://schemas.microsoft.com/office/drawing/2014/main" id="{B6CE1C10-59DE-0245-A89C-98BE0ADA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98175" y="5473023"/>
              <a:ext cx="869950" cy="79375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2147483647 h 50"/>
                <a:gd name="T4" fmla="*/ 2147483647 w 562"/>
                <a:gd name="T5" fmla="*/ 2147483647 h 50"/>
                <a:gd name="T6" fmla="*/ 2147483647 w 562"/>
                <a:gd name="T7" fmla="*/ 2147483647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1" name="Text Box 65">
              <a:extLst>
                <a:ext uri="{FF2B5EF4-FFF2-40B4-BE49-F238E27FC236}">
                  <a16:creationId xmlns="" xmlns:a16="http://schemas.microsoft.com/office/drawing/2014/main" id="{D8583DB0-93E6-B34D-8D84-B23CC6B1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4188" y="5668286"/>
              <a:ext cx="5222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223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66">
              <a:extLst>
                <a:ext uri="{FF2B5EF4-FFF2-40B4-BE49-F238E27FC236}">
                  <a16:creationId xmlns="" xmlns:a16="http://schemas.microsoft.com/office/drawing/2014/main" id="{5A50F148-C8B4-0A47-A5A3-A5F1D09A1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47175" y="5677811"/>
              <a:ext cx="2968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3" name="Text Box 67">
              <a:extLst>
                <a:ext uri="{FF2B5EF4-FFF2-40B4-BE49-F238E27FC236}">
                  <a16:creationId xmlns="" xmlns:a16="http://schemas.microsoft.com/office/drawing/2014/main" id="{801EE6AC-16BB-1F4E-9CEA-3B85212BD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04563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4" name="Text Box 68">
              <a:extLst>
                <a:ext uri="{FF2B5EF4-FFF2-40B4-BE49-F238E27FC236}">
                  <a16:creationId xmlns="" xmlns:a16="http://schemas.microsoft.com/office/drawing/2014/main" id="{2C7F9B6A-D7EB-C04D-A00B-14BBA0AFEF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5388" y="5677811"/>
              <a:ext cx="296862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1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=""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=""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=""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=""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=""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=""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=""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=""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=""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=""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=""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=""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=""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=""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=""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=""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=""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=""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=""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=""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=""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=""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=""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706916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=""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34301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="" xmlns:a16="http://schemas.microsoft.com/office/drawing/2014/main" id="{073C8E6C-F7C0-D64D-A175-D3A8315B2420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="" xmlns:a16="http://schemas.microsoft.com/office/drawing/2014/main" id="{2EF0F843-DE7F-364D-8927-8C9FD555A1A1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=""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=""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=""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=""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=""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=""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=""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=""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153" name="Straight Connector 152">
            <a:extLst>
              <a:ext uri="{FF2B5EF4-FFF2-40B4-BE49-F238E27FC236}">
                <a16:creationId xmlns=""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=""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5575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=""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=""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555EAAA2-638C-004F-963C-8953FB51B748}"/>
              </a:ext>
            </a:extLst>
          </p:cNvPr>
          <p:cNvSpPr txBox="1"/>
          <p:nvPr/>
        </p:nvSpPr>
        <p:spPr>
          <a:xfrm>
            <a:off x="6841671" y="5290457"/>
            <a:ext cx="4653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dotted-decimal IP address notation:</a:t>
            </a:r>
          </a:p>
        </p:txBody>
      </p:sp>
      <p:sp>
        <p:nvSpPr>
          <p:cNvPr id="71" name="Slide Number Placeholder 3">
            <a:extLst>
              <a:ext uri="{FF2B5EF4-FFF2-40B4-BE49-F238E27FC236}">
                <a16:creationId xmlns="" xmlns:a16="http://schemas.microsoft.com/office/drawing/2014/main" id="{94F87F8F-A53C-824C-9A6F-AF7997886B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Network Layer: 4-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12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sz="3600" dirty="0">
                <a:ea typeface="ＭＳ Ｐゴシック" panose="020B0600070205080204" pitchFamily="34" charset="-128"/>
              </a:rPr>
              <a:t>IP addresses: how to get one?</a:t>
            </a:r>
            <a:endParaRPr lang="en-US" sz="3600" dirty="0"/>
          </a:p>
        </p:txBody>
      </p:sp>
      <p:sp>
        <p:nvSpPr>
          <p:cNvPr id="81" name="Rectangle 3">
            <a:extLst>
              <a:ext uri="{FF2B5EF4-FFF2-40B4-BE49-F238E27FC236}">
                <a16:creationId xmlns=""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5"/>
            <a:ext cx="11096157" cy="2677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That’s actually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two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questions:</a:t>
            </a:r>
          </a:p>
          <a:p>
            <a:pPr marL="64452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does a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 within its network (host part of address)?</a:t>
            </a:r>
          </a:p>
          <a:p>
            <a:pPr marL="644525" marR="0" lvl="0" indent="-3460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Q: How does a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network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 for itself (network part of address)</a:t>
            </a:r>
          </a:p>
          <a:p>
            <a:pPr marL="349250" marR="0" lvl="1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0BA2288-FC78-F84B-AA24-40801EC93568}"/>
              </a:ext>
            </a:extLst>
          </p:cNvPr>
          <p:cNvSpPr/>
          <p:nvPr/>
        </p:nvSpPr>
        <p:spPr>
          <a:xfrm>
            <a:off x="1104900" y="4234164"/>
            <a:ext cx="1053308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How does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host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get IP address?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hard-coded by sysadmin in config file (e.g.,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/etc/rc.config in UNIX)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ＭＳ Ｐゴシック" panose="020B0600070205080204" pitchFamily="34" charset="-128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DHCP: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D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ynamic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H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ost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C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onfiguration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P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rotocol: dynamically get address from as server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ja-JP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“plug-and-play”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="" xmlns:a16="http://schemas.microsoft.com/office/drawing/2014/main" id="{9084C300-711D-1C4E-A81B-733D1F5A7E6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sz="1400" dirty="0"/>
              <a:t>Network Layer: 4-</a:t>
            </a:r>
            <a:fld id="{C4204591-24BD-A542-B9D5-F8D8A88D2FEE}" type="slidenum">
              <a:rPr lang="en-US" sz="1400" smtClean="0"/>
              <a:pPr/>
              <a:t>3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69096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5725" y="1825625"/>
            <a:ext cx="7680549" cy="4351338"/>
          </a:xfrm>
        </p:spPr>
      </p:pic>
    </p:spTree>
    <p:extLst>
      <p:ext uri="{BB962C8B-B14F-4D97-AF65-F5344CB8AC3E}">
        <p14:creationId xmlns:p14="http://schemas.microsoft.com/office/powerpoint/2010/main" val="1926877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Hierarchical Addressing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11" y="1539186"/>
            <a:ext cx="5011757" cy="4351338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Addressing in the Indian mail sys</a:t>
            </a:r>
          </a:p>
          <a:p>
            <a:pPr lvl="1"/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Zip code: 382007</a:t>
            </a:r>
          </a:p>
          <a:p>
            <a:pPr lvl="1"/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Street: </a:t>
            </a:r>
            <a:r>
              <a:rPr lang="en-US" altLang="en-US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Indroda</a:t>
            </a:r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circle</a:t>
            </a:r>
          </a:p>
          <a:p>
            <a:pPr lvl="1"/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Building on street: DAIICT</a:t>
            </a:r>
          </a:p>
          <a:p>
            <a:pPr lvl="1"/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Room in building: 21**</a:t>
            </a:r>
          </a:p>
          <a:p>
            <a:pPr lvl="1"/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Name of occupant: ABC</a:t>
            </a:r>
          </a:p>
          <a:p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Forwarding the mail</a:t>
            </a:r>
          </a:p>
          <a:p>
            <a:pPr lvl="1"/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Deliver letter to the post office in the zip code</a:t>
            </a:r>
          </a:p>
          <a:p>
            <a:pPr lvl="1"/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Assign letter to mailman covering the street</a:t>
            </a:r>
          </a:p>
          <a:p>
            <a:pPr lvl="1"/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Drop letter into mailbox for the building/room</a:t>
            </a:r>
          </a:p>
          <a:p>
            <a:pPr lvl="1"/>
            <a:r>
              <a:rPr lang="en-US" altLang="en-US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Give letter to the appropriate person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849958" y="1539186"/>
            <a:ext cx="58233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altLang="en-US" dirty="0" smtClean="0">
                <a:solidFill>
                  <a:schemeClr val="accent2"/>
                </a:solidFill>
              </a:rPr>
              <a:t>Divided into network &amp; host portions (left and right) </a:t>
            </a:r>
          </a:p>
          <a:p>
            <a:pPr marL="285750" indent="-285750">
              <a:buFont typeface="Arial" charset="0"/>
              <a:buChar char="•"/>
            </a:pPr>
            <a:r>
              <a:rPr lang="en-US" altLang="en-US" dirty="0" smtClean="0">
                <a:solidFill>
                  <a:schemeClr val="accent2"/>
                </a:solidFill>
              </a:rPr>
              <a:t>12.34.158.0/24 is a 24-bit </a:t>
            </a:r>
            <a:r>
              <a:rPr lang="en-US" altLang="en-US" b="1" dirty="0" smtClean="0">
                <a:solidFill>
                  <a:schemeClr val="accent2"/>
                </a:solidFill>
              </a:rPr>
              <a:t>prefix</a:t>
            </a:r>
            <a:r>
              <a:rPr lang="en-US" altLang="en-US" dirty="0" smtClean="0">
                <a:solidFill>
                  <a:schemeClr val="accent2"/>
                </a:solidFill>
              </a:rPr>
              <a:t> with 2</a:t>
            </a:r>
            <a:r>
              <a:rPr lang="en-US" altLang="en-US" baseline="30000" dirty="0" smtClean="0">
                <a:solidFill>
                  <a:schemeClr val="accent2"/>
                </a:solidFill>
              </a:rPr>
              <a:t>8</a:t>
            </a:r>
            <a:r>
              <a:rPr lang="en-US" altLang="en-US" dirty="0" smtClean="0">
                <a:solidFill>
                  <a:schemeClr val="accent2"/>
                </a:solidFill>
              </a:rPr>
              <a:t> addresses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178" y="2672394"/>
            <a:ext cx="5031954" cy="223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443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IP Address and a 24-bit Subnet Mask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262" y="1690688"/>
            <a:ext cx="6764970" cy="4351338"/>
          </a:xfrm>
        </p:spPr>
      </p:pic>
    </p:spTree>
    <p:extLst>
      <p:ext uri="{BB962C8B-B14F-4D97-AF65-F5344CB8AC3E}">
        <p14:creationId xmlns:p14="http://schemas.microsoft.com/office/powerpoint/2010/main" val="57026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Classful Addressing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3200" dirty="0" smtClean="0"/>
              <a:t>In the olden days, only fixed allocation sizes</a:t>
            </a:r>
          </a:p>
          <a:p>
            <a:pPr lvl="1"/>
            <a:r>
              <a:rPr lang="en-US" altLang="en-US" sz="2800" dirty="0" smtClean="0"/>
              <a:t>Class A: 0*</a:t>
            </a:r>
          </a:p>
          <a:p>
            <a:pPr lvl="2"/>
            <a:r>
              <a:rPr lang="en-US" altLang="en-US" sz="2400" dirty="0" smtClean="0"/>
              <a:t>Very large </a:t>
            </a:r>
            <a:r>
              <a:rPr lang="en-US" altLang="en-US" sz="2400" dirty="0" smtClean="0">
                <a:solidFill>
                  <a:srgbClr val="FF3300"/>
                </a:solidFill>
              </a:rPr>
              <a:t>/8</a:t>
            </a:r>
            <a:r>
              <a:rPr lang="en-US" altLang="en-US" sz="2400" dirty="0" smtClean="0"/>
              <a:t> blocks </a:t>
            </a:r>
          </a:p>
          <a:p>
            <a:pPr lvl="1"/>
            <a:r>
              <a:rPr lang="en-US" altLang="en-US" sz="3200" dirty="0" smtClean="0"/>
              <a:t>Class B: 10*</a:t>
            </a:r>
          </a:p>
          <a:p>
            <a:pPr lvl="2"/>
            <a:r>
              <a:rPr lang="en-US" altLang="en-US" sz="2400" dirty="0" smtClean="0"/>
              <a:t>Large </a:t>
            </a:r>
            <a:r>
              <a:rPr lang="en-US" altLang="en-US" sz="2400" dirty="0" smtClean="0">
                <a:solidFill>
                  <a:srgbClr val="FF3300"/>
                </a:solidFill>
              </a:rPr>
              <a:t>/16</a:t>
            </a:r>
            <a:r>
              <a:rPr lang="en-US" altLang="en-US" sz="2400" dirty="0" smtClean="0"/>
              <a:t> blocks </a:t>
            </a:r>
          </a:p>
          <a:p>
            <a:pPr lvl="1"/>
            <a:r>
              <a:rPr lang="en-US" altLang="en-US" sz="2800" dirty="0" smtClean="0"/>
              <a:t>Class C: 110*</a:t>
            </a:r>
          </a:p>
          <a:p>
            <a:pPr lvl="2"/>
            <a:r>
              <a:rPr lang="en-US" altLang="en-US" sz="2400" dirty="0" smtClean="0"/>
              <a:t>Small </a:t>
            </a:r>
            <a:r>
              <a:rPr lang="en-US" altLang="en-US" sz="2400" dirty="0" smtClean="0">
                <a:solidFill>
                  <a:srgbClr val="FF3300"/>
                </a:solidFill>
              </a:rPr>
              <a:t>/24</a:t>
            </a:r>
            <a:r>
              <a:rPr lang="en-US" altLang="en-US" sz="2400" dirty="0" smtClean="0"/>
              <a:t> blocks</a:t>
            </a:r>
          </a:p>
          <a:p>
            <a:pPr lvl="1"/>
            <a:r>
              <a:rPr lang="en-US" altLang="en-US" sz="2800" dirty="0" smtClean="0">
                <a:solidFill>
                  <a:schemeClr val="bg2"/>
                </a:solidFill>
              </a:rPr>
              <a:t>Class D: 1110*</a:t>
            </a:r>
          </a:p>
          <a:p>
            <a:pPr lvl="2"/>
            <a:r>
              <a:rPr lang="en-US" altLang="en-US" sz="2400" dirty="0" smtClean="0">
                <a:solidFill>
                  <a:schemeClr val="bg2"/>
                </a:solidFill>
              </a:rPr>
              <a:t>Multicast groups</a:t>
            </a:r>
          </a:p>
          <a:p>
            <a:pPr lvl="1"/>
            <a:r>
              <a:rPr lang="en-US" altLang="en-US" sz="2800" dirty="0" smtClean="0">
                <a:solidFill>
                  <a:schemeClr val="bg2"/>
                </a:solidFill>
              </a:rPr>
              <a:t>Class E: 11110*</a:t>
            </a:r>
          </a:p>
          <a:p>
            <a:pPr lvl="2"/>
            <a:r>
              <a:rPr lang="en-US" altLang="en-US" sz="2400" dirty="0" smtClean="0">
                <a:solidFill>
                  <a:schemeClr val="bg2"/>
                </a:solidFill>
              </a:rPr>
              <a:t>Reserved for future use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625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="" xmlns:a16="http://schemas.microsoft.com/office/drawing/2014/main" id="{E6236E45-D353-3946-A538-2B642758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144"/>
            <a:ext cx="10515600" cy="894622"/>
          </a:xfrm>
        </p:spPr>
        <p:txBody>
          <a:bodyPr/>
          <a:lstStyle/>
          <a:p>
            <a:r>
              <a:rPr lang="en-US" altLang="en-US" sz="4000" dirty="0">
                <a:ea typeface="ＭＳ Ｐゴシック" panose="020B0600070205080204" pitchFamily="34" charset="-128"/>
              </a:rPr>
              <a:t>Subnets</a:t>
            </a:r>
            <a:endParaRPr lang="en-US" sz="4000" dirty="0"/>
          </a:p>
        </p:txBody>
      </p:sp>
      <p:sp>
        <p:nvSpPr>
          <p:cNvPr id="72" name="Freeform 140">
            <a:extLst>
              <a:ext uri="{FF2B5EF4-FFF2-40B4-BE49-F238E27FC236}">
                <a16:creationId xmlns="" xmlns:a16="http://schemas.microsoft.com/office/drawing/2014/main" id="{3A8F319D-9F74-944C-9EB6-024B82E69F2A}"/>
              </a:ext>
            </a:extLst>
          </p:cNvPr>
          <p:cNvSpPr>
            <a:spLocks/>
          </p:cNvSpPr>
          <p:nvPr/>
        </p:nvSpPr>
        <p:spPr bwMode="auto">
          <a:xfrm rot="16200000">
            <a:off x="8946356" y="3046530"/>
            <a:ext cx="846137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Freeform 140">
            <a:extLst>
              <a:ext uri="{FF2B5EF4-FFF2-40B4-BE49-F238E27FC236}">
                <a16:creationId xmlns="" xmlns:a16="http://schemas.microsoft.com/office/drawing/2014/main" id="{624F0496-7420-2147-A497-D1252EA7020B}"/>
              </a:ext>
            </a:extLst>
          </p:cNvPr>
          <p:cNvSpPr>
            <a:spLocks/>
          </p:cNvSpPr>
          <p:nvPr/>
        </p:nvSpPr>
        <p:spPr bwMode="auto">
          <a:xfrm rot="10800000">
            <a:off x="9944100" y="1720173"/>
            <a:ext cx="846138" cy="1593850"/>
          </a:xfrm>
          <a:custGeom>
            <a:avLst/>
            <a:gdLst>
              <a:gd name="T0" fmla="*/ 2147483647 w 10315"/>
              <a:gd name="T1" fmla="*/ 2147483647 h 10000"/>
              <a:gd name="T2" fmla="*/ 2147483647 w 10315"/>
              <a:gd name="T3" fmla="*/ 2147483647 h 10000"/>
              <a:gd name="T4" fmla="*/ 2147483647 w 10315"/>
              <a:gd name="T5" fmla="*/ 2147483647 h 10000"/>
              <a:gd name="T6" fmla="*/ 2147483647 w 10315"/>
              <a:gd name="T7" fmla="*/ 2147483647 h 10000"/>
              <a:gd name="T8" fmla="*/ 2147483647 w 10315"/>
              <a:gd name="T9" fmla="*/ 2147483647 h 10000"/>
              <a:gd name="T10" fmla="*/ 2147483647 w 10315"/>
              <a:gd name="T11" fmla="*/ 2147483647 h 10000"/>
              <a:gd name="T12" fmla="*/ 2147483647 w 10315"/>
              <a:gd name="T13" fmla="*/ 2147483647 h 10000"/>
              <a:gd name="T14" fmla="*/ 2147483647 w 10315"/>
              <a:gd name="T15" fmla="*/ 2147483647 h 10000"/>
              <a:gd name="T16" fmla="*/ 2147483647 w 10315"/>
              <a:gd name="T17" fmla="*/ 2147483647 h 10000"/>
              <a:gd name="T18" fmla="*/ 2147483647 w 10315"/>
              <a:gd name="T19" fmla="*/ 2147483647 h 10000"/>
              <a:gd name="T20" fmla="*/ 2147483647 w 10315"/>
              <a:gd name="T21" fmla="*/ 2147483647 h 10000"/>
              <a:gd name="T22" fmla="*/ 2147483647 w 10315"/>
              <a:gd name="T23" fmla="*/ 2147483647 h 10000"/>
              <a:gd name="T24" fmla="*/ 2147483647 w 10315"/>
              <a:gd name="T25" fmla="*/ 2147483647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10315"/>
              <a:gd name="T40" fmla="*/ 0 h 10000"/>
              <a:gd name="T41" fmla="*/ 10315 w 10315"/>
              <a:gd name="T42" fmla="*/ 10000 h 1000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10315" h="10000">
                <a:moveTo>
                  <a:pt x="9674" y="4488"/>
                </a:moveTo>
                <a:cubicBezTo>
                  <a:pt x="8651" y="4175"/>
                  <a:pt x="4901" y="4405"/>
                  <a:pt x="3754" y="3833"/>
                </a:cubicBezTo>
                <a:cubicBezTo>
                  <a:pt x="2607" y="3261"/>
                  <a:pt x="4015" y="1645"/>
                  <a:pt x="3411" y="1026"/>
                </a:cubicBezTo>
                <a:cubicBezTo>
                  <a:pt x="2808" y="408"/>
                  <a:pt x="591" y="-284"/>
                  <a:pt x="130" y="122"/>
                </a:cubicBezTo>
                <a:cubicBezTo>
                  <a:pt x="-330" y="529"/>
                  <a:pt x="566" y="2588"/>
                  <a:pt x="648" y="3468"/>
                </a:cubicBezTo>
                <a:cubicBezTo>
                  <a:pt x="730" y="4349"/>
                  <a:pt x="648" y="4790"/>
                  <a:pt x="622" y="5408"/>
                </a:cubicBezTo>
                <a:cubicBezTo>
                  <a:pt x="595" y="6026"/>
                  <a:pt x="516" y="6617"/>
                  <a:pt x="489" y="7180"/>
                </a:cubicBezTo>
                <a:cubicBezTo>
                  <a:pt x="463" y="7741"/>
                  <a:pt x="286" y="8378"/>
                  <a:pt x="436" y="8809"/>
                </a:cubicBezTo>
                <a:cubicBezTo>
                  <a:pt x="587" y="9239"/>
                  <a:pt x="892" y="9655"/>
                  <a:pt x="1416" y="9793"/>
                </a:cubicBezTo>
                <a:cubicBezTo>
                  <a:pt x="1940" y="9932"/>
                  <a:pt x="3153" y="10248"/>
                  <a:pt x="3581" y="9642"/>
                </a:cubicBezTo>
                <a:cubicBezTo>
                  <a:pt x="4008" y="9037"/>
                  <a:pt x="3138" y="6667"/>
                  <a:pt x="3986" y="6162"/>
                </a:cubicBezTo>
                <a:cubicBezTo>
                  <a:pt x="4832" y="5655"/>
                  <a:pt x="9131" y="5984"/>
                  <a:pt x="9890" y="5711"/>
                </a:cubicBezTo>
                <a:cubicBezTo>
                  <a:pt x="10388" y="5225"/>
                  <a:pt x="10598" y="5393"/>
                  <a:pt x="9674" y="4488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Freeform 140">
            <a:extLst>
              <a:ext uri="{FF2B5EF4-FFF2-40B4-BE49-F238E27FC236}">
                <a16:creationId xmlns="" xmlns:a16="http://schemas.microsoft.com/office/drawing/2014/main" id="{F5A46523-A2FE-EB43-8849-332D81F5BCF4}"/>
              </a:ext>
            </a:extLst>
          </p:cNvPr>
          <p:cNvSpPr>
            <a:spLocks/>
          </p:cNvSpPr>
          <p:nvPr/>
        </p:nvSpPr>
        <p:spPr bwMode="auto">
          <a:xfrm>
            <a:off x="7908925" y="1302661"/>
            <a:ext cx="1038225" cy="1927225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w 1223"/>
              <a:gd name="T43" fmla="*/ 0 h 1291"/>
              <a:gd name="T44" fmla="*/ 1223 w 1223"/>
              <a:gd name="T45" fmla="*/ 1291 h 1291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5" name="Text Box 26">
            <a:extLst>
              <a:ext uri="{FF2B5EF4-FFF2-40B4-BE49-F238E27FC236}">
                <a16:creationId xmlns="" xmlns:a16="http://schemas.microsoft.com/office/drawing/2014/main" id="{52559523-8E51-E745-84E2-F95862F13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1388" y="1132798"/>
            <a:ext cx="7713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223.1.1.1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6" name="Group 27">
            <a:extLst>
              <a:ext uri="{FF2B5EF4-FFF2-40B4-BE49-F238E27FC236}">
                <a16:creationId xmlns="" xmlns:a16="http://schemas.microsoft.com/office/drawing/2014/main" id="{2A18DB91-39D9-E244-B5AB-473130FADF77}"/>
              </a:ext>
            </a:extLst>
          </p:cNvPr>
          <p:cNvGrpSpPr>
            <a:grpSpLocks/>
          </p:cNvGrpSpPr>
          <p:nvPr/>
        </p:nvGrpSpPr>
        <p:grpSpPr bwMode="auto">
          <a:xfrm>
            <a:off x="6557963" y="2093238"/>
            <a:ext cx="920750" cy="261938"/>
            <a:chOff x="3251" y="608"/>
            <a:chExt cx="580" cy="165"/>
          </a:xfrm>
        </p:grpSpPr>
        <p:sp>
          <p:nvSpPr>
            <p:cNvPr id="77" name="Rectangle 28">
              <a:extLst>
                <a:ext uri="{FF2B5EF4-FFF2-40B4-BE49-F238E27FC236}">
                  <a16:creationId xmlns="" xmlns:a16="http://schemas.microsoft.com/office/drawing/2014/main" id="{189CA005-145E-8943-BBD3-B29300620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6" y="657"/>
              <a:ext cx="525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8" name="Text Box 29">
              <a:extLst>
                <a:ext uri="{FF2B5EF4-FFF2-40B4-BE49-F238E27FC236}">
                  <a16:creationId xmlns="" xmlns:a16="http://schemas.microsoft.com/office/drawing/2014/main" id="{BA441ECA-99C1-8049-8D70-2692D3B320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1" y="608"/>
              <a:ext cx="486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  <a:cs typeface="+mn-cs"/>
                </a:rPr>
                <a:t>223.1.1.2</a:t>
              </a:r>
              <a:endPara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9" name="Text Box 30">
            <a:extLst>
              <a:ext uri="{FF2B5EF4-FFF2-40B4-BE49-F238E27FC236}">
                <a16:creationId xmlns="" xmlns:a16="http://schemas.microsoft.com/office/drawing/2014/main" id="{02D7B601-F8DE-844D-AD24-51A8D9C2A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6163" y="3088598"/>
            <a:ext cx="7713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223.1.1.3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0" name="Text Box 31">
            <a:extLst>
              <a:ext uri="{FF2B5EF4-FFF2-40B4-BE49-F238E27FC236}">
                <a16:creationId xmlns="" xmlns:a16="http://schemas.microsoft.com/office/drawing/2014/main" id="{BCADDA8C-EA1C-904B-8DA4-6A72A1241F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65672" y="2275798"/>
            <a:ext cx="7713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223.1.1.4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Text Box 33">
            <a:extLst>
              <a:ext uri="{FF2B5EF4-FFF2-40B4-BE49-F238E27FC236}">
                <a16:creationId xmlns="" xmlns:a16="http://schemas.microsoft.com/office/drawing/2014/main" id="{AE31EC96-C105-D14D-8C04-3BD61FB4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78749" y="2277157"/>
            <a:ext cx="7713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223.1.2.9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6" name="Text Box 41">
            <a:extLst>
              <a:ext uri="{FF2B5EF4-FFF2-40B4-BE49-F238E27FC236}">
                <a16:creationId xmlns="" xmlns:a16="http://schemas.microsoft.com/office/drawing/2014/main" id="{145B44AE-DC22-5544-86B9-CB3075DF6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207" y="3220134"/>
            <a:ext cx="7713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223.1.2.2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7" name="Text Box 44">
            <a:extLst>
              <a:ext uri="{FF2B5EF4-FFF2-40B4-BE49-F238E27FC236}">
                <a16:creationId xmlns="" xmlns:a16="http://schemas.microsoft.com/office/drawing/2014/main" id="{6AF41440-BFCD-7D40-8F46-791DB74E2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7612" y="1703391"/>
            <a:ext cx="7713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223.1.2.1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8" name="Line 45">
            <a:extLst>
              <a:ext uri="{FF2B5EF4-FFF2-40B4-BE49-F238E27FC236}">
                <a16:creationId xmlns="" xmlns:a16="http://schemas.microsoft.com/office/drawing/2014/main" id="{773ED556-22D0-4A49-A6DD-CE13868A6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59900" y="2735036"/>
            <a:ext cx="0" cy="8790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1" name="Text Box 53">
            <a:extLst>
              <a:ext uri="{FF2B5EF4-FFF2-40B4-BE49-F238E27FC236}">
                <a16:creationId xmlns="" xmlns:a16="http://schemas.microsoft.com/office/drawing/2014/main" id="{3808F6CD-9581-5747-8EAE-2804DA864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55213" y="4195086"/>
            <a:ext cx="7713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223.1.3.2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2" name="Text Box 56">
            <a:extLst>
              <a:ext uri="{FF2B5EF4-FFF2-40B4-BE49-F238E27FC236}">
                <a16:creationId xmlns="" xmlns:a16="http://schemas.microsoft.com/office/drawing/2014/main" id="{F622C914-8BCA-2845-A02E-216107E499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2200" y="4199848"/>
            <a:ext cx="77136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ＭＳ Ｐゴシック" panose="020B0600070205080204" pitchFamily="34" charset="-128"/>
                <a:cs typeface="+mn-cs"/>
              </a:rPr>
              <a:t>223.1.3.1</a:t>
            </a:r>
            <a:endParaRPr kumimoji="0" lang="en-US" alt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3" name="Group 57">
            <a:extLst>
              <a:ext uri="{FF2B5EF4-FFF2-40B4-BE49-F238E27FC236}">
                <a16:creationId xmlns="" xmlns:a16="http://schemas.microsoft.com/office/drawing/2014/main" id="{D5377E55-C016-994A-953D-A9C5387C24E5}"/>
              </a:ext>
            </a:extLst>
          </p:cNvPr>
          <p:cNvGrpSpPr>
            <a:grpSpLocks/>
          </p:cNvGrpSpPr>
          <p:nvPr/>
        </p:nvGrpSpPr>
        <p:grpSpPr bwMode="auto">
          <a:xfrm>
            <a:off x="8885238" y="2996527"/>
            <a:ext cx="906462" cy="261938"/>
            <a:chOff x="4550" y="1257"/>
            <a:chExt cx="571" cy="165"/>
          </a:xfrm>
        </p:grpSpPr>
        <p:sp>
          <p:nvSpPr>
            <p:cNvPr id="94" name="Rectangle 58">
              <a:extLst>
                <a:ext uri="{FF2B5EF4-FFF2-40B4-BE49-F238E27FC236}">
                  <a16:creationId xmlns="" xmlns:a16="http://schemas.microsoft.com/office/drawing/2014/main" id="{670C8D72-BBFA-B140-9080-38230AA139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7" y="1284"/>
              <a:ext cx="534" cy="1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5" name="Text Box 59">
              <a:extLst>
                <a:ext uri="{FF2B5EF4-FFF2-40B4-BE49-F238E27FC236}">
                  <a16:creationId xmlns="" xmlns:a16="http://schemas.microsoft.com/office/drawing/2014/main" id="{5713FF42-7904-ED48-91F6-585EA4E69A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1257"/>
              <a:ext cx="535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ＭＳ Ｐゴシック" panose="020B0600070205080204" pitchFamily="34" charset="-128"/>
                  <a:cs typeface="+mn-cs"/>
                </a:rPr>
                <a:t>223.1.3.27</a:t>
              </a:r>
              <a:endParaRPr kumimoji="0" lang="en-US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 panose="030F0902030302020204" pitchFamily="66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5" name="Group 73">
            <a:extLst>
              <a:ext uri="{FF2B5EF4-FFF2-40B4-BE49-F238E27FC236}">
                <a16:creationId xmlns="" xmlns:a16="http://schemas.microsoft.com/office/drawing/2014/main" id="{BEA334FB-481B-E049-A8E8-9D0AC1C04FEA}"/>
              </a:ext>
            </a:extLst>
          </p:cNvPr>
          <p:cNvGrpSpPr>
            <a:grpSpLocks/>
          </p:cNvGrpSpPr>
          <p:nvPr/>
        </p:nvGrpSpPr>
        <p:grpSpPr bwMode="auto">
          <a:xfrm>
            <a:off x="7116763" y="1378861"/>
            <a:ext cx="641350" cy="558800"/>
            <a:chOff x="-44" y="1473"/>
            <a:chExt cx="981" cy="1105"/>
          </a:xfrm>
        </p:grpSpPr>
        <p:pic>
          <p:nvPicPr>
            <p:cNvPr id="106" name="Picture 74" descr="desktop_computer_stylized_medium">
              <a:extLst>
                <a:ext uri="{FF2B5EF4-FFF2-40B4-BE49-F238E27FC236}">
                  <a16:creationId xmlns="" xmlns:a16="http://schemas.microsoft.com/office/drawing/2014/main" id="{0FB216A8-4F98-AA46-B532-32518B83E60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75">
              <a:extLst>
                <a:ext uri="{FF2B5EF4-FFF2-40B4-BE49-F238E27FC236}">
                  <a16:creationId xmlns="" xmlns:a16="http://schemas.microsoft.com/office/drawing/2014/main" id="{871AC4D7-8642-7D44-9317-417B5F8F859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8" name="Group 80">
            <a:extLst>
              <a:ext uri="{FF2B5EF4-FFF2-40B4-BE49-F238E27FC236}">
                <a16:creationId xmlns="" xmlns:a16="http://schemas.microsoft.com/office/drawing/2014/main" id="{0EF95EC3-C2D4-9E4C-9521-F92B5B88AB29}"/>
              </a:ext>
            </a:extLst>
          </p:cNvPr>
          <p:cNvGrpSpPr>
            <a:grpSpLocks/>
          </p:cNvGrpSpPr>
          <p:nvPr/>
        </p:nvGrpSpPr>
        <p:grpSpPr bwMode="auto">
          <a:xfrm>
            <a:off x="7112000" y="1977348"/>
            <a:ext cx="641350" cy="558800"/>
            <a:chOff x="-44" y="1473"/>
            <a:chExt cx="981" cy="1105"/>
          </a:xfrm>
        </p:grpSpPr>
        <p:pic>
          <p:nvPicPr>
            <p:cNvPr id="109" name="Picture 81" descr="desktop_computer_stylized_medium">
              <a:extLst>
                <a:ext uri="{FF2B5EF4-FFF2-40B4-BE49-F238E27FC236}">
                  <a16:creationId xmlns="" xmlns:a16="http://schemas.microsoft.com/office/drawing/2014/main" id="{BE8FC295-C7B7-C84A-9639-AAA684958A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82">
              <a:extLst>
                <a:ext uri="{FF2B5EF4-FFF2-40B4-BE49-F238E27FC236}">
                  <a16:creationId xmlns="" xmlns:a16="http://schemas.microsoft.com/office/drawing/2014/main" id="{31D155CD-E402-954B-8FA1-5955CB0585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83">
            <a:extLst>
              <a:ext uri="{FF2B5EF4-FFF2-40B4-BE49-F238E27FC236}">
                <a16:creationId xmlns="" xmlns:a16="http://schemas.microsoft.com/office/drawing/2014/main" id="{BF765BCF-419D-4F4C-A66F-45A7F9698141}"/>
              </a:ext>
            </a:extLst>
          </p:cNvPr>
          <p:cNvGrpSpPr>
            <a:grpSpLocks/>
          </p:cNvGrpSpPr>
          <p:nvPr/>
        </p:nvGrpSpPr>
        <p:grpSpPr bwMode="auto">
          <a:xfrm>
            <a:off x="7140575" y="2586948"/>
            <a:ext cx="641350" cy="558800"/>
            <a:chOff x="-44" y="1473"/>
            <a:chExt cx="981" cy="1105"/>
          </a:xfrm>
        </p:grpSpPr>
        <p:pic>
          <p:nvPicPr>
            <p:cNvPr id="112" name="Picture 84" descr="desktop_computer_stylized_medium">
              <a:extLst>
                <a:ext uri="{FF2B5EF4-FFF2-40B4-BE49-F238E27FC236}">
                  <a16:creationId xmlns="" xmlns:a16="http://schemas.microsoft.com/office/drawing/2014/main" id="{84119354-B347-3240-8A47-9B56540D78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85">
              <a:extLst>
                <a:ext uri="{FF2B5EF4-FFF2-40B4-BE49-F238E27FC236}">
                  <a16:creationId xmlns="" xmlns:a16="http://schemas.microsoft.com/office/drawing/2014/main" id="{8CC47AE7-EF7A-D54F-96D6-26C222D4F8D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4" name="Group 87">
            <a:extLst>
              <a:ext uri="{FF2B5EF4-FFF2-40B4-BE49-F238E27FC236}">
                <a16:creationId xmlns="" xmlns:a16="http://schemas.microsoft.com/office/drawing/2014/main" id="{9C4422EF-C252-1145-92D8-74A11BEA28D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799763" y="1536023"/>
            <a:ext cx="641350" cy="558800"/>
            <a:chOff x="-44" y="1473"/>
            <a:chExt cx="981" cy="1105"/>
          </a:xfrm>
        </p:grpSpPr>
        <p:pic>
          <p:nvPicPr>
            <p:cNvPr id="115" name="Picture 88" descr="desktop_computer_stylized_medium">
              <a:extLst>
                <a:ext uri="{FF2B5EF4-FFF2-40B4-BE49-F238E27FC236}">
                  <a16:creationId xmlns="" xmlns:a16="http://schemas.microsoft.com/office/drawing/2014/main" id="{3A21162C-4ABF-5B4D-B741-3AA5F44ADB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6" name="Freeform 89">
              <a:extLst>
                <a:ext uri="{FF2B5EF4-FFF2-40B4-BE49-F238E27FC236}">
                  <a16:creationId xmlns="" xmlns:a16="http://schemas.microsoft.com/office/drawing/2014/main" id="{8790702D-4218-6844-AB6C-19506FCB036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7" name="Group 90">
            <a:extLst>
              <a:ext uri="{FF2B5EF4-FFF2-40B4-BE49-F238E27FC236}">
                <a16:creationId xmlns="" xmlns:a16="http://schemas.microsoft.com/office/drawing/2014/main" id="{5150C92F-F48E-A84A-9BF4-E37FE680353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0814050" y="2815548"/>
            <a:ext cx="641350" cy="558800"/>
            <a:chOff x="-44" y="1473"/>
            <a:chExt cx="981" cy="1105"/>
          </a:xfrm>
        </p:grpSpPr>
        <p:pic>
          <p:nvPicPr>
            <p:cNvPr id="118" name="Picture 91" descr="desktop_computer_stylized_medium">
              <a:extLst>
                <a:ext uri="{FF2B5EF4-FFF2-40B4-BE49-F238E27FC236}">
                  <a16:creationId xmlns="" xmlns:a16="http://schemas.microsoft.com/office/drawing/2014/main" id="{EFC7BB82-D0BA-FF48-BCED-67929C19E4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9" name="Freeform 92">
              <a:extLst>
                <a:ext uri="{FF2B5EF4-FFF2-40B4-BE49-F238E27FC236}">
                  <a16:creationId xmlns="" xmlns:a16="http://schemas.microsoft.com/office/drawing/2014/main" id="{812216D8-CF55-8E49-93DB-7771EC121C7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0" name="Group 93">
            <a:extLst>
              <a:ext uri="{FF2B5EF4-FFF2-40B4-BE49-F238E27FC236}">
                <a16:creationId xmlns="" xmlns:a16="http://schemas.microsoft.com/office/drawing/2014/main" id="{737C2567-35F0-FD42-AC57-E3D8F89E42E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715500" y="4339548"/>
            <a:ext cx="641350" cy="558800"/>
            <a:chOff x="-44" y="1473"/>
            <a:chExt cx="981" cy="1105"/>
          </a:xfrm>
        </p:grpSpPr>
        <p:pic>
          <p:nvPicPr>
            <p:cNvPr id="121" name="Picture 94" descr="desktop_computer_stylized_medium">
              <a:extLst>
                <a:ext uri="{FF2B5EF4-FFF2-40B4-BE49-F238E27FC236}">
                  <a16:creationId xmlns="" xmlns:a16="http://schemas.microsoft.com/office/drawing/2014/main" id="{1C8D42B4-68A5-5A41-9961-FA7E0721D1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" name="Freeform 95">
              <a:extLst>
                <a:ext uri="{FF2B5EF4-FFF2-40B4-BE49-F238E27FC236}">
                  <a16:creationId xmlns="" xmlns:a16="http://schemas.microsoft.com/office/drawing/2014/main" id="{F4363C98-80EE-9645-8C79-355EF0EF3BE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3" name="Group 96">
            <a:extLst>
              <a:ext uri="{FF2B5EF4-FFF2-40B4-BE49-F238E27FC236}">
                <a16:creationId xmlns="" xmlns:a16="http://schemas.microsoft.com/office/drawing/2014/main" id="{32AAD107-7119-2240-A3B7-72F4CCB7B2B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1863" y="4380823"/>
            <a:ext cx="641350" cy="558800"/>
            <a:chOff x="-44" y="1473"/>
            <a:chExt cx="981" cy="1105"/>
          </a:xfrm>
        </p:grpSpPr>
        <p:pic>
          <p:nvPicPr>
            <p:cNvPr id="124" name="Picture 97" descr="desktop_computer_stylized_medium">
              <a:extLst>
                <a:ext uri="{FF2B5EF4-FFF2-40B4-BE49-F238E27FC236}">
                  <a16:creationId xmlns="" xmlns:a16="http://schemas.microsoft.com/office/drawing/2014/main" id="{FCC6FBDB-2C4D-F445-9734-8B3341F22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5" name="Freeform 98">
              <a:extLst>
                <a:ext uri="{FF2B5EF4-FFF2-40B4-BE49-F238E27FC236}">
                  <a16:creationId xmlns="" xmlns:a16="http://schemas.microsoft.com/office/drawing/2014/main" id="{1A19AAE9-A155-8743-989B-46EA585FAA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cxnSp>
        <p:nvCxnSpPr>
          <p:cNvPr id="139" name="Straight Connector 138">
            <a:extLst>
              <a:ext uri="{FF2B5EF4-FFF2-40B4-BE49-F238E27FC236}">
                <a16:creationId xmlns="" xmlns:a16="http://schemas.microsoft.com/office/drawing/2014/main" id="{DA0C9123-AD87-A346-AF7E-6DF9A3D0A7D6}"/>
              </a:ext>
            </a:extLst>
          </p:cNvPr>
          <p:cNvCxnSpPr/>
          <p:nvPr/>
        </p:nvCxnSpPr>
        <p:spPr>
          <a:xfrm>
            <a:off x="7697391" y="1785938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="" xmlns:a16="http://schemas.microsoft.com/office/drawing/2014/main" id="{647B10D1-844A-3F47-AF5F-3612AD0EAC49}"/>
              </a:ext>
            </a:extLst>
          </p:cNvPr>
          <p:cNvCxnSpPr/>
          <p:nvPr/>
        </p:nvCxnSpPr>
        <p:spPr>
          <a:xfrm>
            <a:off x="7698824" y="2384823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="" xmlns:a16="http://schemas.microsoft.com/office/drawing/2014/main" id="{BE275ECC-2545-5C4F-BE9E-6DF07FE50305}"/>
              </a:ext>
            </a:extLst>
          </p:cNvPr>
          <p:cNvCxnSpPr/>
          <p:nvPr/>
        </p:nvCxnSpPr>
        <p:spPr>
          <a:xfrm>
            <a:off x="7705979" y="2997995"/>
            <a:ext cx="3429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="" xmlns:a16="http://schemas.microsoft.com/office/drawing/2014/main" id="{8B16B123-90E4-CC49-BAA4-2F46F7790CF4}"/>
              </a:ext>
            </a:extLst>
          </p:cNvPr>
          <p:cNvCxnSpPr>
            <a:cxnSpLocks/>
          </p:cNvCxnSpPr>
          <p:nvPr/>
        </p:nvCxnSpPr>
        <p:spPr>
          <a:xfrm>
            <a:off x="10629900" y="1942421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="" xmlns:a16="http://schemas.microsoft.com/office/drawing/2014/main" id="{CC116D14-B7A4-EB44-8E72-9EBE9B2F2631}"/>
              </a:ext>
            </a:extLst>
          </p:cNvPr>
          <p:cNvCxnSpPr>
            <a:cxnSpLocks/>
          </p:cNvCxnSpPr>
          <p:nvPr/>
        </p:nvCxnSpPr>
        <p:spPr>
          <a:xfrm>
            <a:off x="10631261" y="3221529"/>
            <a:ext cx="2610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="" xmlns:a16="http://schemas.microsoft.com/office/drawing/2014/main" id="{9F4374DB-EDB7-BF47-BEE7-13F23178471B}"/>
              </a:ext>
            </a:extLst>
          </p:cNvPr>
          <p:cNvCxnSpPr/>
          <p:nvPr/>
        </p:nvCxnSpPr>
        <p:spPr>
          <a:xfrm>
            <a:off x="8740878" y="418198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="" xmlns:a16="http://schemas.microsoft.com/office/drawing/2014/main" id="{CE831BA1-71F0-6F41-9CC0-1AD07FE637CF}"/>
              </a:ext>
            </a:extLst>
          </p:cNvPr>
          <p:cNvCxnSpPr/>
          <p:nvPr/>
        </p:nvCxnSpPr>
        <p:spPr>
          <a:xfrm>
            <a:off x="9886336" y="4144298"/>
            <a:ext cx="0" cy="23269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3">
            <a:extLst>
              <a:ext uri="{FF2B5EF4-FFF2-40B4-BE49-F238E27FC236}">
                <a16:creationId xmlns="" xmlns:a16="http://schemas.microsoft.com/office/drawing/2014/main" id="{6B160A08-0872-E943-930F-3549C899DA74}"/>
              </a:ext>
            </a:extLst>
          </p:cNvPr>
          <p:cNvSpPr txBox="1">
            <a:spLocks noChangeArrowheads="1"/>
          </p:cNvSpPr>
          <p:nvPr/>
        </p:nvSpPr>
        <p:spPr>
          <a:xfrm>
            <a:off x="910964" y="1504586"/>
            <a:ext cx="5504825" cy="2215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marR="0" lvl="0" indent="-2349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What’</a:t>
            </a:r>
            <a:r>
              <a:rPr kumimoji="0" lang="en-US" altLang="ja-JP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s a subnet </a:t>
            </a:r>
            <a:r>
              <a:rPr kumimoji="0" lang="en-US" altLang="ja-JP" b="0" i="1" u="none" strike="noStrike" kern="1200" cap="none" spc="0" normalizeH="0" baseline="0" noProof="0" dirty="0" smtClean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?</a:t>
            </a:r>
          </a:p>
          <a:p>
            <a:pPr marL="577850" lvl="1" indent="-234950"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device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interfaces that can physically reach each other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without passing through an intervening </a:t>
            </a:r>
            <a:r>
              <a:rPr kumimoji="0" lang="en-US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router</a:t>
            </a:r>
          </a:p>
          <a:p>
            <a:pPr marL="577850" lvl="1" indent="-234950"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prstClr val="black"/>
                </a:solidFill>
              </a:rPr>
              <a:t>detach </a:t>
            </a:r>
            <a:r>
              <a:rPr lang="en-US" dirty="0">
                <a:solidFill>
                  <a:prstClr val="black"/>
                </a:solidFill>
              </a:rPr>
              <a:t>each interface from its host or router, creating “islands” of isolated </a:t>
            </a:r>
            <a:r>
              <a:rPr lang="en-US" dirty="0" smtClean="0">
                <a:solidFill>
                  <a:prstClr val="black"/>
                </a:solidFill>
              </a:rPr>
              <a:t>network</a:t>
            </a:r>
          </a:p>
          <a:p>
            <a:pPr marL="577850" lvl="1" indent="-234950"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/>
            </a:pPr>
            <a:r>
              <a:rPr lang="en-US" dirty="0" smtClean="0">
                <a:solidFill>
                  <a:prstClr val="black"/>
                </a:solidFill>
              </a:rPr>
              <a:t>each </a:t>
            </a:r>
            <a:r>
              <a:rPr lang="en-US" dirty="0">
                <a:solidFill>
                  <a:prstClr val="black"/>
                </a:solidFill>
              </a:rPr>
              <a:t>isolated network is called a </a:t>
            </a:r>
            <a:r>
              <a:rPr lang="en-US" i="1" dirty="0">
                <a:solidFill>
                  <a:srgbClr val="CC0000"/>
                </a:solidFill>
              </a:rPr>
              <a:t>subnet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cxnSp>
        <p:nvCxnSpPr>
          <p:cNvPr id="165" name="Straight Connector 164">
            <a:extLst>
              <a:ext uri="{FF2B5EF4-FFF2-40B4-BE49-F238E27FC236}">
                <a16:creationId xmlns="" xmlns:a16="http://schemas.microsoft.com/office/drawing/2014/main" id="{8BF6DCAC-843D-3745-A7E3-15A8AB8BE438}"/>
              </a:ext>
            </a:extLst>
          </p:cNvPr>
          <p:cNvCxnSpPr>
            <a:cxnSpLocks/>
          </p:cNvCxnSpPr>
          <p:nvPr/>
        </p:nvCxnSpPr>
        <p:spPr>
          <a:xfrm>
            <a:off x="8364512" y="2578622"/>
            <a:ext cx="79426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="" xmlns:a16="http://schemas.microsoft.com/office/drawing/2014/main" id="{CFED2BF4-CE70-1348-8E9F-782B4E45CDA9}"/>
              </a:ext>
            </a:extLst>
          </p:cNvPr>
          <p:cNvCxnSpPr>
            <a:cxnSpLocks/>
          </p:cNvCxnSpPr>
          <p:nvPr/>
        </p:nvCxnSpPr>
        <p:spPr>
          <a:xfrm>
            <a:off x="9547622" y="2584574"/>
            <a:ext cx="975473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5" name="Group 144">
            <a:extLst>
              <a:ext uri="{FF2B5EF4-FFF2-40B4-BE49-F238E27FC236}">
                <a16:creationId xmlns="" xmlns:a16="http://schemas.microsoft.com/office/drawing/2014/main" id="{47621971-34E0-CC48-A19B-037E3093111E}"/>
              </a:ext>
            </a:extLst>
          </p:cNvPr>
          <p:cNvGrpSpPr/>
          <p:nvPr/>
        </p:nvGrpSpPr>
        <p:grpSpPr>
          <a:xfrm>
            <a:off x="9053641" y="2438501"/>
            <a:ext cx="632991" cy="300938"/>
            <a:chOff x="7493876" y="2774731"/>
            <a:chExt cx="1481958" cy="894622"/>
          </a:xfrm>
        </p:grpSpPr>
        <p:sp>
          <p:nvSpPr>
            <p:cNvPr id="146" name="Freeform 145">
              <a:extLst>
                <a:ext uri="{FF2B5EF4-FFF2-40B4-BE49-F238E27FC236}">
                  <a16:creationId xmlns="" xmlns:a16="http://schemas.microsoft.com/office/drawing/2014/main" id="{6FB98C3C-BD15-1E4E-8161-5771358A56F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147" name="Oval 146">
              <a:extLst>
                <a:ext uri="{FF2B5EF4-FFF2-40B4-BE49-F238E27FC236}">
                  <a16:creationId xmlns="" xmlns:a16="http://schemas.microsoft.com/office/drawing/2014/main" id="{DCCEC270-4E3D-3340-AFF2-3620AE4874F5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148" name="Group 147">
              <a:extLst>
                <a:ext uri="{FF2B5EF4-FFF2-40B4-BE49-F238E27FC236}">
                  <a16:creationId xmlns="" xmlns:a16="http://schemas.microsoft.com/office/drawing/2014/main" id="{6728EBC2-F374-244F-8DF6-ECD78FFF853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9" name="Freeform 148">
                <a:extLst>
                  <a:ext uri="{FF2B5EF4-FFF2-40B4-BE49-F238E27FC236}">
                    <a16:creationId xmlns="" xmlns:a16="http://schemas.microsoft.com/office/drawing/2014/main" id="{7FC2F874-C457-C14E-83DC-0F8852485FD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="" xmlns:a16="http://schemas.microsoft.com/office/drawing/2014/main" id="{8029F755-13C4-CD49-A357-AE486E655D3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="" xmlns:a16="http://schemas.microsoft.com/office/drawing/2014/main" id="{3A5A8F28-09DA-664C-9D32-7EA01040A22B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="" xmlns:a16="http://schemas.microsoft.com/office/drawing/2014/main" id="{2ECA3380-F117-EF47-A645-2BCD02B473AC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6" name="Text Box 56">
            <a:extLst>
              <a:ext uri="{FF2B5EF4-FFF2-40B4-BE49-F238E27FC236}">
                <a16:creationId xmlns="" xmlns:a16="http://schemas.microsoft.com/office/drawing/2014/main" id="{B04BC199-4923-444E-942F-BE2C9E1E7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084" y="5139102"/>
            <a:ext cx="34034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network consisting of 3 subnets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="" xmlns:a16="http://schemas.microsoft.com/office/drawing/2014/main" id="{822ACC87-727D-F940-A3A4-2EF4866EA13E}"/>
              </a:ext>
            </a:extLst>
          </p:cNvPr>
          <p:cNvSpPr txBox="1">
            <a:spLocks noChangeArrowheads="1"/>
          </p:cNvSpPr>
          <p:nvPr/>
        </p:nvSpPr>
        <p:spPr>
          <a:xfrm>
            <a:off x="923879" y="3718261"/>
            <a:ext cx="6050358" cy="2667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4950" marR="0" lvl="0" indent="-2349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IP addresses have structure: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ＭＳ Ｐゴシック" panose="020B0600070205080204" pitchFamily="34" charset="-128"/>
              </a:rPr>
              <a:t> 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subnet part: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devices in same subnet have common high order bits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part: remaining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low order bits </a:t>
            </a:r>
          </a:p>
          <a:p>
            <a:pPr marL="582613" marR="0" lvl="1" indent="-233363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3" name="Slide Number Placeholder 3">
            <a:extLst>
              <a:ext uri="{FF2B5EF4-FFF2-40B4-BE49-F238E27FC236}">
                <a16:creationId xmlns="" xmlns:a16="http://schemas.microsoft.com/office/drawing/2014/main" id="{EA981E4D-2FB9-F04E-A3CD-C63BFC66AF9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sz="1600" dirty="0"/>
              <a:t>Network Layer: 4-</a:t>
            </a:r>
            <a:fld id="{C4204591-24BD-A542-B9D5-F8D8A88D2FEE}" type="slidenum">
              <a:rPr lang="en-US" sz="1600" smtClean="0"/>
              <a:pPr/>
              <a:t>8</a:t>
            </a:fld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7928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6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404</Words>
  <Application>Microsoft Macintosh PowerPoint</Application>
  <PresentationFormat>Widescreen</PresentationFormat>
  <Paragraphs>87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</vt:lpstr>
      <vt:lpstr>Calibri Light</vt:lpstr>
      <vt:lpstr>Comic Sans MS</vt:lpstr>
      <vt:lpstr>ＭＳ Ｐゴシック</vt:lpstr>
      <vt:lpstr>Arial</vt:lpstr>
      <vt:lpstr>Wingdings</vt:lpstr>
      <vt:lpstr>Office Theme</vt:lpstr>
      <vt:lpstr>IT694 Computer Networks</vt:lpstr>
      <vt:lpstr>IP addressing: introduction</vt:lpstr>
      <vt:lpstr>IP addresses: how to get one?</vt:lpstr>
      <vt:lpstr>PowerPoint Presentation</vt:lpstr>
      <vt:lpstr>Hierarchical Addressing</vt:lpstr>
      <vt:lpstr>IP Address and a 24-bit Subnet Mask</vt:lpstr>
      <vt:lpstr>Classful Addressing </vt:lpstr>
      <vt:lpstr>Subnets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3</cp:revision>
  <dcterms:created xsi:type="dcterms:W3CDTF">2026-03-13T04:18:50Z</dcterms:created>
  <dcterms:modified xsi:type="dcterms:W3CDTF">2026-03-13T04:29:33Z</dcterms:modified>
</cp:coreProperties>
</file>